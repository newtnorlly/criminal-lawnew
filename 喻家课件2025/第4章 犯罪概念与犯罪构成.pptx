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sldIdLst>
    <p:sldId id="256" r:id="rId3"/>
    <p:sldId id="259" r:id="rId4"/>
    <p:sldId id="275" r:id="rId5"/>
    <p:sldId id="260" r:id="rId6"/>
    <p:sldId id="261" r:id="rId7"/>
    <p:sldId id="262" r:id="rId8"/>
    <p:sldId id="265" r:id="rId9"/>
    <p:sldId id="266" r:id="rId10"/>
    <p:sldId id="269" r:id="rId11"/>
    <p:sldId id="270" r:id="rId12"/>
    <p:sldId id="271" r:id="rId13"/>
    <p:sldId id="272" r:id="rId14"/>
    <p:sldId id="273" r:id="rId15"/>
    <p:sldId id="276" r:id="rId16"/>
    <p:sldId id="311" r:id="rId17"/>
    <p:sldId id="279" r:id="rId18"/>
    <p:sldId id="282" r:id="rId19"/>
    <p:sldId id="283" r:id="rId20"/>
    <p:sldId id="284" r:id="rId21"/>
    <p:sldId id="285" r:id="rId22"/>
    <p:sldId id="287" r:id="rId23"/>
    <p:sldId id="288" r:id="rId24"/>
    <p:sldId id="289" r:id="rId25"/>
    <p:sldId id="290" r:id="rId26"/>
    <p:sldId id="292" r:id="rId27"/>
    <p:sldId id="293" r:id="rId28"/>
    <p:sldId id="312" r:id="rId29"/>
    <p:sldId id="313" r:id="rId30"/>
    <p:sldId id="294" r:id="rId31"/>
    <p:sldId id="296" r:id="rId32"/>
    <p:sldId id="297" r:id="rId33"/>
    <p:sldId id="298" r:id="rId34"/>
    <p:sldId id="299" r:id="rId35"/>
    <p:sldId id="310" r:id="rId36"/>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4" d="100"/>
          <a:sy n="84" d="100"/>
        </p:scale>
        <p:origin x="110" y="7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Master" Target="../slideMasters/slideMaster2.xml"/><Relationship Id="rId5" Type="http://schemas.openxmlformats.org/officeDocument/2006/relationships/tags" Target="../tags/tag18.xml"/><Relationship Id="rId4"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Master" Target="../slideMasters/slideMaster2.xml"/><Relationship Id="rId5" Type="http://schemas.openxmlformats.org/officeDocument/2006/relationships/tags" Target="../tags/tag23.xml"/><Relationship Id="rId4" Type="http://schemas.openxmlformats.org/officeDocument/2006/relationships/tags" Target="../tags/tag2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2.xml"/><Relationship Id="rId5" Type="http://schemas.openxmlformats.org/officeDocument/2006/relationships/tags" Target="../tags/tag28.xml"/><Relationship Id="rId4" Type="http://schemas.openxmlformats.org/officeDocument/2006/relationships/tags" Target="../tags/tag27.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2.xml"/><Relationship Id="rId4" Type="http://schemas.openxmlformats.org/officeDocument/2006/relationships/tags" Target="../tags/tag46.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2.xml"/><Relationship Id="rId5" Type="http://schemas.openxmlformats.org/officeDocument/2006/relationships/tags" Target="../tags/tag60.xml"/><Relationship Id="rId4" Type="http://schemas.openxmlformats.org/officeDocument/2006/relationships/tags" Target="../tags/tag59.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slideMaster" Target="../slideMasters/slideMaster2.xml"/><Relationship Id="rId4" Type="http://schemas.openxmlformats.org/officeDocument/2006/relationships/tags" Target="../tags/tag64.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Master" Target="../slideMasters/slideMaster2.xml"/><Relationship Id="rId5" Type="http://schemas.openxmlformats.org/officeDocument/2006/relationships/tags" Target="../tags/tag69.xml"/><Relationship Id="rId4" Type="http://schemas.openxmlformats.org/officeDocument/2006/relationships/tags" Target="../tags/tag6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custDataLst>
                  <p:tags r:id="rId4"/>
                </p:custDataLst>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custDataLst>
                  <p:tags r:id="rId5"/>
                </p:custDataLst>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custDataLst>
                  <p:tags r:id="rId6"/>
                </p:custDataLst>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custDataLst>
                <p:tags r:id="rId1"/>
              </p:custDataLst>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custDataLst>
                <p:tags r:id="rId2"/>
              </p:custDataLst>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第四章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noProof="1" smtClean="0"/>
              <a:t>单击此处编辑母版标题样式</a:t>
            </a:r>
            <a:endParaRPr lang="zh-CN" altLang="en-US" noProof="1"/>
          </a:p>
        </p:txBody>
      </p:sp>
      <p:sp>
        <p:nvSpPr>
          <p:cNvPr id="3" name="SmartArt 占位符 2"/>
          <p:cNvSpPr>
            <a:spLocks noGrp="1"/>
          </p:cNvSpPr>
          <p:nvPr>
            <p:ph type="pic" idx="1"/>
          </p:nvPr>
        </p:nvSpPr>
        <p:spPr>
          <a:xfrm>
            <a:off x="609600" y="1600201"/>
            <a:ext cx="10972800" cy="4525963"/>
          </a:xfrm>
        </p:spPr>
        <p:txBody>
          <a:bodyPr/>
          <a:lstStyle/>
          <a:p>
            <a:pPr lvl="0"/>
            <a:endParaRPr lang="zh-CN"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9253AF4-062D-4330-B3E2-035FF221B479}" type="slidenum">
              <a:rPr lang="en-US" altLang="zh-CN"/>
              <a:pPr>
                <a:defRPr/>
              </a:pPr>
              <a:t>‹#›</a:t>
            </a:fld>
            <a:endParaRPr lang="en-US" altLang="zh-CN"/>
          </a:p>
        </p:txBody>
      </p:sp>
    </p:spTree>
    <p:extLst>
      <p:ext uri="{BB962C8B-B14F-4D97-AF65-F5344CB8AC3E}">
        <p14:creationId xmlns:p14="http://schemas.microsoft.com/office/powerpoint/2010/main" val="708455533"/>
      </p:ext>
    </p:extLst>
  </p:cSld>
  <p:clrMapOvr>
    <a:masterClrMapping/>
  </p:clrMapOvr>
  <p:transition>
    <p:comb/>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r>
              <a:rPr lang="zh-CN" altLang="en-US" noProof="1" smtClean="0"/>
              <a:t>单击此处编辑母版标题样式</a:t>
            </a:r>
            <a:endParaRPr lang="zh-CN" altLang="en-US" noProof="1"/>
          </a:p>
        </p:txBody>
      </p:sp>
      <p:sp>
        <p:nvSpPr>
          <p:cNvPr id="3" name="内容占位符 2"/>
          <p:cNvSpPr>
            <a:spLocks noGrp="1"/>
          </p:cNvSpPr>
          <p:nvPr>
            <p:ph sz="quarter" idx="1"/>
          </p:nvPr>
        </p:nvSpPr>
        <p:spPr>
          <a:xfrm>
            <a:off x="609600" y="1600200"/>
            <a:ext cx="5384800" cy="218598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6197600" y="1600200"/>
            <a:ext cx="5384800" cy="218598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609600" y="3938589"/>
            <a:ext cx="5384800" cy="21875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内容占位符 5"/>
          <p:cNvSpPr>
            <a:spLocks noGrp="1"/>
          </p:cNvSpPr>
          <p:nvPr>
            <p:ph sz="quarter" idx="4"/>
          </p:nvPr>
        </p:nvSpPr>
        <p:spPr>
          <a:xfrm>
            <a:off x="6197600" y="3938589"/>
            <a:ext cx="5384800" cy="21875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3B724132-AE9E-4564-BB8E-7B1F242F45DB}" type="slidenum">
              <a:rPr lang="en-US" altLang="zh-CN"/>
              <a:pPr>
                <a:defRPr/>
              </a:pPr>
              <a:t>‹#›</a:t>
            </a:fld>
            <a:endParaRPr lang="en-US" altLang="zh-CN"/>
          </a:p>
        </p:txBody>
      </p:sp>
    </p:spTree>
    <p:extLst>
      <p:ext uri="{BB962C8B-B14F-4D97-AF65-F5344CB8AC3E}">
        <p14:creationId xmlns:p14="http://schemas.microsoft.com/office/powerpoint/2010/main" val="4054006015"/>
      </p:ext>
    </p:extLst>
  </p:cSld>
  <p:clrMapOvr>
    <a:masterClrMapping/>
  </p:clrMapOvr>
  <p:transition>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2025/3/3</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2025/3/3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2025/3/3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2025/3/3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2025/3/3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2025/3/3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8.xml"/><Relationship Id="rId18" Type="http://schemas.openxmlformats.org/officeDocument/2006/relationships/tags" Target="../tags/tag1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tags" Target="../tags/tag12.xml"/><Relationship Id="rId2" Type="http://schemas.openxmlformats.org/officeDocument/2006/relationships/slideLayout" Target="../slideLayouts/slideLayout14.xml"/><Relationship Id="rId16" Type="http://schemas.openxmlformats.org/officeDocument/2006/relationships/tags" Target="../tags/tag1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10.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2025/3/3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2025/3/3</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8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536895" y="5907076"/>
            <a:ext cx="2657532" cy="337185"/>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274907" y="2497582"/>
            <a:ext cx="4760595" cy="1568450"/>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第四章</a:t>
            </a:r>
            <a:endParaRPr lang="en-US" altLang="zh-CN" sz="4000" b="1" dirty="0">
              <a:solidFill>
                <a:srgbClr val="D9793F"/>
              </a:solidFill>
              <a:latin typeface="华文新魏" panose="02010800040101010101" charset="-122"/>
              <a:ea typeface="华文新魏" panose="02010800040101010101" charset="-122"/>
              <a:sym typeface="+mn-ea"/>
            </a:endParaRPr>
          </a:p>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犯罪概念与犯罪构成</a:t>
            </a:r>
          </a:p>
        </p:txBody>
      </p:sp>
      <p:sp>
        <p:nvSpPr>
          <p:cNvPr id="3" name="矩形 2"/>
          <p:cNvSpPr/>
          <p:nvPr/>
        </p:nvSpPr>
        <p:spPr>
          <a:xfrm>
            <a:off x="1556960" y="4293696"/>
            <a:ext cx="1669051"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ransition/>
  <p:timing>
    <p:tnLst>
      <p:par>
        <p:cTn id="1" dur="indefinite" restart="never" nodeType="tmRoot">
          <p:childTnLst>
            <p:audio>
              <p:cMediaNode vol="20000" numSld="999" showWhenStopped="0">
                <p:cTn id="2" repeatCount="indefinite" fill="hold" display="0">
                  <p:stCondLst>
                    <p:cond delay="indefinite"/>
                  </p:stCondLst>
                  <p:endCondLst>
                    <p:cond evt="onStopAudio" delay="0">
                      <p:tgtEl>
                        <p:sldTgt/>
                      </p:tgtEl>
                    </p:cond>
                  </p:endCondLst>
                </p:cTn>
                <p:tgtEl>
                  <p:spTgt spid="41"/>
                </p:tgtEl>
              </p:cMediaNode>
            </p:audio>
          </p:childTnLst>
        </p:cTn>
      </p:par>
    </p:tnLst>
    <p:bldLst>
      <p:bldP spid="5" grpId="0" bldLvl="0" animBg="1"/>
      <p:bldP spid="38" grpId="0" bldLvl="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1818781" y="3276993"/>
            <a:ext cx="748923" cy="830997"/>
          </a:xfrm>
          <a:prstGeom prst="rect">
            <a:avLst/>
          </a:prstGeom>
          <a:noFill/>
        </p:spPr>
        <p:txBody>
          <a:bodyPr wrap="square" lIns="91440" tIns="45720" rIns="91440" bIns="45720" anchor="ctr">
            <a:normAutofit/>
          </a:bodyPr>
          <a:lstStyle/>
          <a:p>
            <a:pPr algn="ctr"/>
            <a:r>
              <a:rPr lang="en-US" altLang="zh-CN" sz="4800" dirty="0">
                <a:solidFill>
                  <a:schemeClr val="bg1">
                    <a:lumMod val="75000"/>
                  </a:schemeClr>
                </a:solidFill>
                <a:latin typeface="Impact" panose="020B0806030902050204" pitchFamily="34" charset="0"/>
              </a:rPr>
              <a:t>01</a:t>
            </a:r>
          </a:p>
        </p:txBody>
      </p:sp>
      <p:sp>
        <p:nvSpPr>
          <p:cNvPr id="9" name="íṧļïdé"/>
          <p:cNvSpPr txBox="1"/>
          <p:nvPr/>
        </p:nvSpPr>
        <p:spPr>
          <a:xfrm>
            <a:off x="2754884" y="3151112"/>
            <a:ext cx="2843893" cy="368746"/>
          </a:xfrm>
          <a:prstGeom prst="rect">
            <a:avLst/>
          </a:prstGeom>
          <a:noFill/>
        </p:spPr>
        <p:txBody>
          <a:bodyPr wrap="square" lIns="91440" tIns="45720" rIns="91440" bIns="45720" anchor="b" anchorCtr="0">
            <a:noAutofit/>
          </a:bodyPr>
          <a:lstStyle/>
          <a:p>
            <a:r>
              <a:rPr lang="zh-CN" altLang="en-US" sz="2400" b="1" dirty="0" smtClean="0">
                <a:solidFill>
                  <a:srgbClr val="D9793F"/>
                </a:solidFill>
              </a:rPr>
              <a:t>第一节</a:t>
            </a:r>
          </a:p>
        </p:txBody>
      </p:sp>
      <p:sp>
        <p:nvSpPr>
          <p:cNvPr id="10" name="ïśḷíďè"/>
          <p:cNvSpPr txBox="1"/>
          <p:nvPr/>
        </p:nvSpPr>
        <p:spPr>
          <a:xfrm>
            <a:off x="2754884" y="351985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sz="2400" dirty="0" err="1">
                <a:latin typeface="微软雅黑" panose="020B0503020204020204" pitchFamily="34" charset="-122"/>
                <a:ea typeface="微软雅黑" panose="020B0503020204020204" pitchFamily="34" charset="-122"/>
              </a:rPr>
              <a:t>犯罪概念</a:t>
            </a:r>
          </a:p>
        </p:txBody>
      </p:sp>
      <p:cxnSp>
        <p:nvCxnSpPr>
          <p:cNvPr id="11" name="直接连接符 10"/>
          <p:cNvCxnSpPr/>
          <p:nvPr/>
        </p:nvCxnSpPr>
        <p:spPr>
          <a:xfrm>
            <a:off x="2673781" y="327699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442710" y="3277235"/>
            <a:ext cx="899160" cy="831215"/>
          </a:xfrm>
          <a:prstGeom prst="rect">
            <a:avLst/>
          </a:prstGeom>
          <a:noFill/>
        </p:spPr>
        <p:txBody>
          <a:bodyPr wrap="square" lIns="91440" tIns="45720" rIns="91440" bIns="45720" anchor="ctr">
            <a:noAutofit/>
          </a:bodyPr>
          <a:lstStyle/>
          <a:p>
            <a:pPr algn="ctr"/>
            <a:r>
              <a:rPr lang="en-US" altLang="zh-CN" sz="4800" dirty="0">
                <a:solidFill>
                  <a:schemeClr val="bg1">
                    <a:lumMod val="75000"/>
                  </a:schemeClr>
                </a:solidFill>
                <a:latin typeface="Impact" panose="020B0806030902050204" pitchFamily="34" charset="0"/>
              </a:rPr>
              <a:t>02</a:t>
            </a:r>
          </a:p>
        </p:txBody>
      </p:sp>
      <p:sp>
        <p:nvSpPr>
          <p:cNvPr id="13" name="ïṧḷïḓé"/>
          <p:cNvSpPr txBox="1"/>
          <p:nvPr/>
        </p:nvSpPr>
        <p:spPr>
          <a:xfrm>
            <a:off x="7529326" y="3151112"/>
            <a:ext cx="2843893" cy="368746"/>
          </a:xfrm>
          <a:prstGeom prst="rect">
            <a:avLst/>
          </a:prstGeom>
          <a:noFill/>
        </p:spPr>
        <p:txBody>
          <a:bodyPr wrap="square" lIns="91440" tIns="45720" rIns="91440" bIns="45720" anchor="b" anchorCtr="0">
            <a:noAutofit/>
          </a:bodyPr>
          <a:lstStyle/>
          <a:p>
            <a:r>
              <a:rPr lang="zh-CN" altLang="en-US" sz="2400" b="1" dirty="0" smtClean="0">
                <a:solidFill>
                  <a:srgbClr val="D9793F"/>
                </a:solidFill>
              </a:rPr>
              <a:t>第二节</a:t>
            </a:r>
          </a:p>
        </p:txBody>
      </p:sp>
      <p:sp>
        <p:nvSpPr>
          <p:cNvPr id="14" name="íṩļíḋê"/>
          <p:cNvSpPr txBox="1"/>
          <p:nvPr/>
        </p:nvSpPr>
        <p:spPr>
          <a:xfrm>
            <a:off x="7529326" y="351985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sz="2400" dirty="0" err="1">
                <a:latin typeface="微软雅黑" panose="020B0503020204020204" pitchFamily="34" charset="-122"/>
                <a:ea typeface="微软雅黑" panose="020B0503020204020204" pitchFamily="34" charset="-122"/>
              </a:rPr>
              <a:t>犯罪构成</a:t>
            </a:r>
          </a:p>
        </p:txBody>
      </p:sp>
      <p:cxnSp>
        <p:nvCxnSpPr>
          <p:cNvPr id="15" name="直接连接符 14"/>
          <p:cNvCxnSpPr/>
          <p:nvPr/>
        </p:nvCxnSpPr>
        <p:spPr>
          <a:xfrm>
            <a:off x="7448223" y="327699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bldLst>
      <p:bldP spid="7" grpId="0" bldLvl="0" animBg="1"/>
      <p:bldP spid="8" grpId="0"/>
      <p:bldP spid="9" grpId="0"/>
      <p:bldP spid="10"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313512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一、犯罪概念的界定模式</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二、犯罪的基本特征</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478282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犯罪概念</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timing>
    <p:tnLst>
      <p:par>
        <p:cTn id="1" dur="indefinite" restart="never" nodeType="tmRoot"/>
      </p:par>
    </p:tnLst>
    <p:bldLst>
      <p:bldP spid="18" grpId="0" bldLvl="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224676" y="2783188"/>
            <a:ext cx="7248512" cy="1938992"/>
          </a:xfrm>
          <a:prstGeom prst="rect">
            <a:avLst/>
          </a:prstGeom>
          <a:noFill/>
        </p:spPr>
        <p:txBody>
          <a:bodyPr wrap="square" rtlCol="0">
            <a:spAutoFit/>
          </a:bodyPr>
          <a:lstStyle/>
          <a:p>
            <a:pPr indent="457200">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犯罪的形式概念，</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也称形式意义的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概念</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，是指仅基于法律特征而给犯罪下定义，至于法律为何将诸如此类的行为规定为犯罪则不予涉及</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nSpc>
                <a:spcPct val="150000"/>
              </a:lnSpc>
            </a:pP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08712" cy="1813324"/>
            <a:chOff x="760461" y="3095936"/>
            <a:chExt cx="3308712"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74793" y="3095936"/>
              <a:ext cx="329438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（一）犯罪的形式概念</a:t>
              </a:r>
            </a:p>
          </p:txBody>
        </p:sp>
      </p:grpSp>
      <p:sp>
        <p:nvSpPr>
          <p:cNvPr id="3" name="矩形 2"/>
          <p:cNvSpPr/>
          <p:nvPr/>
        </p:nvSpPr>
        <p:spPr>
          <a:xfrm>
            <a:off x="4121925" y="66328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一、犯罪概念的界定模式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641500"/>
            <a:ext cx="7248512" cy="1938020"/>
          </a:xfrm>
          <a:prstGeom prst="rect">
            <a:avLst/>
          </a:prstGeom>
          <a:noFill/>
        </p:spPr>
        <p:txBody>
          <a:bodyPr wrap="square" rtlCol="0">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犯罪的实质概念，也称实质意义的犯罪概念，是指不涉及犯罪的法律特征而从犯罪现象的本质上给犯罪下定义，借此揭示一种行为被刑法规定为犯罪的内在原因。</a:t>
            </a:r>
          </a:p>
          <a:p>
            <a:pPr indent="457200">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08712" cy="1813324"/>
            <a:chOff x="760461" y="3095936"/>
            <a:chExt cx="3308712"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74793" y="3095936"/>
              <a:ext cx="329438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（二）犯罪的实质概念</a:t>
              </a:r>
            </a:p>
          </p:txBody>
        </p:sp>
      </p:grpSp>
      <p:sp>
        <p:nvSpPr>
          <p:cNvPr id="3" name="矩形 2"/>
          <p:cNvSpPr/>
          <p:nvPr/>
        </p:nvSpPr>
        <p:spPr>
          <a:xfrm>
            <a:off x="4121925" y="66328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一、犯罪概念的界定模式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195095"/>
            <a:ext cx="7248512" cy="2399665"/>
          </a:xfrm>
          <a:prstGeom prst="rect">
            <a:avLst/>
          </a:prstGeom>
          <a:noFill/>
        </p:spPr>
        <p:txBody>
          <a:bodyPr wrap="square" rtlCol="0">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犯罪的混合概念，是指既强调犯罪的实质概念，亦注重犯罪的形式概念，以同时揭示犯罪的本质特征和法律特征的概念。</a:t>
            </a:r>
          </a:p>
          <a:p>
            <a:pPr indent="457200">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苏联刑法学界通说。</a:t>
            </a:r>
          </a:p>
          <a:p>
            <a:pPr indent="457200">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我国刑法理论对我国刑法中犯罪概念的研究——</a:t>
            </a: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始终围绕刑法的规定展开</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。《刑法》第 13 条</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08712" cy="1813324"/>
            <a:chOff x="760461" y="3095936"/>
            <a:chExt cx="3308712"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74793" y="3095936"/>
              <a:ext cx="329438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（三）犯罪的混合概念</a:t>
              </a:r>
            </a:p>
          </p:txBody>
        </p:sp>
      </p:grpSp>
      <p:sp>
        <p:nvSpPr>
          <p:cNvPr id="3" name="矩形 2"/>
          <p:cNvSpPr/>
          <p:nvPr/>
        </p:nvSpPr>
        <p:spPr>
          <a:xfrm>
            <a:off x="4121925" y="66328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一、犯罪概念的界定模式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856383" y="2459890"/>
            <a:ext cx="7584999" cy="2585323"/>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(1) </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危害社会</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的行为，即具有相当程度的社会危害性</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（本质特征）</a:t>
            </a:r>
            <a:endParaRPr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(2) </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犯罪是触犯刑律的行为，即具有刑事违法性</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b="1" dirty="0" smtClean="0">
                <a:solidFill>
                  <a:srgbClr val="00B0F0"/>
                </a:solidFill>
                <a:latin typeface="微软雅黑" panose="020B0503020204020204" pitchFamily="34" charset="-122"/>
                <a:cs typeface="宋体" panose="02010600030101010101" pitchFamily="2" charset="-122"/>
                <a:sym typeface="+mn-ea"/>
              </a:rPr>
              <a:t>（法律特征）</a:t>
            </a:r>
            <a:endParaRPr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(3) </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犯罪是应受刑罚惩罚的行为，即具有应受惩罚性</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1400" b="1" dirty="0" smtClean="0">
              <a:solidFill>
                <a:srgbClr val="00B0F0"/>
              </a:solidFill>
              <a:latin typeface="微软雅黑" panose="020B0503020204020204" pitchFamily="34" charset="-122"/>
              <a:cs typeface="宋体" panose="02010600030101010101" pitchFamily="2" charset="-122"/>
              <a:sym typeface="+mn-ea"/>
            </a:endParaRPr>
          </a:p>
          <a:p>
            <a:pPr indent="457200">
              <a:lnSpc>
                <a:spcPct val="150000"/>
              </a:lnSpc>
            </a:pPr>
            <a:r>
              <a:rPr lang="en-US" altLang="zh-CN" sz="2000" b="1" dirty="0">
                <a:solidFill>
                  <a:srgbClr val="00B0F0"/>
                </a:solidFill>
                <a:latin typeface="微软雅黑" panose="020B0503020204020204" pitchFamily="34" charset="-122"/>
                <a:cs typeface="宋体" panose="02010600030101010101" pitchFamily="2" charset="-122"/>
                <a:sym typeface="+mn-ea"/>
              </a:rPr>
              <a:t> </a:t>
            </a:r>
            <a:r>
              <a:rPr lang="en-US" altLang="zh-CN" sz="2000" b="1" dirty="0" smtClean="0">
                <a:solidFill>
                  <a:srgbClr val="00B0F0"/>
                </a:solidFill>
                <a:latin typeface="微软雅黑" panose="020B0503020204020204" pitchFamily="34" charset="-122"/>
                <a:cs typeface="宋体" panose="02010600030101010101" pitchFamily="2" charset="-122"/>
                <a:sym typeface="+mn-ea"/>
              </a:rPr>
              <a:t> </a:t>
            </a:r>
            <a:r>
              <a:rPr lang="zh-CN" altLang="en-US" sz="1400" b="1" dirty="0" smtClean="0">
                <a:solidFill>
                  <a:srgbClr val="00B0F0"/>
                </a:solidFill>
                <a:latin typeface="微软雅黑" panose="020B0503020204020204" pitchFamily="34" charset="-122"/>
                <a:cs typeface="宋体" panose="02010600030101010101" pitchFamily="2" charset="-122"/>
                <a:sym typeface="+mn-ea"/>
              </a:rPr>
              <a:t>（后果特征</a:t>
            </a:r>
            <a:r>
              <a:rPr lang="zh-CN" altLang="en-US" sz="1400" b="1" dirty="0">
                <a:solidFill>
                  <a:srgbClr val="00B0F0"/>
                </a:solidFill>
                <a:latin typeface="微软雅黑" panose="020B0503020204020204" pitchFamily="34" charset="-122"/>
                <a:cs typeface="宋体" panose="02010600030101010101" pitchFamily="2" charset="-122"/>
                <a:sym typeface="+mn-ea"/>
              </a:rPr>
              <a:t>）</a:t>
            </a:r>
            <a:endParaRPr lang="en-US" sz="1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611504" y="3095936"/>
              <a:ext cx="1620957" cy="600164"/>
            </a:xfrm>
            <a:prstGeom prst="rect">
              <a:avLst/>
            </a:prstGeom>
          </p:spPr>
          <p:txBody>
            <a:bodyPr wrap="non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本书认为</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1767740"/>
            <a:ext cx="7248512" cy="3322955"/>
          </a:xfrm>
          <a:prstGeom prst="rect">
            <a:avLst/>
          </a:prstGeom>
          <a:noFill/>
        </p:spPr>
        <p:txBody>
          <a:bodyPr wrap="square" rtlCol="0">
            <a:spAutoFit/>
          </a:bodyPr>
          <a:lstStyle/>
          <a:p>
            <a:pPr indent="457200">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所谓社会危害性，是指行为对刑法所保护的社会关系造成或可能造成损害的特性。</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犯罪的本质就在于其具有社会危害性。如果某种行为根本不可能给社会带来危害，法律就不能把它规定为犯罪，更不能对它进行惩罚。</a:t>
            </a:r>
          </a:p>
          <a:p>
            <a:pPr indent="457200">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（一）犯罪是具有严重社会危害性的行为</a:t>
              </a: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431315"/>
            <a:ext cx="7248512" cy="1938020"/>
          </a:xfrm>
          <a:prstGeom prst="rect">
            <a:avLst/>
          </a:prstGeom>
          <a:noFill/>
        </p:spPr>
        <p:txBody>
          <a:bodyPr wrap="square" rtlCol="0">
            <a:spAutoFit/>
          </a:bodyPr>
          <a:lstStyle/>
          <a:p>
            <a:pPr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影响犯罪社会危害性程度的因素</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（犯罪构成要件）</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1. </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行为侵犯的客体，即行为侵犯了什么样的社会关系</a:t>
            </a: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2. </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行为的手段</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、后果以及时间、地点</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3. </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行为人的情况及其主观因素</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（一）犯罪是具有严重社会危害性的行为</a:t>
              </a:r>
            </a:p>
          </p:txBody>
        </p:sp>
      </p:grpSp>
      <p:sp>
        <p:nvSpPr>
          <p:cNvPr id="3" name="矩形 2"/>
          <p:cNvSpPr/>
          <p:nvPr/>
        </p:nvSpPr>
        <p:spPr>
          <a:xfrm>
            <a:off x="4193045" y="93633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076466" y="1844841"/>
            <a:ext cx="7349557" cy="2400657"/>
          </a:xfrm>
          <a:prstGeom prst="rect">
            <a:avLst/>
          </a:prstGeom>
          <a:noFill/>
        </p:spPr>
        <p:txBody>
          <a:bodyPr wrap="square" rtlCol="0" anchor="t" anchorCtr="0">
            <a:spAutoFit/>
          </a:bodyPr>
          <a:lstStyle/>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犯罪不是一般的违法行为，而是触犯刑事法律的刑事违法行为，是最为严重的违法行为。</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触犯刑事法律是构成犯罪的前提</a:t>
            </a:r>
            <a:r>
              <a:rPr lang="zh-CN" altLang="en-US" sz="1400" b="1" dirty="0">
                <a:solidFill>
                  <a:srgbClr val="00B0F0"/>
                </a:solidFill>
                <a:latin typeface="微软雅黑" panose="020B0503020204020204" pitchFamily="34" charset="-122"/>
                <a:cs typeface="宋体" panose="02010600030101010101" pitchFamily="2" charset="-122"/>
                <a:sym typeface="+mn-ea"/>
              </a:rPr>
              <a:t>（暴行、见危不救）</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（二）犯罪是具有刑事违法性的行为</a:t>
              </a: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1389915"/>
            <a:ext cx="7248512" cy="3877985"/>
          </a:xfrm>
          <a:prstGeom prst="rect">
            <a:avLst/>
          </a:prstGeom>
          <a:noFill/>
        </p:spPr>
        <p:txBody>
          <a:bodyPr wrap="square" rtlCol="0" anchor="t" anchorCtr="0">
            <a:spAutoFit/>
          </a:bodyPr>
          <a:lstStyle/>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行为人虽然主观上有危害社会的企图，但客观上没有实施危害社会的行为的，</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不会产生刑事违法性问题</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（客观的违法性论）</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行为虽然客观上造成了严重的危害社会的后果，但行为人主观上不存在故意或者过失的，</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也不会产生刑事违法性的问题</a:t>
            </a:r>
            <a:r>
              <a:rPr lang="zh-CN" altLang="en-US" sz="1400" b="1" dirty="0" smtClean="0">
                <a:solidFill>
                  <a:srgbClr val="00B0F0"/>
                </a:solidFill>
                <a:latin typeface="微软雅黑" panose="020B0503020204020204" pitchFamily="34" charset="-122"/>
                <a:cs typeface="宋体" panose="02010600030101010101" pitchFamily="2" charset="-122"/>
                <a:sym typeface="+mn-ea"/>
              </a:rPr>
              <a:t>（主观</a:t>
            </a:r>
            <a:r>
              <a:rPr lang="zh-CN" altLang="en-US" sz="1400" b="1" dirty="0">
                <a:solidFill>
                  <a:srgbClr val="00B0F0"/>
                </a:solidFill>
                <a:latin typeface="微软雅黑" panose="020B0503020204020204" pitchFamily="34" charset="-122"/>
                <a:cs typeface="宋体" panose="02010600030101010101" pitchFamily="2" charset="-122"/>
                <a:sym typeface="+mn-ea"/>
              </a:rPr>
              <a:t>的违法性论）</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（二）犯罪是具有刑事违法性的行为</a:t>
              </a: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076665" y="2825650"/>
            <a:ext cx="7248512" cy="1476375"/>
          </a:xfrm>
          <a:prstGeom prst="rect">
            <a:avLst/>
          </a:prstGeom>
          <a:noFill/>
        </p:spPr>
        <p:txBody>
          <a:bodyPr wrap="square" rtlCol="0" anchor="t" anchorCtr="0">
            <a:spAutoFit/>
          </a:bodyPr>
          <a:lstStyle/>
          <a:p>
            <a:pPr indent="457200" algn="l">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犯罪是适用刑罚的前提，刑罚是犯罪的法律后果</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gn="l">
              <a:lnSpc>
                <a:spcPct val="150000"/>
              </a:lnSpc>
            </a:pPr>
            <a:r>
              <a:rPr 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不应受刑罚惩罚</a:t>
            </a: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和</a:t>
            </a:r>
            <a:r>
              <a:rPr 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不需要刑罚惩罚</a:t>
            </a: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是两个不同的概念。</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（三）犯罪是应受刑罚惩罚的行为</a:t>
              </a:r>
            </a:p>
          </p:txBody>
        </p:sp>
      </p:grpSp>
      <p:sp>
        <p:nvSpPr>
          <p:cNvPr id="3" name="矩形 2"/>
          <p:cNvSpPr/>
          <p:nvPr/>
        </p:nvSpPr>
        <p:spPr>
          <a:xfrm>
            <a:off x="4121925" y="1123659"/>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076700" y="2116455"/>
            <a:ext cx="7248525" cy="2983230"/>
          </a:xfrm>
          <a:prstGeom prst="rect">
            <a:avLst/>
          </a:prstGeom>
          <a:noFill/>
        </p:spPr>
        <p:txBody>
          <a:bodyPr wrap="square" rtlCol="0" anchor="t" anchorCtr="0">
            <a:noAutofit/>
          </a:bodyPr>
          <a:lstStyle/>
          <a:p>
            <a:pPr indent="457200" algn="l">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严重的社会危害性是犯罪最基本的属性，是刑事违法性和应受刑罚惩罚性的基础。</a:t>
            </a:r>
          </a:p>
          <a:p>
            <a:pPr indent="457200" algn="l">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刑事违法性是严重的社会危害性的法律表现</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gn="l">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应受刑罚惩罚性是行为严重危害社会、违反刑事法律应当承担的法律后果。</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21758" y="3235128"/>
            <a:ext cx="3455035" cy="1674132"/>
            <a:chOff x="621758" y="3235128"/>
            <a:chExt cx="345503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21758" y="3308153"/>
              <a:ext cx="3455035"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基本特征间的关系</a:t>
              </a: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二、犯罪的基本特征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767462"/>
            <a:ext cx="5574158" cy="230695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一、犯罪构成理论的发展与模式</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二、我国刑法中犯罪构成的概念与特征</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三、犯罪构成的分类</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四、犯罪构成的意义</a:t>
            </a:r>
          </a:p>
        </p:txBody>
      </p:sp>
      <p:sp>
        <p:nvSpPr>
          <p:cNvPr id="23" name="矩形 22"/>
          <p:cNvSpPr/>
          <p:nvPr/>
        </p:nvSpPr>
        <p:spPr>
          <a:xfrm>
            <a:off x="4930781" y="775078"/>
            <a:ext cx="478282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犯罪构成</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timing>
    <p:tnLst>
      <p:par>
        <p:cTn id="1" dur="indefinite" restart="never" nodeType="tmRoot"/>
      </p:par>
    </p:tnLst>
    <p:bldLst>
      <p:bldP spid="18" grpId="0" bldLvl="0" animBg="1"/>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183004" y="578167"/>
            <a:ext cx="3919348" cy="5775198"/>
          </a:xfrm>
          <a:prstGeom prst="rect">
            <a:avLst/>
          </a:prstGeom>
        </p:spPr>
      </p:pic>
      <p:pic>
        <p:nvPicPr>
          <p:cNvPr id="3" name="图片 2"/>
          <p:cNvPicPr>
            <a:picLocks noChangeAspect="1"/>
          </p:cNvPicPr>
          <p:nvPr/>
        </p:nvPicPr>
        <p:blipFill>
          <a:blip r:embed="rId3"/>
          <a:stretch>
            <a:fillRect/>
          </a:stretch>
        </p:blipFill>
        <p:spPr>
          <a:xfrm>
            <a:off x="6955726" y="592378"/>
            <a:ext cx="4026218" cy="5760987"/>
          </a:xfrm>
          <a:prstGeom prst="rect">
            <a:avLst/>
          </a:prstGeom>
        </p:spPr>
      </p:pic>
    </p:spTree>
    <p:extLst>
      <p:ext uri="{BB962C8B-B14F-4D97-AF65-F5344CB8AC3E}">
        <p14:creationId xmlns:p14="http://schemas.microsoft.com/office/powerpoint/2010/main" val="381183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72585" y="1305560"/>
            <a:ext cx="7681595" cy="5170646"/>
          </a:xfrm>
          <a:prstGeom prst="rect">
            <a:avLst/>
          </a:prstGeom>
          <a:noFill/>
        </p:spPr>
        <p:txBody>
          <a:bodyPr wrap="square" rtlCol="0">
            <a:spAutoFit/>
          </a:bodyPr>
          <a:lstStyle/>
          <a:p>
            <a:pPr indent="457200">
              <a:lnSpc>
                <a:spcPct val="150000"/>
              </a:lnSpc>
            </a:pPr>
            <a:r>
              <a:rPr lang="en-US" sz="2000" b="1" dirty="0">
                <a:latin typeface="微软雅黑" panose="020B0503020204020204" pitchFamily="34" charset="-122"/>
                <a:ea typeface="微软雅黑" panose="020B0503020204020204" pitchFamily="34" charset="-122"/>
                <a:cs typeface="宋体" panose="02010600030101010101" pitchFamily="2" charset="-122"/>
                <a:sym typeface="+mn-ea"/>
              </a:rPr>
              <a:t>1.</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三阶层构成要件理论</a:t>
            </a: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以德日为代表的这一理论，主张犯罪由构成要件的符合性、违法性和有责性构成，三要件之间具有递进的阶层逻辑结构。</a:t>
            </a: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b="1" dirty="0" err="1" smtClean="0">
                <a:latin typeface="微软雅黑" panose="020B0503020204020204" pitchFamily="34" charset="-122"/>
                <a:ea typeface="微软雅黑" panose="020B0503020204020204" pitchFamily="34" charset="-122"/>
                <a:cs typeface="宋体" panose="02010600030101010101" pitchFamily="2" charset="-122"/>
                <a:sym typeface="+mn-ea"/>
              </a:rPr>
              <a:t>构成要件的符合性也称为该当性</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是指行为符合刑法分则规定的某个具体犯罪的特征</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包括主体</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、行为、行为客体、结果、行为状况、因果关系、</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构成要件的故意或过失等要素</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（具有违法性推定机能）</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b="1" dirty="0" err="1" smtClean="0">
                <a:latin typeface="微软雅黑" panose="020B0503020204020204" pitchFamily="34" charset="-122"/>
                <a:ea typeface="微软雅黑" panose="020B0503020204020204" pitchFamily="34" charset="-122"/>
                <a:cs typeface="宋体" panose="02010600030101010101" pitchFamily="2" charset="-122"/>
                <a:sym typeface="+mn-ea"/>
              </a:rPr>
              <a:t>违法性</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是指行为对刑法所保护的合法权益或者整体法秩序的实质侵害性</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（是否存在违法阻却事由：正当防卫、紧急避险等）</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b="1" dirty="0" err="1" smtClean="0">
                <a:latin typeface="微软雅黑" panose="020B0503020204020204" pitchFamily="34" charset="-122"/>
                <a:ea typeface="微软雅黑" panose="020B0503020204020204" pitchFamily="34" charset="-122"/>
                <a:cs typeface="宋体" panose="02010600030101010101" pitchFamily="2" charset="-122"/>
                <a:sym typeface="+mn-ea"/>
              </a:rPr>
              <a:t>有责性</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是指能够对实施违法行为的行为人进行非难</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谴责</a:t>
            </a:r>
            <a:r>
              <a:rPr lang="zh-CN" altLang="en-US" sz="1400" b="1" dirty="0">
                <a:solidFill>
                  <a:srgbClr val="00B0F0"/>
                </a:solidFill>
                <a:latin typeface="微软雅黑" panose="020B0503020204020204" pitchFamily="34" charset="-122"/>
                <a:cs typeface="宋体" panose="02010600030101010101" pitchFamily="2" charset="-122"/>
                <a:sym typeface="+mn-ea"/>
              </a:rPr>
              <a:t>（是否</a:t>
            </a:r>
            <a:r>
              <a:rPr lang="zh-CN" altLang="en-US" sz="1400" b="1" dirty="0" smtClean="0">
                <a:solidFill>
                  <a:srgbClr val="00B0F0"/>
                </a:solidFill>
                <a:latin typeface="微软雅黑" panose="020B0503020204020204" pitchFamily="34" charset="-122"/>
                <a:cs typeface="宋体" panose="02010600030101010101" pitchFamily="2" charset="-122"/>
                <a:sym typeface="+mn-ea"/>
              </a:rPr>
              <a:t>存在</a:t>
            </a:r>
            <a:r>
              <a:rPr lang="zh-CN" altLang="en-US" sz="1400" b="1" dirty="0">
                <a:solidFill>
                  <a:srgbClr val="00B0F0"/>
                </a:solidFill>
                <a:latin typeface="微软雅黑" panose="020B0503020204020204" pitchFamily="34" charset="-122"/>
                <a:cs typeface="宋体" panose="02010600030101010101" pitchFamily="2" charset="-122"/>
                <a:sym typeface="+mn-ea"/>
              </a:rPr>
              <a:t>责任</a:t>
            </a:r>
            <a:r>
              <a:rPr lang="zh-CN" altLang="en-US" sz="1400" b="1" dirty="0" smtClean="0">
                <a:solidFill>
                  <a:srgbClr val="00B0F0"/>
                </a:solidFill>
                <a:latin typeface="微软雅黑" panose="020B0503020204020204" pitchFamily="34" charset="-122"/>
                <a:cs typeface="宋体" panose="02010600030101010101" pitchFamily="2" charset="-122"/>
                <a:sym typeface="+mn-ea"/>
              </a:rPr>
              <a:t>阻</a:t>
            </a:r>
            <a:r>
              <a:rPr lang="zh-CN" altLang="en-US" sz="1400" b="1" dirty="0">
                <a:solidFill>
                  <a:srgbClr val="00B0F0"/>
                </a:solidFill>
                <a:latin typeface="微软雅黑" panose="020B0503020204020204" pitchFamily="34" charset="-122"/>
                <a:cs typeface="宋体" panose="02010600030101010101" pitchFamily="2" charset="-122"/>
                <a:sym typeface="+mn-ea"/>
              </a:rPr>
              <a:t>却</a:t>
            </a:r>
            <a:r>
              <a:rPr lang="zh-CN" altLang="en-US" sz="1400" b="1" dirty="0" smtClean="0">
                <a:solidFill>
                  <a:srgbClr val="00B0F0"/>
                </a:solidFill>
                <a:latin typeface="微软雅黑" panose="020B0503020204020204" pitchFamily="34" charset="-122"/>
                <a:cs typeface="宋体" panose="02010600030101010101" pitchFamily="2" charset="-122"/>
                <a:sym typeface="+mn-ea"/>
              </a:rPr>
              <a:t>事由：故意、过失、目的、违法性认识错误等）</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犯罪构成理论的主要模式及评析</a:t>
              </a:r>
            </a:p>
          </p:txBody>
        </p:sp>
      </p:grpSp>
      <p:sp>
        <p:nvSpPr>
          <p:cNvPr id="3" name="矩形 2"/>
          <p:cNvSpPr/>
          <p:nvPr/>
        </p:nvSpPr>
        <p:spPr>
          <a:xfrm>
            <a:off x="4101605" y="6861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pic>
        <p:nvPicPr>
          <p:cNvPr id="6" name="图片 5"/>
          <p:cNvPicPr>
            <a:picLocks noChangeAspect="1"/>
          </p:cNvPicPr>
          <p:nvPr/>
        </p:nvPicPr>
        <p:blipFill>
          <a:blip r:embed="rId3"/>
          <a:stretch>
            <a:fillRect/>
          </a:stretch>
        </p:blipFill>
        <p:spPr>
          <a:xfrm>
            <a:off x="1073810" y="4342441"/>
            <a:ext cx="2690016" cy="21337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989455"/>
            <a:ext cx="7681595" cy="2399665"/>
          </a:xfrm>
          <a:prstGeom prst="rect">
            <a:avLst/>
          </a:prstGeom>
          <a:noFill/>
        </p:spPr>
        <p:txBody>
          <a:bodyPr wrap="square" rtlCol="0">
            <a:spAutoFit/>
          </a:bodyPr>
          <a:lstStyle/>
          <a:p>
            <a:pPr indent="457200">
              <a:lnSpc>
                <a:spcPct val="150000"/>
              </a:lnSpc>
            </a:pPr>
            <a:r>
              <a:rPr lang="en-US" sz="2000" b="1" dirty="0">
                <a:latin typeface="微软雅黑" panose="020B0503020204020204" pitchFamily="34" charset="-122"/>
                <a:ea typeface="微软雅黑" panose="020B0503020204020204" pitchFamily="34" charset="-122"/>
                <a:cs typeface="宋体" panose="02010600030101010101" pitchFamily="2" charset="-122"/>
                <a:sym typeface="+mn-ea"/>
              </a:rPr>
              <a:t>2.</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双层次犯罪成立理论</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第一层次是犯罪本体要件，包括犯罪行为和犯罪意图，这些要件包含在犯罪定义之中</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第二层次是责任充足要件，这是诉讼意义上的犯罪要件，通过合法抗辩事由体现出来。</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（二）犯罪构成理论的主要模式及评析</a:t>
              </a:r>
            </a:p>
          </p:txBody>
        </p:sp>
      </p:grpSp>
      <p:sp>
        <p:nvSpPr>
          <p:cNvPr id="3" name="矩形 2"/>
          <p:cNvSpPr/>
          <p:nvPr/>
        </p:nvSpPr>
        <p:spPr>
          <a:xfrm>
            <a:off x="4121925" y="93633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767840"/>
            <a:ext cx="7681595" cy="3322955"/>
          </a:xfrm>
          <a:prstGeom prst="rect">
            <a:avLst/>
          </a:prstGeom>
          <a:noFill/>
        </p:spPr>
        <p:txBody>
          <a:bodyPr wrap="square" rtlCol="0">
            <a:spAutoFit/>
          </a:bodyPr>
          <a:lstStyle/>
          <a:p>
            <a:pPr indent="457200">
              <a:lnSpc>
                <a:spcPct val="150000"/>
              </a:lnSpc>
            </a:pPr>
            <a:r>
              <a:rPr lang="en-US" sz="2000" b="1" dirty="0">
                <a:latin typeface="微软雅黑" panose="020B0503020204020204" pitchFamily="34" charset="-122"/>
                <a:ea typeface="微软雅黑" panose="020B0503020204020204" pitchFamily="34" charset="-122"/>
                <a:cs typeface="宋体" panose="02010600030101010101" pitchFamily="2" charset="-122"/>
                <a:sym typeface="+mn-ea"/>
              </a:rPr>
              <a:t>3.</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四要件犯罪构成理论。</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苏联的犯罪构成理论是在批判大陆法系犯罪构成要件理论的基础上形成的，主张将主客观相结合的犯罪构成理论作为认定刑事责任的唯一根据。</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苏联犯罪构成理论把犯罪构成要件奠基于社会危害性的概念之上，认为所谓犯罪构成，就是社会危害的构成，是犯罪客体、犯罪客观方面、犯罪主体、犯罪主观方面这四个要件的总和。</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（二）犯罪构成理论的主要模式及评析</a:t>
              </a:r>
            </a:p>
          </p:txBody>
        </p:sp>
      </p:grpSp>
      <p:sp>
        <p:nvSpPr>
          <p:cNvPr id="3" name="矩形 2"/>
          <p:cNvSpPr/>
          <p:nvPr/>
        </p:nvSpPr>
        <p:spPr>
          <a:xfrm>
            <a:off x="4091445" y="66328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305560"/>
            <a:ext cx="7681595" cy="4247317"/>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德日的三阶层构成要件理论注重理论的抽象研究，逻辑思考过程严密</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反映了理论与实践的统一，对犯罪的认定比较严格，</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对于犯罪人的人权保障具有一定的积极意义</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（递进式、立体式判断，在体系内安置出罪事由）</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不足之处：</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构成要</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件</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的推定机能在正当防卫</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、紧急避险等场合失灵</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关于违法性、有责性的判断可能先入为主</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实际操作中容易偏离司法实践，有唯体系论的倾向</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概念、范畴众多，学术体系庞杂，晦涩难懂</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等等</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（不法与责任的界限日益模糊，犯罪成立的判断成为构成要件复何符合性的一次性判断）</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简评</a:t>
              </a:r>
            </a:p>
          </p:txBody>
        </p:sp>
      </p:grpSp>
      <p:sp>
        <p:nvSpPr>
          <p:cNvPr id="3" name="矩形 2"/>
          <p:cNvSpPr/>
          <p:nvPr/>
        </p:nvSpPr>
        <p:spPr>
          <a:xfrm>
            <a:off x="4091445" y="51088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478915"/>
            <a:ext cx="7681595" cy="3323987"/>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英美法系的双层次犯罪成立理论在某种程度上属于程序性犯罪构成，具有浓厚的程序化特征，侧重体现的是以程序正义为主导的价值取向。</a:t>
            </a:r>
          </a:p>
          <a:p>
            <a:pPr indent="457200">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不足之处：</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英美法系的双层次犯罪成立理论仅仅满足于实用，</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不注重深</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入</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的理论分析与体系的构建</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，很多问题点到为止，未能展开</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简评</a:t>
              </a:r>
            </a:p>
          </p:txBody>
        </p:sp>
      </p:grpSp>
      <p:sp>
        <p:nvSpPr>
          <p:cNvPr id="3" name="矩形 2"/>
          <p:cNvSpPr/>
          <p:nvPr/>
        </p:nvSpPr>
        <p:spPr>
          <a:xfrm>
            <a:off x="4091445" y="58200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926336" y="1147086"/>
            <a:ext cx="7681595" cy="5632311"/>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苏联四要件犯罪构成理论充分反映出社会危害性这一犯罪的本质，揭示犯罪行为内部构成要素的有机统一性质</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总体上避免或至少减少了许多对行为是否构成犯罪而作的烦琐的重复评价</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这一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理论所确立的犯罪构成要件的结构模式，使犯罪构成理论与犯罪构成的法律规定较为完满地达到了和谐与协调。</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这一理论在</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逻辑</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上以立法为依托，便于司法实际操作和掌握，极具实践品格。</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不足之处：</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犯罪构成理论与犯罪构成容易发生混淆</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在犯罪的认定方面，有罪推定的可能性较大</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在解释排除犯罪性行为为何不是犯罪时容易出现体系性的矛盾</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犯罪构成要件的充足与否同责任的评价一体进行，容易使刑事责任的地位和内容虚置</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cs typeface="宋体" panose="02010600030101010101" pitchFamily="2" charset="-122"/>
                <a:sym typeface="+mn-ea"/>
              </a:rPr>
              <a:t>整体</a:t>
            </a:r>
            <a:r>
              <a:rPr lang="zh-CN" altLang="en-US" sz="1400" b="1" dirty="0" smtClean="0">
                <a:solidFill>
                  <a:srgbClr val="00B0F0"/>
                </a:solidFill>
                <a:latin typeface="微软雅黑" panose="020B0503020204020204" pitchFamily="34" charset="-122"/>
                <a:cs typeface="宋体" panose="02010600030101010101" pitchFamily="2" charset="-122"/>
                <a:sym typeface="+mn-ea"/>
              </a:rPr>
              <a:t>式、</a:t>
            </a:r>
            <a:r>
              <a:rPr lang="zh-CN" altLang="en-US" sz="1400" b="1" dirty="0">
                <a:solidFill>
                  <a:srgbClr val="00B0F0"/>
                </a:solidFill>
                <a:latin typeface="微软雅黑" panose="020B0503020204020204" pitchFamily="34" charset="-122"/>
                <a:cs typeface="宋体" panose="02010600030101010101" pitchFamily="2" charset="-122"/>
                <a:sym typeface="+mn-ea"/>
              </a:rPr>
              <a:t>平面</a:t>
            </a:r>
            <a:r>
              <a:rPr lang="zh-CN" altLang="en-US" sz="1400" b="1" dirty="0" smtClean="0">
                <a:solidFill>
                  <a:srgbClr val="00B0F0"/>
                </a:solidFill>
                <a:latin typeface="微软雅黑" panose="020B0503020204020204" pitchFamily="34" charset="-122"/>
                <a:cs typeface="宋体" panose="02010600030101010101" pitchFamily="2" charset="-122"/>
                <a:sym typeface="+mn-ea"/>
              </a:rPr>
              <a:t>式</a:t>
            </a:r>
            <a:r>
              <a:rPr lang="zh-CN" altLang="en-US" sz="1400" b="1" dirty="0">
                <a:solidFill>
                  <a:srgbClr val="00B0F0"/>
                </a:solidFill>
                <a:latin typeface="微软雅黑" panose="020B0503020204020204" pitchFamily="34" charset="-122"/>
                <a:cs typeface="宋体" panose="02010600030101010101" pitchFamily="2" charset="-122"/>
                <a:sym typeface="+mn-ea"/>
              </a:rPr>
              <a:t>判断，在</a:t>
            </a:r>
            <a:r>
              <a:rPr lang="zh-CN" altLang="en-US" sz="1400" b="1" dirty="0" smtClean="0">
                <a:solidFill>
                  <a:srgbClr val="00B0F0"/>
                </a:solidFill>
                <a:latin typeface="微软雅黑" panose="020B0503020204020204" pitchFamily="34" charset="-122"/>
                <a:cs typeface="宋体" panose="02010600030101010101" pitchFamily="2" charset="-122"/>
                <a:sym typeface="+mn-ea"/>
              </a:rPr>
              <a:t>体系外安置</a:t>
            </a:r>
            <a:r>
              <a:rPr lang="zh-CN" altLang="en-US" sz="1400" b="1" dirty="0">
                <a:solidFill>
                  <a:srgbClr val="00B0F0"/>
                </a:solidFill>
                <a:latin typeface="微软雅黑" panose="020B0503020204020204" pitchFamily="34" charset="-122"/>
                <a:cs typeface="宋体" panose="02010600030101010101" pitchFamily="2" charset="-122"/>
                <a:sym typeface="+mn-ea"/>
              </a:rPr>
              <a:t>出罪事由）</a:t>
            </a:r>
            <a:endParaRPr 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简评</a:t>
              </a:r>
            </a:p>
          </p:txBody>
        </p:sp>
      </p:grpSp>
      <p:sp>
        <p:nvSpPr>
          <p:cNvPr id="3" name="矩形 2"/>
          <p:cNvSpPr/>
          <p:nvPr/>
        </p:nvSpPr>
        <p:spPr>
          <a:xfrm>
            <a:off x="4091445" y="49056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358390"/>
            <a:ext cx="7681595" cy="2861310"/>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通行的观点</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犯罪构成是我国刑法规定的，说明某一具体行为的社会危害性及其危害程度已构成犯罪的一系列客观要件和主观要件的总和。</a:t>
            </a:r>
          </a:p>
          <a:p>
            <a:pPr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犯罪构成要件包括犯罪客体</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、犯罪客观方面、犯罪主体和犯罪主观方面，</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统称为四要件犯罪构成理论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“四方面要件说”）</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（三）我国的犯罪构成理论争议及其发展</a:t>
              </a:r>
            </a:p>
          </p:txBody>
        </p:sp>
      </p:grpSp>
      <p:sp>
        <p:nvSpPr>
          <p:cNvPr id="3" name="矩形 2"/>
          <p:cNvSpPr/>
          <p:nvPr/>
        </p:nvSpPr>
        <p:spPr>
          <a:xfrm>
            <a:off x="4091445" y="6226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425700"/>
            <a:ext cx="7681595" cy="2861310"/>
          </a:xfrm>
          <a:prstGeom prst="rect">
            <a:avLst/>
          </a:prstGeom>
          <a:noFill/>
        </p:spPr>
        <p:txBody>
          <a:bodyPr wrap="square" rtlCol="0">
            <a:spAutoFit/>
          </a:bodyPr>
          <a:lstStyle/>
          <a:p>
            <a:pPr indent="457200">
              <a:lnSpc>
                <a:spcPct val="150000"/>
              </a:lnSpc>
            </a:pP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国内学者观点：</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完善模式、直接引进模式</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重构模式</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直接引进三阶层构成要件理论的观点最具代表性</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持该观点的学者认为，四要件犯罪构成理论存在瑕疵，主张以三阶层构成要件理论替代我国通行的四要件犯罪构成理论</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indent="45720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本书坚持以四要件犯罪构成理论为基础展开论述。</a:t>
            </a:r>
            <a:endParaRPr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（三）我国的犯罪构成理论争议及其发展</a:t>
              </a:r>
            </a:p>
          </p:txBody>
        </p:sp>
      </p:grpSp>
      <p:sp>
        <p:nvSpPr>
          <p:cNvPr id="3" name="矩形 2"/>
          <p:cNvSpPr/>
          <p:nvPr/>
        </p:nvSpPr>
        <p:spPr>
          <a:xfrm>
            <a:off x="4091445" y="6226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一、犯罪构成理论的发展与模式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104390"/>
            <a:ext cx="7681595" cy="2861310"/>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通说</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我国刑法中的犯罪构成是指刑法规定的，决定某种行为的社会危害性及其程度，而为该行为构成犯罪所必须具备的一切客观要件和主观要件的有机统一整体。</a:t>
            </a:r>
          </a:p>
          <a:p>
            <a:pPr indent="457200">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犯罪构成与犯罪概念之间的关系</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抽象与具体：</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犯罪概念是犯罪构成的前提和基础</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，犯罪构成是犯罪概念的具体化</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（一）犯罪构成的概念</a:t>
              </a:r>
            </a:p>
          </p:txBody>
        </p:sp>
      </p:grpSp>
      <p:sp>
        <p:nvSpPr>
          <p:cNvPr id="3" name="矩形 2"/>
          <p:cNvSpPr/>
          <p:nvPr/>
        </p:nvSpPr>
        <p:spPr>
          <a:xfrm>
            <a:off x="4091445" y="622644"/>
            <a:ext cx="5364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二、我国刑法中犯罪构成的概念与特征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322705"/>
            <a:ext cx="7268210" cy="3323987"/>
          </a:xfrm>
          <a:prstGeom prst="rect">
            <a:avLst/>
          </a:prstGeom>
          <a:noFill/>
        </p:spPr>
        <p:txBody>
          <a:bodyPr wrap="square" rtlCol="0">
            <a:spAutoFit/>
          </a:bodyPr>
          <a:lstStyle/>
          <a:p>
            <a:pPr indent="457200">
              <a:lnSpc>
                <a:spcPct val="150000"/>
              </a:lnSpc>
            </a:pPr>
            <a:r>
              <a:rPr lang="en-US" sz="2000" b="1"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法定性。</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就立法层面而言，刑法之所以规定某一犯罪，是因为其具有严重的社会危害性。就司法实践而言，某一行为是否构成犯罪，必须依照法律规定的犯罪构成来判断。</a:t>
            </a:r>
          </a:p>
          <a:p>
            <a:pPr indent="457200">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2.决定性</a:t>
            </a:r>
            <a:r>
              <a:rPr lang="zh-CN" altLang="en-US"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只有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对行为的社会危害性及其程度具有决定意义而为该行为成立犯罪所必需的事实特征，才是犯罪构成的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要件</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（诽谤罪）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（二）犯罪构成的特征</a:t>
              </a:r>
            </a:p>
          </p:txBody>
        </p:sp>
      </p:grpSp>
      <p:sp>
        <p:nvSpPr>
          <p:cNvPr id="3" name="矩形 2"/>
          <p:cNvSpPr/>
          <p:nvPr/>
        </p:nvSpPr>
        <p:spPr>
          <a:xfrm>
            <a:off x="4091445" y="622644"/>
            <a:ext cx="5364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二、我国刑法中犯罪构成的概念与特征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459990"/>
            <a:ext cx="7268210" cy="1938020"/>
          </a:xfrm>
          <a:prstGeom prst="rect">
            <a:avLst/>
          </a:prstGeom>
          <a:noFill/>
        </p:spPr>
        <p:txBody>
          <a:bodyPr wrap="square" rtlCol="0">
            <a:spAutoFit/>
          </a:bodyPr>
          <a:lstStyle/>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3.统一性。</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犯罪构成是诸多客观要件和主观要件的有机统一。任何一种犯罪的成立，都须具备若干要件。在这些要件中，既包含犯罪客体要件和犯罪客观方面要件，也包含犯罪主体要件和犯罪主观方面要件。</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（二）犯罪构成的特征</a:t>
              </a:r>
            </a:p>
          </p:txBody>
        </p:sp>
      </p:grpSp>
      <p:sp>
        <p:nvSpPr>
          <p:cNvPr id="3" name="矩形 2"/>
          <p:cNvSpPr/>
          <p:nvPr/>
        </p:nvSpPr>
        <p:spPr>
          <a:xfrm>
            <a:off x="4091445" y="622644"/>
            <a:ext cx="5364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二、我国刑法中犯罪构成的概念与特征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386" name="Organization Chart 5"/>
          <p:cNvGrpSpPr>
            <a:grpSpLocks noChangeAspect="1"/>
          </p:cNvGrpSpPr>
          <p:nvPr/>
        </p:nvGrpSpPr>
        <p:grpSpPr bwMode="auto">
          <a:xfrm>
            <a:off x="1952625" y="500063"/>
            <a:ext cx="8229600" cy="5607050"/>
            <a:chOff x="1161" y="601"/>
            <a:chExt cx="3888" cy="1152"/>
          </a:xfrm>
        </p:grpSpPr>
        <p:sp>
          <p:nvSpPr>
            <p:cNvPr id="144387" name="AutoShape 4"/>
            <p:cNvSpPr>
              <a:spLocks noChangeAspect="1" noChangeArrowheads="1" noTextEdit="1"/>
            </p:cNvSpPr>
            <p:nvPr/>
          </p:nvSpPr>
          <p:spPr bwMode="auto">
            <a:xfrm>
              <a:off x="1161" y="601"/>
              <a:ext cx="3888"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144388" name="_s3076"/>
            <p:cNvCxnSpPr>
              <a:cxnSpLocks noChangeShapeType="1"/>
              <a:stCxn id="144400" idx="0"/>
              <a:endCxn id="144396" idx="2"/>
            </p:cNvCxnSpPr>
            <p:nvPr/>
          </p:nvCxnSpPr>
          <p:spPr bwMode="auto">
            <a:xfrm rot="5400000" flipH="1">
              <a:off x="4293" y="1141"/>
              <a:ext cx="144" cy="504"/>
            </a:xfrm>
            <a:prstGeom prst="bentConnector3">
              <a:avLst>
                <a:gd name="adj1" fmla="val 16329"/>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4389" name="_s3077"/>
            <p:cNvCxnSpPr>
              <a:cxnSpLocks noChangeShapeType="1"/>
              <a:stCxn id="144399" idx="0"/>
              <a:endCxn id="144396" idx="2"/>
            </p:cNvCxnSpPr>
            <p:nvPr/>
          </p:nvCxnSpPr>
          <p:spPr bwMode="auto">
            <a:xfrm rot="-5400000">
              <a:off x="3789" y="1141"/>
              <a:ext cx="144" cy="504"/>
            </a:xfrm>
            <a:prstGeom prst="bentConnector3">
              <a:avLst>
                <a:gd name="adj1" fmla="val 16329"/>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4390" name="_s3078"/>
            <p:cNvCxnSpPr>
              <a:cxnSpLocks noChangeShapeType="1"/>
              <a:stCxn id="144398" idx="0"/>
              <a:endCxn id="144395" idx="2"/>
            </p:cNvCxnSpPr>
            <p:nvPr/>
          </p:nvCxnSpPr>
          <p:spPr bwMode="auto">
            <a:xfrm rot="5400000" flipH="1">
              <a:off x="2277" y="1141"/>
              <a:ext cx="144" cy="504"/>
            </a:xfrm>
            <a:prstGeom prst="bentConnector3">
              <a:avLst>
                <a:gd name="adj1" fmla="val 16329"/>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4391" name="_s3079"/>
            <p:cNvCxnSpPr>
              <a:cxnSpLocks noChangeShapeType="1"/>
              <a:stCxn id="144397" idx="0"/>
              <a:endCxn id="144395" idx="2"/>
            </p:cNvCxnSpPr>
            <p:nvPr/>
          </p:nvCxnSpPr>
          <p:spPr bwMode="auto">
            <a:xfrm rot="-5400000">
              <a:off x="1773" y="1141"/>
              <a:ext cx="144" cy="504"/>
            </a:xfrm>
            <a:prstGeom prst="bentConnector3">
              <a:avLst>
                <a:gd name="adj1" fmla="val 16329"/>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4392" name="_s3080"/>
            <p:cNvCxnSpPr>
              <a:cxnSpLocks noChangeShapeType="1"/>
              <a:stCxn id="144396" idx="0"/>
              <a:endCxn id="144394" idx="2"/>
            </p:cNvCxnSpPr>
            <p:nvPr/>
          </p:nvCxnSpPr>
          <p:spPr bwMode="auto">
            <a:xfrm rot="5400000" flipH="1">
              <a:off x="3537" y="457"/>
              <a:ext cx="144" cy="1008"/>
            </a:xfrm>
            <a:prstGeom prst="bentConnector3">
              <a:avLst>
                <a:gd name="adj1" fmla="val 1629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44393" name="_s3081"/>
            <p:cNvCxnSpPr>
              <a:cxnSpLocks noChangeShapeType="1"/>
              <a:stCxn id="144395" idx="0"/>
              <a:endCxn id="144394" idx="2"/>
            </p:cNvCxnSpPr>
            <p:nvPr/>
          </p:nvCxnSpPr>
          <p:spPr bwMode="auto">
            <a:xfrm rot="-5400000">
              <a:off x="2529" y="457"/>
              <a:ext cx="144" cy="1008"/>
            </a:xfrm>
            <a:prstGeom prst="bentConnector3">
              <a:avLst>
                <a:gd name="adj1" fmla="val 1629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44394" name="_s3082"/>
            <p:cNvSpPr>
              <a:spLocks noChangeArrowheads="1"/>
            </p:cNvSpPr>
            <p:nvPr/>
          </p:nvSpPr>
          <p:spPr bwMode="auto">
            <a:xfrm>
              <a:off x="2673" y="601"/>
              <a:ext cx="864" cy="288"/>
            </a:xfrm>
            <a:prstGeom prst="roundRect">
              <a:avLst>
                <a:gd name="adj" fmla="val 16667"/>
              </a:avLst>
            </a:prstGeom>
            <a:solidFill>
              <a:srgbClr val="FF66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犯罪构成</a:t>
              </a:r>
            </a:p>
          </p:txBody>
        </p:sp>
        <p:sp>
          <p:nvSpPr>
            <p:cNvPr id="144395" name="_s3083"/>
            <p:cNvSpPr>
              <a:spLocks noChangeArrowheads="1"/>
            </p:cNvSpPr>
            <p:nvPr/>
          </p:nvSpPr>
          <p:spPr bwMode="auto">
            <a:xfrm>
              <a:off x="1665" y="1033"/>
              <a:ext cx="864" cy="288"/>
            </a:xfrm>
            <a:prstGeom prst="roundRect">
              <a:avLst>
                <a:gd name="adj" fmla="val 16667"/>
              </a:avLst>
            </a:prstGeom>
            <a:solidFill>
              <a:srgbClr val="00CCFF"/>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客观要件</a:t>
              </a:r>
            </a:p>
          </p:txBody>
        </p:sp>
        <p:sp>
          <p:nvSpPr>
            <p:cNvPr id="144396" name="_s3084"/>
            <p:cNvSpPr>
              <a:spLocks noChangeArrowheads="1"/>
            </p:cNvSpPr>
            <p:nvPr/>
          </p:nvSpPr>
          <p:spPr bwMode="auto">
            <a:xfrm>
              <a:off x="3681" y="1033"/>
              <a:ext cx="864" cy="288"/>
            </a:xfrm>
            <a:prstGeom prst="roundRect">
              <a:avLst>
                <a:gd name="adj" fmla="val 16667"/>
              </a:avLst>
            </a:prstGeom>
            <a:solidFill>
              <a:srgbClr val="00CCFF"/>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主观要件</a:t>
              </a:r>
            </a:p>
          </p:txBody>
        </p:sp>
        <p:sp>
          <p:nvSpPr>
            <p:cNvPr id="144397" name="_s3085"/>
            <p:cNvSpPr>
              <a:spLocks noChangeArrowheads="1"/>
            </p:cNvSpPr>
            <p:nvPr/>
          </p:nvSpPr>
          <p:spPr bwMode="auto">
            <a:xfrm>
              <a:off x="1161" y="1465"/>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犯罪客体</a:t>
              </a:r>
            </a:p>
          </p:txBody>
        </p:sp>
        <p:sp>
          <p:nvSpPr>
            <p:cNvPr id="144398" name="_s3086"/>
            <p:cNvSpPr>
              <a:spLocks noChangeArrowheads="1"/>
            </p:cNvSpPr>
            <p:nvPr/>
          </p:nvSpPr>
          <p:spPr bwMode="auto">
            <a:xfrm>
              <a:off x="2169" y="1465"/>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犯罪客观</a:t>
              </a:r>
            </a:p>
            <a:p>
              <a:pPr algn="ctr" eaLnBrk="1" hangingPunct="1">
                <a:spcBef>
                  <a:spcPct val="0"/>
                </a:spcBef>
                <a:buFontTx/>
                <a:buNone/>
              </a:pPr>
              <a:r>
                <a:rPr lang="zh-CN" altLang="en-US" sz="2800"/>
                <a:t>方面</a:t>
              </a:r>
            </a:p>
          </p:txBody>
        </p:sp>
        <p:sp>
          <p:nvSpPr>
            <p:cNvPr id="144399" name="_s3087"/>
            <p:cNvSpPr>
              <a:spLocks noChangeArrowheads="1"/>
            </p:cNvSpPr>
            <p:nvPr/>
          </p:nvSpPr>
          <p:spPr bwMode="auto">
            <a:xfrm>
              <a:off x="3177" y="1465"/>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犯罪主体</a:t>
              </a:r>
            </a:p>
          </p:txBody>
        </p:sp>
        <p:sp>
          <p:nvSpPr>
            <p:cNvPr id="144400" name="_s3088"/>
            <p:cNvSpPr>
              <a:spLocks noChangeArrowheads="1"/>
            </p:cNvSpPr>
            <p:nvPr/>
          </p:nvSpPr>
          <p:spPr bwMode="auto">
            <a:xfrm>
              <a:off x="4185" y="1465"/>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t>犯罪主观</a:t>
              </a:r>
            </a:p>
            <a:p>
              <a:pPr algn="ctr" eaLnBrk="1" hangingPunct="1">
                <a:spcBef>
                  <a:spcPct val="0"/>
                </a:spcBef>
                <a:buFontTx/>
                <a:buNone/>
              </a:pPr>
              <a:r>
                <a:rPr lang="zh-CN" altLang="en-US" sz="2800"/>
                <a:t>方面</a:t>
              </a:r>
            </a:p>
          </p:txBody>
        </p:sp>
      </p:grpSp>
      <p:sp>
        <p:nvSpPr>
          <p:cNvPr id="17" name="Rectangle 9"/>
          <p:cNvSpPr>
            <a:spLocks noGrp="1" noChangeArrowheads="1"/>
          </p:cNvSpPr>
          <p:nvPr>
            <p:ph type="title" sz="quarter"/>
          </p:nvPr>
        </p:nvSpPr>
        <p:spPr>
          <a:xfrm>
            <a:off x="545592" y="250826"/>
            <a:ext cx="3724656" cy="633412"/>
          </a:xfrm>
        </p:spPr>
        <p:txBody>
          <a:bodyPr/>
          <a:lstStyle/>
          <a:p>
            <a:pPr algn="l" eaLnBrk="1" hangingPunct="1"/>
            <a:r>
              <a:rPr lang="zh-CN" altLang="en-US" sz="2800" b="1" dirty="0" smtClean="0"/>
              <a:t>犯罪构成体系</a:t>
            </a:r>
            <a:endParaRPr lang="zh-CN" altLang="en-US" sz="2800" b="1" dirty="0"/>
          </a:p>
        </p:txBody>
      </p:sp>
    </p:spTree>
    <p:extLst>
      <p:ext uri="{BB962C8B-B14F-4D97-AF65-F5344CB8AC3E}">
        <p14:creationId xmlns:p14="http://schemas.microsoft.com/office/powerpoint/2010/main" val="4149524394"/>
      </p:ext>
    </p:extLst>
  </p:cSld>
  <p:clrMapOvr>
    <a:masterClrMapping/>
  </p:clrMapOvr>
  <p:transition>
    <p:comb/>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9"/>
          <p:cNvSpPr>
            <a:spLocks noGrp="1" noChangeArrowheads="1"/>
          </p:cNvSpPr>
          <p:nvPr>
            <p:ph type="title" sz="quarter"/>
          </p:nvPr>
        </p:nvSpPr>
        <p:spPr>
          <a:xfrm>
            <a:off x="546472" y="213972"/>
            <a:ext cx="3764385" cy="633412"/>
          </a:xfrm>
        </p:spPr>
        <p:txBody>
          <a:bodyPr/>
          <a:lstStyle/>
          <a:p>
            <a:pPr algn="l" eaLnBrk="1" hangingPunct="1"/>
            <a:r>
              <a:rPr lang="zh-CN" altLang="en-US" sz="2800" b="1" dirty="0" smtClean="0"/>
              <a:t>犯罪</a:t>
            </a:r>
            <a:r>
              <a:rPr lang="zh-CN" altLang="en-US" sz="2800" b="1" dirty="0"/>
              <a:t>构成要件（要素）</a:t>
            </a:r>
          </a:p>
        </p:txBody>
      </p:sp>
      <p:grpSp>
        <p:nvGrpSpPr>
          <p:cNvPr id="151555" name="Organization Chart 11"/>
          <p:cNvGrpSpPr>
            <a:grpSpLocks noChangeAspect="1"/>
          </p:cNvGrpSpPr>
          <p:nvPr/>
        </p:nvGrpSpPr>
        <p:grpSpPr bwMode="auto">
          <a:xfrm>
            <a:off x="1949450" y="1568450"/>
            <a:ext cx="3354388" cy="2160588"/>
            <a:chOff x="268" y="988"/>
            <a:chExt cx="1872" cy="720"/>
          </a:xfrm>
        </p:grpSpPr>
        <p:sp>
          <p:nvSpPr>
            <p:cNvPr id="151585" name="AutoShape 10"/>
            <p:cNvSpPr>
              <a:spLocks noChangeAspect="1" noChangeArrowheads="1" noTextEdit="1"/>
            </p:cNvSpPr>
            <p:nvPr/>
          </p:nvSpPr>
          <p:spPr bwMode="auto">
            <a:xfrm>
              <a:off x="268" y="988"/>
              <a:ext cx="1872" cy="7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151586" name="_s4100"/>
            <p:cNvCxnSpPr>
              <a:cxnSpLocks noChangeShapeType="1"/>
              <a:stCxn id="151590" idx="0"/>
              <a:endCxn id="151588" idx="2"/>
            </p:cNvCxnSpPr>
            <p:nvPr/>
          </p:nvCxnSpPr>
          <p:spPr bwMode="auto">
            <a:xfrm rot="5400000" flipH="1">
              <a:off x="1384" y="1096"/>
              <a:ext cx="144" cy="504"/>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87" name="_s4101"/>
            <p:cNvCxnSpPr>
              <a:cxnSpLocks noChangeShapeType="1"/>
              <a:stCxn id="151589" idx="0"/>
              <a:endCxn id="151588" idx="2"/>
            </p:cNvCxnSpPr>
            <p:nvPr/>
          </p:nvCxnSpPr>
          <p:spPr bwMode="auto">
            <a:xfrm rot="-5400000">
              <a:off x="880" y="1096"/>
              <a:ext cx="144" cy="504"/>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51588" name="_s4102"/>
            <p:cNvSpPr>
              <a:spLocks noChangeArrowheads="1"/>
            </p:cNvSpPr>
            <p:nvPr/>
          </p:nvSpPr>
          <p:spPr bwMode="auto">
            <a:xfrm>
              <a:off x="772" y="988"/>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犯罪客体</a:t>
              </a:r>
            </a:p>
          </p:txBody>
        </p:sp>
        <p:sp>
          <p:nvSpPr>
            <p:cNvPr id="151589" name="_s4103"/>
            <p:cNvSpPr>
              <a:spLocks noChangeArrowheads="1"/>
            </p:cNvSpPr>
            <p:nvPr/>
          </p:nvSpPr>
          <p:spPr bwMode="auto">
            <a:xfrm>
              <a:off x="268" y="1420"/>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i="1"/>
                <a:t>直接客体</a:t>
              </a:r>
            </a:p>
          </p:txBody>
        </p:sp>
        <p:sp>
          <p:nvSpPr>
            <p:cNvPr id="151590" name="_s4104"/>
            <p:cNvSpPr>
              <a:spLocks noChangeArrowheads="1"/>
            </p:cNvSpPr>
            <p:nvPr/>
          </p:nvSpPr>
          <p:spPr bwMode="auto">
            <a:xfrm>
              <a:off x="1276" y="1420"/>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犯罪对象</a:t>
              </a:r>
            </a:p>
          </p:txBody>
        </p:sp>
      </p:grpSp>
      <p:grpSp>
        <p:nvGrpSpPr>
          <p:cNvPr id="151556" name="Organization Chart 20"/>
          <p:cNvGrpSpPr>
            <a:grpSpLocks noChangeAspect="1"/>
          </p:cNvGrpSpPr>
          <p:nvPr/>
        </p:nvGrpSpPr>
        <p:grpSpPr bwMode="auto">
          <a:xfrm>
            <a:off x="5519738" y="1568450"/>
            <a:ext cx="4652962" cy="2160588"/>
            <a:chOff x="2908" y="988"/>
            <a:chExt cx="2880" cy="720"/>
          </a:xfrm>
        </p:grpSpPr>
        <p:sp>
          <p:nvSpPr>
            <p:cNvPr id="151577" name="AutoShape 19"/>
            <p:cNvSpPr>
              <a:spLocks noChangeAspect="1" noChangeArrowheads="1" noTextEdit="1"/>
            </p:cNvSpPr>
            <p:nvPr/>
          </p:nvSpPr>
          <p:spPr bwMode="auto">
            <a:xfrm>
              <a:off x="2908" y="988"/>
              <a:ext cx="288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151578" name="_s4107"/>
            <p:cNvCxnSpPr>
              <a:cxnSpLocks noChangeShapeType="1"/>
              <a:stCxn id="151584" idx="0"/>
              <a:endCxn id="151581" idx="2"/>
            </p:cNvCxnSpPr>
            <p:nvPr/>
          </p:nvCxnSpPr>
          <p:spPr bwMode="auto">
            <a:xfrm rot="5400000" flipH="1">
              <a:off x="4763" y="825"/>
              <a:ext cx="144" cy="1009"/>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79" name="_s4108"/>
            <p:cNvCxnSpPr>
              <a:cxnSpLocks noChangeShapeType="1"/>
              <a:stCxn id="151583" idx="0"/>
              <a:endCxn id="151581" idx="2"/>
            </p:cNvCxnSpPr>
            <p:nvPr/>
          </p:nvCxnSpPr>
          <p:spPr bwMode="auto">
            <a:xfrm rot="-5400000">
              <a:off x="4259" y="1329"/>
              <a:ext cx="144" cy="1"/>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1580" name="_s4109"/>
            <p:cNvCxnSpPr>
              <a:cxnSpLocks noChangeShapeType="1"/>
              <a:stCxn id="151582" idx="0"/>
              <a:endCxn id="151581" idx="2"/>
            </p:cNvCxnSpPr>
            <p:nvPr/>
          </p:nvCxnSpPr>
          <p:spPr bwMode="auto">
            <a:xfrm rot="-5400000">
              <a:off x="3772" y="844"/>
              <a:ext cx="144" cy="1008"/>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51581" name="_s4110"/>
            <p:cNvSpPr>
              <a:spLocks noChangeArrowheads="1"/>
            </p:cNvSpPr>
            <p:nvPr/>
          </p:nvSpPr>
          <p:spPr bwMode="auto">
            <a:xfrm>
              <a:off x="3916" y="988"/>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犯罪客观方面</a:t>
              </a:r>
            </a:p>
          </p:txBody>
        </p:sp>
        <p:sp>
          <p:nvSpPr>
            <p:cNvPr id="151582" name="_s4111"/>
            <p:cNvSpPr>
              <a:spLocks noChangeArrowheads="1"/>
            </p:cNvSpPr>
            <p:nvPr/>
          </p:nvSpPr>
          <p:spPr bwMode="auto">
            <a:xfrm>
              <a:off x="2908" y="1420"/>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i="1"/>
                <a:t>危害行为</a:t>
              </a:r>
            </a:p>
          </p:txBody>
        </p:sp>
        <p:sp>
          <p:nvSpPr>
            <p:cNvPr id="151583" name="_s4112"/>
            <p:cNvSpPr>
              <a:spLocks noChangeArrowheads="1"/>
            </p:cNvSpPr>
            <p:nvPr/>
          </p:nvSpPr>
          <p:spPr bwMode="auto">
            <a:xfrm>
              <a:off x="3916" y="1420"/>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危害结果</a:t>
              </a:r>
            </a:p>
          </p:txBody>
        </p:sp>
        <p:sp>
          <p:nvSpPr>
            <p:cNvPr id="151584" name="_s4113"/>
            <p:cNvSpPr>
              <a:spLocks noChangeArrowheads="1"/>
            </p:cNvSpPr>
            <p:nvPr/>
          </p:nvSpPr>
          <p:spPr bwMode="auto">
            <a:xfrm>
              <a:off x="4924" y="1420"/>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犯罪的时间、</a:t>
              </a:r>
            </a:p>
            <a:p>
              <a:pPr algn="ctr" eaLnBrk="1" hangingPunct="1">
                <a:spcBef>
                  <a:spcPct val="0"/>
                </a:spcBef>
                <a:buFontTx/>
                <a:buNone/>
              </a:pPr>
              <a:r>
                <a:rPr lang="zh-CN" altLang="en-US" sz="1600"/>
                <a:t>地点、方法</a:t>
              </a:r>
            </a:p>
          </p:txBody>
        </p:sp>
      </p:grpSp>
      <p:grpSp>
        <p:nvGrpSpPr>
          <p:cNvPr id="151557" name="Organization Chart 35"/>
          <p:cNvGrpSpPr>
            <a:grpSpLocks noChangeAspect="1"/>
          </p:cNvGrpSpPr>
          <p:nvPr/>
        </p:nvGrpSpPr>
        <p:grpSpPr bwMode="auto">
          <a:xfrm>
            <a:off x="1949451" y="3906839"/>
            <a:ext cx="4722813" cy="2160587"/>
            <a:chOff x="268" y="2461"/>
            <a:chExt cx="2880" cy="720"/>
          </a:xfrm>
        </p:grpSpPr>
        <p:sp>
          <p:nvSpPr>
            <p:cNvPr id="151569" name="AutoShape 34"/>
            <p:cNvSpPr>
              <a:spLocks noChangeAspect="1" noChangeArrowheads="1" noTextEdit="1"/>
            </p:cNvSpPr>
            <p:nvPr/>
          </p:nvSpPr>
          <p:spPr bwMode="auto">
            <a:xfrm>
              <a:off x="268" y="2461"/>
              <a:ext cx="288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151570" name="_s4116"/>
            <p:cNvCxnSpPr>
              <a:cxnSpLocks noChangeShapeType="1"/>
              <a:stCxn id="151576" idx="0"/>
              <a:endCxn id="151573" idx="2"/>
            </p:cNvCxnSpPr>
            <p:nvPr/>
          </p:nvCxnSpPr>
          <p:spPr bwMode="auto">
            <a:xfrm rot="5400000" flipH="1">
              <a:off x="2140" y="2317"/>
              <a:ext cx="144" cy="1008"/>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71" name="_s4117"/>
            <p:cNvCxnSpPr>
              <a:cxnSpLocks noChangeShapeType="1"/>
              <a:stCxn id="151575" idx="0"/>
              <a:endCxn id="151573" idx="2"/>
            </p:cNvCxnSpPr>
            <p:nvPr/>
          </p:nvCxnSpPr>
          <p:spPr bwMode="auto">
            <a:xfrm rot="-5400000">
              <a:off x="1619" y="2802"/>
              <a:ext cx="144" cy="1"/>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1572" name="_s4118"/>
            <p:cNvCxnSpPr>
              <a:cxnSpLocks noChangeShapeType="1"/>
              <a:stCxn id="151574" idx="0"/>
              <a:endCxn id="151573" idx="2"/>
            </p:cNvCxnSpPr>
            <p:nvPr/>
          </p:nvCxnSpPr>
          <p:spPr bwMode="auto">
            <a:xfrm rot="-5400000">
              <a:off x="1115" y="2299"/>
              <a:ext cx="144" cy="1007"/>
            </a:xfrm>
            <a:prstGeom prst="bentConnector3">
              <a:avLst>
                <a:gd name="adj1" fmla="val 2637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51573" name="_s4119"/>
            <p:cNvSpPr>
              <a:spLocks noChangeArrowheads="1"/>
            </p:cNvSpPr>
            <p:nvPr/>
          </p:nvSpPr>
          <p:spPr bwMode="auto">
            <a:xfrm>
              <a:off x="1276" y="2461"/>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犯罪主体</a:t>
              </a:r>
            </a:p>
          </p:txBody>
        </p:sp>
        <p:sp>
          <p:nvSpPr>
            <p:cNvPr id="151574" name="_s4120"/>
            <p:cNvSpPr>
              <a:spLocks noChangeArrowheads="1"/>
            </p:cNvSpPr>
            <p:nvPr/>
          </p:nvSpPr>
          <p:spPr bwMode="auto">
            <a:xfrm>
              <a:off x="268" y="2893"/>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i="1"/>
                <a:t>刑事责任</a:t>
              </a:r>
            </a:p>
            <a:p>
              <a:pPr algn="ctr" eaLnBrk="1" hangingPunct="1">
                <a:spcBef>
                  <a:spcPct val="0"/>
                </a:spcBef>
                <a:buFontTx/>
                <a:buNone/>
              </a:pPr>
              <a:r>
                <a:rPr lang="zh-CN" altLang="en-US" sz="1600" b="1" i="1"/>
                <a:t>能力</a:t>
              </a:r>
            </a:p>
          </p:txBody>
        </p:sp>
        <p:sp>
          <p:nvSpPr>
            <p:cNvPr id="151575" name="_s4121"/>
            <p:cNvSpPr>
              <a:spLocks noChangeArrowheads="1"/>
            </p:cNvSpPr>
            <p:nvPr/>
          </p:nvSpPr>
          <p:spPr bwMode="auto">
            <a:xfrm>
              <a:off x="1276" y="2893"/>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特殊身份</a:t>
              </a:r>
            </a:p>
          </p:txBody>
        </p:sp>
        <p:sp>
          <p:nvSpPr>
            <p:cNvPr id="151576" name="_s4122"/>
            <p:cNvSpPr>
              <a:spLocks noChangeArrowheads="1"/>
            </p:cNvSpPr>
            <p:nvPr/>
          </p:nvSpPr>
          <p:spPr bwMode="auto">
            <a:xfrm>
              <a:off x="2284" y="2893"/>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单位</a:t>
              </a:r>
            </a:p>
          </p:txBody>
        </p:sp>
      </p:grpSp>
      <p:grpSp>
        <p:nvGrpSpPr>
          <p:cNvPr id="151558" name="Organization Chart 46"/>
          <p:cNvGrpSpPr>
            <a:grpSpLocks noChangeAspect="1"/>
          </p:cNvGrpSpPr>
          <p:nvPr/>
        </p:nvGrpSpPr>
        <p:grpSpPr bwMode="auto">
          <a:xfrm>
            <a:off x="6858001" y="3906839"/>
            <a:ext cx="3313113" cy="2160587"/>
            <a:chOff x="3360" y="2461"/>
            <a:chExt cx="2376" cy="1152"/>
          </a:xfrm>
        </p:grpSpPr>
        <p:sp>
          <p:nvSpPr>
            <p:cNvPr id="151559" name="AutoShape 45"/>
            <p:cNvSpPr>
              <a:spLocks noChangeAspect="1" noChangeArrowheads="1" noTextEdit="1"/>
            </p:cNvSpPr>
            <p:nvPr/>
          </p:nvSpPr>
          <p:spPr bwMode="auto">
            <a:xfrm>
              <a:off x="3360" y="2461"/>
              <a:ext cx="2376"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151560" name="_s4125"/>
            <p:cNvCxnSpPr>
              <a:cxnSpLocks noChangeShapeType="1"/>
              <a:stCxn id="151568" idx="0"/>
              <a:endCxn id="151565" idx="2"/>
            </p:cNvCxnSpPr>
            <p:nvPr/>
          </p:nvCxnSpPr>
          <p:spPr bwMode="auto">
            <a:xfrm rot="5400000" flipH="1">
              <a:off x="4459" y="2983"/>
              <a:ext cx="144" cy="503"/>
            </a:xfrm>
            <a:prstGeom prst="bentConnector3">
              <a:avLst>
                <a:gd name="adj1" fmla="val 4235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61" name="_s4126"/>
            <p:cNvCxnSpPr>
              <a:cxnSpLocks noChangeShapeType="1"/>
              <a:stCxn id="151567" idx="0"/>
              <a:endCxn id="151565" idx="2"/>
            </p:cNvCxnSpPr>
            <p:nvPr/>
          </p:nvCxnSpPr>
          <p:spPr bwMode="auto">
            <a:xfrm rot="-5400000">
              <a:off x="3973" y="3001"/>
              <a:ext cx="144" cy="504"/>
            </a:xfrm>
            <a:prstGeom prst="bentConnector3">
              <a:avLst>
                <a:gd name="adj1" fmla="val 4235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62" name="_s4127"/>
            <p:cNvCxnSpPr>
              <a:cxnSpLocks noChangeShapeType="1"/>
              <a:stCxn id="151566" idx="0"/>
              <a:endCxn id="151564" idx="2"/>
            </p:cNvCxnSpPr>
            <p:nvPr/>
          </p:nvCxnSpPr>
          <p:spPr bwMode="auto">
            <a:xfrm rot="5400000" flipH="1">
              <a:off x="4963" y="2550"/>
              <a:ext cx="144" cy="505"/>
            </a:xfrm>
            <a:prstGeom prst="bentConnector3">
              <a:avLst>
                <a:gd name="adj1" fmla="val 4235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51563" name="_s4128"/>
            <p:cNvCxnSpPr>
              <a:cxnSpLocks noChangeShapeType="1"/>
              <a:stCxn id="151565" idx="0"/>
              <a:endCxn id="151564" idx="2"/>
            </p:cNvCxnSpPr>
            <p:nvPr/>
          </p:nvCxnSpPr>
          <p:spPr bwMode="auto">
            <a:xfrm rot="-5400000">
              <a:off x="4459" y="2551"/>
              <a:ext cx="144" cy="503"/>
            </a:xfrm>
            <a:prstGeom prst="bentConnector3">
              <a:avLst>
                <a:gd name="adj1" fmla="val 4235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151564" name="_s4129"/>
            <p:cNvSpPr>
              <a:spLocks noChangeArrowheads="1"/>
            </p:cNvSpPr>
            <p:nvPr/>
          </p:nvSpPr>
          <p:spPr bwMode="auto">
            <a:xfrm>
              <a:off x="4368" y="2461"/>
              <a:ext cx="864" cy="288"/>
            </a:xfrm>
            <a:prstGeom prst="roundRect">
              <a:avLst>
                <a:gd name="adj" fmla="val 16667"/>
              </a:avLst>
            </a:prstGeom>
            <a:solidFill>
              <a:srgbClr val="00FF00"/>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犯罪主观方面</a:t>
              </a:r>
            </a:p>
          </p:txBody>
        </p:sp>
        <p:sp>
          <p:nvSpPr>
            <p:cNvPr id="151565" name="_s4130"/>
            <p:cNvSpPr>
              <a:spLocks noChangeArrowheads="1"/>
            </p:cNvSpPr>
            <p:nvPr/>
          </p:nvSpPr>
          <p:spPr bwMode="auto">
            <a:xfrm>
              <a:off x="3864" y="2893"/>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i="1"/>
                <a:t>犯罪故意</a:t>
              </a:r>
            </a:p>
          </p:txBody>
        </p:sp>
        <p:sp>
          <p:nvSpPr>
            <p:cNvPr id="151566" name="_s4131"/>
            <p:cNvSpPr>
              <a:spLocks noChangeArrowheads="1"/>
            </p:cNvSpPr>
            <p:nvPr/>
          </p:nvSpPr>
          <p:spPr bwMode="auto">
            <a:xfrm>
              <a:off x="4872" y="2893"/>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i="1"/>
                <a:t>犯罪过失</a:t>
              </a:r>
            </a:p>
          </p:txBody>
        </p:sp>
        <p:sp>
          <p:nvSpPr>
            <p:cNvPr id="151567" name="_s4132"/>
            <p:cNvSpPr>
              <a:spLocks noChangeArrowheads="1"/>
            </p:cNvSpPr>
            <p:nvPr/>
          </p:nvSpPr>
          <p:spPr bwMode="auto">
            <a:xfrm>
              <a:off x="3360" y="3325"/>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犯罪动机</a:t>
              </a:r>
            </a:p>
          </p:txBody>
        </p:sp>
        <p:sp>
          <p:nvSpPr>
            <p:cNvPr id="151568" name="_s4133"/>
            <p:cNvSpPr>
              <a:spLocks noChangeArrowheads="1"/>
            </p:cNvSpPr>
            <p:nvPr/>
          </p:nvSpPr>
          <p:spPr bwMode="auto">
            <a:xfrm>
              <a:off x="4368" y="3325"/>
              <a:ext cx="864" cy="288"/>
            </a:xfrm>
            <a:prstGeom prst="roundRect">
              <a:avLst>
                <a:gd name="adj" fmla="val 16667"/>
              </a:avLst>
            </a:prstGeom>
            <a:solidFill>
              <a:srgbClr val="FFFF99"/>
            </a:solidFill>
            <a:ln w="9525">
              <a:solidFill>
                <a:schemeClr val="tx1"/>
              </a:solidFill>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a:t>犯罪目的</a:t>
              </a:r>
            </a:p>
          </p:txBody>
        </p:sp>
      </p:grpSp>
    </p:spTree>
    <p:extLst>
      <p:ext uri="{BB962C8B-B14F-4D97-AF65-F5344CB8AC3E}">
        <p14:creationId xmlns:p14="http://schemas.microsoft.com/office/powerpoint/2010/main" val="583777566"/>
      </p:ext>
    </p:extLst>
  </p:cSld>
  <p:clrMapOvr>
    <a:masterClrMapping/>
  </p:clrMapOvr>
  <p:transition>
    <p:comb/>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767840"/>
            <a:ext cx="7268210" cy="3323987"/>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根据犯罪构成要件的</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繁简程度</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，可以把犯罪构成分为单纯的犯罪构成与混合的犯罪构成。</a:t>
            </a:r>
          </a:p>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单纯的犯罪构成</a:t>
            </a: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指刑法条文规定的犯罪构成各要件之要素均属单一的犯罪构成</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（过失致人重伤罪）</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b="1" dirty="0" err="1">
                <a:latin typeface="微软雅黑" panose="020B0503020204020204" pitchFamily="34" charset="-122"/>
                <a:ea typeface="微软雅黑" panose="020B0503020204020204" pitchFamily="34" charset="-122"/>
                <a:cs typeface="宋体" panose="02010600030101010101" pitchFamily="2" charset="-122"/>
                <a:sym typeface="+mn-ea"/>
              </a:rPr>
              <a:t>混合的犯罪构成，</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指刑法条文规定的诸要件中存在要素复合或择一而定的犯罪构成</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混合的犯罪构成又包括复合的犯罪构成</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（高利转贷罪）</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和择一的犯罪构成</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（走私淫秽物品罪）</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两种情况</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（一）单纯的犯罪构成与混合的犯罪构成</a:t>
              </a:r>
            </a:p>
          </p:txBody>
        </p:sp>
      </p:grpSp>
      <p:sp>
        <p:nvSpPr>
          <p:cNvPr id="3" name="矩形 2"/>
          <p:cNvSpPr/>
          <p:nvPr/>
        </p:nvSpPr>
        <p:spPr>
          <a:xfrm>
            <a:off x="4091445" y="622644"/>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三、犯罪构成的分类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322705"/>
            <a:ext cx="7268210" cy="3323987"/>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按照犯罪构成类型所依赖的</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犯罪形态是否典型</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，可将犯罪构成分为标准的犯罪构成与修正的犯罪构成。</a:t>
            </a:r>
          </a:p>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标准的犯罪构成，</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是指刑法条文就某一犯罪的单独犯的既遂状态规定的犯罪构成。</a:t>
            </a:r>
          </a:p>
          <a:p>
            <a:pPr indent="457200">
              <a:lnSpc>
                <a:spcPct val="150000"/>
              </a:lnSpc>
            </a:pPr>
            <a:r>
              <a:rPr sz="2000" b="1" dirty="0" err="1">
                <a:latin typeface="微软雅黑" panose="020B0503020204020204" pitchFamily="34" charset="-122"/>
                <a:ea typeface="微软雅黑" panose="020B0503020204020204" pitchFamily="34" charset="-122"/>
                <a:cs typeface="宋体" panose="02010600030101010101" pitchFamily="2" charset="-122"/>
                <a:sym typeface="+mn-ea"/>
              </a:rPr>
              <a:t>修正的犯罪构成，</a:t>
            </a: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是指以标准的犯罪构成为前提，为适应犯罪行为的各种不同犯罪形态，</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对标准的犯罪构成加以某些修改变更的犯罪构成</a:t>
            </a:r>
            <a:r>
              <a:rPr lang="zh-CN" altLang="en-US" sz="1400" b="1" dirty="0">
                <a:solidFill>
                  <a:srgbClr val="00B0F0"/>
                </a:solidFill>
                <a:latin typeface="微软雅黑" panose="020B0503020204020204" pitchFamily="34" charset="-122"/>
                <a:cs typeface="宋体" panose="02010600030101010101" pitchFamily="2" charset="-122"/>
                <a:sym typeface="+mn-ea"/>
              </a:rPr>
              <a:t>（未完成犯罪的犯罪构成和共同犯罪的犯罪构成）</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5718" y="3235128"/>
            <a:ext cx="3566160" cy="1674132"/>
            <a:chOff x="555718" y="3235128"/>
            <a:chExt cx="356616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5718" y="3235636"/>
              <a:ext cx="356616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（二）标准的犯罪构成与修正的犯罪构成</a:t>
              </a:r>
            </a:p>
          </p:txBody>
        </p:sp>
      </p:grpSp>
      <p:sp>
        <p:nvSpPr>
          <p:cNvPr id="3" name="矩形 2"/>
          <p:cNvSpPr/>
          <p:nvPr/>
        </p:nvSpPr>
        <p:spPr>
          <a:xfrm>
            <a:off x="4091445" y="622644"/>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三、犯罪构成的分类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1322705"/>
            <a:ext cx="7268210" cy="4707890"/>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按照</a:t>
            </a:r>
            <a:r>
              <a:rPr sz="2000" b="1" dirty="0">
                <a:latin typeface="微软雅黑" panose="020B0503020204020204" pitchFamily="34" charset="-122"/>
                <a:ea typeface="微软雅黑" panose="020B0503020204020204" pitchFamily="34" charset="-122"/>
                <a:cs typeface="宋体" panose="02010600030101010101" pitchFamily="2" charset="-122"/>
                <a:sym typeface="+mn-ea"/>
              </a:rPr>
              <a:t>犯罪行为危害程度的大小，</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可将犯罪构成分为普通的犯罪构成、加重的</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犯罪构成与减轻的犯罪构成</a:t>
            </a:r>
          </a:p>
          <a:p>
            <a:pPr indent="457200">
              <a:lnSpc>
                <a:spcPct val="150000"/>
              </a:lnSpc>
            </a:pP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普通的犯罪构成，</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是指刑法条文对具有通常社会危害程度的行为规定的犯罪构成。</a:t>
            </a:r>
          </a:p>
          <a:p>
            <a:pPr indent="457200">
              <a:lnSpc>
                <a:spcPct val="150000"/>
              </a:lnSpc>
            </a:pP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加重的犯罪构成，</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是指以普通的犯罪构成为基础，由于具有较重社会危害程度的情节而从普通的犯罪构成中分化出来的犯罪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构成</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（规定法定刑升格情节）</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减轻的犯罪构成，</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是指以普通的犯罪构成为基础，由于具有较轻社会危害程度的情节而从普通的犯罪构成中分化出来的犯罪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构成</a:t>
            </a:r>
            <a:r>
              <a:rPr lang="zh-CN" altLang="en-US" sz="1400" b="1" dirty="0">
                <a:solidFill>
                  <a:srgbClr val="00B0F0"/>
                </a:solidFill>
                <a:latin typeface="微软雅黑" panose="020B0503020204020204" pitchFamily="34" charset="-122"/>
                <a:cs typeface="宋体" panose="02010600030101010101" pitchFamily="2" charset="-122"/>
                <a:sym typeface="+mn-ea"/>
              </a:rPr>
              <a:t>（规定法</a:t>
            </a:r>
            <a:r>
              <a:rPr lang="zh-CN" altLang="en-US" sz="1400" b="1" dirty="0" smtClean="0">
                <a:solidFill>
                  <a:srgbClr val="00B0F0"/>
                </a:solidFill>
                <a:latin typeface="微软雅黑" panose="020B0503020204020204" pitchFamily="34" charset="-122"/>
                <a:cs typeface="宋体" panose="02010600030101010101" pitchFamily="2" charset="-122"/>
                <a:sym typeface="+mn-ea"/>
              </a:rPr>
              <a:t>定刑降格</a:t>
            </a:r>
            <a:r>
              <a:rPr lang="zh-CN" altLang="en-US" sz="1400" b="1" dirty="0">
                <a:solidFill>
                  <a:srgbClr val="00B0F0"/>
                </a:solidFill>
                <a:latin typeface="微软雅黑" panose="020B0503020204020204" pitchFamily="34" charset="-122"/>
                <a:cs typeface="宋体" panose="02010600030101010101" pitchFamily="2" charset="-122"/>
                <a:sym typeface="+mn-ea"/>
              </a:rPr>
              <a:t>情节） </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113843"/>
            <a:ext cx="3177303" cy="1795417"/>
            <a:chOff x="760461" y="3113843"/>
            <a:chExt cx="3177303" cy="1795417"/>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41766" y="3113843"/>
              <a:ext cx="2894965" cy="1614805"/>
            </a:xfrm>
            <a:prstGeom prst="rect">
              <a:avLst/>
            </a:prstGeom>
          </p:spPr>
          <p:txBody>
            <a:bodyPr wrap="square">
              <a:spAutoFit/>
            </a:bodyPr>
            <a:lstStyle/>
            <a:p>
              <a:pPr indent="304800" algn="l">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（三）普通的犯罪构成、加重的犯罪构成与减轻的犯罪构成</a:t>
              </a:r>
            </a:p>
          </p:txBody>
        </p:sp>
      </p:grpSp>
      <p:sp>
        <p:nvSpPr>
          <p:cNvPr id="3" name="矩形 2"/>
          <p:cNvSpPr/>
          <p:nvPr/>
        </p:nvSpPr>
        <p:spPr>
          <a:xfrm>
            <a:off x="4091445" y="622644"/>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三、犯罪构成的分类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641600"/>
            <a:ext cx="7268210" cy="2861310"/>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犯罪构成是犯罪成立条件的概括，有利于罪刑法定原则的贯彻落实。</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犯罪构成可以使实施罪行的人受到追究，以维护社会秩序;也可以使未实施罪行的人不受处罚，以保障人权。</a:t>
            </a:r>
          </a:p>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只有借助于犯罪构成，罪刑法定原则维护社会秩序和保障人权的功能才能实现。</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134163"/>
            <a:ext cx="3330575" cy="1775097"/>
            <a:chOff x="760461" y="3134163"/>
            <a:chExt cx="3330575" cy="1775097"/>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00491" y="3134163"/>
              <a:ext cx="3090545" cy="1614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（一）有利于实现和维护罪刑法定原则，防止罪刑擅断</a:t>
              </a:r>
            </a:p>
          </p:txBody>
        </p:sp>
      </p:grpSp>
      <p:sp>
        <p:nvSpPr>
          <p:cNvPr id="3" name="矩形 2"/>
          <p:cNvSpPr/>
          <p:nvPr/>
        </p:nvSpPr>
        <p:spPr>
          <a:xfrm>
            <a:off x="4091445" y="1083019"/>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四、犯罪构成的意义</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62425" y="2280285"/>
            <a:ext cx="7268210" cy="3322955"/>
          </a:xfrm>
          <a:prstGeom prst="rect">
            <a:avLst/>
          </a:prstGeom>
          <a:noFill/>
        </p:spPr>
        <p:txBody>
          <a:bodyPr wrap="square" rtlCol="0">
            <a:spAutoFit/>
          </a:bodyPr>
          <a:lstStyle/>
          <a:p>
            <a:pPr indent="457200">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具体而言，它具有如下作用</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(1) 区分罪与非罪。</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一种行为是否构成犯罪，只能依犯罪构成判断</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sz="2000" b="1"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(2) </a:t>
            </a:r>
            <a:r>
              <a:rPr sz="2000" b="1" dirty="0" err="1">
                <a:latin typeface="微软雅黑" panose="020B0503020204020204" pitchFamily="34" charset="-122"/>
                <a:ea typeface="微软雅黑" panose="020B0503020204020204" pitchFamily="34" charset="-122"/>
                <a:cs typeface="宋体" panose="02010600030101010101" pitchFamily="2" charset="-122"/>
                <a:sym typeface="+mn-ea"/>
              </a:rPr>
              <a:t>区分此罪与彼罪。</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犯罪构成为此罪与彼罪的区分提供了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明确而具体的</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法律标准</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sz="2000" b="1"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nSpc>
                <a:spcPct val="150000"/>
              </a:lnSpc>
            </a:pPr>
            <a:r>
              <a:rPr sz="2000" b="1" dirty="0">
                <a:latin typeface="微软雅黑" panose="020B0503020204020204" pitchFamily="34" charset="-122"/>
                <a:ea typeface="微软雅黑" panose="020B0503020204020204" pitchFamily="34" charset="-122"/>
                <a:cs typeface="宋体" panose="02010600030101010101" pitchFamily="2" charset="-122"/>
                <a:sym typeface="+mn-ea"/>
              </a:rPr>
              <a:t>(3) 正确地裁量刑罚。</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犯罪构成可以为判定一罪与数罪提供标准，有助于确定是否进行数罪并罚。</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134163"/>
            <a:ext cx="3330575" cy="1775097"/>
            <a:chOff x="760461" y="3134163"/>
            <a:chExt cx="3330575" cy="1775097"/>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00491" y="3134163"/>
              <a:ext cx="3090545" cy="1614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（二）对刑事司法实践起着特别重要的指导作用</a:t>
              </a:r>
            </a:p>
          </p:txBody>
        </p:sp>
      </p:grpSp>
      <p:sp>
        <p:nvSpPr>
          <p:cNvPr id="3" name="矩形 2"/>
          <p:cNvSpPr/>
          <p:nvPr/>
        </p:nvSpPr>
        <p:spPr>
          <a:xfrm>
            <a:off x="4091445" y="622644"/>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四、犯罪构成的意义</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383790" y="2211705"/>
            <a:ext cx="7285355" cy="2572385"/>
          </a:xfrm>
          <a:prstGeom prst="rect">
            <a:avLst/>
          </a:prstGeom>
          <a:noFill/>
        </p:spPr>
        <p:txBody>
          <a:bodyPr wrap="square" rtlCol="0" anchor="t">
            <a:noAutofit/>
          </a:bodyPr>
          <a:lstStyle/>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1.</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什么是犯罪?犯罪有哪些基本特征?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什么是犯罪构成?犯罪构成有哪些基本特征?</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3.</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err="1" smtClean="0">
                <a:latin typeface="微软雅黑" panose="020B0503020204020204" pitchFamily="34" charset="-122"/>
                <a:ea typeface="微软雅黑" panose="020B0503020204020204" pitchFamily="34" charset="-122"/>
                <a:cs typeface="微软雅黑" panose="020B0503020204020204" pitchFamily="34" charset="-122"/>
              </a:rPr>
              <a:t>试述我国犯罪构成模式的选择及四要件犯罪构成理论的改进</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4.</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犯罪构成如何分类?</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5.</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犯罪构成的意义是什么?</a:t>
            </a: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PA" val="v3.2.0"/>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PA" val="v3.2.0"/>
</p:tagLst>
</file>

<file path=ppt/tags/tag73.xml><?xml version="1.0" encoding="utf-8"?>
<p:tagLst xmlns:a="http://schemas.openxmlformats.org/drawingml/2006/main" xmlns:r="http://schemas.openxmlformats.org/officeDocument/2006/relationships" xmlns:p="http://schemas.openxmlformats.org/presentationml/2006/main">
  <p:tag name="PA" val="v3.2.0"/>
</p:tagLst>
</file>

<file path=ppt/tags/tag74.xml><?xml version="1.0" encoding="utf-8"?>
<p:tagLst xmlns:a="http://schemas.openxmlformats.org/drawingml/2006/main" xmlns:r="http://schemas.openxmlformats.org/officeDocument/2006/relationships" xmlns:p="http://schemas.openxmlformats.org/presentationml/2006/main">
  <p:tag name="PA" val="v3.2.0"/>
</p:tagLst>
</file>

<file path=ppt/tags/tag75.xml><?xml version="1.0" encoding="utf-8"?>
<p:tagLst xmlns:a="http://schemas.openxmlformats.org/drawingml/2006/main" xmlns:r="http://schemas.openxmlformats.org/officeDocument/2006/relationships" xmlns:p="http://schemas.openxmlformats.org/presentationml/2006/main">
  <p:tag name="PA" val="v3.2.0"/>
</p:tagLst>
</file>

<file path=ppt/tags/tag76.xml><?xml version="1.0" encoding="utf-8"?>
<p:tagLst xmlns:a="http://schemas.openxmlformats.org/drawingml/2006/main" xmlns:r="http://schemas.openxmlformats.org/officeDocument/2006/relationships" xmlns:p="http://schemas.openxmlformats.org/presentationml/2006/main">
  <p:tag name="PA" val="v3.2.0"/>
</p:tagLst>
</file>

<file path=ppt/tags/tag77.xml><?xml version="1.0" encoding="utf-8"?>
<p:tagLst xmlns:a="http://schemas.openxmlformats.org/drawingml/2006/main" xmlns:r="http://schemas.openxmlformats.org/officeDocument/2006/relationships" xmlns:p="http://schemas.openxmlformats.org/presentationml/2006/main">
  <p:tag name="PA" val="v3.2.0"/>
</p:tagLst>
</file>

<file path=ppt/tags/tag78.xml><?xml version="1.0" encoding="utf-8"?>
<p:tagLst xmlns:a="http://schemas.openxmlformats.org/drawingml/2006/main" xmlns:r="http://schemas.openxmlformats.org/officeDocument/2006/relationships" xmlns:p="http://schemas.openxmlformats.org/presentationml/2006/main">
  <p:tag name="PA" val="v3.2.0"/>
</p:tagLst>
</file>

<file path=ppt/tags/tag79.xml><?xml version="1.0" encoding="utf-8"?>
<p:tagLst xmlns:a="http://schemas.openxmlformats.org/drawingml/2006/main" xmlns:r="http://schemas.openxmlformats.org/officeDocument/2006/relationships" xmlns:p="http://schemas.openxmlformats.org/presentationml/2006/main">
  <p:tag name="PA" val="v3.2.0"/>
</p:tagLst>
</file>

<file path=ppt/tags/tag80.xml><?xml version="1.0" encoding="utf-8"?>
<p:tagLst xmlns:a="http://schemas.openxmlformats.org/drawingml/2006/main" xmlns:r="http://schemas.openxmlformats.org/officeDocument/2006/relationships" xmlns:p="http://schemas.openxmlformats.org/presentationml/2006/main">
  <p:tag name="PA" val="v3.2.0"/>
</p:tagLst>
</file>

<file path=ppt/tags/tag81.xml><?xml version="1.0" encoding="utf-8"?>
<p:tagLst xmlns:a="http://schemas.openxmlformats.org/drawingml/2006/main" xmlns:r="http://schemas.openxmlformats.org/officeDocument/2006/relationships" xmlns:p="http://schemas.openxmlformats.org/presentationml/2006/main">
  <p:tag name="PA" val="v3.2.0"/>
</p:tagLst>
</file>

<file path=ppt/tags/tag82.xml><?xml version="1.0" encoding="utf-8"?>
<p:tagLst xmlns:a="http://schemas.openxmlformats.org/drawingml/2006/main" xmlns:r="http://schemas.openxmlformats.org/officeDocument/2006/relationships" xmlns:p="http://schemas.openxmlformats.org/presentationml/2006/main">
  <p:tag name="PA" val="v3.2.0"/>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PA" val="v3.2.0"/>
</p:tagLst>
</file>

<file path=ppt/tags/tag85.xml><?xml version="1.0" encoding="utf-8"?>
<p:tagLst xmlns:a="http://schemas.openxmlformats.org/drawingml/2006/main" xmlns:r="http://schemas.openxmlformats.org/officeDocument/2006/relationships" xmlns:p="http://schemas.openxmlformats.org/presentationml/2006/main">
  <p:tag name="PA" val="v3.2.0"/>
</p:tagLst>
</file>

<file path=ppt/tags/tag86.xml><?xml version="1.0" encoding="utf-8"?>
<p:tagLst xmlns:a="http://schemas.openxmlformats.org/drawingml/2006/main" xmlns:r="http://schemas.openxmlformats.org/officeDocument/2006/relationships" xmlns:p="http://schemas.openxmlformats.org/presentationml/2006/main">
  <p:tag name="PA" val="v3.2.0"/>
</p:tagLst>
</file>

<file path=ppt/tags/tag87.xml><?xml version="1.0" encoding="utf-8"?>
<p:tagLst xmlns:a="http://schemas.openxmlformats.org/drawingml/2006/main" xmlns:r="http://schemas.openxmlformats.org/officeDocument/2006/relationships" xmlns:p="http://schemas.openxmlformats.org/presentationml/2006/main">
  <p:tag name="PA" val="v3.2.0"/>
</p:tagLst>
</file>

<file path=ppt/tags/tag88.xml><?xml version="1.0" encoding="utf-8"?>
<p:tagLst xmlns:a="http://schemas.openxmlformats.org/drawingml/2006/main" xmlns:r="http://schemas.openxmlformats.org/officeDocument/2006/relationships" xmlns:p="http://schemas.openxmlformats.org/presentationml/2006/main">
  <p:tag name="PA" val="v3.2.0"/>
</p:tagLst>
</file>

<file path=ppt/tags/tag89.xml><?xml version="1.0" encoding="utf-8"?>
<p:tagLst xmlns:a="http://schemas.openxmlformats.org/drawingml/2006/main" xmlns:r="http://schemas.openxmlformats.org/officeDocument/2006/relationships" xmlns:p="http://schemas.openxmlformats.org/presentationml/2006/main">
  <p:tag name="PA" val="v3.2.0"/>
</p:tagLst>
</file>

<file path=ppt/tags/tag90.xml><?xml version="1.0" encoding="utf-8"?>
<p:tagLst xmlns:a="http://schemas.openxmlformats.org/drawingml/2006/main" xmlns:r="http://schemas.openxmlformats.org/officeDocument/2006/relationships" xmlns:p="http://schemas.openxmlformats.org/presentationml/2006/main">
  <p:tag name="PA" val="v3.2.0"/>
</p:tagLst>
</file>

<file path=ppt/tags/tag91.xml><?xml version="1.0" encoding="utf-8"?>
<p:tagLst xmlns:a="http://schemas.openxmlformats.org/drawingml/2006/main" xmlns:r="http://schemas.openxmlformats.org/officeDocument/2006/relationships" xmlns:p="http://schemas.openxmlformats.org/presentationml/2006/main">
  <p:tag name="PA" val="v3.2.0"/>
</p:tagLst>
</file>

<file path=ppt/tags/tag92.xml><?xml version="1.0" encoding="utf-8"?>
<p:tagLst xmlns:a="http://schemas.openxmlformats.org/drawingml/2006/main" xmlns:r="http://schemas.openxmlformats.org/officeDocument/2006/relationships" xmlns:p="http://schemas.openxmlformats.org/presentationml/2006/main">
  <p:tag name="PA" val="v3.2.0"/>
</p:tagLst>
</file>

<file path=ppt/tags/tag93.xml><?xml version="1.0" encoding="utf-8"?>
<p:tagLst xmlns:a="http://schemas.openxmlformats.org/drawingml/2006/main" xmlns:r="http://schemas.openxmlformats.org/officeDocument/2006/relationships" xmlns:p="http://schemas.openxmlformats.org/presentationml/2006/main">
  <p:tag name="PA" val="v3.2.0"/>
</p:tagLst>
</file>

<file path=ppt/tags/tag94.xml><?xml version="1.0" encoding="utf-8"?>
<p:tagLst xmlns:a="http://schemas.openxmlformats.org/drawingml/2006/main" xmlns:r="http://schemas.openxmlformats.org/officeDocument/2006/relationships" xmlns:p="http://schemas.openxmlformats.org/presentationml/2006/main">
  <p:tag name="PA" val="v3.2.0"/>
</p:tagLst>
</file>

<file path=ppt/tags/tag95.xml><?xml version="1.0" encoding="utf-8"?>
<p:tagLst xmlns:a="http://schemas.openxmlformats.org/drawingml/2006/main" xmlns:r="http://schemas.openxmlformats.org/officeDocument/2006/relationships" xmlns:p="http://schemas.openxmlformats.org/presentationml/2006/main">
  <p:tag name="PA" val="v3.2.0"/>
</p:tagLst>
</file>

<file path=ppt/tags/tag96.xml><?xml version="1.0" encoding="utf-8"?>
<p:tagLst xmlns:a="http://schemas.openxmlformats.org/drawingml/2006/main" xmlns:r="http://schemas.openxmlformats.org/officeDocument/2006/relationships" xmlns:p="http://schemas.openxmlformats.org/presentationml/2006/main">
  <p:tag name="PA" val="v3.2.0"/>
</p:tagLst>
</file>

<file path=ppt/tags/tag97.xml><?xml version="1.0" encoding="utf-8"?>
<p:tagLst xmlns:a="http://schemas.openxmlformats.org/drawingml/2006/main" xmlns:r="http://schemas.openxmlformats.org/officeDocument/2006/relationships" xmlns:p="http://schemas.openxmlformats.org/presentationml/2006/main">
  <p:tag name="PA" val="v3.2.0"/>
</p:tagLst>
</file>

<file path=ppt/tags/tag98.xml><?xml version="1.0" encoding="utf-8"?>
<p:tagLst xmlns:a="http://schemas.openxmlformats.org/drawingml/2006/main" xmlns:r="http://schemas.openxmlformats.org/officeDocument/2006/relationships" xmlns:p="http://schemas.openxmlformats.org/presentationml/2006/main">
  <p:tag name="PA" val="v3.2.0"/>
</p:tagLst>
</file>

<file path=ppt/tags/tag99.xml><?xml version="1.0" encoding="utf-8"?>
<p:tagLst xmlns:a="http://schemas.openxmlformats.org/drawingml/2006/main" xmlns:r="http://schemas.openxmlformats.org/officeDocument/2006/relationships" xmlns:p="http://schemas.openxmlformats.org/presentationml/2006/main">
  <p:tag name="PA" val="v3.2.0"/>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1568</Words>
  <Application>Microsoft Office PowerPoint</Application>
  <PresentationFormat>宽屏</PresentationFormat>
  <Paragraphs>192</Paragraphs>
  <Slides>34</Slides>
  <Notes>0</Notes>
  <HiddenSlides>0</HiddenSlides>
  <MMClips>1</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34</vt:i4>
      </vt:variant>
    </vt:vector>
  </HeadingPairs>
  <TitlesOfParts>
    <vt:vector size="46" baseType="lpstr">
      <vt:lpstr>Roboto</vt:lpstr>
      <vt:lpstr>黑体</vt:lpstr>
      <vt:lpstr>华文新魏</vt:lpstr>
      <vt:lpstr>华文中宋</vt:lpstr>
      <vt:lpstr>宋体</vt:lpstr>
      <vt:lpstr>微软雅黑</vt:lpstr>
      <vt:lpstr>Arial</vt:lpstr>
      <vt:lpstr>Calibri</vt:lpstr>
      <vt:lpstr>Impact</vt:lpstr>
      <vt:lpstr>Wingdings</vt:lpstr>
      <vt:lpstr>WPS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犯罪构成体系</vt:lpstr>
      <vt:lpstr>犯罪构成要件（要素）</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LGY</cp:lastModifiedBy>
  <cp:revision>60</cp:revision>
  <dcterms:created xsi:type="dcterms:W3CDTF">2023-08-16T04:40:00Z</dcterms:created>
  <dcterms:modified xsi:type="dcterms:W3CDTF">2025-03-03T04:04:32Z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CB6D3CF7A4DB428197B243237BEBC188_12</vt:lpwstr>
  </property>
  <property fmtid="{D5CDD505-2E9C-101B-9397-08002B2CF9AE}" pid="3" name="KSOProductBuildVer">
    <vt:lpwstr>2052-12.1.0.15120</vt:lpwstr>
  </property>
</Properties>
</file>