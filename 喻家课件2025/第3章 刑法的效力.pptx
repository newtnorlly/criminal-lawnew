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8"/>
  </p:handoutMasterIdLst>
  <p:sldIdLst>
    <p:sldId id="260" r:id="rId2"/>
    <p:sldId id="483" r:id="rId3"/>
    <p:sldId id="549" r:id="rId4"/>
    <p:sldId id="300" r:id="rId5"/>
    <p:sldId id="524" r:id="rId6"/>
    <p:sldId id="525" r:id="rId7"/>
    <p:sldId id="526" r:id="rId8"/>
    <p:sldId id="527" r:id="rId9"/>
    <p:sldId id="528" r:id="rId10"/>
    <p:sldId id="529" r:id="rId11"/>
    <p:sldId id="530" r:id="rId12"/>
    <p:sldId id="531" r:id="rId13"/>
    <p:sldId id="532" r:id="rId14"/>
    <p:sldId id="533" r:id="rId15"/>
    <p:sldId id="536" r:id="rId16"/>
    <p:sldId id="537" r:id="rId17"/>
    <p:sldId id="550" r:id="rId18"/>
    <p:sldId id="540" r:id="rId19"/>
    <p:sldId id="541" r:id="rId20"/>
    <p:sldId id="542" r:id="rId21"/>
    <p:sldId id="543" r:id="rId22"/>
    <p:sldId id="544" r:id="rId23"/>
    <p:sldId id="545" r:id="rId24"/>
    <p:sldId id="546" r:id="rId25"/>
    <p:sldId id="547" r:id="rId26"/>
    <p:sldId id="397"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000000"/>
    <a:srgbClr val="D9793F"/>
    <a:srgbClr val="FFFFFF"/>
    <a:srgbClr val="BFBFBF"/>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23" autoAdjust="0"/>
    <p:restoredTop sz="94225" autoAdjust="0"/>
  </p:normalViewPr>
  <p:slideViewPr>
    <p:cSldViewPr snapToGrid="0">
      <p:cViewPr varScale="1">
        <p:scale>
          <a:sx n="91" d="100"/>
          <a:sy n="91" d="100"/>
        </p:scale>
        <p:origin x="72" y="57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2025/2/25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332081927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第三章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tags" Target="../tags/tag2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tags" Target="../tags/tag2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马克思主义理论研究</a:t>
            </a:r>
            <a:endParaRPr kumimoji="0" lang="en-US" altLang="zh-CN"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smtClean="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9" name="文本框 8"/>
          <p:cNvSpPr txBox="1"/>
          <p:nvPr/>
        </p:nvSpPr>
        <p:spPr>
          <a:xfrm>
            <a:off x="1559949" y="5623481"/>
            <a:ext cx="2657532" cy="337185"/>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刑法学</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编写组</a:t>
            </a:r>
            <a:endParaRPr lang="zh-CN" altLang="en-US" sz="16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547957" y="2589022"/>
            <a:ext cx="2974975" cy="1568450"/>
          </a:xfrm>
          <a:prstGeom prst="rect">
            <a:avLst/>
          </a:prstGeom>
        </p:spPr>
        <p:txBody>
          <a:bodyPr wrap="none">
            <a:spAutoFit/>
          </a:bodyPr>
          <a:lstStyle/>
          <a:p>
            <a:pPr>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第三章</a:t>
            </a:r>
          </a:p>
          <a:p>
            <a:pPr>
              <a:lnSpc>
                <a:spcPct val="120000"/>
              </a:lnSpc>
            </a:pPr>
            <a:r>
              <a:rPr lang="zh-CN" altLang="en-US" sz="4000" b="1" dirty="0">
                <a:solidFill>
                  <a:srgbClr val="D9793F"/>
                </a:solidFill>
                <a:latin typeface="华文新魏" panose="02010800040101010101" charset="-122"/>
                <a:ea typeface="华文新魏" panose="02010800040101010101" charset="-122"/>
                <a:sym typeface="+mn-ea"/>
              </a:rPr>
              <a:t>刑法的效力  </a:t>
            </a:r>
          </a:p>
        </p:txBody>
      </p:sp>
      <p:sp>
        <p:nvSpPr>
          <p:cNvPr id="3" name="矩形 2"/>
          <p:cNvSpPr/>
          <p:nvPr/>
        </p:nvSpPr>
        <p:spPr>
          <a:xfrm>
            <a:off x="1643460" y="4325592"/>
            <a:ext cx="1628658"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3950"/>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4800"/>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660400" y="1391446"/>
            <a:ext cx="108585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7" name="ïşlîḑe"/>
          <p:cNvSpPr txBox="1"/>
          <p:nvPr/>
        </p:nvSpPr>
        <p:spPr>
          <a:xfrm>
            <a:off x="5195900" y="1135067"/>
            <a:ext cx="1800200" cy="512758"/>
          </a:xfrm>
          <a:prstGeom prst="roundRect">
            <a:avLst>
              <a:gd name="adj" fmla="val 50000"/>
            </a:avLst>
          </a:prstGeom>
          <a:solidFill>
            <a:srgbClr val="D9793F"/>
          </a:solidFill>
        </p:spPr>
        <p:txBody>
          <a:bodyPr wrap="square" lIns="91440" tIns="45720" rIns="91440" bIns="45720" anchor="ctr">
            <a:normAutofit lnSpcReduction="10000"/>
          </a:bodyPr>
          <a:lstStyle/>
          <a:p>
            <a:pPr algn="ctr"/>
            <a:r>
              <a:rPr lang="zh-CN" altLang="en-US" b="1" dirty="0">
                <a:solidFill>
                  <a:schemeClr val="bg1"/>
                </a:solidFill>
              </a:rPr>
              <a:t>目录</a:t>
            </a:r>
            <a:endParaRPr lang="en-US" altLang="zh-CN" b="1" dirty="0">
              <a:solidFill>
                <a:schemeClr val="bg1"/>
              </a:solidFill>
            </a:endParaRPr>
          </a:p>
        </p:txBody>
      </p:sp>
      <p:sp>
        <p:nvSpPr>
          <p:cNvPr id="8" name="îṧļïdè"/>
          <p:cNvSpPr txBox="1"/>
          <p:nvPr/>
        </p:nvSpPr>
        <p:spPr>
          <a:xfrm>
            <a:off x="2155966" y="3016008"/>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01</a:t>
            </a:r>
          </a:p>
        </p:txBody>
      </p:sp>
      <p:sp>
        <p:nvSpPr>
          <p:cNvPr id="9" name="íṧļïdé"/>
          <p:cNvSpPr txBox="1"/>
          <p:nvPr/>
        </p:nvSpPr>
        <p:spPr>
          <a:xfrm>
            <a:off x="3092069" y="2890127"/>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第一节</a:t>
            </a:r>
            <a:endParaRPr lang="zh-CN" altLang="en-US" b="1" dirty="0">
              <a:solidFill>
                <a:srgbClr val="D9793F"/>
              </a:solidFill>
            </a:endParaRPr>
          </a:p>
        </p:txBody>
      </p:sp>
      <p:sp>
        <p:nvSpPr>
          <p:cNvPr id="10" name="ïśḷíďè"/>
          <p:cNvSpPr txBox="1"/>
          <p:nvPr/>
        </p:nvSpPr>
        <p:spPr>
          <a:xfrm>
            <a:off x="3092069" y="3258871"/>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刑法的空间效力</a:t>
            </a:r>
          </a:p>
        </p:txBody>
      </p:sp>
      <p:cxnSp>
        <p:nvCxnSpPr>
          <p:cNvPr id="11" name="直接连接符 10"/>
          <p:cNvCxnSpPr/>
          <p:nvPr/>
        </p:nvCxnSpPr>
        <p:spPr>
          <a:xfrm>
            <a:off x="3010966" y="3016008"/>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îṩļïḑè"/>
          <p:cNvSpPr txBox="1"/>
          <p:nvPr/>
        </p:nvSpPr>
        <p:spPr>
          <a:xfrm>
            <a:off x="6930408" y="3016008"/>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02</a:t>
            </a:r>
          </a:p>
        </p:txBody>
      </p:sp>
      <p:sp>
        <p:nvSpPr>
          <p:cNvPr id="13" name="ïṧḷïḓé"/>
          <p:cNvSpPr txBox="1"/>
          <p:nvPr/>
        </p:nvSpPr>
        <p:spPr>
          <a:xfrm>
            <a:off x="7866511" y="2890127"/>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第二节</a:t>
            </a:r>
            <a:endParaRPr lang="zh-CN" altLang="en-US" b="1" dirty="0">
              <a:solidFill>
                <a:srgbClr val="D9793F"/>
              </a:solidFill>
            </a:endParaRPr>
          </a:p>
        </p:txBody>
      </p:sp>
      <p:sp>
        <p:nvSpPr>
          <p:cNvPr id="14" name="íṩļíḋê"/>
          <p:cNvSpPr txBox="1"/>
          <p:nvPr/>
        </p:nvSpPr>
        <p:spPr>
          <a:xfrm>
            <a:off x="7866511" y="3258871"/>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刑法的时间效力</a:t>
            </a:r>
          </a:p>
        </p:txBody>
      </p:sp>
      <p:cxnSp>
        <p:nvCxnSpPr>
          <p:cNvPr id="15" name="直接连接符 14"/>
          <p:cNvCxnSpPr/>
          <p:nvPr/>
        </p:nvCxnSpPr>
        <p:spPr>
          <a:xfrm>
            <a:off x="7785408" y="3016008"/>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1500"/>
                            </p:stCondLst>
                            <p:childTnLst>
                              <p:par>
                                <p:cTn id="21" presetID="16" presetClass="entr" presetSubtype="42"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outHorizontal)">
                                      <p:cBhvr>
                                        <p:cTn id="23" dur="500"/>
                                        <p:tgtEl>
                                          <p:spTgt spid="11"/>
                                        </p:tgtEl>
                                      </p:cBhvr>
                                    </p:animEffect>
                                  </p:childTnLst>
                                </p:cTn>
                              </p:par>
                            </p:childTnLst>
                          </p:cTn>
                        </p:par>
                        <p:par>
                          <p:cTn id="24" fill="hold">
                            <p:stCondLst>
                              <p:cond delay="2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2599"/>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400"/>
                            </p:stCondLst>
                            <p:childTnLst>
                              <p:par>
                                <p:cTn id="33" presetID="53" presetClass="entr" presetSubtype="16"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par>
                          <p:cTn id="38" fill="hold">
                            <p:stCondLst>
                              <p:cond delay="3900"/>
                            </p:stCondLst>
                            <p:childTnLst>
                              <p:par>
                                <p:cTn id="39" presetID="16" presetClass="entr" presetSubtype="42"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arn(outHorizontal)">
                                      <p:cBhvr>
                                        <p:cTn id="41" dur="500"/>
                                        <p:tgtEl>
                                          <p:spTgt spid="15"/>
                                        </p:tgtEl>
                                      </p:cBhvr>
                                    </p:animEffect>
                                  </p:childTnLst>
                                </p:cTn>
                              </p:par>
                            </p:childTnLst>
                          </p:cTn>
                        </p:par>
                        <p:par>
                          <p:cTn id="42" fill="hold">
                            <p:stCondLst>
                              <p:cond delay="4400"/>
                            </p:stCondLst>
                            <p:childTnLst>
                              <p:par>
                                <p:cTn id="43" presetID="10" presetClass="entr" presetSubtype="0" fill="hold" grpId="0" nodeType="afterEffect">
                                  <p:stCondLst>
                                    <p:cond delay="0"/>
                                  </p:stCondLst>
                                  <p:iterate type="wd">
                                    <p:tmPct val="10000"/>
                                  </p:iterate>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par>
                          <p:cTn id="46" fill="hold">
                            <p:stCondLst>
                              <p:cond delay="5000"/>
                            </p:stCondLst>
                            <p:childTnLst>
                              <p:par>
                                <p:cTn id="47" presetID="10" presetClass="entr" presetSubtype="0" fill="hold" grpId="0" nodeType="afterEffect">
                                  <p:stCondLst>
                                    <p:cond delay="0"/>
                                  </p:stCondLst>
                                  <p:iterate type="wd">
                                    <p:tmPct val="10000"/>
                                  </p:iterate>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P spid="9" grpId="0"/>
      <p:bldP spid="10"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656337"/>
            <a:ext cx="5574158" cy="3415030"/>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一、刑法空间效力的概念和原则</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二、我国刑法的属地管辖权</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三、我国刑法的属人管辖权</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四、我国刑法的保护管辖权</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五、我国刑法的普遍管辖权</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六、管辖冲突问题</a:t>
            </a:r>
          </a:p>
        </p:txBody>
      </p:sp>
      <p:sp>
        <p:nvSpPr>
          <p:cNvPr id="23" name="矩形 22"/>
          <p:cNvSpPr/>
          <p:nvPr/>
        </p:nvSpPr>
        <p:spPr>
          <a:xfrm>
            <a:off x="4930781" y="775078"/>
            <a:ext cx="576707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第一节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刑法的空间效力</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2872640"/>
            <a:ext cx="7248512" cy="1476375"/>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属地原则</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属地原则，也叫属地主义，或称领土原则。该原则以犯罪发生地为标准确定刑法的空间效力。</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58009" y="3095936"/>
              <a:ext cx="2727960"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刑法对何地与何人</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能够适用</a:t>
              </a:r>
            </a:p>
          </p:txBody>
        </p:sp>
      </p:grpSp>
      <p:sp>
        <p:nvSpPr>
          <p:cNvPr id="3" name="矩形 2"/>
          <p:cNvSpPr/>
          <p:nvPr/>
        </p:nvSpPr>
        <p:spPr>
          <a:xfrm>
            <a:off x="4121925" y="12322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一、刑法空间效力的概念和原则</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2641500"/>
            <a:ext cx="7248512" cy="1476375"/>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★属人原则</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属人原则，也叫属人主义，或称国籍原则。该原则以犯罪人的国籍为标准确定刑法的空间效力。</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58009" y="3095936"/>
              <a:ext cx="2727960"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刑法对何地与何人</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能够适用</a:t>
              </a:r>
            </a:p>
          </p:txBody>
        </p:sp>
      </p:grpSp>
      <p:sp>
        <p:nvSpPr>
          <p:cNvPr id="3" name="矩形 2"/>
          <p:cNvSpPr/>
          <p:nvPr/>
        </p:nvSpPr>
        <p:spPr>
          <a:xfrm>
            <a:off x="4121925" y="12322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一、刑法空间效力的概念和原则</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2641500"/>
            <a:ext cx="7248512" cy="1476375"/>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保护原则</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保护原则，也叫保护主义，或称自卫原则。该原则以保护本国利益为标准确定刑法的空间效力。</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58009" y="3095936"/>
              <a:ext cx="2727960"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刑法对何地与何人</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能够适用</a:t>
              </a:r>
            </a:p>
          </p:txBody>
        </p:sp>
      </p:grpSp>
      <p:sp>
        <p:nvSpPr>
          <p:cNvPr id="3" name="矩形 2"/>
          <p:cNvSpPr/>
          <p:nvPr/>
        </p:nvSpPr>
        <p:spPr>
          <a:xfrm>
            <a:off x="4121925" y="12322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一、刑法空间效力的概念和原则</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2641500"/>
            <a:ext cx="7248512" cy="2399665"/>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普遍管辖原则</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普遍管辖原则，是指当一个国家既不是犯罪行为的发生地国，也不是行为人和受害人的国籍国，甚至也不是犯罪行为的受害国时，该国仅基于行为人所犯的罪行是严重的国际罪行而对该案件具有刑事管辖权。</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58009" y="3095936"/>
              <a:ext cx="2727960"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刑法对何地与何人</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能够适用</a:t>
              </a:r>
            </a:p>
          </p:txBody>
        </p:sp>
      </p:grpSp>
      <p:sp>
        <p:nvSpPr>
          <p:cNvPr id="3" name="矩形 2"/>
          <p:cNvSpPr/>
          <p:nvPr/>
        </p:nvSpPr>
        <p:spPr>
          <a:xfrm>
            <a:off x="4121925" y="12322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一、刑法空间效力的概念和原则</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2410995"/>
            <a:ext cx="7248512" cy="2861310"/>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折中原则</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折中原则，也叫折中主义，或称综合原则、混合原则。折中原则是以属地原则为基础，以属人原则、保护原则和普遍管辖原则为补充的原则。</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该原则主张，凡在本国领域内犯罪的，一律适用本国刑法；本国人或外国人在本国领域外犯罪的，有条件地适用本国刑法。</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58009" y="3095936"/>
              <a:ext cx="2727960"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刑法对何地与何人</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能够适用</a:t>
              </a:r>
            </a:p>
          </p:txBody>
        </p:sp>
      </p:grpSp>
      <p:sp>
        <p:nvSpPr>
          <p:cNvPr id="3" name="矩形 2"/>
          <p:cNvSpPr/>
          <p:nvPr/>
        </p:nvSpPr>
        <p:spPr>
          <a:xfrm>
            <a:off x="4121925" y="12322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一、刑法空间效力的概念和原则</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2399665"/>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刑法》第6条规定:“凡在中华人民共和国领域内犯罪的，除法律有特别规定的以外，都适用本法。凡在中华人民共和国船舶或者航空器内犯罪的，也适用本法。犯罪的行为或者结果有一项发生在中华人民共和国领域内的，就认为是在中华人民共和国领域内犯罪。”</a:t>
            </a:r>
          </a:p>
        </p:txBody>
      </p:sp>
      <p:sp>
        <p:nvSpPr>
          <p:cNvPr id="2" name="矩形 1"/>
          <p:cNvSpPr/>
          <p:nvPr/>
        </p:nvSpPr>
        <p:spPr>
          <a:xfrm>
            <a:off x="3143083" y="1119160"/>
            <a:ext cx="4145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二、我国刑法中的属地管辖权</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3784600"/>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1.</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领域的含义。领域包括领陆、领水、领陆和领水的底土以及领空。</a:t>
            </a:r>
          </a:p>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2.</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领域的拟制。船舶和航空器在国际法上被称为“拟制领土”。根据我国《刑法》的规定，凡是在中华人民共和国船舶和航空器上犯罪的，适用我国刑法。</a:t>
            </a:r>
          </a:p>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3.</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领域的虚拟。这是指与现实领域相对的虚拟领域，即网络空间问题。</a:t>
            </a:r>
          </a:p>
          <a:p>
            <a:pPr lvl="0">
              <a:lnSpc>
                <a:spcPct val="150000"/>
              </a:lnSpc>
            </a:pP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4145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二、我国刑法中的属地管辖权</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（一）关于</a:t>
            </a:r>
            <a:r>
              <a:rPr lang="en-US" altLang="zh-CN"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领域</a:t>
            </a:r>
            <a:r>
              <a:rPr lang="en-US" altLang="zh-CN"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3785652"/>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1.</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享有外交特权与豁免权的外国人的刑事责任，通过外交途径解决。</a:t>
            </a:r>
          </a:p>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2.</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我国香港特别行政区、澳门特别行政区以及我国台湾地区的特殊情况。</a:t>
            </a:r>
          </a:p>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3.</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民族自治地方的特别规定。</a:t>
            </a:r>
          </a:p>
          <a:p>
            <a:pPr lvl="0">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4. </a:t>
            </a:r>
            <a:r>
              <a:rPr lang="en-US" altLang="zh-CN" sz="2000" dirty="0" err="1" smtClean="0">
                <a:latin typeface="微软雅黑" panose="020B0503020204020204" pitchFamily="34" charset="-122"/>
                <a:ea typeface="微软雅黑" panose="020B0503020204020204" pitchFamily="34" charset="-122"/>
                <a:cs typeface="宋体" panose="02010600030101010101" pitchFamily="2" charset="-122"/>
              </a:rPr>
              <a:t>特别刑法的特别规定。在我国，单行刑法和附属刑法都属于特别刑法</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特别刑法有特别规定时，按照特别法优先于一般法的原则，适用特别法的规定。</a:t>
            </a:r>
          </a:p>
        </p:txBody>
      </p:sp>
      <p:sp>
        <p:nvSpPr>
          <p:cNvPr id="2" name="矩形 1"/>
          <p:cNvSpPr/>
          <p:nvPr/>
        </p:nvSpPr>
        <p:spPr>
          <a:xfrm>
            <a:off x="3143083" y="1119160"/>
            <a:ext cx="4145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二、我国刑法中的属地管辖权</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（二）关于</a:t>
            </a:r>
            <a:r>
              <a:rPr lang="en-US" altLang="zh-CN"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法律有特别规定</a:t>
            </a:r>
            <a:r>
              <a:rPr lang="en-US" altLang="zh-CN"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25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75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2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2399665"/>
          </a:xfrm>
          <a:prstGeom prst="rect">
            <a:avLst/>
          </a:prstGeom>
          <a:noFill/>
        </p:spPr>
        <p:txBody>
          <a:bodyPr wrap="square" rtlCol="0">
            <a:spAutoFit/>
          </a:bodyPr>
          <a:lstStyle/>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《刑法》第7条规定</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err="1" smtClean="0">
                <a:latin typeface="微软雅黑" panose="020B0503020204020204" pitchFamily="34" charset="-122"/>
                <a:ea typeface="微软雅黑" panose="020B0503020204020204" pitchFamily="34" charset="-122"/>
                <a:cs typeface="宋体" panose="02010600030101010101" pitchFamily="2" charset="-122"/>
              </a:rPr>
              <a:t>中华人民共和国公民在中华人民共和国领域外犯本法规定之罪的，适用本法，但是按本法规定的最高刑为三年以下有期徒刑的，</a:t>
            </a:r>
            <a:r>
              <a:rPr sz="2000" dirty="0" err="1" smtClean="0">
                <a:latin typeface="微软雅黑" panose="020B0503020204020204" pitchFamily="34" charset="-122"/>
                <a:ea typeface="微软雅黑" panose="020B0503020204020204" pitchFamily="34" charset="-122"/>
                <a:cs typeface="宋体" panose="02010600030101010101" pitchFamily="2" charset="-122"/>
              </a:rPr>
              <a:t>可以不予追究</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3</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年</a:t>
            </a:r>
            <a:r>
              <a:rPr lang="zh-CN" altLang="en-US" sz="1400" b="1" dirty="0" smtClean="0">
                <a:solidFill>
                  <a:srgbClr val="0288DD"/>
                </a:solidFill>
                <a:latin typeface="宋体" panose="02010600030101010101" pitchFamily="2" charset="-122"/>
                <a:ea typeface="宋体" panose="02010600030101010101" pitchFamily="2" charset="-122"/>
                <a:cs typeface="宋体" panose="02010600030101010101" pitchFamily="2"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中华人民共和国国家工作人员和军人在中华人民共和国领域外犯本法规定之罪的，适用本法。</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p>
        </p:txBody>
      </p:sp>
      <p:sp>
        <p:nvSpPr>
          <p:cNvPr id="2" name="矩形 1"/>
          <p:cNvSpPr/>
          <p:nvPr/>
        </p:nvSpPr>
        <p:spPr>
          <a:xfrm>
            <a:off x="3143083" y="1119160"/>
            <a:ext cx="4145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三、我国刑法中的属人管辖权</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1938020"/>
          </a:xfrm>
          <a:prstGeom prst="rect">
            <a:avLst/>
          </a:prstGeom>
          <a:noFill/>
        </p:spPr>
        <p:txBody>
          <a:bodyPr wrap="square" rtlCol="0">
            <a:spAutoFit/>
          </a:bodyPr>
          <a:lstStyle/>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《刑法》第8条规定：</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lang="en-US" sz="20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外</a:t>
            </a:r>
            <a:r>
              <a:rPr sz="2000" dirty="0" err="1" smtClean="0">
                <a:latin typeface="微软雅黑" panose="020B0503020204020204" pitchFamily="34" charset="-122"/>
                <a:ea typeface="微软雅黑" panose="020B0503020204020204" pitchFamily="34" charset="-122"/>
                <a:cs typeface="宋体" panose="02010600030101010101" pitchFamily="2" charset="-122"/>
              </a:rPr>
              <a:t>国人</a:t>
            </a:r>
            <a:r>
              <a:rPr sz="2000" dirty="0" err="1" smtClean="0">
                <a:latin typeface="微软雅黑" panose="020B0503020204020204" pitchFamily="34" charset="-122"/>
                <a:ea typeface="微软雅黑" panose="020B0503020204020204" pitchFamily="34" charset="-122"/>
                <a:cs typeface="宋体" panose="02010600030101010101" pitchFamily="2" charset="-122"/>
              </a:rPr>
              <a:t>在中华人民共和国领域外对中华人民共和国国家或者公民犯罪</a:t>
            </a:r>
            <a:r>
              <a:rPr sz="2000" dirty="0" err="1" smtClean="0">
                <a:latin typeface="微软雅黑" panose="020B0503020204020204" pitchFamily="34" charset="-122"/>
                <a:ea typeface="微软雅黑" panose="020B0503020204020204" pitchFamily="34" charset="-122"/>
                <a:cs typeface="宋体" panose="02010600030101010101" pitchFamily="2" charset="-122"/>
              </a:rPr>
              <a:t>，</a:t>
            </a:r>
            <a:r>
              <a:rPr lang="en-US" sz="2000" b="1" dirty="0" err="1"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b.</a:t>
            </a:r>
            <a:r>
              <a:rPr sz="2000" dirty="0" err="1" smtClean="0">
                <a:latin typeface="微软雅黑" panose="020B0503020204020204" pitchFamily="34" charset="-122"/>
                <a:ea typeface="微软雅黑" panose="020B0503020204020204" pitchFamily="34" charset="-122"/>
                <a:cs typeface="宋体" panose="02010600030101010101" pitchFamily="2" charset="-122"/>
              </a:rPr>
              <a:t>而按本法规定的最低刑为三年以上有期徒刑的</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3</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年</a:t>
            </a:r>
            <a:r>
              <a:rPr lang="zh-CN" altLang="en-US" sz="1400" b="1" dirty="0" smtClean="0">
                <a:solidFill>
                  <a:srgbClr val="0288DD"/>
                </a:solidFill>
                <a:latin typeface="宋体" panose="02010600030101010101" pitchFamily="2" charset="-122"/>
                <a:ea typeface="宋体" panose="02010600030101010101" pitchFamily="2" charset="-122"/>
                <a:cs typeface="宋体" panose="02010600030101010101" pitchFamily="2"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err="1" smtClean="0">
                <a:latin typeface="微软雅黑" panose="020B0503020204020204" pitchFamily="34" charset="-122"/>
                <a:ea typeface="微软雅黑" panose="020B0503020204020204" pitchFamily="34" charset="-122"/>
                <a:cs typeface="宋体" panose="02010600030101010101" pitchFamily="2" charset="-122"/>
              </a:rPr>
              <a:t>可以适用本法，</a:t>
            </a:r>
            <a:r>
              <a:rPr lang="en-US" sz="2000" b="1" dirty="0" err="1"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c.</a:t>
            </a:r>
            <a:r>
              <a:rPr sz="2000" dirty="0" err="1" smtClean="0">
                <a:latin typeface="微软雅黑" panose="020B0503020204020204" pitchFamily="34" charset="-122"/>
                <a:ea typeface="微软雅黑" panose="020B0503020204020204" pitchFamily="34" charset="-122"/>
                <a:cs typeface="宋体" panose="02010600030101010101" pitchFamily="2" charset="-122"/>
              </a:rPr>
              <a:t>但是按照犯罪地的法律不受处罚的除外</a:t>
            </a:r>
            <a:r>
              <a:rPr sz="2000" dirty="0" smtClean="0">
                <a:latin typeface="微软雅黑" panose="020B0503020204020204" pitchFamily="34" charset="-122"/>
                <a:ea typeface="微软雅黑" panose="020B0503020204020204" pitchFamily="34" charset="-122"/>
                <a:cs typeface="宋体" panose="02010600030101010101" pitchFamily="2" charset="-122"/>
              </a:rPr>
              <a:t>。</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双重管辖原则</a:t>
            </a:r>
            <a:r>
              <a:rPr 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endParaRPr 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4145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四、我国刑法中的保护管辖权</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633470" y="1863090"/>
            <a:ext cx="7983386" cy="4247317"/>
          </a:xfrm>
          <a:prstGeom prst="rect">
            <a:avLst/>
          </a:prstGeom>
          <a:noFill/>
        </p:spPr>
        <p:txBody>
          <a:bodyPr wrap="square" rtlCol="0">
            <a:spAutoFit/>
          </a:bodyPr>
          <a:lstStyle/>
          <a:p>
            <a:pPr lvl="0" indent="508000" fontAlgn="auto">
              <a:lnSpc>
                <a:spcPct val="150000"/>
              </a:lnSpc>
              <a:extLst>
                <a:ext uri="{35155182-B16C-46BC-9424-99874614C6A1}">
                  <wpsdc:indentchars xmlns:wpsdc="http://www.wps.cn/officeDocument/2017/drawingmlCustomData" xmlns="" val="200" checksum="282533468"/>
                </a:ext>
              </a:extLst>
            </a:pPr>
            <a:r>
              <a:rPr sz="2000" dirty="0" smtClean="0">
                <a:latin typeface="微软雅黑" panose="020B0503020204020204" pitchFamily="34" charset="-122"/>
                <a:ea typeface="微软雅黑" panose="020B0503020204020204" pitchFamily="34" charset="-122"/>
                <a:cs typeface="宋体" panose="02010600030101010101" pitchFamily="2" charset="-122"/>
              </a:rPr>
              <a:t>我国《刑法》第9条规定的普遍管辖权，主要指的是</a:t>
            </a:r>
            <a:r>
              <a:rPr sz="20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有限的普遍管辖权</a:t>
            </a:r>
            <a:r>
              <a:rPr sz="2000" dirty="0" smtClean="0">
                <a:latin typeface="微软雅黑" panose="020B0503020204020204" pitchFamily="34" charset="-122"/>
                <a:ea typeface="微软雅黑" panose="020B0503020204020204" pitchFamily="34" charset="-122"/>
                <a:cs typeface="宋体" panose="02010600030101010101" pitchFamily="2" charset="-122"/>
              </a:rPr>
              <a:t>，而不是绝对的普遍管辖权。</a:t>
            </a:r>
          </a:p>
          <a:p>
            <a:pPr lvl="0" indent="508000" fontAlgn="auto">
              <a:lnSpc>
                <a:spcPct val="150000"/>
              </a:lnSpc>
              <a:extLst>
                <a:ext uri="{35155182-B16C-46BC-9424-99874614C6A1}">
                  <wpsdc:indentchars xmlns:wpsdc="http://www.wps.cn/officeDocument/2017/drawingmlCustomData" xmlns="" val="200" checksum="282533468"/>
                </a:ext>
              </a:extLst>
            </a:pPr>
            <a:r>
              <a:rPr sz="2000" dirty="0" smtClean="0">
                <a:latin typeface="微软雅黑" panose="020B0503020204020204" pitchFamily="34" charset="-122"/>
                <a:ea typeface="微软雅黑" panose="020B0503020204020204" pitchFamily="34" charset="-122"/>
                <a:cs typeface="宋体" panose="02010600030101010101" pitchFamily="2" charset="-122"/>
              </a:rPr>
              <a:t>其适用应满足以下三个条件：</a:t>
            </a:r>
          </a:p>
          <a:p>
            <a:pPr lvl="0" indent="508000" fontAlgn="auto">
              <a:lnSpc>
                <a:spcPct val="150000"/>
              </a:lnSpc>
              <a:extLst>
                <a:ext uri="{35155182-B16C-46BC-9424-99874614C6A1}">
                  <wpsdc:indentchars xmlns:wpsdc="http://www.wps.cn/officeDocument/2017/drawingmlCustomData" xmlns="" val="200" checksum="282533468"/>
                </a:ext>
              </a:extLst>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1. </a:t>
            </a:r>
            <a:r>
              <a:rPr sz="2000" dirty="0" smtClean="0">
                <a:latin typeface="微软雅黑" panose="020B0503020204020204" pitchFamily="34" charset="-122"/>
                <a:ea typeface="微软雅黑" panose="020B0503020204020204" pitchFamily="34" charset="-122"/>
                <a:cs typeface="宋体" panose="02010600030101010101" pitchFamily="2" charset="-122"/>
              </a:rPr>
              <a:t>必须是中华人民共和国缔结或者参加的国际条约规定的罪行。</a:t>
            </a:r>
          </a:p>
          <a:p>
            <a:pPr lvl="0" indent="508000" fontAlgn="auto">
              <a:lnSpc>
                <a:spcPct val="150000"/>
              </a:lnSpc>
              <a:extLst>
                <a:ext uri="{35155182-B16C-46BC-9424-99874614C6A1}">
                  <wpsdc:indentchars xmlns:wpsdc="http://www.wps.cn/officeDocument/2017/drawingmlCustomData" xmlns="" val="200" checksum="282533468"/>
                </a:ext>
              </a:extLst>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2. </a:t>
            </a:r>
            <a:r>
              <a:rPr sz="2000" dirty="0" err="1" smtClean="0">
                <a:latin typeface="微软雅黑" panose="020B0503020204020204" pitchFamily="34" charset="-122"/>
                <a:ea typeface="微软雅黑" panose="020B0503020204020204" pitchFamily="34" charset="-122"/>
                <a:cs typeface="宋体" panose="02010600030101010101" pitchFamily="2" charset="-122"/>
              </a:rPr>
              <a:t>必须在中华人民共和国所承担的条约义务范围内</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（声明保留的除外）</a:t>
            </a:r>
            <a:r>
              <a:rPr sz="2000" dirty="0" smtClean="0">
                <a:latin typeface="微软雅黑" panose="020B0503020204020204" pitchFamily="34" charset="-122"/>
                <a:ea typeface="微软雅黑" panose="020B0503020204020204" pitchFamily="34" charset="-122"/>
                <a:cs typeface="宋体" panose="02010600030101010101" pitchFamily="2" charset="-122"/>
              </a:rPr>
              <a:t>。</a:t>
            </a: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indent="508000" fontAlgn="auto">
              <a:lnSpc>
                <a:spcPct val="150000"/>
              </a:lnSpc>
              <a:extLst>
                <a:ext uri="{35155182-B16C-46BC-9424-99874614C6A1}">
                  <wpsdc:indentchars xmlns:wpsdc="http://www.wps.cn/officeDocument/2017/drawingmlCustomData" xmlns="" val="200" checksum="282533468"/>
                </a:ext>
              </a:extLst>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3. </a:t>
            </a:r>
            <a:r>
              <a:rPr sz="2000" dirty="0" smtClean="0">
                <a:latin typeface="微软雅黑" panose="020B0503020204020204" pitchFamily="34" charset="-122"/>
                <a:ea typeface="微软雅黑" panose="020B0503020204020204" pitchFamily="34" charset="-122"/>
                <a:cs typeface="宋体" panose="02010600030101010101" pitchFamily="2" charset="-122"/>
              </a:rPr>
              <a:t>原则上，这些犯罪行为人进入我国领域或被我国发现的，我国有权力也有义务将其缉拿归案，并遵照</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或</a:t>
            </a:r>
            <a:r>
              <a:rPr sz="2000" dirty="0" smtClean="0">
                <a:latin typeface="微软雅黑" panose="020B0503020204020204" pitchFamily="34" charset="-122"/>
                <a:ea typeface="微软雅黑" panose="020B0503020204020204" pitchFamily="34" charset="-122"/>
                <a:cs typeface="宋体" panose="02010600030101010101" pitchFamily="2" charset="-122"/>
              </a:rPr>
              <a:t>引渡或起诉</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原则，对其进行刑事管辖。</a:t>
            </a:r>
          </a:p>
        </p:txBody>
      </p:sp>
      <p:sp>
        <p:nvSpPr>
          <p:cNvPr id="2" name="矩形 1"/>
          <p:cNvSpPr/>
          <p:nvPr/>
        </p:nvSpPr>
        <p:spPr>
          <a:xfrm>
            <a:off x="3143083" y="1119160"/>
            <a:ext cx="4145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五、我国刑法中的普遍管辖权</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3322955"/>
          </a:xfrm>
          <a:prstGeom prst="rect">
            <a:avLst/>
          </a:prstGeom>
          <a:noFill/>
        </p:spPr>
        <p:txBody>
          <a:bodyPr wrap="square" rtlCol="0">
            <a:spAutoFit/>
          </a:bodyPr>
          <a:lstStyle/>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我国《刑法》第10 条明文规定:“凡在中华人民共和国领域外犯罪，依照本法应当负刑事责任的，虽然经过外国审判，仍然</a:t>
            </a:r>
            <a:r>
              <a:rPr sz="2000"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可以</a:t>
            </a:r>
            <a:r>
              <a:rPr sz="2000" dirty="0" smtClean="0">
                <a:latin typeface="微软雅黑" panose="020B0503020204020204" pitchFamily="34" charset="-122"/>
                <a:ea typeface="微软雅黑" panose="020B0503020204020204" pitchFamily="34" charset="-122"/>
                <a:cs typeface="宋体" panose="02010600030101010101" pitchFamily="2" charset="-122"/>
              </a:rPr>
              <a:t>依照本法追究，但是在外国已经受过刑罚处罚的，</a:t>
            </a:r>
            <a:r>
              <a:rPr sz="2000"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可以</a:t>
            </a:r>
            <a:r>
              <a:rPr sz="2000" dirty="0" smtClean="0">
                <a:latin typeface="微软雅黑" panose="020B0503020204020204" pitchFamily="34" charset="-122"/>
                <a:ea typeface="微软雅黑" panose="020B0503020204020204" pitchFamily="34" charset="-122"/>
                <a:cs typeface="宋体" panose="02010600030101010101" pitchFamily="2" charset="-122"/>
              </a:rPr>
              <a:t>免除或者减轻处罚。”该条规定表明，我国是一个独立自主的主权国家，有独立的刑事审判权，</a:t>
            </a:r>
            <a:r>
              <a:rPr sz="2000"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不受外国审判效力的约束</a:t>
            </a:r>
            <a:r>
              <a:rPr sz="2000" dirty="0" smtClean="0">
                <a:latin typeface="微软雅黑" panose="020B0503020204020204" pitchFamily="34" charset="-122"/>
                <a:ea typeface="微软雅黑" panose="020B0503020204020204" pitchFamily="34" charset="-122"/>
                <a:cs typeface="宋体" panose="02010600030101010101" pitchFamily="2" charset="-122"/>
              </a:rPr>
              <a:t>，不能因为犯罪行为已受外国审判，我国就放弃对该犯罪的管辖权，即使犯罪行为已受外国审判，我国仍然保留刑事管辖权。</a:t>
            </a: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六、管辖冲突问题</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（一）事实上的管辖冲突</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85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35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28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2861310"/>
          </a:xfrm>
          <a:prstGeom prst="rect">
            <a:avLst/>
          </a:prstGeom>
          <a:noFill/>
        </p:spPr>
        <p:txBody>
          <a:bodyPr wrap="square" rtlCol="0">
            <a:spAutoFit/>
          </a:bodyPr>
          <a:lstStyle/>
          <a:p>
            <a:pPr lvl="0" indent="45720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当某一犯罪既为我国刑法所规定，可以适用《刑法》第6</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8条分别规定的属地原则、属人原则和保护原则，又为国际条约所规定，可以适用我国《刑法》第9条规定的普遍管辖原则时，属地原则等与普遍管辖原则就有可能发生冲突，如发生在我国领空的劫持航空器的犯罪。</a:t>
            </a:r>
          </a:p>
          <a:p>
            <a:pPr lvl="0" indent="45720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解决这一管辖冲突的原则是</a:t>
            </a:r>
            <a:r>
              <a:rPr sz="2000"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优先适用属地原则</a:t>
            </a:r>
            <a:r>
              <a:rPr sz="2000" dirty="0" smtClean="0">
                <a:latin typeface="微软雅黑" panose="020B0503020204020204" pitchFamily="34" charset="-122"/>
                <a:ea typeface="微软雅黑" panose="020B0503020204020204" pitchFamily="34" charset="-122"/>
                <a:cs typeface="宋体" panose="02010600030101010101" pitchFamily="2" charset="-122"/>
              </a:rPr>
              <a:t>等。</a:t>
            </a: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六、管辖冲突问题</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（二）法律上的管辖冲突</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85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35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28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一、刑法的生效时间</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二、刑法的失效时间</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三、刑法的溯及力</a:t>
            </a:r>
          </a:p>
        </p:txBody>
      </p:sp>
      <p:sp>
        <p:nvSpPr>
          <p:cNvPr id="23" name="矩形 22"/>
          <p:cNvSpPr/>
          <p:nvPr/>
        </p:nvSpPr>
        <p:spPr>
          <a:xfrm>
            <a:off x="4930781" y="775078"/>
            <a:ext cx="576707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第二节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刑法的时间效力</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689405" y="2449889"/>
            <a:ext cx="7441370" cy="2862322"/>
          </a:xfrm>
          <a:prstGeom prst="rect">
            <a:avLst/>
          </a:prstGeom>
          <a:noFill/>
        </p:spPr>
        <p:txBody>
          <a:bodyPr wrap="square" rtlCol="0">
            <a:spAutoFit/>
          </a:bodyPr>
          <a:lstStyle/>
          <a:p>
            <a:pPr lvl="0" indent="45720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刑法的生效时间，是指刑法从什么时间开始具有法律效力。只有在发生法律效力之后，刑法规范才能对人们的行为起到规制作用，司法机关才能适用该刑法规范，作为定罪量刑的根据。</a:t>
            </a:r>
          </a:p>
          <a:p>
            <a:pPr lvl="0">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      在我国，刑法的生效时间包括两种：</a:t>
            </a:r>
            <a:endParaRPr 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        1. 自公布之日起生效</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        2. 公布后过一段时间才生效</a:t>
            </a:r>
          </a:p>
        </p:txBody>
      </p:sp>
      <p:sp>
        <p:nvSpPr>
          <p:cNvPr id="2" name="矩形 1"/>
          <p:cNvSpPr/>
          <p:nvPr/>
        </p:nvSpPr>
        <p:spPr>
          <a:xfrm>
            <a:off x="3143083" y="1119160"/>
            <a:ext cx="2926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一、刑法的生效时间</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9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9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9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86857" y="2433986"/>
            <a:ext cx="7151870" cy="2862322"/>
          </a:xfrm>
          <a:prstGeom prst="rect">
            <a:avLst/>
          </a:prstGeom>
          <a:noFill/>
        </p:spPr>
        <p:txBody>
          <a:bodyPr wrap="square" rtlCol="0">
            <a:spAutoFit/>
          </a:bodyPr>
          <a:lstStyle/>
          <a:p>
            <a:pPr lvl="0" indent="45720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rPr>
              <a:t>刑法的失效时间，是指刑法从什么时候开始不再具有法律效力。刑法在失去法律效力后，对于新发生的犯罪行为，不再适用</a:t>
            </a:r>
            <a:r>
              <a:rPr sz="2000" dirty="0" smtClean="0">
                <a:latin typeface="微软雅黑" panose="020B0503020204020204" pitchFamily="34" charset="-122"/>
                <a:ea typeface="微软雅黑" panose="020B0503020204020204" pitchFamily="34" charset="-122"/>
                <a:cs typeface="宋体" panose="02010600030101010101" pitchFamily="2" charset="-122"/>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indent="45720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rPr>
              <a:t>关于刑法的失效，我国主要有两种方式</a:t>
            </a:r>
            <a:r>
              <a:rPr sz="2000" dirty="0" smtClean="0">
                <a:latin typeface="微软雅黑" panose="020B0503020204020204" pitchFamily="34" charset="-122"/>
                <a:ea typeface="微软雅黑" panose="020B0503020204020204" pitchFamily="34" charset="-122"/>
                <a:cs typeface="宋体" panose="02010600030101010101" pitchFamily="2" charset="-122"/>
              </a:rPr>
              <a:t>：</a:t>
            </a:r>
            <a:endParaRPr 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indent="45720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1. 明示废止</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      2. 默示废止</a:t>
            </a:r>
          </a:p>
        </p:txBody>
      </p:sp>
      <p:sp>
        <p:nvSpPr>
          <p:cNvPr id="2" name="矩形 1"/>
          <p:cNvSpPr/>
          <p:nvPr/>
        </p:nvSpPr>
        <p:spPr>
          <a:xfrm>
            <a:off x="3143083" y="1119160"/>
            <a:ext cx="2926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二、刑法的失效时间</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9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9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9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2861310"/>
          </a:xfrm>
          <a:prstGeom prst="rect">
            <a:avLst/>
          </a:prstGeom>
          <a:noFill/>
        </p:spPr>
        <p:txBody>
          <a:bodyPr wrap="square" rtlCol="0">
            <a:spAutoFit/>
          </a:bodyPr>
          <a:lstStyle/>
          <a:p>
            <a:pPr lvl="0" indent="45720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刑法的溯及力，是指新的刑事法律生效后，对其生效以前发生的未经审判或者判决未确定的行为是否适用的问题。</a:t>
            </a:r>
          </a:p>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在刑法的溯及力问题上，世界各国刑事立法选择的原则主要有如下四种：</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1. 从旧原则              2.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从新原则</a:t>
            </a:r>
            <a:endParaRPr 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nSpc>
                <a:spcPct val="150000"/>
              </a:lnSpc>
            </a:pPr>
            <a:r>
              <a:rPr lang="en-US" sz="2000"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3. 从旧兼从轻原则    </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4. 从新兼从轻原则</a:t>
            </a: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三、刑法的溯及力</a:t>
            </a:r>
          </a:p>
        </p:txBody>
      </p:sp>
      <p:sp>
        <p:nvSpPr>
          <p:cNvPr id="3" name="矩形 2"/>
          <p:cNvSpPr/>
          <p:nvPr>
            <p:custDataLst>
              <p:tags r:id="rId2"/>
            </p:custDataLst>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（一）刑法的溯及力的概念和原则</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5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90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2861310"/>
          </a:xfrm>
          <a:prstGeom prst="rect">
            <a:avLst/>
          </a:prstGeom>
          <a:noFill/>
        </p:spPr>
        <p:txBody>
          <a:bodyPr wrap="square" rtlCol="0">
            <a:spAutoFit/>
          </a:bodyPr>
          <a:lstStyle/>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《刑法》第12条规定：</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中华人民共和国成立以后本法施行以前的行为，如果当时的法律不认为是犯罪的，适用当时的法律</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如果当时的法律认为是犯罪的，依照本法总则第四章第八节的规定应当追诉的，按照当时的法律追究刑事责任，但是如果本法不认为是犯罪或者处刑较轻的，适用本法。本法施行以前，依照当时的法律已经作出的生效判决，继续有效。</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三、刑法的溯及力</a:t>
            </a:r>
          </a:p>
        </p:txBody>
      </p:sp>
      <p:sp>
        <p:nvSpPr>
          <p:cNvPr id="3" name="矩形 2"/>
          <p:cNvSpPr/>
          <p:nvPr>
            <p:custDataLst>
              <p:tags r:id="rId2"/>
            </p:custDataLst>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（二）我国刑法关于刑法的溯及力的规定</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5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103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518137" y="2449889"/>
            <a:ext cx="7612638" cy="4247317"/>
          </a:xfrm>
          <a:prstGeom prst="rect">
            <a:avLst/>
          </a:prstGeom>
          <a:noFill/>
        </p:spPr>
        <p:txBody>
          <a:bodyPr wrap="square" rtlCol="0">
            <a:spAutoFit/>
          </a:bodyPr>
          <a:lstStyle/>
          <a:p>
            <a:pPr lvl="0" indent="45720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我国刑法在溯及力</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问</a:t>
            </a:r>
            <a:r>
              <a:rPr sz="2000" dirty="0" smtClean="0">
                <a:latin typeface="微软雅黑" panose="020B0503020204020204" pitchFamily="34" charset="-122"/>
                <a:ea typeface="微软雅黑" panose="020B0503020204020204" pitchFamily="34" charset="-122"/>
                <a:cs typeface="宋体" panose="02010600030101010101" pitchFamily="2" charset="-122"/>
              </a:rPr>
              <a:t>题上，采用从旧兼从轻原则。具体表现为以下四种情形：</a:t>
            </a:r>
          </a:p>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1.</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 </a:t>
            </a:r>
            <a:r>
              <a:rPr sz="2000" dirty="0" err="1" smtClean="0">
                <a:latin typeface="微软雅黑" panose="020B0503020204020204" pitchFamily="34" charset="-122"/>
                <a:ea typeface="微软雅黑" panose="020B0503020204020204" pitchFamily="34" charset="-122"/>
                <a:cs typeface="宋体" panose="02010600030101010101" pitchFamily="2" charset="-122"/>
              </a:rPr>
              <a:t>行为时的法律不认为是犯罪，新的法律认为是犯罪的，适用行为时的法律，</a:t>
            </a:r>
            <a:r>
              <a:rPr sz="2000" dirty="0" err="1" smtClean="0">
                <a:latin typeface="微软雅黑" panose="020B0503020204020204" pitchFamily="34" charset="-122"/>
                <a:ea typeface="微软雅黑" panose="020B0503020204020204" pitchFamily="34" charset="-122"/>
                <a:cs typeface="宋体" panose="02010600030101010101" pitchFamily="2" charset="-122"/>
              </a:rPr>
              <a:t>不能根据新的法律规定追究行为人的刑事责任</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从旧原则</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a:t>
            </a: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2. </a:t>
            </a:r>
            <a:r>
              <a:rPr sz="2000" dirty="0" smtClean="0">
                <a:latin typeface="微软雅黑" panose="020B0503020204020204" pitchFamily="34" charset="-122"/>
                <a:ea typeface="微软雅黑" panose="020B0503020204020204" pitchFamily="34" charset="-122"/>
                <a:cs typeface="宋体" panose="02010600030101010101" pitchFamily="2" charset="-122"/>
              </a:rPr>
              <a:t>行为时的法律认为是犯罪，新的法律也认为是犯罪，并且在追诉期内的，适用行为时的法律，但是新的法律对该行为规定的法定刑与旧的法律对该行为规定的法定刑相比较轻时，</a:t>
            </a:r>
            <a:r>
              <a:rPr sz="2000" dirty="0" smtClean="0">
                <a:latin typeface="微软雅黑" panose="020B0503020204020204" pitchFamily="34" charset="-122"/>
                <a:ea typeface="微软雅黑" panose="020B0503020204020204" pitchFamily="34" charset="-122"/>
                <a:cs typeface="宋体" panose="02010600030101010101" pitchFamily="2" charset="-122"/>
              </a:rPr>
              <a:t>适用新的法律的规定</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从轻原则</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rPr>
              <a:t>） </a:t>
            </a:r>
            <a:r>
              <a:rPr sz="2000" dirty="0" smtClean="0">
                <a:latin typeface="微软雅黑" panose="020B0503020204020204" pitchFamily="34" charset="-122"/>
                <a:ea typeface="微软雅黑" panose="020B0503020204020204" pitchFamily="34" charset="-122"/>
                <a:cs typeface="宋体" panose="02010600030101010101" pitchFamily="2" charset="-122"/>
              </a:rPr>
              <a:t>。</a:t>
            </a: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三、刑法的溯及力</a:t>
            </a:r>
          </a:p>
        </p:txBody>
      </p:sp>
      <p:sp>
        <p:nvSpPr>
          <p:cNvPr id="3" name="矩形 2"/>
          <p:cNvSpPr/>
          <p:nvPr>
            <p:custDataLst>
              <p:tags r:id="rId2"/>
            </p:custDataLst>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（二）我国刑法关于刑法的溯及力的规定</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5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43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681454" y="2449889"/>
            <a:ext cx="7449321" cy="2862322"/>
          </a:xfrm>
          <a:prstGeom prst="rect">
            <a:avLst/>
          </a:prstGeom>
          <a:noFill/>
        </p:spPr>
        <p:txBody>
          <a:bodyPr wrap="square" rtlCol="0">
            <a:spAutoFit/>
          </a:bodyPr>
          <a:lstStyle/>
          <a:p>
            <a:pPr lvl="0">
              <a:lnSpc>
                <a:spcPct val="150000"/>
              </a:lnSpc>
            </a:pP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3.</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 </a:t>
            </a:r>
            <a:r>
              <a:rPr sz="2000" dirty="0" err="1" smtClean="0">
                <a:latin typeface="微软雅黑" panose="020B0503020204020204" pitchFamily="34" charset="-122"/>
                <a:ea typeface="微软雅黑" panose="020B0503020204020204" pitchFamily="34" charset="-122"/>
                <a:cs typeface="宋体" panose="02010600030101010101" pitchFamily="2" charset="-122"/>
              </a:rPr>
              <a:t>行为时的法律认为是犯罪，新的法律不认为是犯罪的，适用新的法律，</a:t>
            </a:r>
            <a:r>
              <a:rPr sz="2000" dirty="0" err="1" smtClean="0">
                <a:latin typeface="微软雅黑" panose="020B0503020204020204" pitchFamily="34" charset="-122"/>
                <a:ea typeface="微软雅黑" panose="020B0503020204020204" pitchFamily="34" charset="-122"/>
                <a:cs typeface="宋体" panose="02010600030101010101" pitchFamily="2" charset="-122"/>
              </a:rPr>
              <a:t>不能根据行为时法律的规定追究行为人的刑事责任</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rPr>
              <a:t>（从轻原则）</a:t>
            </a:r>
            <a:r>
              <a:rPr lang="zh-CN" altLang="en-US" sz="20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rPr>
              <a:t> </a:t>
            </a:r>
            <a:r>
              <a:rPr sz="2000" dirty="0" smtClean="0">
                <a:latin typeface="微软雅黑" panose="020B0503020204020204" pitchFamily="34" charset="-122"/>
                <a:ea typeface="微软雅黑" panose="020B0503020204020204" pitchFamily="34" charset="-122"/>
                <a:cs typeface="宋体" panose="02010600030101010101" pitchFamily="2" charset="-122"/>
              </a:rPr>
              <a:t>。</a:t>
            </a: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rPr>
              <a:t>4.</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 </a:t>
            </a:r>
            <a:r>
              <a:rPr sz="2000" dirty="0" err="1" smtClean="0">
                <a:latin typeface="微软雅黑" panose="020B0503020204020204" pitchFamily="34" charset="-122"/>
                <a:ea typeface="微软雅黑" panose="020B0503020204020204" pitchFamily="34" charset="-122"/>
                <a:cs typeface="宋体" panose="02010600030101010101" pitchFamily="2" charset="-122"/>
              </a:rPr>
              <a:t>新的法律生效以前，依照当时的法律已经作出的生效判决，继续有效</a:t>
            </a:r>
            <a:r>
              <a:rPr sz="2000" dirty="0" smtClean="0">
                <a:latin typeface="微软雅黑" panose="020B0503020204020204" pitchFamily="34" charset="-122"/>
                <a:ea typeface="微软雅黑" panose="020B0503020204020204" pitchFamily="34" charset="-122"/>
                <a:cs typeface="宋体" panose="02010600030101010101" pitchFamily="2" charset="-122"/>
              </a:rPr>
              <a:t>。</a:t>
            </a: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三、刑法的溯及力</a:t>
            </a:r>
          </a:p>
        </p:txBody>
      </p:sp>
      <p:sp>
        <p:nvSpPr>
          <p:cNvPr id="3" name="矩形 2"/>
          <p:cNvSpPr/>
          <p:nvPr>
            <p:custDataLst>
              <p:tags r:id="rId2"/>
            </p:custDataLst>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（二）我国刑法关于刑法的溯及力的规定</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5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34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3142674"/>
            <a:ext cx="7151870" cy="1014730"/>
          </a:xfrm>
          <a:prstGeom prst="rect">
            <a:avLst/>
          </a:prstGeom>
          <a:noFill/>
        </p:spPr>
        <p:txBody>
          <a:bodyPr wrap="square" rtlCol="0">
            <a:spAutoFit/>
          </a:bodyPr>
          <a:lstStyle/>
          <a:p>
            <a:pPr lvl="0">
              <a:lnSpc>
                <a:spcPct val="150000"/>
              </a:lnSpc>
            </a:pPr>
            <a:r>
              <a:rPr sz="2000" b="1" dirty="0" smtClean="0">
                <a:latin typeface="微软雅黑" panose="020B0503020204020204" pitchFamily="34" charset="-122"/>
                <a:ea typeface="微软雅黑" panose="020B0503020204020204" pitchFamily="34" charset="-122"/>
                <a:cs typeface="宋体" panose="02010600030101010101" pitchFamily="2" charset="-122"/>
              </a:rPr>
              <a:t>立法解释或司法解释能否适用于其生效之前的犯罪行为？</a:t>
            </a:r>
          </a:p>
          <a:p>
            <a:pPr lvl="0">
              <a:lnSpc>
                <a:spcPct val="150000"/>
              </a:lnSpc>
            </a:pP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三、刑法的溯及力</a:t>
            </a:r>
          </a:p>
        </p:txBody>
      </p:sp>
      <p:sp>
        <p:nvSpPr>
          <p:cNvPr id="3" name="矩形 2"/>
          <p:cNvSpPr/>
          <p:nvPr>
            <p:custDataLst>
              <p:tags r:id="rId2"/>
            </p:custDataLst>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（三）立法解释和司法解释的溯及力问题</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5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35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3142039"/>
            <a:ext cx="7151870" cy="1014730"/>
          </a:xfrm>
          <a:prstGeom prst="rect">
            <a:avLst/>
          </a:prstGeom>
          <a:noFill/>
        </p:spPr>
        <p:txBody>
          <a:bodyPr wrap="square" rtlCol="0">
            <a:spAutoFit/>
          </a:bodyPr>
          <a:lstStyle/>
          <a:p>
            <a:pPr lvl="0">
              <a:lnSpc>
                <a:spcPct val="150000"/>
              </a:lnSpc>
            </a:pPr>
            <a:r>
              <a:rPr sz="2000" b="1" dirty="0" smtClean="0">
                <a:latin typeface="微软雅黑" panose="020B0503020204020204" pitchFamily="34" charset="-122"/>
                <a:ea typeface="微软雅黑" panose="020B0503020204020204" pitchFamily="34" charset="-122"/>
                <a:cs typeface="宋体" panose="02010600030101010101" pitchFamily="2" charset="-122"/>
              </a:rPr>
              <a:t>犯罪行为发生后立法解释或司法解释出现变更的，应当适用新解释还是旧解释？</a:t>
            </a: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三、刑法的溯及力</a:t>
            </a:r>
          </a:p>
        </p:txBody>
      </p:sp>
      <p:sp>
        <p:nvSpPr>
          <p:cNvPr id="3" name="矩形 2"/>
          <p:cNvSpPr/>
          <p:nvPr>
            <p:custDataLst>
              <p:tags r:id="rId2"/>
            </p:custDataLst>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（三）立法解释和司法解释的溯及力问题</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35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8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40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dea_301807"/>
          <p:cNvSpPr>
            <a:spLocks noChangeAspect="1"/>
          </p:cNvSpPr>
          <p:nvPr>
            <p:custDataLst>
              <p:tags r:id="rId1"/>
            </p:custDataLst>
          </p:nvPr>
        </p:nvSpPr>
        <p:spPr bwMode="auto">
          <a:xfrm>
            <a:off x="1077900" y="1081362"/>
            <a:ext cx="529201" cy="609685"/>
          </a:xfrm>
          <a:custGeom>
            <a:avLst/>
            <a:gdLst>
              <a:gd name="connsiteX0" fmla="*/ 139184 w 526630"/>
              <a:gd name="connsiteY0" fmla="*/ 367044 h 606722"/>
              <a:gd name="connsiteX1" fmla="*/ 90404 w 526630"/>
              <a:gd name="connsiteY1" fmla="*/ 401702 h 606722"/>
              <a:gd name="connsiteX2" fmla="*/ 65124 w 526630"/>
              <a:gd name="connsiteY2" fmla="*/ 472708 h 606722"/>
              <a:gd name="connsiteX3" fmla="*/ 65124 w 526630"/>
              <a:gd name="connsiteY3" fmla="*/ 570641 h 606722"/>
              <a:gd name="connsiteX4" fmla="*/ 159034 w 526630"/>
              <a:gd name="connsiteY4" fmla="*/ 570641 h 606722"/>
              <a:gd name="connsiteX5" fmla="*/ 155563 w 526630"/>
              <a:gd name="connsiteY5" fmla="*/ 551535 h 606722"/>
              <a:gd name="connsiteX6" fmla="*/ 159034 w 526630"/>
              <a:gd name="connsiteY6" fmla="*/ 532428 h 606722"/>
              <a:gd name="connsiteX7" fmla="*/ 107495 w 526630"/>
              <a:gd name="connsiteY7" fmla="*/ 532428 h 606722"/>
              <a:gd name="connsiteX8" fmla="*/ 107495 w 526630"/>
              <a:gd name="connsiteY8" fmla="*/ 462311 h 606722"/>
              <a:gd name="connsiteX9" fmla="*/ 143546 w 526630"/>
              <a:gd name="connsiteY9" fmla="*/ 462311 h 606722"/>
              <a:gd name="connsiteX10" fmla="*/ 143546 w 526630"/>
              <a:gd name="connsiteY10" fmla="*/ 496347 h 606722"/>
              <a:gd name="connsiteX11" fmla="*/ 210841 w 526630"/>
              <a:gd name="connsiteY11" fmla="*/ 496347 h 606722"/>
              <a:gd name="connsiteX12" fmla="*/ 383084 w 526630"/>
              <a:gd name="connsiteY12" fmla="*/ 496347 h 606722"/>
              <a:gd name="connsiteX13" fmla="*/ 383084 w 526630"/>
              <a:gd name="connsiteY13" fmla="*/ 462311 h 606722"/>
              <a:gd name="connsiteX14" fmla="*/ 419135 w 526630"/>
              <a:gd name="connsiteY14" fmla="*/ 462311 h 606722"/>
              <a:gd name="connsiteX15" fmla="*/ 419135 w 526630"/>
              <a:gd name="connsiteY15" fmla="*/ 532428 h 606722"/>
              <a:gd name="connsiteX16" fmla="*/ 210841 w 526630"/>
              <a:gd name="connsiteY16" fmla="*/ 532428 h 606722"/>
              <a:gd name="connsiteX17" fmla="*/ 191703 w 526630"/>
              <a:gd name="connsiteY17" fmla="*/ 551535 h 606722"/>
              <a:gd name="connsiteX18" fmla="*/ 210841 w 526630"/>
              <a:gd name="connsiteY18" fmla="*/ 570641 h 606722"/>
              <a:gd name="connsiteX19" fmla="*/ 461417 w 526630"/>
              <a:gd name="connsiteY19" fmla="*/ 570641 h 606722"/>
              <a:gd name="connsiteX20" fmla="*/ 461506 w 526630"/>
              <a:gd name="connsiteY20" fmla="*/ 570641 h 606722"/>
              <a:gd name="connsiteX21" fmla="*/ 461506 w 526630"/>
              <a:gd name="connsiteY21" fmla="*/ 472708 h 606722"/>
              <a:gd name="connsiteX22" fmla="*/ 436137 w 526630"/>
              <a:gd name="connsiteY22" fmla="*/ 401702 h 606722"/>
              <a:gd name="connsiteX23" fmla="*/ 387357 w 526630"/>
              <a:gd name="connsiteY23" fmla="*/ 367044 h 606722"/>
              <a:gd name="connsiteX24" fmla="*/ 294693 w 526630"/>
              <a:gd name="connsiteY24" fmla="*/ 441516 h 606722"/>
              <a:gd name="connsiteX25" fmla="*/ 294159 w 526630"/>
              <a:gd name="connsiteY25" fmla="*/ 441604 h 606722"/>
              <a:gd name="connsiteX26" fmla="*/ 291399 w 526630"/>
              <a:gd name="connsiteY26" fmla="*/ 442226 h 606722"/>
              <a:gd name="connsiteX27" fmla="*/ 289797 w 526630"/>
              <a:gd name="connsiteY27" fmla="*/ 442582 h 606722"/>
              <a:gd name="connsiteX28" fmla="*/ 286770 w 526630"/>
              <a:gd name="connsiteY28" fmla="*/ 443115 h 606722"/>
              <a:gd name="connsiteX29" fmla="*/ 283744 w 526630"/>
              <a:gd name="connsiteY29" fmla="*/ 443560 h 606722"/>
              <a:gd name="connsiteX30" fmla="*/ 282053 w 526630"/>
              <a:gd name="connsiteY30" fmla="*/ 443826 h 606722"/>
              <a:gd name="connsiteX31" fmla="*/ 279204 w 526630"/>
              <a:gd name="connsiteY31" fmla="*/ 444182 h 606722"/>
              <a:gd name="connsiteX32" fmla="*/ 277780 w 526630"/>
              <a:gd name="connsiteY32" fmla="*/ 444359 h 606722"/>
              <a:gd name="connsiteX33" fmla="*/ 273596 w 526630"/>
              <a:gd name="connsiteY33" fmla="*/ 444715 h 606722"/>
              <a:gd name="connsiteX34" fmla="*/ 272528 w 526630"/>
              <a:gd name="connsiteY34" fmla="*/ 444804 h 606722"/>
              <a:gd name="connsiteX35" fmla="*/ 269056 w 526630"/>
              <a:gd name="connsiteY35" fmla="*/ 444981 h 606722"/>
              <a:gd name="connsiteX36" fmla="*/ 267810 w 526630"/>
              <a:gd name="connsiteY36" fmla="*/ 445070 h 606722"/>
              <a:gd name="connsiteX37" fmla="*/ 263271 w 526630"/>
              <a:gd name="connsiteY37" fmla="*/ 445159 h 606722"/>
              <a:gd name="connsiteX38" fmla="*/ 258820 w 526630"/>
              <a:gd name="connsiteY38" fmla="*/ 445070 h 606722"/>
              <a:gd name="connsiteX39" fmla="*/ 257574 w 526630"/>
              <a:gd name="connsiteY39" fmla="*/ 444981 h 606722"/>
              <a:gd name="connsiteX40" fmla="*/ 254013 w 526630"/>
              <a:gd name="connsiteY40" fmla="*/ 444804 h 606722"/>
              <a:gd name="connsiteX41" fmla="*/ 253034 w 526630"/>
              <a:gd name="connsiteY41" fmla="*/ 444715 h 606722"/>
              <a:gd name="connsiteX42" fmla="*/ 248850 w 526630"/>
              <a:gd name="connsiteY42" fmla="*/ 444359 h 606722"/>
              <a:gd name="connsiteX43" fmla="*/ 247426 w 526630"/>
              <a:gd name="connsiteY43" fmla="*/ 444182 h 606722"/>
              <a:gd name="connsiteX44" fmla="*/ 244577 w 526630"/>
              <a:gd name="connsiteY44" fmla="*/ 443826 h 606722"/>
              <a:gd name="connsiteX45" fmla="*/ 242797 w 526630"/>
              <a:gd name="connsiteY45" fmla="*/ 443560 h 606722"/>
              <a:gd name="connsiteX46" fmla="*/ 239860 w 526630"/>
              <a:gd name="connsiteY46" fmla="*/ 443115 h 606722"/>
              <a:gd name="connsiteX47" fmla="*/ 236833 w 526630"/>
              <a:gd name="connsiteY47" fmla="*/ 442582 h 606722"/>
              <a:gd name="connsiteX48" fmla="*/ 235231 w 526630"/>
              <a:gd name="connsiteY48" fmla="*/ 442226 h 606722"/>
              <a:gd name="connsiteX49" fmla="*/ 232471 w 526630"/>
              <a:gd name="connsiteY49" fmla="*/ 441604 h 606722"/>
              <a:gd name="connsiteX50" fmla="*/ 231937 w 526630"/>
              <a:gd name="connsiteY50" fmla="*/ 441516 h 606722"/>
              <a:gd name="connsiteX51" fmla="*/ 139184 w 526630"/>
              <a:gd name="connsiteY51" fmla="*/ 367044 h 606722"/>
              <a:gd name="connsiteX52" fmla="*/ 439552 w 526630"/>
              <a:gd name="connsiteY52" fmla="*/ 244933 h 606722"/>
              <a:gd name="connsiteX53" fmla="*/ 526630 w 526630"/>
              <a:gd name="connsiteY53" fmla="*/ 244933 h 606722"/>
              <a:gd name="connsiteX54" fmla="*/ 526630 w 526630"/>
              <a:gd name="connsiteY54" fmla="*/ 280921 h 606722"/>
              <a:gd name="connsiteX55" fmla="*/ 439552 w 526630"/>
              <a:gd name="connsiteY55" fmla="*/ 280921 h 606722"/>
              <a:gd name="connsiteX56" fmla="*/ 0 w 526630"/>
              <a:gd name="connsiteY56" fmla="*/ 244933 h 606722"/>
              <a:gd name="connsiteX57" fmla="*/ 87007 w 526630"/>
              <a:gd name="connsiteY57" fmla="*/ 244933 h 606722"/>
              <a:gd name="connsiteX58" fmla="*/ 87007 w 526630"/>
              <a:gd name="connsiteY58" fmla="*/ 280921 h 606722"/>
              <a:gd name="connsiteX59" fmla="*/ 0 w 526630"/>
              <a:gd name="connsiteY59" fmla="*/ 280921 h 606722"/>
              <a:gd name="connsiteX60" fmla="*/ 170161 w 526630"/>
              <a:gd name="connsiteY60" fmla="*/ 223166 h 606722"/>
              <a:gd name="connsiteX61" fmla="*/ 161972 w 526630"/>
              <a:gd name="connsiteY61" fmla="*/ 262890 h 606722"/>
              <a:gd name="connsiteX62" fmla="*/ 161972 w 526630"/>
              <a:gd name="connsiteY62" fmla="*/ 307857 h 606722"/>
              <a:gd name="connsiteX63" fmla="*/ 237901 w 526630"/>
              <a:gd name="connsiteY63" fmla="*/ 405879 h 606722"/>
              <a:gd name="connsiteX64" fmla="*/ 238079 w 526630"/>
              <a:gd name="connsiteY64" fmla="*/ 405879 h 606722"/>
              <a:gd name="connsiteX65" fmla="*/ 247693 w 526630"/>
              <a:gd name="connsiteY65" fmla="*/ 407834 h 606722"/>
              <a:gd name="connsiteX66" fmla="*/ 248494 w 526630"/>
              <a:gd name="connsiteY66" fmla="*/ 408012 h 606722"/>
              <a:gd name="connsiteX67" fmla="*/ 252322 w 526630"/>
              <a:gd name="connsiteY67" fmla="*/ 408456 h 606722"/>
              <a:gd name="connsiteX68" fmla="*/ 253746 w 526630"/>
              <a:gd name="connsiteY68" fmla="*/ 408634 h 606722"/>
              <a:gd name="connsiteX69" fmla="*/ 257128 w 526630"/>
              <a:gd name="connsiteY69" fmla="*/ 408901 h 606722"/>
              <a:gd name="connsiteX70" fmla="*/ 258553 w 526630"/>
              <a:gd name="connsiteY70" fmla="*/ 408990 h 606722"/>
              <a:gd name="connsiteX71" fmla="*/ 263271 w 526630"/>
              <a:gd name="connsiteY71" fmla="*/ 409079 h 606722"/>
              <a:gd name="connsiteX72" fmla="*/ 268077 w 526630"/>
              <a:gd name="connsiteY72" fmla="*/ 408990 h 606722"/>
              <a:gd name="connsiteX73" fmla="*/ 269502 w 526630"/>
              <a:gd name="connsiteY73" fmla="*/ 408901 h 606722"/>
              <a:gd name="connsiteX74" fmla="*/ 272884 w 526630"/>
              <a:gd name="connsiteY74" fmla="*/ 408634 h 606722"/>
              <a:gd name="connsiteX75" fmla="*/ 274308 w 526630"/>
              <a:gd name="connsiteY75" fmla="*/ 408456 h 606722"/>
              <a:gd name="connsiteX76" fmla="*/ 278136 w 526630"/>
              <a:gd name="connsiteY76" fmla="*/ 408012 h 606722"/>
              <a:gd name="connsiteX77" fmla="*/ 278937 w 526630"/>
              <a:gd name="connsiteY77" fmla="*/ 407834 h 606722"/>
              <a:gd name="connsiteX78" fmla="*/ 288551 w 526630"/>
              <a:gd name="connsiteY78" fmla="*/ 405879 h 606722"/>
              <a:gd name="connsiteX79" fmla="*/ 288640 w 526630"/>
              <a:gd name="connsiteY79" fmla="*/ 405879 h 606722"/>
              <a:gd name="connsiteX80" fmla="*/ 364658 w 526630"/>
              <a:gd name="connsiteY80" fmla="*/ 307857 h 606722"/>
              <a:gd name="connsiteX81" fmla="*/ 364658 w 526630"/>
              <a:gd name="connsiteY81" fmla="*/ 262890 h 606722"/>
              <a:gd name="connsiteX82" fmla="*/ 356469 w 526630"/>
              <a:gd name="connsiteY82" fmla="*/ 223166 h 606722"/>
              <a:gd name="connsiteX83" fmla="*/ 263271 w 526630"/>
              <a:gd name="connsiteY83" fmla="*/ 258180 h 606722"/>
              <a:gd name="connsiteX84" fmla="*/ 170161 w 526630"/>
              <a:gd name="connsiteY84" fmla="*/ 223166 h 606722"/>
              <a:gd name="connsiteX85" fmla="*/ 263271 w 526630"/>
              <a:gd name="connsiteY85" fmla="*/ 161758 h 606722"/>
              <a:gd name="connsiteX86" fmla="*/ 190368 w 526630"/>
              <a:gd name="connsiteY86" fmla="*/ 192773 h 606722"/>
              <a:gd name="connsiteX87" fmla="*/ 263271 w 526630"/>
              <a:gd name="connsiteY87" fmla="*/ 222099 h 606722"/>
              <a:gd name="connsiteX88" fmla="*/ 336263 w 526630"/>
              <a:gd name="connsiteY88" fmla="*/ 192773 h 606722"/>
              <a:gd name="connsiteX89" fmla="*/ 263271 w 526630"/>
              <a:gd name="connsiteY89" fmla="*/ 161758 h 606722"/>
              <a:gd name="connsiteX90" fmla="*/ 263271 w 526630"/>
              <a:gd name="connsiteY90" fmla="*/ 125677 h 606722"/>
              <a:gd name="connsiteX91" fmla="*/ 400798 w 526630"/>
              <a:gd name="connsiteY91" fmla="*/ 262890 h 606722"/>
              <a:gd name="connsiteX92" fmla="*/ 400798 w 526630"/>
              <a:gd name="connsiteY92" fmla="*/ 307857 h 606722"/>
              <a:gd name="connsiteX93" fmla="*/ 398484 w 526630"/>
              <a:gd name="connsiteY93" fmla="*/ 332652 h 606722"/>
              <a:gd name="connsiteX94" fmla="*/ 464177 w 526630"/>
              <a:gd name="connsiteY94" fmla="*/ 378863 h 606722"/>
              <a:gd name="connsiteX95" fmla="*/ 497557 w 526630"/>
              <a:gd name="connsiteY95" fmla="*/ 472708 h 606722"/>
              <a:gd name="connsiteX96" fmla="*/ 497557 w 526630"/>
              <a:gd name="connsiteY96" fmla="*/ 606722 h 606722"/>
              <a:gd name="connsiteX97" fmla="*/ 29073 w 526630"/>
              <a:gd name="connsiteY97" fmla="*/ 606722 h 606722"/>
              <a:gd name="connsiteX98" fmla="*/ 29073 w 526630"/>
              <a:gd name="connsiteY98" fmla="*/ 472708 h 606722"/>
              <a:gd name="connsiteX99" fmla="*/ 62453 w 526630"/>
              <a:gd name="connsiteY99" fmla="*/ 378863 h 606722"/>
              <a:gd name="connsiteX100" fmla="*/ 128057 w 526630"/>
              <a:gd name="connsiteY100" fmla="*/ 332652 h 606722"/>
              <a:gd name="connsiteX101" fmla="*/ 125832 w 526630"/>
              <a:gd name="connsiteY101" fmla="*/ 307857 h 606722"/>
              <a:gd name="connsiteX102" fmla="*/ 125832 w 526630"/>
              <a:gd name="connsiteY102" fmla="*/ 262890 h 606722"/>
              <a:gd name="connsiteX103" fmla="*/ 263271 w 526630"/>
              <a:gd name="connsiteY103" fmla="*/ 125677 h 606722"/>
              <a:gd name="connsiteX104" fmla="*/ 436739 w 526630"/>
              <a:gd name="connsiteY104" fmla="*/ 64285 h 606722"/>
              <a:gd name="connsiteX105" fmla="*/ 462204 w 526630"/>
              <a:gd name="connsiteY105" fmla="*/ 89776 h 606722"/>
              <a:gd name="connsiteX106" fmla="*/ 400680 w 526630"/>
              <a:gd name="connsiteY106" fmla="*/ 151151 h 606722"/>
              <a:gd name="connsiteX107" fmla="*/ 375126 w 526630"/>
              <a:gd name="connsiteY107" fmla="*/ 125660 h 606722"/>
              <a:gd name="connsiteX108" fmla="*/ 89889 w 526630"/>
              <a:gd name="connsiteY108" fmla="*/ 64285 h 606722"/>
              <a:gd name="connsiteX109" fmla="*/ 151363 w 526630"/>
              <a:gd name="connsiteY109" fmla="*/ 125660 h 606722"/>
              <a:gd name="connsiteX110" fmla="*/ 125830 w 526630"/>
              <a:gd name="connsiteY110" fmla="*/ 151151 h 606722"/>
              <a:gd name="connsiteX111" fmla="*/ 64356 w 526630"/>
              <a:gd name="connsiteY111" fmla="*/ 89776 h 606722"/>
              <a:gd name="connsiteX112" fmla="*/ 245286 w 526630"/>
              <a:gd name="connsiteY112" fmla="*/ 0 h 606722"/>
              <a:gd name="connsiteX113" fmla="*/ 281345 w 526630"/>
              <a:gd name="connsiteY113" fmla="*/ 0 h 606722"/>
              <a:gd name="connsiteX114" fmla="*/ 281345 w 526630"/>
              <a:gd name="connsiteY114" fmla="*/ 86937 h 606722"/>
              <a:gd name="connsiteX115" fmla="*/ 245286 w 526630"/>
              <a:gd name="connsiteY115" fmla="*/ 86937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26630" h="606722">
                <a:moveTo>
                  <a:pt x="139184" y="367044"/>
                </a:moveTo>
                <a:cubicBezTo>
                  <a:pt x="120313" y="373887"/>
                  <a:pt x="103311" y="385884"/>
                  <a:pt x="90404" y="401702"/>
                </a:cubicBezTo>
                <a:cubicBezTo>
                  <a:pt x="74114" y="421609"/>
                  <a:pt x="65124" y="446848"/>
                  <a:pt x="65124" y="472708"/>
                </a:cubicBezTo>
                <a:lnTo>
                  <a:pt x="65124" y="570641"/>
                </a:lnTo>
                <a:lnTo>
                  <a:pt x="159034" y="570641"/>
                </a:lnTo>
                <a:cubicBezTo>
                  <a:pt x="156809" y="564687"/>
                  <a:pt x="155563" y="558289"/>
                  <a:pt x="155563" y="551535"/>
                </a:cubicBezTo>
                <a:cubicBezTo>
                  <a:pt x="155563" y="544781"/>
                  <a:pt x="156809" y="538382"/>
                  <a:pt x="159034" y="532428"/>
                </a:cubicBezTo>
                <a:lnTo>
                  <a:pt x="107495" y="532428"/>
                </a:lnTo>
                <a:lnTo>
                  <a:pt x="107495" y="462311"/>
                </a:lnTo>
                <a:lnTo>
                  <a:pt x="143546" y="462311"/>
                </a:lnTo>
                <a:lnTo>
                  <a:pt x="143546" y="496347"/>
                </a:lnTo>
                <a:lnTo>
                  <a:pt x="210841" y="496347"/>
                </a:lnTo>
                <a:lnTo>
                  <a:pt x="383084" y="496347"/>
                </a:lnTo>
                <a:lnTo>
                  <a:pt x="383084" y="462311"/>
                </a:lnTo>
                <a:lnTo>
                  <a:pt x="419135" y="462311"/>
                </a:lnTo>
                <a:lnTo>
                  <a:pt x="419135" y="532428"/>
                </a:lnTo>
                <a:lnTo>
                  <a:pt x="210841" y="532428"/>
                </a:lnTo>
                <a:cubicBezTo>
                  <a:pt x="200248" y="532428"/>
                  <a:pt x="191703" y="540959"/>
                  <a:pt x="191703" y="551535"/>
                </a:cubicBezTo>
                <a:cubicBezTo>
                  <a:pt x="191703" y="562110"/>
                  <a:pt x="200248" y="570641"/>
                  <a:pt x="210841" y="570641"/>
                </a:cubicBezTo>
                <a:lnTo>
                  <a:pt x="461417" y="570641"/>
                </a:lnTo>
                <a:lnTo>
                  <a:pt x="461506" y="570641"/>
                </a:lnTo>
                <a:lnTo>
                  <a:pt x="461506" y="472708"/>
                </a:lnTo>
                <a:cubicBezTo>
                  <a:pt x="461506" y="446848"/>
                  <a:pt x="452516" y="421609"/>
                  <a:pt x="436137" y="401702"/>
                </a:cubicBezTo>
                <a:cubicBezTo>
                  <a:pt x="423319" y="385884"/>
                  <a:pt x="406317" y="373887"/>
                  <a:pt x="387357" y="367044"/>
                </a:cubicBezTo>
                <a:cubicBezTo>
                  <a:pt x="369376" y="404902"/>
                  <a:pt x="335105" y="432095"/>
                  <a:pt x="294693" y="441516"/>
                </a:cubicBezTo>
                <a:cubicBezTo>
                  <a:pt x="294515" y="441516"/>
                  <a:pt x="294337" y="441604"/>
                  <a:pt x="294159" y="441604"/>
                </a:cubicBezTo>
                <a:cubicBezTo>
                  <a:pt x="293268" y="441871"/>
                  <a:pt x="292289" y="442049"/>
                  <a:pt x="291399" y="442226"/>
                </a:cubicBezTo>
                <a:cubicBezTo>
                  <a:pt x="290865" y="442315"/>
                  <a:pt x="290331" y="442404"/>
                  <a:pt x="289797" y="442582"/>
                </a:cubicBezTo>
                <a:cubicBezTo>
                  <a:pt x="288818" y="442760"/>
                  <a:pt x="287839" y="442937"/>
                  <a:pt x="286770" y="443115"/>
                </a:cubicBezTo>
                <a:cubicBezTo>
                  <a:pt x="285791" y="443293"/>
                  <a:pt x="284812" y="443471"/>
                  <a:pt x="283744" y="443560"/>
                </a:cubicBezTo>
                <a:cubicBezTo>
                  <a:pt x="283210" y="443648"/>
                  <a:pt x="282676" y="443737"/>
                  <a:pt x="282053" y="443826"/>
                </a:cubicBezTo>
                <a:cubicBezTo>
                  <a:pt x="281073" y="444004"/>
                  <a:pt x="280183" y="444093"/>
                  <a:pt x="279204" y="444182"/>
                </a:cubicBezTo>
                <a:cubicBezTo>
                  <a:pt x="278670" y="444270"/>
                  <a:pt x="278225" y="444270"/>
                  <a:pt x="277780" y="444359"/>
                </a:cubicBezTo>
                <a:cubicBezTo>
                  <a:pt x="276356" y="444537"/>
                  <a:pt x="274931" y="444626"/>
                  <a:pt x="273596" y="444715"/>
                </a:cubicBezTo>
                <a:cubicBezTo>
                  <a:pt x="273240" y="444804"/>
                  <a:pt x="272884" y="444804"/>
                  <a:pt x="272528" y="444804"/>
                </a:cubicBezTo>
                <a:cubicBezTo>
                  <a:pt x="271371" y="444893"/>
                  <a:pt x="270214" y="444981"/>
                  <a:pt x="269056" y="444981"/>
                </a:cubicBezTo>
                <a:cubicBezTo>
                  <a:pt x="268611" y="444981"/>
                  <a:pt x="268166" y="445070"/>
                  <a:pt x="267810" y="445070"/>
                </a:cubicBezTo>
                <a:cubicBezTo>
                  <a:pt x="266297" y="445070"/>
                  <a:pt x="264784" y="445159"/>
                  <a:pt x="263271" y="445159"/>
                </a:cubicBezTo>
                <a:cubicBezTo>
                  <a:pt x="261846" y="445159"/>
                  <a:pt x="260333" y="445070"/>
                  <a:pt x="258820" y="445070"/>
                </a:cubicBezTo>
                <a:cubicBezTo>
                  <a:pt x="258464" y="444981"/>
                  <a:pt x="258019" y="444981"/>
                  <a:pt x="257574" y="444981"/>
                </a:cubicBezTo>
                <a:cubicBezTo>
                  <a:pt x="256416" y="444981"/>
                  <a:pt x="255259" y="444893"/>
                  <a:pt x="254013" y="444804"/>
                </a:cubicBezTo>
                <a:cubicBezTo>
                  <a:pt x="253746" y="444804"/>
                  <a:pt x="253390" y="444804"/>
                  <a:pt x="253034" y="444715"/>
                </a:cubicBezTo>
                <a:cubicBezTo>
                  <a:pt x="251610" y="444626"/>
                  <a:pt x="250274" y="444537"/>
                  <a:pt x="248850" y="444359"/>
                </a:cubicBezTo>
                <a:cubicBezTo>
                  <a:pt x="248405" y="444270"/>
                  <a:pt x="247871" y="444270"/>
                  <a:pt x="247426" y="444182"/>
                </a:cubicBezTo>
                <a:cubicBezTo>
                  <a:pt x="246447" y="444093"/>
                  <a:pt x="245468" y="444004"/>
                  <a:pt x="244577" y="443826"/>
                </a:cubicBezTo>
                <a:cubicBezTo>
                  <a:pt x="243954" y="443737"/>
                  <a:pt x="243420" y="443648"/>
                  <a:pt x="242797" y="443560"/>
                </a:cubicBezTo>
                <a:cubicBezTo>
                  <a:pt x="241818" y="443471"/>
                  <a:pt x="240839" y="443293"/>
                  <a:pt x="239860" y="443115"/>
                </a:cubicBezTo>
                <a:cubicBezTo>
                  <a:pt x="238791" y="442937"/>
                  <a:pt x="237812" y="442760"/>
                  <a:pt x="236833" y="442582"/>
                </a:cubicBezTo>
                <a:cubicBezTo>
                  <a:pt x="236299" y="442404"/>
                  <a:pt x="235765" y="442315"/>
                  <a:pt x="235231" y="442226"/>
                </a:cubicBezTo>
                <a:cubicBezTo>
                  <a:pt x="234252" y="442049"/>
                  <a:pt x="233362" y="441871"/>
                  <a:pt x="232471" y="441604"/>
                </a:cubicBezTo>
                <a:cubicBezTo>
                  <a:pt x="232293" y="441604"/>
                  <a:pt x="232115" y="441516"/>
                  <a:pt x="231937" y="441516"/>
                </a:cubicBezTo>
                <a:cubicBezTo>
                  <a:pt x="191525" y="432095"/>
                  <a:pt x="157254" y="404902"/>
                  <a:pt x="139184" y="367044"/>
                </a:cubicBezTo>
                <a:close/>
                <a:moveTo>
                  <a:pt x="439552" y="244933"/>
                </a:moveTo>
                <a:lnTo>
                  <a:pt x="526630" y="244933"/>
                </a:lnTo>
                <a:lnTo>
                  <a:pt x="526630" y="280921"/>
                </a:lnTo>
                <a:lnTo>
                  <a:pt x="439552" y="280921"/>
                </a:lnTo>
                <a:close/>
                <a:moveTo>
                  <a:pt x="0" y="244933"/>
                </a:moveTo>
                <a:lnTo>
                  <a:pt x="87007" y="244933"/>
                </a:lnTo>
                <a:lnTo>
                  <a:pt x="87007" y="280921"/>
                </a:lnTo>
                <a:lnTo>
                  <a:pt x="0" y="280921"/>
                </a:lnTo>
                <a:close/>
                <a:moveTo>
                  <a:pt x="170161" y="223166"/>
                </a:moveTo>
                <a:cubicBezTo>
                  <a:pt x="164909" y="235341"/>
                  <a:pt x="161972" y="248760"/>
                  <a:pt x="161972" y="262890"/>
                </a:cubicBezTo>
                <a:lnTo>
                  <a:pt x="161972" y="307857"/>
                </a:lnTo>
                <a:cubicBezTo>
                  <a:pt x="161972" y="354958"/>
                  <a:pt x="194284" y="394593"/>
                  <a:pt x="237901" y="405879"/>
                </a:cubicBezTo>
                <a:cubicBezTo>
                  <a:pt x="237990" y="405879"/>
                  <a:pt x="237990" y="405879"/>
                  <a:pt x="238079" y="405879"/>
                </a:cubicBezTo>
                <a:cubicBezTo>
                  <a:pt x="241195" y="406679"/>
                  <a:pt x="244399" y="407390"/>
                  <a:pt x="247693" y="407834"/>
                </a:cubicBezTo>
                <a:cubicBezTo>
                  <a:pt x="247960" y="407923"/>
                  <a:pt x="248227" y="407923"/>
                  <a:pt x="248494" y="408012"/>
                </a:cubicBezTo>
                <a:cubicBezTo>
                  <a:pt x="249740" y="408190"/>
                  <a:pt x="250986" y="408368"/>
                  <a:pt x="252322" y="408456"/>
                </a:cubicBezTo>
                <a:cubicBezTo>
                  <a:pt x="252767" y="408545"/>
                  <a:pt x="253212" y="408545"/>
                  <a:pt x="253746" y="408634"/>
                </a:cubicBezTo>
                <a:cubicBezTo>
                  <a:pt x="254903" y="408723"/>
                  <a:pt x="255971" y="408812"/>
                  <a:pt x="257128" y="408901"/>
                </a:cubicBezTo>
                <a:cubicBezTo>
                  <a:pt x="257574" y="408901"/>
                  <a:pt x="258108" y="408901"/>
                  <a:pt x="258553" y="408990"/>
                </a:cubicBezTo>
                <a:cubicBezTo>
                  <a:pt x="260155" y="408990"/>
                  <a:pt x="261668" y="409079"/>
                  <a:pt x="263271" y="409079"/>
                </a:cubicBezTo>
                <a:cubicBezTo>
                  <a:pt x="264873" y="409079"/>
                  <a:pt x="266475" y="408990"/>
                  <a:pt x="268077" y="408990"/>
                </a:cubicBezTo>
                <a:cubicBezTo>
                  <a:pt x="268522" y="408901"/>
                  <a:pt x="268967" y="408901"/>
                  <a:pt x="269502" y="408901"/>
                </a:cubicBezTo>
                <a:cubicBezTo>
                  <a:pt x="270570" y="408812"/>
                  <a:pt x="271727" y="408723"/>
                  <a:pt x="272884" y="408634"/>
                </a:cubicBezTo>
                <a:cubicBezTo>
                  <a:pt x="273329" y="408545"/>
                  <a:pt x="273863" y="408545"/>
                  <a:pt x="274308" y="408456"/>
                </a:cubicBezTo>
                <a:cubicBezTo>
                  <a:pt x="275555" y="408368"/>
                  <a:pt x="276890" y="408190"/>
                  <a:pt x="278136" y="408012"/>
                </a:cubicBezTo>
                <a:cubicBezTo>
                  <a:pt x="278403" y="407923"/>
                  <a:pt x="278670" y="407923"/>
                  <a:pt x="278937" y="407834"/>
                </a:cubicBezTo>
                <a:cubicBezTo>
                  <a:pt x="282142" y="407390"/>
                  <a:pt x="285435" y="406679"/>
                  <a:pt x="288551" y="405879"/>
                </a:cubicBezTo>
                <a:cubicBezTo>
                  <a:pt x="288551" y="405879"/>
                  <a:pt x="288640" y="405879"/>
                  <a:pt x="288640" y="405879"/>
                </a:cubicBezTo>
                <a:cubicBezTo>
                  <a:pt x="332346" y="394593"/>
                  <a:pt x="364658" y="354958"/>
                  <a:pt x="364658" y="307857"/>
                </a:cubicBezTo>
                <a:lnTo>
                  <a:pt x="364658" y="262890"/>
                </a:lnTo>
                <a:cubicBezTo>
                  <a:pt x="364658" y="248760"/>
                  <a:pt x="361721" y="235341"/>
                  <a:pt x="356469" y="223166"/>
                </a:cubicBezTo>
                <a:cubicBezTo>
                  <a:pt x="330922" y="245649"/>
                  <a:pt x="298075" y="258180"/>
                  <a:pt x="263271" y="258180"/>
                </a:cubicBezTo>
                <a:cubicBezTo>
                  <a:pt x="228466" y="258180"/>
                  <a:pt x="195708" y="245649"/>
                  <a:pt x="170161" y="223166"/>
                </a:cubicBezTo>
                <a:close/>
                <a:moveTo>
                  <a:pt x="263271" y="161758"/>
                </a:moveTo>
                <a:cubicBezTo>
                  <a:pt x="234697" y="161758"/>
                  <a:pt x="208794" y="173666"/>
                  <a:pt x="190368" y="192773"/>
                </a:cubicBezTo>
                <a:cubicBezTo>
                  <a:pt x="209862" y="211524"/>
                  <a:pt x="235765" y="222099"/>
                  <a:pt x="263271" y="222099"/>
                </a:cubicBezTo>
                <a:cubicBezTo>
                  <a:pt x="290865" y="222099"/>
                  <a:pt x="316768" y="211524"/>
                  <a:pt x="336263" y="192773"/>
                </a:cubicBezTo>
                <a:cubicBezTo>
                  <a:pt x="317747" y="173666"/>
                  <a:pt x="291933" y="161758"/>
                  <a:pt x="263271" y="161758"/>
                </a:cubicBezTo>
                <a:close/>
                <a:moveTo>
                  <a:pt x="263271" y="125677"/>
                </a:moveTo>
                <a:cubicBezTo>
                  <a:pt x="339111" y="125677"/>
                  <a:pt x="400798" y="187263"/>
                  <a:pt x="400798" y="262890"/>
                </a:cubicBezTo>
                <a:lnTo>
                  <a:pt x="400798" y="307857"/>
                </a:lnTo>
                <a:cubicBezTo>
                  <a:pt x="400798" y="316389"/>
                  <a:pt x="399997" y="324654"/>
                  <a:pt x="398484" y="332652"/>
                </a:cubicBezTo>
                <a:cubicBezTo>
                  <a:pt x="424031" y="341716"/>
                  <a:pt x="446908" y="357713"/>
                  <a:pt x="464177" y="378863"/>
                </a:cubicBezTo>
                <a:cubicBezTo>
                  <a:pt x="485718" y="405257"/>
                  <a:pt x="497557" y="438583"/>
                  <a:pt x="497557" y="472708"/>
                </a:cubicBezTo>
                <a:lnTo>
                  <a:pt x="497557" y="606722"/>
                </a:lnTo>
                <a:lnTo>
                  <a:pt x="29073" y="606722"/>
                </a:lnTo>
                <a:lnTo>
                  <a:pt x="29073" y="472708"/>
                </a:lnTo>
                <a:cubicBezTo>
                  <a:pt x="29073" y="438583"/>
                  <a:pt x="40912" y="405257"/>
                  <a:pt x="62453" y="378863"/>
                </a:cubicBezTo>
                <a:cubicBezTo>
                  <a:pt x="79722" y="357713"/>
                  <a:pt x="102599" y="341716"/>
                  <a:pt x="128057" y="332652"/>
                </a:cubicBezTo>
                <a:cubicBezTo>
                  <a:pt x="126633" y="324654"/>
                  <a:pt x="125832" y="316389"/>
                  <a:pt x="125832" y="307857"/>
                </a:cubicBezTo>
                <a:lnTo>
                  <a:pt x="125832" y="262890"/>
                </a:lnTo>
                <a:cubicBezTo>
                  <a:pt x="125832" y="187263"/>
                  <a:pt x="187519" y="125677"/>
                  <a:pt x="263271" y="125677"/>
                </a:cubicBezTo>
                <a:close/>
                <a:moveTo>
                  <a:pt x="436739" y="64285"/>
                </a:moveTo>
                <a:lnTo>
                  <a:pt x="462204" y="89776"/>
                </a:lnTo>
                <a:lnTo>
                  <a:pt x="400680" y="151151"/>
                </a:lnTo>
                <a:lnTo>
                  <a:pt x="375126" y="125660"/>
                </a:lnTo>
                <a:close/>
                <a:moveTo>
                  <a:pt x="89889" y="64285"/>
                </a:moveTo>
                <a:lnTo>
                  <a:pt x="151363" y="125660"/>
                </a:lnTo>
                <a:lnTo>
                  <a:pt x="125830" y="151151"/>
                </a:lnTo>
                <a:lnTo>
                  <a:pt x="64356" y="89776"/>
                </a:lnTo>
                <a:close/>
                <a:moveTo>
                  <a:pt x="245286" y="0"/>
                </a:moveTo>
                <a:lnTo>
                  <a:pt x="281345" y="0"/>
                </a:lnTo>
                <a:lnTo>
                  <a:pt x="281345" y="86937"/>
                </a:lnTo>
                <a:lnTo>
                  <a:pt x="245286" y="86937"/>
                </a:lnTo>
                <a:close/>
              </a:path>
            </a:pathLst>
          </a:custGeom>
          <a:solidFill>
            <a:srgbClr val="D9793F"/>
          </a:solidFill>
          <a:ln>
            <a:noFill/>
          </a:ln>
        </p:spPr>
      </p:sp>
      <p:sp>
        <p:nvSpPr>
          <p:cNvPr id="3" name="文本框 2"/>
          <p:cNvSpPr txBox="1"/>
          <p:nvPr/>
        </p:nvSpPr>
        <p:spPr>
          <a:xfrm>
            <a:off x="2027584" y="2211705"/>
            <a:ext cx="7641562" cy="2572385"/>
          </a:xfrm>
          <a:prstGeom prst="rect">
            <a:avLst/>
          </a:prstGeom>
          <a:noFill/>
        </p:spPr>
        <p:txBody>
          <a:bodyPr wrap="square" rtlCol="0" anchor="t">
            <a:noAutofit/>
          </a:bodyPr>
          <a:lstStyle/>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1. </a:t>
            </a:r>
            <a:r>
              <a:rPr sz="2000" dirty="0">
                <a:latin typeface="微软雅黑" panose="020B0503020204020204" pitchFamily="34" charset="-122"/>
                <a:ea typeface="微软雅黑" panose="020B0503020204020204" pitchFamily="34" charset="-122"/>
                <a:cs typeface="微软雅黑" panose="020B0503020204020204" pitchFamily="34" charset="-122"/>
              </a:rPr>
              <a:t>什么是刑法的空间效力？我国刑法对空间效力作了哪些规定？</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2. </a:t>
            </a:r>
            <a:r>
              <a:rPr sz="2000" dirty="0">
                <a:latin typeface="微软雅黑" panose="020B0503020204020204" pitchFamily="34" charset="-122"/>
                <a:ea typeface="微软雅黑" panose="020B0503020204020204" pitchFamily="34" charset="-122"/>
                <a:cs typeface="微软雅黑" panose="020B0503020204020204" pitchFamily="34" charset="-122"/>
              </a:rPr>
              <a:t>为什么我国刑法对于溯及力问题采取从旧兼从轻原则？</a:t>
            </a:r>
          </a:p>
        </p:txBody>
      </p:sp>
      <p:sp>
        <p:nvSpPr>
          <p:cNvPr id="4" name="文本框 3"/>
          <p:cNvSpPr txBox="1"/>
          <p:nvPr/>
        </p:nvSpPr>
        <p:spPr>
          <a:xfrm>
            <a:off x="1926590" y="1230630"/>
            <a:ext cx="1208405"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rPr>
              <a:t>思考题</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E4YWE2NWM2NjkyMzUxOGRkNDNkNjJlMmYxYjJlZDkifQ=="/>
</p:tagLst>
</file>

<file path=ppt/tags/tag2.xml><?xml version="1.0" encoding="utf-8"?>
<p:tagLst xmlns:a="http://schemas.openxmlformats.org/drawingml/2006/main" xmlns:r="http://schemas.openxmlformats.org/officeDocument/2006/relationships" xmlns:p="http://schemas.openxmlformats.org/presentationml/2006/main">
  <p:tag name="PA" val="v3.2.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PA" val="v3.2.0"/>
</p:tagLst>
</file>

<file path=ppt/tags/tag5.xml><?xml version="1.0" encoding="utf-8"?>
<p:tagLst xmlns:a="http://schemas.openxmlformats.org/drawingml/2006/main" xmlns:r="http://schemas.openxmlformats.org/officeDocument/2006/relationships" xmlns:p="http://schemas.openxmlformats.org/presentationml/2006/main">
  <p:tag name="PA" val="v3.2.0"/>
</p:tagLst>
</file>

<file path=ppt/tags/tag6.xml><?xml version="1.0" encoding="utf-8"?>
<p:tagLst xmlns:a="http://schemas.openxmlformats.org/drawingml/2006/main" xmlns:r="http://schemas.openxmlformats.org/officeDocument/2006/relationships" xmlns:p="http://schemas.openxmlformats.org/presentationml/2006/main">
  <p:tag name="PA" val="v3.2.0"/>
</p:tagLst>
</file>

<file path=ppt/tags/tag7.xml><?xml version="1.0" encoding="utf-8"?>
<p:tagLst xmlns:a="http://schemas.openxmlformats.org/drawingml/2006/main" xmlns:r="http://schemas.openxmlformats.org/officeDocument/2006/relationships" xmlns:p="http://schemas.openxmlformats.org/presentationml/2006/main">
  <p:tag name="PA" val="v3.2.0"/>
</p:tagLst>
</file>

<file path=ppt/tags/tag8.xml><?xml version="1.0" encoding="utf-8"?>
<p:tagLst xmlns:a="http://schemas.openxmlformats.org/drawingml/2006/main" xmlns:r="http://schemas.openxmlformats.org/officeDocument/2006/relationships" xmlns:p="http://schemas.openxmlformats.org/presentationml/2006/main">
  <p:tag name="PA" val="v3.2.0"/>
</p:tagLst>
</file>

<file path=ppt/tags/tag9.xml><?xml version="1.0" encoding="utf-8"?>
<p:tagLst xmlns:a="http://schemas.openxmlformats.org/drawingml/2006/main" xmlns:r="http://schemas.openxmlformats.org/officeDocument/2006/relationships" xmlns:p="http://schemas.openxmlformats.org/presentationml/2006/main">
  <p:tag name="PA" val="v3.2.0"/>
</p:tagLst>
</file>

<file path=ppt/tags/tag10.xml><?xml version="1.0" encoding="utf-8"?>
<p:tagLst xmlns:a="http://schemas.openxmlformats.org/drawingml/2006/main" xmlns:r="http://schemas.openxmlformats.org/officeDocument/2006/relationships" xmlns:p="http://schemas.openxmlformats.org/presentationml/2006/main">
  <p:tag name="PA" val="v3.2.0"/>
</p:tagLst>
</file>

<file path=ppt/tags/tag11.xml><?xml version="1.0" encoding="utf-8"?>
<p:tagLst xmlns:a="http://schemas.openxmlformats.org/drawingml/2006/main" xmlns:r="http://schemas.openxmlformats.org/officeDocument/2006/relationships" xmlns:p="http://schemas.openxmlformats.org/presentationml/2006/main">
  <p:tag name="PA" val="v3.2.0"/>
</p:tagLst>
</file>

<file path=ppt/tags/tag12.xml><?xml version="1.0" encoding="utf-8"?>
<p:tagLst xmlns:a="http://schemas.openxmlformats.org/drawingml/2006/main" xmlns:r="http://schemas.openxmlformats.org/officeDocument/2006/relationships" xmlns:p="http://schemas.openxmlformats.org/presentationml/2006/main">
  <p:tag name="PA" val="v3.2.0"/>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PA" val="v3.2.0"/>
</p:tagLst>
</file>

<file path=ppt/tags/tag20.xml><?xml version="1.0" encoding="utf-8"?>
<p:tagLst xmlns:a="http://schemas.openxmlformats.org/drawingml/2006/main" xmlns:r="http://schemas.openxmlformats.org/officeDocument/2006/relationships" xmlns:p="http://schemas.openxmlformats.org/presentationml/2006/main">
  <p:tag name="PA" val="v3.2.0"/>
</p:tagLst>
</file>

<file path=ppt/tags/tag21.xml><?xml version="1.0" encoding="utf-8"?>
<p:tagLst xmlns:a="http://schemas.openxmlformats.org/drawingml/2006/main" xmlns:r="http://schemas.openxmlformats.org/officeDocument/2006/relationships" xmlns:p="http://schemas.openxmlformats.org/presentationml/2006/main">
  <p:tag name="PA" val="v3.2.0"/>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PA" val="v3.2.0"/>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PA" val="v3.2.0"/>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PA" val="v3.2.0"/>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PA" val="v3.2.0"/>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PA" val="v3.2.0"/>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1236</Words>
  <Application>Microsoft Office PowerPoint</Application>
  <PresentationFormat>宽屏</PresentationFormat>
  <Paragraphs>122</Paragraphs>
  <Slides>26</Slides>
  <Notes>0</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Roboto</vt:lpstr>
      <vt:lpstr>等线</vt:lpstr>
      <vt:lpstr>等线 Light</vt:lpstr>
      <vt:lpstr>黑体</vt:lpstr>
      <vt:lpstr>华文新魏</vt:lpstr>
      <vt:lpstr>华文中宋</vt:lpstr>
      <vt:lpstr>宋体</vt:lpstr>
      <vt:lpstr>微软雅黑</vt:lpstr>
      <vt:lpstr>Arial</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233</cp:revision>
  <dcterms:created xsi:type="dcterms:W3CDTF">2017-08-25T04:22:00Z</dcterms:created>
  <dcterms:modified xsi:type="dcterms:W3CDTF">2025-02-25T03:11:32Z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9442DCDA0EDF43C183B31591DFAE4490_12</vt:lpwstr>
  </property>
  <property fmtid="{D5CDD505-2E9C-101B-9397-08002B2CF9AE}" pid="3" name="KSOProductBuildVer">
    <vt:lpwstr>2052-12.1.0.15120</vt:lpwstr>
  </property>
</Properties>
</file>