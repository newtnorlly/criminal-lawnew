
<file path=[Content_Types].xml><?xml version="1.0" encoding="utf-8"?>
<Types xmlns="http://schemas.openxmlformats.org/package/2006/content-types">
  <Default Extension="jpeg" ContentType="image/jpeg"/>
  <Default Extension="JPG" ContentType="image/.jp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3"/>
  </p:sldMasterIdLst>
  <p:handoutMasterIdLst>
    <p:handoutMasterId r:id="rId40"/>
  </p:handoutMasterIdLst>
  <p:sldIdLst>
    <p:sldId id="260" r:id="rId4"/>
    <p:sldId id="295" r:id="rId5"/>
    <p:sldId id="384" r:id="rId6"/>
    <p:sldId id="296" r:id="rId7"/>
    <p:sldId id="385" r:id="rId8"/>
    <p:sldId id="362" r:id="rId9"/>
    <p:sldId id="386" r:id="rId10"/>
    <p:sldId id="387" r:id="rId11"/>
    <p:sldId id="419" r:id="rId12"/>
    <p:sldId id="388" r:id="rId13"/>
    <p:sldId id="420" r:id="rId14"/>
    <p:sldId id="436" r:id="rId15"/>
    <p:sldId id="439" r:id="rId16"/>
    <p:sldId id="440" r:id="rId17"/>
    <p:sldId id="435" r:id="rId18"/>
    <p:sldId id="438" r:id="rId19"/>
    <p:sldId id="437" r:id="rId20"/>
    <p:sldId id="389" r:id="rId21"/>
    <p:sldId id="421" r:id="rId22"/>
    <p:sldId id="390" r:id="rId23"/>
    <p:sldId id="441" r:id="rId24"/>
    <p:sldId id="442" r:id="rId25"/>
    <p:sldId id="391" r:id="rId26"/>
    <p:sldId id="392" r:id="rId27"/>
    <p:sldId id="393" r:id="rId28"/>
    <p:sldId id="394" r:id="rId29"/>
    <p:sldId id="395" r:id="rId30"/>
    <p:sldId id="443" r:id="rId31"/>
    <p:sldId id="444" r:id="rId32"/>
    <p:sldId id="431" r:id="rId33"/>
    <p:sldId id="445" r:id="rId34"/>
    <p:sldId id="446" r:id="rId35"/>
    <p:sldId id="447" r:id="rId36"/>
    <p:sldId id="448" r:id="rId37"/>
    <p:sldId id="449" r:id="rId38"/>
    <p:sldId id="280" r:id="rId39"/>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8DD"/>
    <a:srgbClr val="D9793F"/>
    <a:srgbClr val="FFFFFF"/>
    <a:srgbClr val="BFBFBF"/>
    <a:srgbClr val="000000"/>
    <a:srgbClr val="E6E6E6"/>
    <a:srgbClr val="0289D9"/>
    <a:srgbClr val="0F42E7"/>
    <a:srgbClr val="1D4BFF"/>
    <a:srgbClr val="5A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30" autoAdjust="0"/>
    <p:restoredTop sz="94225" autoAdjust="0"/>
  </p:normalViewPr>
  <p:slideViewPr>
    <p:cSldViewPr snapToGrid="0">
      <p:cViewPr varScale="1">
        <p:scale>
          <a:sx n="97" d="100"/>
          <a:sy n="97" d="100"/>
        </p:scale>
        <p:origin x="86" y="75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370"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gs" Target="tags/tag1.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53F9F3-6723-4E3B-82A5-806A60DF3AD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5BFA49-FC84-4341-BDD0-4D1160FD670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bg1"/>
                    </a:solidFill>
                    <a:latin typeface="微软雅黑" panose="020B0503020204020204" pitchFamily="34" charset="-122"/>
                    <a:ea typeface="微软雅黑" panose="020B0503020204020204" pitchFamily="34" charset="-122"/>
                  </a:rPr>
                  <a:t>学</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第七章  </a:t>
              </a:r>
              <a:endParaRPr lang="en-US" altLang="zh-CN" sz="1400" b="1" dirty="0" smtClean="0">
                <a:solidFill>
                  <a:srgbClr val="D9793F"/>
                </a:solidFill>
                <a:latin typeface="华文新魏" panose="02010800040101010101" charset="-122"/>
                <a:ea typeface="华文新魏" panose="02010800040101010101" charset="-122"/>
                <a:sym typeface="+mn-ea"/>
              </a:endParaRPr>
            </a:p>
          </p:txBody>
        </p:sp>
      </p:gr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showMasterSp="0"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609600"/>
            <a:ext cx="11387667"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02167" y="1905001"/>
            <a:ext cx="11387667" cy="4194175"/>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a:xfrm>
            <a:off x="402167" y="6245225"/>
            <a:ext cx="3052233" cy="476250"/>
          </a:xfrm>
          <a:prstGeom prst="rect">
            <a:avLst/>
          </a:prstGeo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8737601" y="6245225"/>
            <a:ext cx="3052233" cy="476250"/>
          </a:xfrm>
          <a:prstGeom prst="rect">
            <a:avLst/>
          </a:prstGeom>
        </p:spPr>
        <p:txBody>
          <a:bodyPr/>
          <a:lstStyle>
            <a:lvl1pPr>
              <a:defRPr/>
            </a:lvl1pPr>
          </a:lstStyle>
          <a:p>
            <a:pPr>
              <a:defRPr/>
            </a:pPr>
            <a:fld id="{7DC9A4ED-4519-4EDD-8449-84C921B4CB1D}"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402167" y="609600"/>
            <a:ext cx="11387667"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02167" y="1905000"/>
            <a:ext cx="11387667" cy="202088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02167" y="4078289"/>
            <a:ext cx="11387667" cy="2020887"/>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a:xfrm>
            <a:off x="402167" y="6245225"/>
            <a:ext cx="3052233" cy="476250"/>
          </a:xfrm>
          <a:prstGeom prst="rect">
            <a:avLst/>
          </a:prstGeo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8737601" y="6245225"/>
            <a:ext cx="3052233" cy="476250"/>
          </a:xfrm>
          <a:prstGeom prst="rect">
            <a:avLst/>
          </a:prstGeom>
        </p:spPr>
        <p:txBody>
          <a:bodyPr/>
          <a:lstStyle>
            <a:lvl1pPr>
              <a:defRPr/>
            </a:lvl1pPr>
          </a:lstStyle>
          <a:p>
            <a:pPr>
              <a:defRPr/>
            </a:pPr>
            <a:fld id="{706D01A8-5DD1-4924-9E79-DDE7589B561E}"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402167" y="609600"/>
            <a:ext cx="11387667" cy="1143000"/>
          </a:xfrm>
          <a:prstGeom prst="rect">
            <a:avLst/>
          </a:prstGeo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02167" y="1905000"/>
            <a:ext cx="11387667" cy="202088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02167" y="4078289"/>
            <a:ext cx="11387667" cy="2020887"/>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a:xfrm>
            <a:off x="402167" y="6245225"/>
            <a:ext cx="3052233" cy="476250"/>
          </a:xfrm>
          <a:prstGeom prst="rect">
            <a:avLst/>
          </a:prstGeo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8737601" y="6245225"/>
            <a:ext cx="3052233" cy="476250"/>
          </a:xfrm>
          <a:prstGeom prst="rect">
            <a:avLst/>
          </a:prstGeom>
        </p:spPr>
        <p:txBody>
          <a:bodyPr/>
          <a:lstStyle>
            <a:lvl1pPr>
              <a:defRPr/>
            </a:lvl1pPr>
          </a:lstStyle>
          <a:p>
            <a:pPr>
              <a:defRPr/>
            </a:pPr>
            <a:fld id="{B9E6AFEF-38C6-4553-AC2E-18D9502F46EE}"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bg1"/>
                    </a:solidFill>
                    <a:latin typeface="微软雅黑" panose="020B0503020204020204" pitchFamily="34" charset="-122"/>
                    <a:ea typeface="微软雅黑" panose="020B0503020204020204" pitchFamily="34" charset="-122"/>
                  </a:rPr>
                  <a:t>学</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第七章  </a:t>
              </a:r>
              <a:endParaRPr lang="en-US" altLang="zh-CN" sz="1400" b="1" dirty="0" smtClean="0">
                <a:solidFill>
                  <a:srgbClr val="D9793F"/>
                </a:solidFill>
                <a:latin typeface="华文新魏" panose="02010800040101010101" charset="-122"/>
                <a:ea typeface="华文新魏" panose="02010800040101010101" charset="-122"/>
                <a:sym typeface="+mn-ea"/>
              </a:endParaRPr>
            </a:p>
          </p:txBody>
        </p:sp>
      </p:gr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showMasterSp="0"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3" Type="http://schemas.microsoft.com/office/2007/relationships/media" Target="../media/media1.mp3"/><Relationship Id="rId2" Type="http://schemas.openxmlformats.org/officeDocument/2006/relationships/audio" Target="../media/media1.mp3"/><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a:rPr>
              <a:t>马克思主义理论研究</a:t>
            </a:r>
            <a:endParaRPr kumimoji="0" lang="en-US" altLang="zh-CN"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smtClean="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9" name="文本框 8"/>
          <p:cNvSpPr txBox="1"/>
          <p:nvPr/>
        </p:nvSpPr>
        <p:spPr>
          <a:xfrm>
            <a:off x="1549278" y="5907075"/>
            <a:ext cx="2657532" cy="337185"/>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刑法学</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编写组</a:t>
            </a:r>
            <a:endParaRPr lang="zh-CN" altLang="en-US" sz="16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6"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6384252" y="2438527"/>
            <a:ext cx="4863465" cy="1322070"/>
          </a:xfrm>
          <a:prstGeom prst="rect">
            <a:avLst/>
          </a:prstGeom>
        </p:spPr>
        <p:txBody>
          <a:bodyPr wrap="none">
            <a:spAutoFit/>
          </a:bodyPr>
          <a:lstStyle/>
          <a:p>
            <a:pPr indent="0" algn="l" fontAlgn="auto">
              <a:lnSpc>
                <a:spcPct val="200000"/>
              </a:lnSpc>
              <a:spcBef>
                <a:spcPts val="1200"/>
              </a:spcBef>
            </a:pP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第七章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犯罪主体</a:t>
            </a:r>
            <a:endParaRPr lang="zh-CN" altLang="en-US" sz="4000" b="1" dirty="0">
              <a:solidFill>
                <a:srgbClr val="D9793F"/>
              </a:solidFill>
              <a:latin typeface="华文新魏" panose="02010800040101010101" charset="-122"/>
              <a:ea typeface="华文新魏" panose="02010800040101010101" charset="-122"/>
              <a:sym typeface="+mn-ea"/>
            </a:endParaRPr>
          </a:p>
        </p:txBody>
      </p:sp>
      <p:sp>
        <p:nvSpPr>
          <p:cNvPr id="3" name="矩形 2"/>
          <p:cNvSpPr/>
          <p:nvPr/>
        </p:nvSpPr>
        <p:spPr>
          <a:xfrm>
            <a:off x="1760563" y="4293696"/>
            <a:ext cx="1915925"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endParaRPr lang="zh-CN" altLang="en-US" dirty="0">
              <a:solidFill>
                <a:srgbClr val="D9793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4250"/>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5099"/>
                            </p:stCondLst>
                            <p:childTnLst>
                              <p:par>
                                <p:cTn id="33" presetID="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20000" numSld="999" showWhenStopped="0">
                <p:cTn id="37" repeatCount="indefinite" fill="hold" display="0">
                  <p:stCondLst>
                    <p:cond delay="indefinite"/>
                  </p:stCondLst>
                  <p:endCondLst>
                    <p:cond evt="onStopAudio" delay="0">
                      <p:tgtEl>
                        <p:sldTgt/>
                      </p:tgtEl>
                    </p:cond>
                  </p:endCondLst>
                </p:cTn>
                <p:tgtEl>
                  <p:spTgt spid="41"/>
                </p:tgtEl>
              </p:cMediaNode>
            </p:audio>
          </p:childTnLst>
        </p:cTn>
      </p:par>
    </p:tnLst>
    <p:bldLst>
      <p:bldP spid="5" grpId="0" animBg="1"/>
      <p:bldP spid="38" grpId="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4807024" y="2769892"/>
            <a:ext cx="6427334" cy="922020"/>
            <a:chOff x="6063487" y="808531"/>
            <a:chExt cx="5374980" cy="844706"/>
          </a:xfrm>
        </p:grpSpPr>
        <p:sp>
          <p:nvSpPr>
            <p:cNvPr id="4" name="椭圆 3"/>
            <p:cNvSpPr/>
            <p:nvPr/>
          </p:nvSpPr>
          <p:spPr>
            <a:xfrm>
              <a:off x="6063487" y="942228"/>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1</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矩形 7"/>
            <p:cNvSpPr/>
            <p:nvPr/>
          </p:nvSpPr>
          <p:spPr>
            <a:xfrm>
              <a:off x="6819327" y="808531"/>
              <a:ext cx="4619140" cy="844706"/>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第一节</a:t>
              </a:r>
              <a:endParaRPr lang="zh-CN" altLang="en-US" b="1" dirty="0">
                <a:solidFill>
                  <a:srgbClr val="D9793F"/>
                </a:solidFill>
                <a:latin typeface="微软雅黑" panose="020B0503020204020204" pitchFamily="34" charset="-122"/>
                <a:ea typeface="微软雅黑" panose="020B0503020204020204" pitchFamily="34" charset="-122"/>
              </a:endParaRPr>
            </a:p>
            <a:p>
              <a:pPr lvl="0" algn="just" eaLnBrk="0" fontAlgn="base" hangingPunct="0">
                <a:lnSpc>
                  <a:spcPct val="150000"/>
                </a:lnSpc>
                <a:spcBef>
                  <a:spcPct val="0"/>
                </a:spcBef>
                <a:spcAft>
                  <a:spcPct val="0"/>
                </a:spcAft>
                <a:defRPr/>
              </a:pPr>
              <a:r>
                <a:rPr lang="en-US" altLang="zh-CN" dirty="0" err="1" smtClean="0">
                  <a:latin typeface="微软雅黑" panose="020B0503020204020204" pitchFamily="34" charset="-122"/>
                  <a:ea typeface="微软雅黑" panose="020B0503020204020204" pitchFamily="34" charset="-122"/>
                </a:rPr>
                <a:t>犯罪主体概述</a:t>
              </a:r>
              <a:endParaRPr lang="en-US" altLang="zh-CN" dirty="0" err="1" smtClean="0">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5394844" y="3909082"/>
            <a:ext cx="6427334" cy="783589"/>
            <a:chOff x="6063487" y="2021055"/>
            <a:chExt cx="5374980" cy="717883"/>
          </a:xfrm>
        </p:grpSpPr>
        <p:sp>
          <p:nvSpPr>
            <p:cNvPr id="3" name="椭圆 2"/>
            <p:cNvSpPr/>
            <p:nvPr/>
          </p:nvSpPr>
          <p:spPr>
            <a:xfrm>
              <a:off x="6063487" y="2057930"/>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2</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9" name="矩形 8"/>
            <p:cNvSpPr/>
            <p:nvPr/>
          </p:nvSpPr>
          <p:spPr>
            <a:xfrm>
              <a:off x="6819327" y="2021055"/>
              <a:ext cx="4619140" cy="717883"/>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第二节</a:t>
              </a:r>
              <a:endParaRPr lang="zh-CN" altLang="en-US" b="1" dirty="0">
                <a:solidFill>
                  <a:srgbClr val="D9793F"/>
                </a:solidFill>
                <a:latin typeface="微软雅黑" panose="020B0503020204020204" pitchFamily="34" charset="-122"/>
                <a:ea typeface="微软雅黑" panose="020B0503020204020204" pitchFamily="34" charset="-122"/>
              </a:endParaRPr>
            </a:p>
            <a:p>
              <a:pPr lvl="0" algn="just" eaLnBrk="0" fontAlgn="base" hangingPunct="0">
                <a:spcBef>
                  <a:spcPct val="0"/>
                </a:spcBef>
                <a:spcAft>
                  <a:spcPct val="0"/>
                </a:spcAft>
                <a:defRPr/>
              </a:pPr>
              <a:r>
                <a:rPr lang="en-US" altLang="zh-CN" dirty="0" err="1">
                  <a:latin typeface="微软雅黑" panose="020B0503020204020204" pitchFamily="34" charset="-122"/>
                  <a:ea typeface="微软雅黑" panose="020B0503020204020204" pitchFamily="34" charset="-122"/>
                </a:rPr>
                <a:t>自然人犯罪主体</a:t>
              </a:r>
              <a:endParaRPr lang="en-US" altLang="zh-CN" dirty="0" err="1">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5982663" y="4851859"/>
            <a:ext cx="6427334" cy="783589"/>
            <a:chOff x="6063487" y="3115241"/>
            <a:chExt cx="5374980" cy="717883"/>
          </a:xfrm>
        </p:grpSpPr>
        <p:sp>
          <p:nvSpPr>
            <p:cNvPr id="5" name="椭圆 4"/>
            <p:cNvSpPr/>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3</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p:cNvSpPr/>
            <p:nvPr/>
          </p:nvSpPr>
          <p:spPr>
            <a:xfrm>
              <a:off x="6819327" y="3115241"/>
              <a:ext cx="4619140" cy="717883"/>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第三节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en-US" altLang="zh-CN" dirty="0" err="1">
                  <a:latin typeface="微软雅黑" panose="020B0503020204020204" pitchFamily="34" charset="-122"/>
                  <a:ea typeface="微软雅黑" panose="020B0503020204020204" pitchFamily="34" charset="-122"/>
                </a:rPr>
                <a:t>单位犯罪主体</a:t>
              </a:r>
              <a:endParaRPr lang="en-US" altLang="zh-CN" dirty="0" err="1">
                <a:latin typeface="微软雅黑" panose="020B0503020204020204" pitchFamily="34" charset="-122"/>
                <a:ea typeface="微软雅黑" panose="020B0503020204020204" pitchFamily="34" charset="-122"/>
              </a:endParaRPr>
            </a:p>
          </p:txBody>
        </p:sp>
      </p:grpSp>
      <p:cxnSp>
        <p:nvCxnSpPr>
          <p:cNvPr id="23" name="Conexão reta 24"/>
          <p:cNvCxnSpPr/>
          <p:nvPr/>
        </p:nvCxnSpPr>
        <p:spPr>
          <a:xfrm>
            <a:off x="4596826" y="2052232"/>
            <a:ext cx="7514492" cy="16829"/>
          </a:xfrm>
          <a:prstGeom prst="line">
            <a:avLst/>
          </a:prstGeom>
          <a:ln>
            <a:solidFill>
              <a:srgbClr val="D9793F"/>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0714853" y="1239877"/>
            <a:ext cx="1225015" cy="523220"/>
          </a:xfrm>
          <a:prstGeom prst="rect">
            <a:avLst/>
          </a:prstGeom>
          <a:noFill/>
        </p:spPr>
        <p:txBody>
          <a:bodyPr wrap="none" rtlCol="0">
            <a:spAutoFit/>
          </a:bodyPr>
          <a:lstStyle/>
          <a:p>
            <a:r>
              <a:rPr lang="zh-CN" altLang="en-US" sz="2800" b="1" dirty="0" smtClean="0">
                <a:solidFill>
                  <a:srgbClr val="D9793F"/>
                </a:solidFill>
                <a:latin typeface="微软雅黑" panose="020B0503020204020204" pitchFamily="34" charset="-122"/>
                <a:ea typeface="微软雅黑" panose="020B0503020204020204" pitchFamily="34" charset="-122"/>
              </a:rPr>
              <a:t>目   录</a:t>
            </a:r>
            <a:endParaRPr lang="zh-CN" altLang="en-US" sz="2800" b="1" dirty="0">
              <a:solidFill>
                <a:srgbClr val="D9793F"/>
              </a:solidFill>
              <a:latin typeface="微软雅黑" panose="020B0503020204020204" pitchFamily="34" charset="-122"/>
              <a:ea typeface="微软雅黑" panose="020B0503020204020204" pitchFamily="34" charset="-122"/>
            </a:endParaRPr>
          </a:p>
        </p:txBody>
      </p:sp>
      <p:pic>
        <p:nvPicPr>
          <p:cNvPr id="20" name="图片 19"/>
          <p:cNvPicPr>
            <a:picLocks noChangeAspect="1"/>
          </p:cNvPicPr>
          <p:nvPr/>
        </p:nvPicPr>
        <p:blipFill rotWithShape="1">
          <a:blip r:embed="rId1">
            <a:extLst>
              <a:ext uri="{28A0092B-C50C-407E-A947-70E740481C1C}">
                <a14:useLocalDpi xmlns:a14="http://schemas.microsoft.com/office/drawing/2010/main" val="0"/>
              </a:ext>
            </a:extLst>
          </a:blip>
          <a:srcRect l="7624" t="3696" r="7783" b="32380"/>
          <a:stretch>
            <a:fillRect/>
          </a:stretch>
        </p:blipFill>
        <p:spPr>
          <a:xfrm flipH="1">
            <a:off x="211767" y="545933"/>
            <a:ext cx="5673915" cy="6013129"/>
          </a:xfrm>
          <a:prstGeom prst="parallelogram">
            <a:avLst>
              <a:gd name="adj" fmla="val 63902"/>
            </a:avLst>
          </a:prstGeom>
        </p:spPr>
      </p:pic>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1+#ppt_w/2"/>
                                          </p:val>
                                        </p:tav>
                                        <p:tav tm="100000">
                                          <p:val>
                                            <p:strVal val="#ppt_x"/>
                                          </p:val>
                                        </p:tav>
                                      </p:tavLst>
                                    </p:anim>
                                    <p:anim calcmode="lin" valueType="num">
                                      <p:cBhvr additive="base">
                                        <p:cTn id="14" dur="500" fill="hold"/>
                                        <p:tgtEl>
                                          <p:spTgt spid="23"/>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2500"/>
                            </p:stCondLst>
                            <p:childTnLst>
                              <p:par>
                                <p:cTn id="24" presetID="22" presetClass="entr" presetSubtype="8"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smtClean="0">
                <a:latin typeface="华文中宋" panose="02010600040101010101" pitchFamily="2" charset="-122"/>
                <a:ea typeface="华文中宋" panose="02010600040101010101" pitchFamily="2" charset="-122"/>
              </a:rPr>
              <a:t>第一节</a:t>
            </a:r>
            <a:endParaRPr lang="zh-CN" altLang="en-US" sz="3200" dirty="0">
              <a:latin typeface="华文中宋" panose="02010600040101010101" pitchFamily="2" charset="-122"/>
              <a:ea typeface="华文中宋" panose="02010600040101010101" pitchFamily="2" charset="-122"/>
            </a:endParaRP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en-US" altLang="zh-CN" sz="2400" b="1" dirty="0" err="1">
                <a:latin typeface="微软雅黑" panose="020B0503020204020204" pitchFamily="34" charset="-122"/>
                <a:ea typeface="微软雅黑" panose="020B0503020204020204" pitchFamily="34" charset="-122"/>
              </a:rPr>
              <a:t>犯罪主体概述</a:t>
            </a:r>
            <a:endParaRPr lang="en-US" altLang="zh-CN" sz="2400" b="1" dirty="0" err="1">
              <a:latin typeface="微软雅黑" panose="020B0503020204020204" pitchFamily="34" charset="-122"/>
              <a:ea typeface="微软雅黑" panose="020B0503020204020204" pitchFamily="34" charset="-122"/>
            </a:endParaRP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a:t>
            </a:r>
            <a:r>
              <a:rPr lang="en-US" altLang="zh-CN" spc="100" dirty="0" smtClean="0">
                <a:solidFill>
                  <a:schemeClr val="bg1"/>
                </a:solidFill>
                <a:latin typeface="Impact" panose="020B0806030902050204" pitchFamily="34" charset="0"/>
                <a:cs typeface="Arial" panose="020B0604020202020204" pitchFamily="34" charset="0"/>
              </a:rPr>
              <a:t>07</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7251923" y="775078"/>
            <a:ext cx="436562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第七章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犯罪主体</a:t>
            </a:r>
            <a:endParaRPr lang="zh-CN" altLang="en-US" sz="4000" b="1" dirty="0">
              <a:solidFill>
                <a:srgbClr val="D9793F"/>
              </a:solidFill>
              <a:latin typeface="华文新魏" panose="02010800040101010101" charset="-122"/>
              <a:ea typeface="华文新魏" panose="020108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5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1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8646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一、犯罪主体的概念</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犯罪主体是指实施危害社会的行为并依法应</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当</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负刑事责任的自然人</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（敲诈勒索罪）</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和单位</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（单位行贿罪）</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二、犯罪主体的</a:t>
            </a:r>
            <a:r>
              <a:rPr lang="zh-CN" altLang="en-US" sz="2400" dirty="0">
                <a:latin typeface="华文中宋" panose="02010600040101010101" pitchFamily="2" charset="-122"/>
                <a:ea typeface="华文中宋" panose="02010600040101010101" pitchFamily="2" charset="-122"/>
                <a:cs typeface="宋体" panose="02010600030101010101" pitchFamily="2" charset="-122"/>
                <a:sym typeface="+mn-ea"/>
              </a:rPr>
              <a:t>意义</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（一）有助于准确定罪</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任何犯罪都有犯罪主体，离开了犯罪主体就不存在犯罪。只有具备法律所要求的犯罪主体条件的人实施了刑法所禁止的危害社会的行为，</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才能构成犯罪并被追究刑事责任</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（罪与非罪、此罪与彼罪）</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（二）有助于合理量刑</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在具备犯罪主体要件的情况下，犯罪主体的具体情况也可能不同，</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这又会影响到刑罚的轻重</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（重罪重罚、轻罪轻</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罚）</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smtClean="0">
                <a:latin typeface="华文中宋" panose="02010600040101010101" pitchFamily="2" charset="-122"/>
                <a:ea typeface="华文中宋" panose="02010600040101010101" pitchFamily="2" charset="-122"/>
              </a:rPr>
              <a:t>第二节</a:t>
            </a:r>
            <a:endParaRPr lang="zh-CN" altLang="en-US" sz="3200" dirty="0">
              <a:latin typeface="华文中宋" panose="02010600040101010101" pitchFamily="2" charset="-122"/>
              <a:ea typeface="华文中宋" panose="02010600040101010101" pitchFamily="2" charset="-122"/>
            </a:endParaRP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altLang="en-US" sz="2400" b="1" dirty="0" err="1">
                <a:latin typeface="微软雅黑" panose="020B0503020204020204" pitchFamily="34" charset="-122"/>
                <a:ea typeface="微软雅黑" panose="020B0503020204020204" pitchFamily="34" charset="-122"/>
              </a:rPr>
              <a:t>自然人犯罪主体</a:t>
            </a:r>
            <a:endParaRPr lang="zh-CN" altLang="en-US" sz="2400" b="1" dirty="0" err="1">
              <a:latin typeface="微软雅黑" panose="020B0503020204020204" pitchFamily="34" charset="-122"/>
              <a:ea typeface="微软雅黑" panose="020B0503020204020204" pitchFamily="34" charset="-122"/>
            </a:endParaRP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a:t>
            </a:r>
            <a:r>
              <a:rPr lang="en-US" altLang="zh-CN" spc="100" dirty="0" smtClean="0">
                <a:solidFill>
                  <a:schemeClr val="bg1"/>
                </a:solidFill>
                <a:latin typeface="Impact" panose="020B0806030902050204" pitchFamily="34" charset="0"/>
                <a:cs typeface="Arial" panose="020B0604020202020204" pitchFamily="34" charset="0"/>
              </a:rPr>
              <a:t>07</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7321773" y="775078"/>
            <a:ext cx="436562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第七章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犯罪主体</a:t>
            </a:r>
            <a:endParaRPr lang="zh-CN" altLang="en-US" sz="4000" b="1" dirty="0">
              <a:solidFill>
                <a:srgbClr val="D9793F"/>
              </a:solidFill>
              <a:latin typeface="华文新魏" panose="02010800040101010101" charset="-122"/>
              <a:ea typeface="华文新魏" panose="020108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5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1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2423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一、自然人犯罪</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主体的概念与构成条件</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自然人犯罪主体是指实施刑法规定的危害社会行为、已达到刑事责任年龄且具有刑事责任能力的</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自然人</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（具有刑事责任能力，实施危害社会的行为并依法应负刑事责任的自然人）</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第一</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自然人</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必须已达到刑法规定的负刑事责任</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年龄</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（有生命存在的人类个体，自然现象、动物、植物、物品、尸体等不能成为犯罪主体）</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第二，自然人必须具有</a:t>
            </a:r>
            <a:r>
              <a:rPr lang="zh-CN"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刑事责任能力</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（自然人主体的辨认和控制能力受到年龄、精神状况等多种因素的制约，具有与其相适应的刑事责任能力）</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第三，自然人必须实施了刑法规定的</a:t>
            </a:r>
            <a:r>
              <a:rPr lang="zh-CN"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危害</a:t>
            </a:r>
            <a:r>
              <a:rPr lang="zh-CN"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社会行为</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（因实施了危害行为而与守法公民区别开来，从而受到否定评价和谴责）</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 刑事责任能力</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（一）刑事责任能力的概念与内容</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gn="l" fontAlgn="auto">
              <a:lnSpc>
                <a:spcPct val="150000"/>
              </a:lnSpc>
              <a:buClrTx/>
              <a:buSzTx/>
              <a:buNone/>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1.刑事责任能力的概念</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刑事责任能力，是指行为人在刑法意义上辨认和控制自己行为的能力。</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5800" y="987425"/>
            <a:ext cx="10621010" cy="4448175"/>
          </a:xfrm>
          <a:prstGeom prst="rect">
            <a:avLst/>
          </a:prstGeom>
          <a:noFill/>
        </p:spPr>
        <p:txBody>
          <a:bodyPr wrap="square" rtlCol="0">
            <a:noAutofit/>
          </a:bodyPr>
          <a:lstStyle/>
          <a:p>
            <a:pPr indent="0" algn="l" fontAlgn="auto">
              <a:lnSpc>
                <a:spcPct val="150000"/>
              </a:lnSpc>
              <a:buClrTx/>
              <a:buSzTx/>
              <a:buNone/>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刑事责任能力的内容</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None/>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刑事责任能力的内容，是指行为人对自己行为所具备的刑法意义上的辨认行为能力和控制行为能力。</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l" fontAlgn="auto">
              <a:lnSpc>
                <a:spcPct val="150000"/>
              </a:lnSpc>
              <a:buClrTx/>
              <a:buSzTx/>
              <a:buFont typeface="Wingdings" panose="05000000000000000000" charset="0"/>
              <a:buChar char="p"/>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刑事责任能力中的辨认行为能力，是指行为人具备的对自己的行为在刑法上的意义、性质、后果的分辨认识能力。</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l" fontAlgn="auto">
              <a:lnSpc>
                <a:spcPct val="150000"/>
              </a:lnSpc>
              <a:buClrTx/>
              <a:buSzTx/>
              <a:buFont typeface="Wingdings" panose="05000000000000000000" charset="0"/>
              <a:buChar char="p"/>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刑事责任能力中的控制行为能力，是指行为人具备</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的</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支配、</a:t>
            </a:r>
            <a:r>
              <a:rPr lang="zh-CN"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决定</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、选择</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自己</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是否以行为触犯刑法的能力。</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l" fontAlgn="auto">
              <a:lnSpc>
                <a:spcPct val="150000"/>
              </a:lnSpc>
              <a:buClrTx/>
              <a:buSzTx/>
              <a:buFont typeface="Wingdings" panose="05000000000000000000" charset="0"/>
              <a:buChar char="p"/>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辨认行为能力和控制行为能力之间存在着有机的联系。</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nSpc>
                <a:spcPct val="150000"/>
              </a:lnSpc>
              <a:buFont typeface="Arial" panose="020B0604020202020204" pitchFamily="34" charset="0"/>
              <a:buChar char="•"/>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一方面，辨认行为能力是刑事责任能力的</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基础</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（只有具备辨认能力，才可能具有控制能力；不具备辨认能力，不可能具有控制能力。行为人仅具有辨认能力，未必存在</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刑事责任能力）</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nSpc>
                <a:spcPct val="150000"/>
              </a:lnSpc>
              <a:buFont typeface="Arial" panose="020B0604020202020204" pitchFamily="34" charset="0"/>
              <a:buChar char="•"/>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另一方面，控制行为能力是刑事责任能力的</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关键</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（具备辨认能力，不一定具备控制能力；但具备控制能力的话，就一定具备辨认能力。若行为人具有控制能力，则必然存在刑事责任能力</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96620" y="886460"/>
            <a:ext cx="10786745"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（二）刑事责任能力的程度</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marL="342900" indent="-342900" fontAlgn="auto">
              <a:lnSpc>
                <a:spcPct val="150000"/>
              </a:lnSpc>
              <a:buFont typeface="Wingdings" panose="05000000000000000000" charset="0"/>
              <a:buChar char="l"/>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影响和决定人的刑事责任能力程度的有两个方面的因素：</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一</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是</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年龄因素</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，即</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人</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的知识和智力成熟程度。</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二是</a:t>
            </a:r>
            <a:r>
              <a:rPr lang="zh-CN"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精神状况</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，即人的大脑功能正常与否的状况。</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Wingdings" panose="05000000000000000000" charset="0"/>
              <a:buChar char="l"/>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我国刑法对刑事责任能力采取的是</a:t>
            </a:r>
            <a:r>
              <a:rPr lang="zh-CN"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四分法</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1.完全刑事责任能力。</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凡年满18周岁、精神和生理功能健全且智力与知识发展正常的人，都是完全刑事责任能力人。</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2.完全无刑事责任能力。</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我国刑法中的完全无刑事责任能力人，为不满12周岁的人</a:t>
            </a:r>
            <a:r>
              <a:rPr lang="zh-CN"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和</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行为时因精神疾病而不能辨认或者不能控制自己行为的人。</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72160" y="1095375"/>
            <a:ext cx="10353675" cy="4448175"/>
          </a:xfrm>
          <a:prstGeom prst="rect">
            <a:avLst/>
          </a:prstGeom>
          <a:noFill/>
        </p:spPr>
        <p:txBody>
          <a:bodyPr wrap="square" rtlCol="0">
            <a:noAutofit/>
          </a:bodyPr>
          <a:lstStyle/>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3</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.相对有刑事责任能力。</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err="1">
                <a:latin typeface="微软雅黑" panose="020B0503020204020204" pitchFamily="34" charset="-122"/>
                <a:ea typeface="微软雅黑" panose="020B0503020204020204" pitchFamily="34" charset="-122"/>
                <a:cs typeface="宋体" panose="02010600030101010101" pitchFamily="2" charset="-122"/>
                <a:sym typeface="+mn-ea"/>
              </a:rPr>
              <a:t>相对有刑事责任能力，</a:t>
            </a:r>
            <a:r>
              <a:rPr lang="en-US" altLang="zh-CN"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是指</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凡已满</a:t>
            </a:r>
            <a:r>
              <a:rPr lang="en-US" altLang="zh-CN"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12</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周岁不满</a:t>
            </a:r>
            <a:r>
              <a:rPr lang="en-US" altLang="zh-CN"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16</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周岁的</a:t>
            </a:r>
            <a:r>
              <a:rPr lang="en-US" altLang="zh-CN"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行为人仅对刑法明确规定的某些严重犯罪具有刑事责任能力</a:t>
            </a:r>
            <a:r>
              <a:rPr lang="en-US" altLang="zh-CN" sz="2000" dirty="0" err="1">
                <a:latin typeface="微软雅黑" panose="020B0503020204020204" pitchFamily="34" charset="-122"/>
                <a:ea typeface="微软雅黑" panose="020B0503020204020204" pitchFamily="34" charset="-122"/>
                <a:cs typeface="宋体" panose="02010600030101010101" pitchFamily="2" charset="-122"/>
                <a:sym typeface="+mn-ea"/>
              </a:rPr>
              <a:t>，而对未明确规定的其他犯罪无刑事责任能力</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4.减轻刑事责任能力。</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减轻刑事责任能力，是指因年龄、精神状况、生理功能缺陷等，行为人在实施刑法所禁止的危害行为时，虽然具有责任能力，但其辨认或者控制自己行为的能力较完全刑事责任能力有一定程度的减弱、降低的情况</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我国刑法明文规定的属于或者可能属于减轻刑事责任能力人的情况包括：</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）已满</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12</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周岁不满</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18</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周岁的</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未成年人</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（应当从轻或者减轻处罚）</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）又聋又哑的人；</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盲人</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（可以从轻、减轻或者免除处罚）</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4</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）尚未完全丧失辨认或者控制自己行为能力的精神病</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人</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（可以从轻或者减轻处罚）</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665" y="1021080"/>
            <a:ext cx="10373360"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（三）影响刑事责任能力的因素</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1.刑事责任年龄。</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刑事责任年龄的概念。</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刑事责任年龄，是指刑法所规定的行为人对自己实施的刑法所禁止的危害社会行为负刑事责任而必须达到的年龄。</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刑事责任年龄阶段的划分</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（三分法）</a:t>
            </a: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第一，完全不负刑事责任年龄阶段。</a:t>
            </a: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l" fontAlgn="auto">
              <a:lnSpc>
                <a:spcPct val="150000"/>
              </a:lnSpc>
              <a:buClrTx/>
              <a:buSzTx/>
              <a:buFont typeface="Arial" panose="020B0604020202020204" pitchFamily="34" charset="0"/>
              <a:buChar char="•"/>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不满</a:t>
            </a: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12周岁</a:t>
            </a: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l" fontAlgn="auto">
              <a:lnSpc>
                <a:spcPct val="150000"/>
              </a:lnSpc>
              <a:buClrTx/>
              <a:buSzTx/>
              <a:buFont typeface="Arial" panose="020B0604020202020204" pitchFamily="34" charset="0"/>
              <a:buChar char="•"/>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责令其父母或者其他监护人加以管教，在必要的时候，依法进行专门矫治教育。</a:t>
            </a: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93775" y="1083310"/>
            <a:ext cx="10492740" cy="4448175"/>
          </a:xfrm>
          <a:prstGeom prst="rect">
            <a:avLst/>
          </a:prstGeom>
          <a:noFill/>
        </p:spPr>
        <p:txBody>
          <a:bodyPr wrap="square" rtlCol="0">
            <a:noAutofit/>
          </a:bodyPr>
          <a:lstStyle/>
          <a:p>
            <a:pPr indent="0" algn="l" fontAlgn="auto">
              <a:lnSpc>
                <a:spcPct val="150000"/>
              </a:lnSpc>
              <a:buClrTx/>
              <a:buSzTx/>
              <a:buFontTx/>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第二，相对负刑事责任年龄阶段。</a:t>
            </a: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l" fontAlgn="auto">
              <a:lnSpc>
                <a:spcPct val="150000"/>
              </a:lnSpc>
              <a:buClrTx/>
              <a:buSzTx/>
              <a:buFont typeface="Arial" panose="020B0604020202020204" pitchFamily="34" charset="0"/>
              <a:buChar char="•"/>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已满12 周岁不满 16 周岁（只对八种</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特定</a:t>
            </a: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犯罪负刑事责任）</a:t>
            </a: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《刑法》第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17</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条第2款规定：</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已满十四周岁不满十六周岁的人，犯故意杀人、故意伤害致人重伤或者死亡、强奸、抢劫、贩卖毒品、放火、爆炸、投放危险物质罪的，应当负刑事责任。</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首先，该款中的“故意杀人……投放危险物质罪”是指</a:t>
            </a:r>
            <a:r>
              <a:rPr lang="en-US" altLang="zh-CN"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犯罪行为</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而不是</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具体罪名</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，对于上述行为的罪名，应当按照《刑法》第17条第2款规定的8种罪名确定</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（“故意杀人”、“故意伤害致人重伤或者死亡”包括</a:t>
            </a:r>
            <a:r>
              <a:rPr lang="en-US" alt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刑法</a:t>
            </a:r>
            <a:r>
              <a:rPr lang="en-US" alt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分则规定以故意杀人罪、故意伤害罪论处的</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情形）</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其次，该款规定的“抢劫”包括抢劫枪支、弹药、爆炸物、危险物质的犯罪，但是并不包括《刑法》第269条的转化型抢劫罪和第267条第2款的“携带凶器抢夺”的抢劫罪。</a:t>
            </a:r>
            <a:endPar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68400" y="1310640"/>
            <a:ext cx="10318115" cy="4035425"/>
          </a:xfrm>
          <a:prstGeom prst="rect">
            <a:avLst/>
          </a:prstGeom>
          <a:noFill/>
        </p:spPr>
        <p:txBody>
          <a:bodyPr wrap="square" rtlCol="0">
            <a:noAutofit/>
          </a:bodyPr>
          <a:lstStyle/>
          <a:p>
            <a:pPr indent="0"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第三，完全负刑事责任年龄阶段。</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l" fontAlgn="auto">
              <a:lnSpc>
                <a:spcPct val="150000"/>
              </a:lnSpc>
              <a:buClrTx/>
              <a:buSzTx/>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已满</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16</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周岁的人</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l" fontAlgn="auto">
              <a:lnSpc>
                <a:spcPct val="150000"/>
              </a:lnSpc>
              <a:buClrTx/>
              <a:buSzTx/>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注意问题：</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第一，刑事责任年龄应当怎样计算？</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第二，关于未成年人犯罪和处罚的法定年龄界限能否突破？</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第三，关于跨年龄段的危害行为的刑事责任问题。</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Rot="1" noChangeArrowheads="1"/>
          </p:cNvSpPr>
          <p:nvPr>
            <p:ph idx="1"/>
          </p:nvPr>
        </p:nvSpPr>
        <p:spPr>
          <a:xfrm>
            <a:off x="1825625" y="304801"/>
            <a:ext cx="8540750" cy="5794375"/>
          </a:xfrm>
        </p:spPr>
        <p:txBody>
          <a:bodyPr/>
          <a:lstStyle/>
          <a:p>
            <a:pPr eaLnBrk="1" hangingPunct="1">
              <a:lnSpc>
                <a:spcPct val="90000"/>
              </a:lnSpc>
              <a:buFont typeface="Wingdings" panose="05000000000000000000" pitchFamily="2" charset="2"/>
              <a:buNone/>
            </a:pPr>
            <a:r>
              <a:rPr lang="zh-CN" altLang="en-US" sz="2000" dirty="0" smtClean="0">
                <a:latin typeface="微软雅黑" panose="020B0503020204020204" pitchFamily="34" charset="-122"/>
                <a:ea typeface="微软雅黑" panose="020B0503020204020204" pitchFamily="34" charset="-122"/>
              </a:rPr>
              <a:t>刑事责任</a:t>
            </a:r>
            <a:r>
              <a:rPr lang="zh-CN" altLang="en-US" sz="2000" dirty="0">
                <a:latin typeface="微软雅黑" panose="020B0503020204020204" pitchFamily="34" charset="-122"/>
                <a:ea typeface="微软雅黑" panose="020B0503020204020204" pitchFamily="34" charset="-122"/>
              </a:rPr>
              <a:t>年龄的认定</a:t>
            </a:r>
            <a:endParaRPr lang="zh-CN" altLang="en-US" sz="2000" dirty="0">
              <a:latin typeface="微软雅黑" panose="020B0503020204020204" pitchFamily="34" charset="-122"/>
              <a:ea typeface="微软雅黑" panose="020B0503020204020204" pitchFamily="34" charset="-122"/>
            </a:endParaRPr>
          </a:p>
          <a:p>
            <a:pPr eaLnBrk="1" hangingPunct="1">
              <a:lnSpc>
                <a:spcPct val="90000"/>
              </a:lnSpc>
              <a:buFont typeface="Wingdings" panose="05000000000000000000" pitchFamily="2" charset="2"/>
              <a:buNone/>
            </a:pPr>
            <a:endParaRPr lang="zh-CN" altLang="en-US" sz="2000" dirty="0">
              <a:latin typeface="微软雅黑" panose="020B0503020204020204" pitchFamily="34" charset="-122"/>
              <a:ea typeface="微软雅黑" panose="020B0503020204020204" pitchFamily="34" charset="-122"/>
            </a:endParaRPr>
          </a:p>
          <a:p>
            <a:pPr eaLnBrk="1" hangingPunct="1">
              <a:lnSpc>
                <a:spcPct val="9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刑事责任年龄的计算</a:t>
            </a:r>
            <a:endParaRPr lang="zh-CN" altLang="en-US" sz="2000" dirty="0">
              <a:latin typeface="微软雅黑" panose="020B0503020204020204" pitchFamily="34" charset="-122"/>
              <a:ea typeface="微软雅黑" panose="020B0503020204020204" pitchFamily="34" charset="-122"/>
            </a:endParaRPr>
          </a:p>
          <a:p>
            <a:pPr eaLnBrk="1" hangingPunct="1">
              <a:lnSpc>
                <a:spcPct val="9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最高人民法院关于人民法院审判严重刑事犯罪案件中具体应用法律的若干问题的答复（三）</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（法研发</a:t>
            </a:r>
            <a:r>
              <a:rPr lang="en-US" altLang="zh-CN" sz="2000" dirty="0">
                <a:latin typeface="微软雅黑" panose="020B0503020204020204" pitchFamily="34" charset="-122"/>
                <a:ea typeface="微软雅黑" panose="020B0503020204020204" pitchFamily="34" charset="-122"/>
              </a:rPr>
              <a:t>[1985]18</a:t>
            </a:r>
            <a:r>
              <a:rPr lang="zh-CN" altLang="en-US" sz="2000" dirty="0">
                <a:latin typeface="微软雅黑" panose="020B0503020204020204" pitchFamily="34" charset="-122"/>
                <a:ea typeface="微软雅黑" panose="020B0503020204020204" pitchFamily="34" charset="-122"/>
              </a:rPr>
              <a:t>号 ）第</a:t>
            </a:r>
            <a:r>
              <a:rPr lang="en-US" altLang="zh-CN" sz="2000" dirty="0">
                <a:latin typeface="微软雅黑" panose="020B0503020204020204" pitchFamily="34" charset="-122"/>
                <a:ea typeface="微软雅黑" panose="020B0503020204020204" pitchFamily="34" charset="-122"/>
              </a:rPr>
              <a:t>31</a:t>
            </a:r>
            <a:r>
              <a:rPr lang="zh-CN" altLang="en-US" sz="2000" dirty="0">
                <a:latin typeface="微软雅黑" panose="020B0503020204020204" pitchFamily="34" charset="-122"/>
                <a:ea typeface="微软雅黑" panose="020B0503020204020204" pitchFamily="34" charset="-122"/>
              </a:rPr>
              <a:t>条规定：“刑法第</a:t>
            </a:r>
            <a:r>
              <a:rPr lang="en-US" altLang="zh-CN" sz="2000" dirty="0">
                <a:latin typeface="微软雅黑" panose="020B0503020204020204" pitchFamily="34" charset="-122"/>
                <a:ea typeface="微软雅黑" panose="020B0503020204020204" pitchFamily="34" charset="-122"/>
              </a:rPr>
              <a:t>14</a:t>
            </a:r>
            <a:r>
              <a:rPr lang="zh-CN" altLang="en-US" sz="2000" dirty="0">
                <a:latin typeface="微软雅黑" panose="020B0503020204020204" pitchFamily="34" charset="-122"/>
                <a:ea typeface="微软雅黑" panose="020B0503020204020204" pitchFamily="34" charset="-122"/>
              </a:rPr>
              <a:t>条所规定的已满</a:t>
            </a:r>
            <a:r>
              <a:rPr lang="en-US" altLang="zh-CN" sz="2000" dirty="0">
                <a:latin typeface="微软雅黑" panose="020B0503020204020204" pitchFamily="34" charset="-122"/>
                <a:ea typeface="微软雅黑" panose="020B0503020204020204" pitchFamily="34" charset="-122"/>
              </a:rPr>
              <a:t>14</a:t>
            </a:r>
            <a:r>
              <a:rPr lang="zh-CN" altLang="en-US" sz="2000" dirty="0">
                <a:latin typeface="微软雅黑" panose="020B0503020204020204" pitchFamily="34" charset="-122"/>
                <a:ea typeface="微软雅黑" panose="020B0503020204020204" pitchFamily="34" charset="-122"/>
              </a:rPr>
              <a:t>岁，是指实足年龄，应以日计算，即过了</a:t>
            </a:r>
            <a:r>
              <a:rPr lang="en-US" altLang="zh-CN" sz="2000" dirty="0">
                <a:latin typeface="微软雅黑" panose="020B0503020204020204" pitchFamily="34" charset="-122"/>
                <a:ea typeface="微软雅黑" panose="020B0503020204020204" pitchFamily="34" charset="-122"/>
              </a:rPr>
              <a:t>14</a:t>
            </a:r>
            <a:r>
              <a:rPr lang="zh-CN" altLang="en-US" sz="2000" dirty="0">
                <a:latin typeface="微软雅黑" panose="020B0503020204020204" pitchFamily="34" charset="-122"/>
                <a:ea typeface="微软雅黑" panose="020B0503020204020204" pitchFamily="34" charset="-122"/>
              </a:rPr>
              <a:t>周岁生日，从第二天起，才认为已满</a:t>
            </a:r>
            <a:r>
              <a:rPr lang="en-US" altLang="zh-CN" sz="2000" dirty="0">
                <a:latin typeface="微软雅黑" panose="020B0503020204020204" pitchFamily="34" charset="-122"/>
                <a:ea typeface="微软雅黑" panose="020B0503020204020204" pitchFamily="34" charset="-122"/>
              </a:rPr>
              <a:t>14</a:t>
            </a:r>
            <a:r>
              <a:rPr lang="zh-CN" altLang="en-US" sz="2000" dirty="0">
                <a:latin typeface="微软雅黑" panose="020B0503020204020204" pitchFamily="34" charset="-122"/>
                <a:ea typeface="微软雅黑" panose="020B0503020204020204" pitchFamily="34" charset="-122"/>
              </a:rPr>
              <a:t>岁。例如，被告人</a:t>
            </a:r>
            <a:r>
              <a:rPr lang="en-US" altLang="zh-CN" sz="2000" dirty="0" smtClean="0">
                <a:latin typeface="微软雅黑" panose="020B0503020204020204" pitchFamily="34" charset="-122"/>
                <a:ea typeface="微软雅黑" panose="020B0503020204020204" pitchFamily="34" charset="-122"/>
              </a:rPr>
              <a:t>2010</a:t>
            </a:r>
            <a:r>
              <a:rPr lang="zh-CN" altLang="en-US" sz="2000" dirty="0" smtClean="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7</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26</a:t>
            </a:r>
            <a:r>
              <a:rPr lang="zh-CN" altLang="en-US" sz="2000" dirty="0">
                <a:latin typeface="微软雅黑" panose="020B0503020204020204" pitchFamily="34" charset="-122"/>
                <a:ea typeface="微软雅黑" panose="020B0503020204020204" pitchFamily="34" charset="-122"/>
              </a:rPr>
              <a:t>日生，至</a:t>
            </a:r>
            <a:r>
              <a:rPr lang="en-US" altLang="zh-CN" sz="2000" dirty="0" smtClean="0">
                <a:latin typeface="微软雅黑" panose="020B0503020204020204" pitchFamily="34" charset="-122"/>
                <a:ea typeface="微软雅黑" panose="020B0503020204020204" pitchFamily="34" charset="-122"/>
              </a:rPr>
              <a:t>2024</a:t>
            </a:r>
            <a:r>
              <a:rPr lang="zh-CN" altLang="en-US" sz="2000" dirty="0" smtClean="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7</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27</a:t>
            </a:r>
            <a:r>
              <a:rPr lang="zh-CN" altLang="en-US" sz="2000" dirty="0">
                <a:latin typeface="微软雅黑" panose="020B0503020204020204" pitchFamily="34" charset="-122"/>
                <a:ea typeface="微软雅黑" panose="020B0503020204020204" pitchFamily="34" charset="-122"/>
              </a:rPr>
              <a:t>日即认为已满</a:t>
            </a:r>
            <a:r>
              <a:rPr lang="en-US" altLang="zh-CN" sz="2000" dirty="0">
                <a:latin typeface="微软雅黑" panose="020B0503020204020204" pitchFamily="34" charset="-122"/>
                <a:ea typeface="微软雅黑" panose="020B0503020204020204" pitchFamily="34" charset="-122"/>
              </a:rPr>
              <a:t>14</a:t>
            </a:r>
            <a:r>
              <a:rPr lang="zh-CN" altLang="en-US" sz="2000" dirty="0">
                <a:latin typeface="微软雅黑" panose="020B0503020204020204" pitchFamily="34" charset="-122"/>
                <a:ea typeface="微软雅黑" panose="020B0503020204020204" pitchFamily="34" charset="-122"/>
              </a:rPr>
              <a:t>岁。对已满</a:t>
            </a:r>
            <a:r>
              <a:rPr lang="en-US" altLang="zh-CN" sz="2000" dirty="0">
                <a:latin typeface="微软雅黑" panose="020B0503020204020204" pitchFamily="34" charset="-122"/>
                <a:ea typeface="微软雅黑" panose="020B0503020204020204" pitchFamily="34" charset="-122"/>
              </a:rPr>
              <a:t>12</a:t>
            </a:r>
            <a:r>
              <a:rPr lang="zh-CN" altLang="en-US" sz="2000" dirty="0">
                <a:latin typeface="微软雅黑" panose="020B0503020204020204" pitchFamily="34" charset="-122"/>
                <a:ea typeface="微软雅黑" panose="020B0503020204020204" pitchFamily="34" charset="-122"/>
              </a:rPr>
              <a:t>岁、已满</a:t>
            </a:r>
            <a:r>
              <a:rPr lang="en-US" altLang="zh-CN" sz="2000" dirty="0">
                <a:latin typeface="微软雅黑" panose="020B0503020204020204" pitchFamily="34" charset="-122"/>
                <a:ea typeface="微软雅黑" panose="020B0503020204020204" pitchFamily="34" charset="-122"/>
              </a:rPr>
              <a:t>16</a:t>
            </a:r>
            <a:r>
              <a:rPr lang="zh-CN" altLang="en-US" sz="2000" dirty="0">
                <a:latin typeface="微软雅黑" panose="020B0503020204020204" pitchFamily="34" charset="-122"/>
                <a:ea typeface="微软雅黑" panose="020B0503020204020204" pitchFamily="34" charset="-122"/>
              </a:rPr>
              <a:t>岁、已满</a:t>
            </a:r>
            <a:r>
              <a:rPr lang="en-US" altLang="zh-CN" sz="2000" dirty="0">
                <a:latin typeface="微软雅黑" panose="020B0503020204020204" pitchFamily="34" charset="-122"/>
                <a:ea typeface="微软雅黑" panose="020B0503020204020204" pitchFamily="34" charset="-122"/>
              </a:rPr>
              <a:t>18</a:t>
            </a:r>
            <a:r>
              <a:rPr lang="zh-CN" altLang="en-US" sz="2000" dirty="0">
                <a:latin typeface="微软雅黑" panose="020B0503020204020204" pitchFamily="34" charset="-122"/>
                <a:ea typeface="微软雅黑" panose="020B0503020204020204" pitchFamily="34" charset="-122"/>
              </a:rPr>
              <a:t>岁年龄的计算，亦与此相同。并且一律按公历的年、月、日计算。”</a:t>
            </a:r>
            <a:endParaRPr lang="zh-CN" altLang="en-US" sz="2000" dirty="0">
              <a:latin typeface="微软雅黑" panose="020B0503020204020204" pitchFamily="34" charset="-122"/>
              <a:ea typeface="微软雅黑" panose="020B0503020204020204" pitchFamily="34" charset="-122"/>
            </a:endParaRPr>
          </a:p>
          <a:p>
            <a:pPr eaLnBrk="1" hangingPunct="1">
              <a:lnSpc>
                <a:spcPct val="90000"/>
              </a:lnSpc>
              <a:buFont typeface="Wingdings" panose="05000000000000000000" pitchFamily="2" charset="2"/>
              <a:buNone/>
            </a:pPr>
            <a:endParaRPr lang="en-US" altLang="zh-CN" sz="2000" dirty="0">
              <a:latin typeface="微软雅黑" panose="020B0503020204020204" pitchFamily="34" charset="-122"/>
              <a:ea typeface="微软雅黑" panose="020B0503020204020204" pitchFamily="34" charset="-122"/>
            </a:endParaRPr>
          </a:p>
          <a:p>
            <a:pPr eaLnBrk="1" hangingPunct="1">
              <a:lnSpc>
                <a:spcPct val="90000"/>
              </a:lnSpc>
              <a:buFont typeface="Wingdings" panose="05000000000000000000" pitchFamily="2" charset="2"/>
              <a:buNone/>
            </a:pPr>
            <a:r>
              <a:rPr lang="en-US" altLang="zh-CN" sz="2000" dirty="0">
                <a:latin typeface="微软雅黑" panose="020B0503020204020204" pitchFamily="34" charset="-122"/>
                <a:ea typeface="微软雅黑" panose="020B0503020204020204" pitchFamily="34" charset="-122"/>
              </a:rPr>
              <a:t>        2.</a:t>
            </a:r>
            <a:r>
              <a:rPr lang="zh-CN" altLang="en-US" sz="2000" dirty="0">
                <a:latin typeface="微软雅黑" panose="020B0503020204020204" pitchFamily="34" charset="-122"/>
                <a:ea typeface="微软雅黑" panose="020B0503020204020204" pitchFamily="34" charset="-122"/>
              </a:rPr>
              <a:t>刑事责任年龄计算的</a:t>
            </a:r>
            <a:r>
              <a:rPr lang="zh-CN" altLang="en-US" sz="2000" dirty="0" smtClean="0">
                <a:latin typeface="微软雅黑" panose="020B0503020204020204" pitchFamily="34" charset="-122"/>
                <a:ea typeface="微软雅黑" panose="020B0503020204020204" pitchFamily="34" charset="-122"/>
              </a:rPr>
              <a:t>基准</a:t>
            </a:r>
            <a:endParaRPr lang="en-US" altLang="zh-CN" sz="2000" dirty="0" smtClean="0">
              <a:latin typeface="微软雅黑" panose="020B0503020204020204" pitchFamily="34" charset="-122"/>
              <a:ea typeface="微软雅黑" panose="020B0503020204020204" pitchFamily="34" charset="-122"/>
            </a:endParaRPr>
          </a:p>
          <a:p>
            <a:pPr>
              <a:buNone/>
            </a:pPr>
            <a:r>
              <a:rPr lang="zh-CN" altLang="en-US" sz="2000" dirty="0" smtClean="0">
                <a:latin typeface="微软雅黑" panose="020B0503020204020204" pitchFamily="34" charset="-122"/>
                <a:ea typeface="微软雅黑" panose="020B0503020204020204" pitchFamily="34" charset="-122"/>
              </a:rPr>
              <a:t>        犯罪</a:t>
            </a:r>
            <a:r>
              <a:rPr lang="zh-CN" altLang="en-US" sz="2000" dirty="0">
                <a:latin typeface="微软雅黑" panose="020B0503020204020204" pitchFamily="34" charset="-122"/>
                <a:ea typeface="微软雅黑" panose="020B0503020204020204" pitchFamily="34" charset="-122"/>
              </a:rPr>
              <a:t>是“行为”，辨认控制能力是辨认与控制自己“行为”的能力；狭义的行为概念不包含结果，结果概念也不包含行为；所以，责任年龄应以危害行为为基准</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buNone/>
            </a:pPr>
            <a:endParaRPr lang="en-US" altLang="zh-CN" sz="2000" dirty="0">
              <a:latin typeface="微软雅黑" panose="020B0503020204020204" pitchFamily="34" charset="-122"/>
              <a:ea typeface="微软雅黑" panose="020B0503020204020204" pitchFamily="34" charset="-122"/>
            </a:endParaRPr>
          </a:p>
          <a:p>
            <a:pPr>
              <a:buNone/>
            </a:pPr>
            <a:r>
              <a:rPr lang="zh-CN" altLang="en-US" sz="2000" dirty="0" smtClean="0">
                <a:latin typeface="微软雅黑" panose="020B0503020204020204" pitchFamily="34" charset="-122"/>
                <a:ea typeface="微软雅黑" panose="020B0503020204020204" pitchFamily="34" charset="-122"/>
              </a:rPr>
              <a:t>        如果</a:t>
            </a:r>
            <a:r>
              <a:rPr lang="zh-CN" altLang="en-US" sz="2000" dirty="0">
                <a:latin typeface="微软雅黑" panose="020B0503020204020204" pitchFamily="34" charset="-122"/>
                <a:ea typeface="微软雅黑" panose="020B0503020204020204" pitchFamily="34" charset="-122"/>
              </a:rPr>
              <a:t>行为人具有结果回避义务，则可能根据实施不作为的时间计算年龄</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eaLnBrk="1" hangingPunct="1">
              <a:lnSpc>
                <a:spcPct val="90000"/>
              </a:lnSpc>
              <a:buFont typeface="Wingdings" panose="05000000000000000000" pitchFamily="2" charset="2"/>
              <a:buNone/>
            </a:pP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4238" name="Group 334"/>
          <p:cNvGraphicFramePr>
            <a:graphicFrameLocks noGrp="1"/>
          </p:cNvGraphicFramePr>
          <p:nvPr>
            <p:ph sz="half" idx="1"/>
          </p:nvPr>
        </p:nvGraphicFramePr>
        <p:xfrm>
          <a:off x="1804087" y="1869990"/>
          <a:ext cx="8537575" cy="3841751"/>
        </p:xfrm>
        <a:graphic>
          <a:graphicData uri="http://schemas.openxmlformats.org/drawingml/2006/table">
            <a:tbl>
              <a:tblPr/>
              <a:tblGrid>
                <a:gridCol w="688975"/>
                <a:gridCol w="1063625"/>
                <a:gridCol w="1066800"/>
                <a:gridCol w="1144588"/>
                <a:gridCol w="1143000"/>
                <a:gridCol w="1065212"/>
                <a:gridCol w="1143000"/>
                <a:gridCol w="1222375"/>
              </a:tblGrid>
              <a:tr h="761980">
                <a:tc rowSpan="3">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①</a:t>
                      </a: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已满</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12</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周岁</a:t>
                      </a: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未满</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14</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周岁</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已满</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14</a:t>
                      </a: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周岁</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不满</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16</a:t>
                      </a: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周岁</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已满</a:t>
                      </a: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16</a:t>
                      </a: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周岁</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刑事责任</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68131">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实施八种犯罪行为</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构成</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犯罪</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实施八种犯罪行为</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构成</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犯罪</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一并追究</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820">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实施其他犯罪行为</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不构成犯罪</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实施其他犯罪行为</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构成</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犯罪</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单独追究</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82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②</a:t>
                      </a:r>
                      <a:endParaRPr kumimoji="0" lang="en-US"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实施两种犯罪行为</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构成</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犯罪</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实施八种犯罪行为</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构成</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犯罪</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一并追究</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矩形 2"/>
          <p:cNvSpPr/>
          <p:nvPr/>
        </p:nvSpPr>
        <p:spPr>
          <a:xfrm>
            <a:off x="2392726" y="674129"/>
            <a:ext cx="3966150" cy="400110"/>
          </a:xfrm>
          <a:prstGeom prst="rect">
            <a:avLst/>
          </a:prstGeom>
        </p:spPr>
        <p:txBody>
          <a:bodyPr wrap="none">
            <a:spAutoFit/>
          </a:bodyPr>
          <a:lstStyle/>
          <a:p>
            <a:pPr>
              <a:defRPr/>
            </a:pPr>
            <a:r>
              <a:rPr lang="en-US" altLang="zh-CN" sz="2000" dirty="0">
                <a:solidFill>
                  <a:srgbClr val="000000"/>
                </a:solidFill>
                <a:latin typeface="微软雅黑" panose="020B0503020204020204" pitchFamily="34" charset="-122"/>
                <a:ea typeface="微软雅黑" panose="020B0503020204020204" pitchFamily="34" charset="-122"/>
              </a:rPr>
              <a:t>3.</a:t>
            </a:r>
            <a:r>
              <a:rPr lang="zh-CN" altLang="en-US" sz="2000" dirty="0">
                <a:solidFill>
                  <a:srgbClr val="000000"/>
                </a:solidFill>
                <a:latin typeface="微软雅黑" panose="020B0503020204020204" pitchFamily="34" charset="-122"/>
                <a:ea typeface="微软雅黑" panose="020B0503020204020204" pitchFamily="34" charset="-122"/>
              </a:rPr>
              <a:t>跨刑事责任年龄阶段的犯罪问题</a:t>
            </a:r>
            <a:endParaRPr lang="zh-CN" altLang="en-US" sz="20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68400" y="1599565"/>
            <a:ext cx="1031811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未成年犯罪人的刑事处遇：</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①从宽处理的原则。《刑法》第17条第4款规定，已满12周岁不满18周岁的人犯罪，应当从轻或者减轻处罚。</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②不适用死刑的原则。《刑法》第49条规定，犯罪的时候不满18周岁的人不适用死刑。</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③不成立累犯的原则。《刑法》第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65</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条第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款规定，被判处有期徒刑以上刑罚的犯罪分子，刑罚执行完毕或者赦免以后，</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在</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5</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年</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以内再犯应当判处有期徒刑以上刑罚之罪的，是累犯，应当从重处罚，但是过失犯罪和</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不满</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18</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周岁</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的人犯罪的除外。</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68400" y="1465580"/>
            <a:ext cx="10318115"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④</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从宽适用缓刑的原则。《刑法》第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72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条第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款规定，对于被判处拘役</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年</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以下有期徒刑的犯罪分子，同时符合下列条件的，可以宣告缓刑，对其中</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不满</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18</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周岁</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的人、怀孕的妇女和已</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满</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75</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周岁</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的人，应当宣告</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缓刑。</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⑤免除前科报告义务。《刑法》第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100</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条第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款规定，犯罪的时候</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不满</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18</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周岁</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被</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判处</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5</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年</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有期徒刑以下刑罚的人，免除前款规定的报告义务。</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68400" y="1083310"/>
            <a:ext cx="1031811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已满75周岁的人犯罪的刑事处遇</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①从宽处理的原则。《刑法》第17条之一规定，已满75周岁的人故意犯罪的，可以从轻或者减轻处罚；过失犯罪的，应当从轻或者减轻处罚。</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②原则上不适用死刑。《刑法》第49条第2款规定，审判的时候已满75周岁的人，不适用死刑，但以特别残忍手段致人死亡的除外。</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③从宽适用缓刑的原则。《刑法》第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72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条第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款规定，对于被判处拘役</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年</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以下有期徒刑的犯罪分子，同时符合下列条件的，可以宣告缓刑，对其中</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不满</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18</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周岁</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的人、怀孕的妇女和已</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满</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75</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周岁</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的人，应当宣告</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缓刑。</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64235" y="1204595"/>
            <a:ext cx="10095865" cy="4448175"/>
          </a:xfrm>
          <a:prstGeom prst="rect">
            <a:avLst/>
          </a:prstGeom>
          <a:noFill/>
        </p:spPr>
        <p:txBody>
          <a:bodyPr wrap="square" rtlCol="0">
            <a:noAutofit/>
          </a:bodyPr>
          <a:lstStyle/>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精神障碍</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(1) 完全无刑事责任能力的精神病人。</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（所谓精神病，是指因大脑功能紊乱而严重影响主体辨认和控制能力的一种非器质性病症</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《刑法》</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第 18 条第 1款规定：“精神病人在不能辨认或者不能控制自己行为的时候造成危害结果，经法定程序鉴定确认的，不负刑事责任，但是应当责令他的家属或者监护人严加看管和医疗；在必要的时候，由政府强制医疗。”</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认定精神障碍者为无刑事责任能力人，必须同时符合医学</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标准</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（即生物学标准：</a:t>
            </a:r>
            <a:r>
              <a:rPr lang="en-US" altLang="zh-CN"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行为人必须是精神病人；</a:t>
            </a:r>
            <a:r>
              <a:rPr lang="en-US" altLang="zh-CN"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b.</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1400" b="1">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人</a:t>
            </a:r>
            <a:r>
              <a:rPr lang="zh-CN" altLang="en-US" sz="1400" b="1">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必须实施了</a:t>
            </a:r>
            <a:r>
              <a:rPr lang="zh-CN" altLang="en-US" sz="1400" b="1">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危害</a:t>
            </a:r>
            <a:r>
              <a:rPr lang="zh-CN" altLang="en-US" sz="1400" b="1"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1400" b="1"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c.</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行为人实施危害行为必须是基于精神病理的作用</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和</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心理学</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标准</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（即法学标准：行为人由于精神病理的作用，在行为时丧失了辨认或控制能力（择一说））</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00125" y="886460"/>
            <a:ext cx="10445750" cy="4448175"/>
          </a:xfrm>
          <a:prstGeom prst="rect">
            <a:avLst/>
          </a:prstGeom>
          <a:noFill/>
        </p:spPr>
        <p:txBody>
          <a:bodyPr wrap="square" rtlCol="0">
            <a:noAutofit/>
          </a:bodyPr>
          <a:lstStyle/>
          <a:p>
            <a:pPr indent="0" fontAlgn="auto">
              <a:lnSpc>
                <a:spcPct val="150000"/>
              </a:lnSpc>
            </a:pP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2) 限制刑事责任能力的精神病人。</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《刑法》第 18 条第3 款规定：“尚未完全丧失辨认或者控制自己行为能力的精神病人犯罪的，应当负刑事责任，但是可以从轻或者减轻处罚。”</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(3) 完全刑事责任能力的精神病人。</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责任能力完备而应完全负刑事责任的精神病人包括以下两类：</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一为精神正常时期的“间歇性精神病人”。</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二为大多数非精神病性精神障碍人。</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98220" y="1082675"/>
            <a:ext cx="10707370" cy="4448175"/>
          </a:xfrm>
          <a:prstGeom prst="rect">
            <a:avLst/>
          </a:prstGeom>
          <a:noFill/>
        </p:spPr>
        <p:txBody>
          <a:bodyPr wrap="square" rtlCol="0">
            <a:noAutofit/>
          </a:bodyPr>
          <a:lstStyle/>
          <a:p>
            <a:pPr indent="0" fontAlgn="auto">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3</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.生理功能丧失。</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刑法》第 19 条规定</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“又</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聋</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又哑的人或者盲人犯罪，可以从轻、减轻或者免除处罚。”</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注意适用对象：一是既聋又哑的人，二是双目均丧失视力者。</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4.醉酒。</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我国《刑法》第 18 条第4款规定</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“醉酒的人犯罪，应当负刑事责任。”</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处理：如果行为人在醉酒前对其在醉酒后实施的危害社会行为具有犯罪故意或犯罪过失，应负完全的刑事责任；反之，应依其醉酒后的实际精神状态确定其刑事责任。</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Rot="1" noChangeArrowheads="1"/>
          </p:cNvSpPr>
          <p:nvPr>
            <p:ph idx="1"/>
          </p:nvPr>
        </p:nvSpPr>
        <p:spPr>
          <a:xfrm>
            <a:off x="1825625" y="304801"/>
            <a:ext cx="8540750" cy="5794375"/>
          </a:xfrm>
        </p:spPr>
        <p:txBody>
          <a:bodyPr/>
          <a:lstStyle/>
          <a:p>
            <a:pPr eaLnBrk="1" hangingPunct="1">
              <a:buFont typeface="Wingdings" panose="05000000000000000000" pitchFamily="2" charset="2"/>
              <a:buNone/>
            </a:pP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1</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病理性醉酒和生理性醉酒        </a:t>
            </a:r>
            <a:endParaRPr lang="zh-CN" altLang="en-US" sz="2000"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        病理性醉酒属于精神病状态，多在通常不饮酒或对酒精无耐受性，或并存感染、过度疲劳、脑外伤、癫痫症者在偶尔饮酒之后发生。病理性醉酒人的行为紊乱、记忆缺失、出现意识障碍，并伴有幻觉、错觉、妄想等精神病状，且其行为通常具有攻击性，此时醉酒人完全丧失了辨认、控制能力。所以，行为人由于首次病理性醉酒而导致危害结果发生的，不构成犯罪。</a:t>
            </a:r>
            <a:endParaRPr lang="zh-CN" altLang="en-US" sz="2000"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生理性醉酒即普通醉酒不属于精神病，行为人此时还具有辨认、控制能力，应当预见到或已经预见到会实施危害行为。即使其辨认能力或控制能力有所减弱，但醉酒系由于自身原因造成的，也不得从轻或减轻处罚。所以，行为人由于生理性醉酒而犯罪的，应当负刑事责任。</a:t>
            </a:r>
            <a:endParaRPr lang="zh-CN" altLang="en-US" sz="2000"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endParaRPr lang="en-US" altLang="zh-CN" sz="2000" dirty="0" smtClean="0">
              <a:latin typeface="微软雅黑" panose="020B0503020204020204" pitchFamily="34" charset="-122"/>
              <a:ea typeface="微软雅黑" panose="020B0503020204020204" pitchFamily="34" charset="-122"/>
            </a:endParaRPr>
          </a:p>
          <a:p>
            <a:pPr>
              <a:buNone/>
            </a:pP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2</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原因自由行为</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原因自由行为俗称“借酒发疯”，指行为人故意或过失使自己陷入无责任能力或限制责任能力状态，并在此状态下实施危害行为，造成危害结果发生的现象。</a:t>
            </a:r>
            <a:endParaRPr lang="zh-CN" altLang="en-US" sz="2000"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Rectangle 3"/>
          <p:cNvSpPr>
            <a:spLocks noGrp="1" noRot="1" noChangeArrowheads="1"/>
          </p:cNvSpPr>
          <p:nvPr>
            <p:ph idx="1"/>
          </p:nvPr>
        </p:nvSpPr>
        <p:spPr>
          <a:xfrm>
            <a:off x="1825625" y="152401"/>
            <a:ext cx="8540750" cy="5946775"/>
          </a:xfrm>
          <a:ln>
            <a:solidFill>
              <a:schemeClr val="tx1"/>
            </a:solidFill>
            <a:prstDash val="sysDot"/>
          </a:ln>
        </p:spPr>
        <p:txBody>
          <a:bodyPr/>
          <a:lstStyle/>
          <a:p>
            <a:pPr>
              <a:buNone/>
              <a:defRPr/>
            </a:pPr>
            <a:r>
              <a:rPr lang="zh-CN" altLang="en-US" sz="2000" dirty="0" smtClean="0">
                <a:latin typeface="微软雅黑" panose="020B0503020204020204" pitchFamily="34" charset="-122"/>
                <a:ea typeface="微软雅黑" panose="020B0503020204020204" pitchFamily="34" charset="-122"/>
              </a:rPr>
              <a:t>        在</a:t>
            </a:r>
            <a:r>
              <a:rPr lang="zh-CN" altLang="en-US" sz="2000" dirty="0">
                <a:latin typeface="微软雅黑" panose="020B0503020204020204" pitchFamily="34" charset="-122"/>
                <a:ea typeface="微软雅黑" panose="020B0503020204020204" pitchFamily="34" charset="-122"/>
              </a:rPr>
              <a:t>原因自由行为的状态下，行为人实施危害行为时没有辨认、控制能力，按照传统的“实行行为</a:t>
            </a:r>
            <a:r>
              <a:rPr lang="zh-CN" altLang="en-US" sz="2000" dirty="0" smtClean="0">
                <a:latin typeface="微软雅黑" panose="020B0503020204020204" pitchFamily="34" charset="-122"/>
                <a:ea typeface="微软雅黑" panose="020B0503020204020204" pitchFamily="34" charset="-122"/>
              </a:rPr>
              <a:t>与责任能力同时存在原则”，本不构成犯罪，但这显然不利于维护社会秩序。因此，当今刑法理论对其进行了一定的变通，认为行为人虽然在结果实现阶段（如杀人行为）的意思是不自由的，但在原因设定阶段（如醉酒行为）的意思是自由的，所以，</a:t>
            </a:r>
            <a:r>
              <a:rPr lang="zh-CN" altLang="en-US" sz="2000" dirty="0" smtClean="0">
                <a:latin typeface="微软雅黑" panose="020B0503020204020204" pitchFamily="34" charset="-122"/>
                <a:ea typeface="微软雅黑" panose="020B0503020204020204" pitchFamily="34" charset="-122"/>
                <a:sym typeface="+mn-ea"/>
              </a:rPr>
              <a:t>对其</a:t>
            </a:r>
            <a:r>
              <a:rPr lang="en-US" altLang="zh-CN" sz="2000" dirty="0" smtClean="0">
                <a:latin typeface="微软雅黑" panose="020B0503020204020204" pitchFamily="34" charset="-122"/>
                <a:ea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sym typeface="+mn-ea"/>
              </a:rPr>
              <a:t>行为</a:t>
            </a:r>
            <a:r>
              <a:rPr lang="en-US" altLang="zh-CN" sz="2000" dirty="0" smtClean="0">
                <a:latin typeface="微软雅黑" panose="020B0503020204020204" pitchFamily="34" charset="-122"/>
                <a:ea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sym typeface="+mn-ea"/>
              </a:rPr>
              <a:t>扩大解释为</a:t>
            </a:r>
            <a:r>
              <a:rPr lang="en-US" altLang="zh-CN" sz="2000" dirty="0" smtClean="0">
                <a:latin typeface="微软雅黑" panose="020B0503020204020204" pitchFamily="34" charset="-122"/>
                <a:ea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sym typeface="+mn-ea"/>
              </a:rPr>
              <a:t>具有与结果的发生具有因果关系的行为</a:t>
            </a:r>
            <a:r>
              <a:rPr lang="en-US" altLang="zh-CN" sz="2000" dirty="0" smtClean="0">
                <a:latin typeface="微软雅黑" panose="020B0503020204020204" pitchFamily="34" charset="-122"/>
                <a:ea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rPr>
              <a:t>将其视为完全责任能力人。</a:t>
            </a:r>
            <a:endParaRPr lang="zh-CN" altLang="en-US" sz="2000" dirty="0" smtClean="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defRPr/>
            </a:pPr>
            <a:endParaRPr lang="en-US" altLang="zh-CN" sz="2000" dirty="0" smtClean="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defRPr/>
            </a:pPr>
            <a:endParaRPr lang="zh-CN" altLang="en-US" sz="2000"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rPr>
              <a:t>        </a:t>
            </a:r>
            <a:r>
              <a:rPr lang="zh-CN" altLang="en-US" sz="2000" b="1" dirty="0">
                <a:solidFill>
                  <a:srgbClr val="0288DD"/>
                </a:solidFill>
                <a:latin typeface="微软雅黑" panose="020B0503020204020204" pitchFamily="34" charset="-122"/>
                <a:ea typeface="微软雅黑" panose="020B0503020204020204" pitchFamily="34" charset="-122"/>
              </a:rPr>
              <a:t>图示：</a:t>
            </a:r>
            <a:r>
              <a:rPr lang="zh-CN" altLang="en-US" sz="2000" dirty="0">
                <a:latin typeface="微软雅黑" panose="020B0503020204020204" pitchFamily="34" charset="-122"/>
                <a:ea typeface="微软雅黑" panose="020B0503020204020204" pitchFamily="34" charset="-122"/>
              </a:rPr>
              <a:t>原因设定阶段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 结果实现阶段</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eaLnBrk="1" hangingPunct="1">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                 （有责任能力）←（无责任能力）</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eaLnBrk="1" hangingPunct="1">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                             ↓         </a:t>
            </a:r>
            <a:r>
              <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sym typeface="Symbol" panose="05050102010706020507" pitchFamily="18" charset="2"/>
              </a:rPr>
              <a:t>回溯</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          ↓</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eaLnBrk="1" hangingPunct="1">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                          醉酒行为         抢劫、致人重伤等危害行为</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2519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三、犯罪主体的特殊身份</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（一）犯罪主体特殊身份的概念</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所谓犯罪主体的特殊身份，是指刑法所规定的影响行为人</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刑事责任</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有无及大小</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的</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人身方面特定的资格、地位或状态。</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理解犯罪主体特殊身份的含义，应当特别注意以下两个问题：</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(1) 特殊身份一般是在行为人</a:t>
            </a:r>
            <a:r>
              <a:rPr lang="zh-CN"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开始实施危害行为时</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就已经具有的特殊资格或已经形成的特殊地位或状态。</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(2) 作为犯罪主体要件的特殊身份，仅仅是</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针对</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单独</a:t>
            </a:r>
            <a:r>
              <a:rPr lang="zh-CN"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犯罪</a:t>
            </a:r>
            <a:r>
              <a:rPr lang="zh-CN"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的实行犯</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而言的，至于教唆犯与帮助犯，并不受特殊身份的限制。</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680085"/>
            <a:ext cx="10104755"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（二）犯罪主体特殊身份的类型</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1.自然身份与法定身份。</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从形成方式上加以区分，犯罪主体的特殊身份可以有自然身份与法定身份之别。</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所谓自然身份，是指人基于自然因素而形成的</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身份</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强奸罪、虐待罪）</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所谓法定身份，是指人基于法律的规定而形成的</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身份</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（背信损害上市公司利益罪、玩忽职守罪）</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2.定罪身份与量刑身份。</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这是根据犯罪主体的特殊身份对行为人刑事责任的性质和方式产生的影响所作的划分。</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定罪身份，又称为犯罪构成要件的身份，是指决定刑事责任存在的</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身份</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（贪污罪）</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量刑身份，又称为影响刑罚轻重的身份、影响刑事责任程度的身份，是指按照刑法的规定，存在与否虽然不影响刑事责任存在与否，但影响刑事责任大小的</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身份</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（非法拘禁罪）</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55345"/>
            <a:ext cx="10104755"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（三）犯罪主体特殊身份对定罪量刑的意义</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1.犯罪主体特殊身份对定罪的意义。</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(1) 主体特殊身份具备与否，是区分罪与非罪的标准之一。</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(2) 主体特殊身份具备与否</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，是</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某些犯罪案件中区分和认定此罪与彼罪的一个重要标准。</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(3) 主体特殊身份影响无特殊身份者的定罪。</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2.犯罪主体特殊身份对量刑的意义。</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(1) 在我国刑法中，对行为类似的特殊主体的犯罪规定的刑罚一般都较一般主体的犯罪要重。</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(2) 在我国刑法中，对某些犯罪，若行为人具有特殊身份，就要从重处罚。</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smtClean="0">
                <a:latin typeface="华文中宋" panose="02010600040101010101" pitchFamily="2" charset="-122"/>
                <a:ea typeface="华文中宋" panose="02010600040101010101" pitchFamily="2" charset="-122"/>
              </a:rPr>
              <a:t>第三节</a:t>
            </a:r>
            <a:endParaRPr lang="zh-CN" altLang="en-US" sz="3200" dirty="0">
              <a:latin typeface="华文中宋" panose="02010600040101010101" pitchFamily="2" charset="-122"/>
              <a:ea typeface="华文中宋" panose="02010600040101010101" pitchFamily="2" charset="-122"/>
            </a:endParaRP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altLang="en-US" sz="2400" b="1" dirty="0" err="1">
                <a:latin typeface="微软雅黑" panose="020B0503020204020204" pitchFamily="34" charset="-122"/>
                <a:ea typeface="微软雅黑" panose="020B0503020204020204" pitchFamily="34" charset="-122"/>
              </a:rPr>
              <a:t>单位犯罪主体</a:t>
            </a:r>
            <a:endParaRPr lang="zh-CN" altLang="en-US" sz="2400" b="1" dirty="0" err="1">
              <a:latin typeface="微软雅黑" panose="020B0503020204020204" pitchFamily="34" charset="-122"/>
              <a:ea typeface="微软雅黑" panose="020B0503020204020204" pitchFamily="34" charset="-122"/>
            </a:endParaRP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a:t>
            </a:r>
            <a:r>
              <a:rPr lang="en-US" altLang="zh-CN" spc="100" dirty="0" smtClean="0">
                <a:solidFill>
                  <a:schemeClr val="bg1"/>
                </a:solidFill>
                <a:latin typeface="Impact" panose="020B0806030902050204" pitchFamily="34" charset="0"/>
                <a:cs typeface="Arial" panose="020B0604020202020204" pitchFamily="34" charset="0"/>
              </a:rPr>
              <a:t>07</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620733" y="775078"/>
            <a:ext cx="436562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第七章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犯罪主体</a:t>
            </a:r>
            <a:endParaRPr lang="zh-CN" altLang="en-US" sz="4000" b="1" dirty="0">
              <a:solidFill>
                <a:srgbClr val="D9793F"/>
              </a:solidFill>
              <a:latin typeface="华文新魏" panose="02010800040101010101" charset="-122"/>
              <a:ea typeface="华文新魏" panose="020108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5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1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32778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一、单位犯罪的概念与特征</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单位犯罪，是指由公司、企业、事业单位、机关、团体实施的依法应当承担刑事责任的危害社会的</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（单位犯罪是指刑法规定的、由单位代表或决策机构在有关业务上决定实施的危害行为，以及由于单位代表或决策机构监督不力、管理不善等原因，造成从业人员在业务活动中实施的危害</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相较于自然人犯罪而言，单位犯罪具有如下两个特征：</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）主体</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是单位</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单位犯罪的主体包括公司、企业、事业单位、机关、团体。</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Rot="1" noChangeArrowheads="1"/>
          </p:cNvSpPr>
          <p:nvPr>
            <p:ph idx="1"/>
          </p:nvPr>
        </p:nvSpPr>
        <p:spPr>
          <a:xfrm>
            <a:off x="1825625" y="304801"/>
            <a:ext cx="8540750" cy="5794375"/>
          </a:xfrm>
        </p:spPr>
        <p:txBody>
          <a:bodyPr/>
          <a:lstStyle/>
          <a:p>
            <a:pPr eaLnBrk="1" hangingPunct="1">
              <a:lnSpc>
                <a:spcPct val="80000"/>
              </a:lnSpc>
              <a:buFont typeface="Wingdings" panose="05000000000000000000" pitchFamily="2" charset="2"/>
              <a:buNone/>
            </a:pPr>
            <a:r>
              <a:rPr lang="en-US" altLang="zh-CN" b="1" dirty="0">
                <a:solidFill>
                  <a:srgbClr val="000000"/>
                </a:solidFill>
              </a:rPr>
              <a:t> </a:t>
            </a:r>
            <a:r>
              <a:rPr lang="en-US" altLang="zh-CN" b="1" dirty="0" smtClean="0">
                <a:solidFill>
                  <a:srgbClr val="000000"/>
                </a:solidFill>
              </a:rPr>
              <a:t>    </a:t>
            </a:r>
            <a:r>
              <a:rPr lang="en-US" altLang="zh-CN" sz="2000" dirty="0" smtClean="0">
                <a:solidFill>
                  <a:srgbClr val="000000"/>
                </a:solidFill>
                <a:latin typeface="微软雅黑" panose="020B0503020204020204" pitchFamily="34" charset="-122"/>
                <a:ea typeface="微软雅黑" panose="020B0503020204020204" pitchFamily="34" charset="-122"/>
              </a:rPr>
              <a:t>1</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私营企业可以成为单位犯罪的主体</a:t>
            </a:r>
            <a:r>
              <a:rPr lang="zh-CN" altLang="en-US" sz="2000">
                <a:solidFill>
                  <a:srgbClr val="000000"/>
                </a:solidFill>
                <a:latin typeface="微软雅黑" panose="020B0503020204020204" pitchFamily="34" charset="-122"/>
                <a:ea typeface="微软雅黑" panose="020B0503020204020204" pitchFamily="34" charset="-122"/>
              </a:rPr>
              <a:t>，</a:t>
            </a:r>
            <a:r>
              <a:rPr lang="zh-CN" altLang="en-US" sz="2000" smtClean="0">
                <a:solidFill>
                  <a:srgbClr val="000000"/>
                </a:solidFill>
                <a:latin typeface="微软雅黑" panose="020B0503020204020204" pitchFamily="34" charset="-122"/>
                <a:ea typeface="微软雅黑" panose="020B0503020204020204" pitchFamily="34" charset="-122"/>
              </a:rPr>
              <a:t>但对一人公司能否成为单位</a:t>
            </a:r>
            <a:r>
              <a:rPr lang="zh-CN" altLang="en-US" sz="2000" dirty="0">
                <a:solidFill>
                  <a:srgbClr val="000000"/>
                </a:solidFill>
                <a:latin typeface="微软雅黑" panose="020B0503020204020204" pitchFamily="34" charset="-122"/>
                <a:ea typeface="微软雅黑" panose="020B0503020204020204" pitchFamily="34" charset="-122"/>
              </a:rPr>
              <a:t>犯罪</a:t>
            </a:r>
            <a:r>
              <a:rPr lang="zh-CN" altLang="en-US" sz="2000">
                <a:solidFill>
                  <a:srgbClr val="000000"/>
                </a:solidFill>
                <a:latin typeface="微软雅黑" panose="020B0503020204020204" pitchFamily="34" charset="-122"/>
                <a:ea typeface="微软雅黑" panose="020B0503020204020204" pitchFamily="34" charset="-122"/>
              </a:rPr>
              <a:t>的</a:t>
            </a:r>
            <a:r>
              <a:rPr lang="zh-CN" altLang="en-US" sz="2000" smtClean="0">
                <a:solidFill>
                  <a:srgbClr val="000000"/>
                </a:solidFill>
                <a:latin typeface="微软雅黑" panose="020B0503020204020204" pitchFamily="34" charset="-122"/>
                <a:ea typeface="微软雅黑" panose="020B0503020204020204" pitchFamily="34" charset="-122"/>
              </a:rPr>
              <a:t>主体还存在争议</a:t>
            </a:r>
            <a:endParaRPr lang="zh-CN" altLang="en-US" sz="2000" dirty="0">
              <a:solidFill>
                <a:srgbClr val="000000"/>
              </a:solidFill>
              <a:latin typeface="微软雅黑" panose="020B0503020204020204" pitchFamily="34" charset="-122"/>
              <a:ea typeface="微软雅黑" panose="020B0503020204020204" pitchFamily="34" charset="-122"/>
            </a:endParaRPr>
          </a:p>
          <a:p>
            <a:pPr>
              <a:lnSpc>
                <a:spcPct val="80000"/>
              </a:lnSpc>
              <a:buNone/>
            </a:pPr>
            <a:r>
              <a:rPr lang="zh-CN" altLang="en-US"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最高人民法院关于审理单位犯罪具体应用法律有关问题的解释</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（法释</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[1999]</a:t>
            </a:r>
            <a:r>
              <a:rPr lang="en-US" altLang="zh-CN" sz="2000" dirty="0">
                <a:solidFill>
                  <a:srgbClr val="000000"/>
                </a:solidFill>
                <a:latin typeface="微软雅黑" panose="020B0503020204020204" pitchFamily="34" charset="-122"/>
                <a:ea typeface="微软雅黑" panose="020B0503020204020204" pitchFamily="34" charset="-122"/>
              </a:rPr>
              <a:t> 14</a:t>
            </a:r>
            <a:r>
              <a:rPr lang="zh-CN" altLang="en-US" sz="2000" dirty="0">
                <a:solidFill>
                  <a:srgbClr val="000000"/>
                </a:solidFill>
                <a:latin typeface="微软雅黑" panose="020B0503020204020204" pitchFamily="34" charset="-122"/>
                <a:ea typeface="微软雅黑" panose="020B0503020204020204" pitchFamily="34" charset="-122"/>
              </a:rPr>
              <a:t>号）第</a:t>
            </a:r>
            <a:r>
              <a:rPr lang="en-US" altLang="zh-CN" sz="2000" dirty="0">
                <a:solidFill>
                  <a:srgbClr val="000000"/>
                </a:solidFill>
                <a:latin typeface="微软雅黑" panose="020B0503020204020204" pitchFamily="34" charset="-122"/>
                <a:ea typeface="微软雅黑" panose="020B0503020204020204" pitchFamily="34" charset="-122"/>
              </a:rPr>
              <a:t>1</a:t>
            </a:r>
            <a:r>
              <a:rPr lang="zh-CN" altLang="en-US" sz="2000" dirty="0">
                <a:solidFill>
                  <a:srgbClr val="000000"/>
                </a:solidFill>
                <a:latin typeface="微软雅黑" panose="020B0503020204020204" pitchFamily="34" charset="-122"/>
                <a:ea typeface="微软雅黑" panose="020B0503020204020204" pitchFamily="34" charset="-122"/>
              </a:rPr>
              <a:t>条规定： “刑法第</a:t>
            </a:r>
            <a:r>
              <a:rPr lang="en-US" altLang="zh-CN" sz="2000" dirty="0">
                <a:solidFill>
                  <a:srgbClr val="000000"/>
                </a:solidFill>
                <a:latin typeface="微软雅黑" panose="020B0503020204020204" pitchFamily="34" charset="-122"/>
                <a:ea typeface="微软雅黑" panose="020B0503020204020204" pitchFamily="34" charset="-122"/>
              </a:rPr>
              <a:t>30</a:t>
            </a:r>
            <a:r>
              <a:rPr lang="zh-CN" altLang="en-US" sz="2000" dirty="0">
                <a:solidFill>
                  <a:srgbClr val="000000"/>
                </a:solidFill>
                <a:latin typeface="微软雅黑" panose="020B0503020204020204" pitchFamily="34" charset="-122"/>
                <a:ea typeface="微软雅黑" panose="020B0503020204020204" pitchFamily="34" charset="-122"/>
              </a:rPr>
              <a:t>条规定的‘公司、企业、事业范围’，既包括国有、集体所有的公司、企业、事业单位，也包括依法设立的合资经营、合作经营企业和具有法人资格的独资、私营等公司、企业、事业单位。</a:t>
            </a:r>
            <a:r>
              <a:rPr lang="zh-CN" altLang="en-US" sz="2000" dirty="0" smtClean="0">
                <a:solidFill>
                  <a:srgbClr val="000000"/>
                </a:solidFill>
                <a:latin typeface="微软雅黑" panose="020B0503020204020204" pitchFamily="34" charset="-122"/>
                <a:ea typeface="微软雅黑" panose="020B0503020204020204" pitchFamily="34" charset="-122"/>
              </a:rPr>
              <a:t>”</a:t>
            </a:r>
            <a:endParaRPr lang="en-US" altLang="zh-CN" sz="2000" dirty="0" smtClean="0">
              <a:solidFill>
                <a:srgbClr val="000000"/>
              </a:solidFill>
              <a:latin typeface="微软雅黑" panose="020B0503020204020204" pitchFamily="34" charset="-122"/>
              <a:ea typeface="微软雅黑" panose="020B0503020204020204" pitchFamily="34" charset="-122"/>
            </a:endParaRPr>
          </a:p>
          <a:p>
            <a:pPr>
              <a:lnSpc>
                <a:spcPct val="80000"/>
              </a:lnSpc>
              <a:buNone/>
            </a:pPr>
            <a:endParaRPr lang="en-US" altLang="zh-CN" sz="2000" dirty="0" smtClean="0">
              <a:solidFill>
                <a:srgbClr val="000000"/>
              </a:solidFill>
              <a:latin typeface="微软雅黑" panose="020B0503020204020204" pitchFamily="34" charset="-122"/>
              <a:ea typeface="微软雅黑" panose="020B0503020204020204" pitchFamily="34" charset="-122"/>
            </a:endParaRPr>
          </a:p>
          <a:p>
            <a:pPr>
              <a:lnSpc>
                <a:spcPct val="80000"/>
              </a:lnSpc>
              <a:buNone/>
            </a:pPr>
            <a:r>
              <a:rPr lang="en-US" altLang="zh-CN" sz="2000" dirty="0">
                <a:solidFill>
                  <a:srgbClr val="000000"/>
                </a:solidFill>
                <a:latin typeface="微软雅黑" panose="020B0503020204020204" pitchFamily="34" charset="-122"/>
                <a:ea typeface="微软雅黑" panose="020B0503020204020204" pitchFamily="34" charset="-122"/>
              </a:rPr>
              <a:t> </a:t>
            </a:r>
            <a:r>
              <a:rPr lang="en-US" altLang="zh-CN" sz="2000" dirty="0" smtClean="0">
                <a:solidFill>
                  <a:srgbClr val="000000"/>
                </a:solidFill>
                <a:latin typeface="微软雅黑" panose="020B0503020204020204" pitchFamily="34" charset="-122"/>
                <a:ea typeface="微软雅黑" panose="020B0503020204020204" pitchFamily="34" charset="-122"/>
              </a:rPr>
              <a:t>       2.</a:t>
            </a:r>
            <a:r>
              <a:rPr lang="zh-CN" altLang="en-US" sz="2000" dirty="0">
                <a:solidFill>
                  <a:srgbClr val="000000"/>
                </a:solidFill>
                <a:latin typeface="微软雅黑" panose="020B0503020204020204" pitchFamily="34" charset="-122"/>
                <a:ea typeface="微软雅黑" panose="020B0503020204020204" pitchFamily="34" charset="-122"/>
              </a:rPr>
              <a:t>即使未以单位名义实施犯罪，但其分支机构或内设部门也能成为单位犯罪的</a:t>
            </a:r>
            <a:r>
              <a:rPr lang="zh-CN" altLang="en-US" sz="2000" dirty="0" smtClean="0">
                <a:solidFill>
                  <a:srgbClr val="000000"/>
                </a:solidFill>
                <a:latin typeface="微软雅黑" panose="020B0503020204020204" pitchFamily="34" charset="-122"/>
                <a:ea typeface="微软雅黑" panose="020B0503020204020204" pitchFamily="34" charset="-122"/>
              </a:rPr>
              <a:t>主体</a:t>
            </a:r>
            <a:endParaRPr lang="zh-CN" altLang="en-US" sz="2000" dirty="0">
              <a:solidFill>
                <a:srgbClr val="000000"/>
              </a:solidFill>
              <a:latin typeface="微软雅黑" panose="020B0503020204020204" pitchFamily="34" charset="-122"/>
              <a:ea typeface="微软雅黑" panose="020B0503020204020204" pitchFamily="34" charset="-122"/>
            </a:endParaRPr>
          </a:p>
          <a:p>
            <a:pPr>
              <a:lnSpc>
                <a:spcPct val="80000"/>
              </a:lnSpc>
              <a:buNone/>
            </a:pPr>
            <a:r>
              <a:rPr lang="zh-CN" altLang="en-US"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全国法院审理金融犯罪案件工作座谈会纪要</a:t>
            </a:r>
            <a:r>
              <a:rPr lang="en-US" altLang="zh-CN" sz="2000"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（法</a:t>
            </a:r>
            <a:r>
              <a:rPr lang="en-US" altLang="zh-CN" sz="2000" dirty="0">
                <a:solidFill>
                  <a:srgbClr val="000000"/>
                </a:solidFill>
                <a:latin typeface="微软雅黑" panose="020B0503020204020204" pitchFamily="34" charset="-122"/>
                <a:ea typeface="微软雅黑" panose="020B0503020204020204" pitchFamily="34" charset="-122"/>
              </a:rPr>
              <a:t>[2001] 8</a:t>
            </a:r>
            <a:r>
              <a:rPr lang="zh-CN" altLang="en-US" sz="2000" dirty="0">
                <a:solidFill>
                  <a:srgbClr val="000000"/>
                </a:solidFill>
                <a:latin typeface="微软雅黑" panose="020B0503020204020204" pitchFamily="34" charset="-122"/>
                <a:ea typeface="微软雅黑" panose="020B0503020204020204" pitchFamily="34" charset="-122"/>
              </a:rPr>
              <a:t>号）第</a:t>
            </a:r>
            <a:r>
              <a:rPr lang="en-US" altLang="zh-CN" sz="2000" dirty="0">
                <a:solidFill>
                  <a:srgbClr val="000000"/>
                </a:solidFill>
                <a:latin typeface="微软雅黑" panose="020B0503020204020204" pitchFamily="34" charset="-122"/>
                <a:ea typeface="微软雅黑" panose="020B0503020204020204" pitchFamily="34" charset="-122"/>
              </a:rPr>
              <a:t>1</a:t>
            </a:r>
            <a:r>
              <a:rPr lang="zh-CN" altLang="en-US" sz="2000" dirty="0">
                <a:solidFill>
                  <a:srgbClr val="000000"/>
                </a:solidFill>
                <a:latin typeface="微软雅黑" panose="020B0503020204020204" pitchFamily="34" charset="-122"/>
                <a:ea typeface="微软雅黑" panose="020B0503020204020204" pitchFamily="34" charset="-122"/>
              </a:rPr>
              <a:t>条规定：“以单位的分支机构或者内设机构、部门的名义实施犯罪，违法所得亦归分支机构或者内设机构、部门所有的，应认定为单位犯罪。不能因为单位的分支机构或者内设机构、部门没有可供执行罚金的财产，就不将其认定为单位犯罪，而按照个人犯罪处理。” </a:t>
            </a:r>
            <a:endParaRPr lang="en-US" altLang="zh-CN" sz="2000" dirty="0" smtClean="0">
              <a:solidFill>
                <a:srgbClr val="000000"/>
              </a:solidFill>
              <a:latin typeface="微软雅黑" panose="020B0503020204020204" pitchFamily="34" charset="-122"/>
              <a:ea typeface="微软雅黑" panose="020B0503020204020204" pitchFamily="34" charset="-122"/>
            </a:endParaRPr>
          </a:p>
          <a:p>
            <a:pPr>
              <a:lnSpc>
                <a:spcPct val="80000"/>
              </a:lnSpc>
              <a:buNone/>
            </a:pPr>
            <a:endParaRPr lang="en-US" altLang="zh-CN" sz="2000" dirty="0">
              <a:solidFill>
                <a:srgbClr val="000000"/>
              </a:solidFill>
              <a:latin typeface="微软雅黑" panose="020B0503020204020204" pitchFamily="34" charset="-122"/>
              <a:ea typeface="微软雅黑" panose="020B0503020204020204" pitchFamily="34" charset="-122"/>
            </a:endParaRPr>
          </a:p>
          <a:p>
            <a:pPr>
              <a:lnSpc>
                <a:spcPct val="80000"/>
              </a:lnSpc>
              <a:buNone/>
            </a:pPr>
            <a:r>
              <a:rPr lang="en-US" altLang="zh-CN" sz="2000" dirty="0" smtClean="0">
                <a:solidFill>
                  <a:srgbClr val="000000"/>
                </a:solidFill>
                <a:latin typeface="微软雅黑" panose="020B0503020204020204" pitchFamily="34" charset="-122"/>
                <a:ea typeface="微软雅黑" panose="020B0503020204020204" pitchFamily="34" charset="-122"/>
              </a:rPr>
              <a:t>        3.</a:t>
            </a:r>
            <a:r>
              <a:rPr lang="zh-CN" altLang="en-US" sz="2000" dirty="0">
                <a:solidFill>
                  <a:srgbClr val="000000"/>
                </a:solidFill>
                <a:latin typeface="微软雅黑" panose="020B0503020204020204" pitchFamily="34" charset="-122"/>
                <a:ea typeface="微软雅黑" panose="020B0503020204020204" pitchFamily="34" charset="-122"/>
              </a:rPr>
              <a:t>为进行违法犯罪活动而设立单位实施犯罪的，不是单位犯罪</a:t>
            </a:r>
            <a:endParaRPr lang="zh-CN" altLang="en-US" sz="2000" dirty="0">
              <a:solidFill>
                <a:srgbClr val="000000"/>
              </a:solidFill>
              <a:latin typeface="微软雅黑" panose="020B0503020204020204" pitchFamily="34" charset="-122"/>
              <a:ea typeface="微软雅黑" panose="020B0503020204020204" pitchFamily="34" charset="-122"/>
            </a:endParaRPr>
          </a:p>
          <a:p>
            <a:pPr>
              <a:lnSpc>
                <a:spcPct val="80000"/>
              </a:lnSpc>
              <a:buNone/>
            </a:pPr>
            <a:endParaRPr lang="zh-CN" altLang="en-US" sz="2000" dirty="0">
              <a:solidFill>
                <a:srgbClr val="000000"/>
              </a:solidFill>
              <a:latin typeface="微软雅黑" panose="020B0503020204020204" pitchFamily="34" charset="-122"/>
              <a:ea typeface="微软雅黑" panose="020B0503020204020204" pitchFamily="34" charset="-122"/>
            </a:endParaRPr>
          </a:p>
          <a:p>
            <a:pPr>
              <a:lnSpc>
                <a:spcPct val="80000"/>
              </a:lnSpc>
              <a:buNone/>
            </a:pPr>
            <a:endParaRPr lang="zh-CN" altLang="en-US" sz="20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noRot="1" noChangeArrowheads="1"/>
          </p:cNvSpPr>
          <p:nvPr>
            <p:ph idx="1"/>
          </p:nvPr>
        </p:nvSpPr>
        <p:spPr>
          <a:xfrm>
            <a:off x="1825625" y="304801"/>
            <a:ext cx="8540750" cy="5794375"/>
          </a:xfrm>
        </p:spPr>
        <p:txBody>
          <a:bodyPr/>
          <a:lstStyle/>
          <a:p>
            <a:pPr eaLnBrk="1" hangingPunct="1">
              <a:lnSpc>
                <a:spcPct val="90000"/>
              </a:lnSpc>
              <a:buFont typeface="Wingdings" panose="05000000000000000000" pitchFamily="2" charset="2"/>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最高人民法院关于审理单位犯罪具体应用法律有关问题的解释</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（法释</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[1999]</a:t>
            </a:r>
            <a:r>
              <a:rPr lang="en-US" altLang="zh-CN" sz="2000" dirty="0">
                <a:latin typeface="微软雅黑" panose="020B0503020204020204" pitchFamily="34" charset="-122"/>
                <a:ea typeface="微软雅黑" panose="020B0503020204020204" pitchFamily="34" charset="-122"/>
              </a:rPr>
              <a:t> 14</a:t>
            </a:r>
            <a:r>
              <a:rPr lang="zh-CN" altLang="en-US" sz="2000" dirty="0">
                <a:latin typeface="微软雅黑" panose="020B0503020204020204" pitchFamily="34" charset="-122"/>
                <a:ea typeface="微软雅黑" panose="020B0503020204020204" pitchFamily="34" charset="-122"/>
              </a:rPr>
              <a:t>号）第</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条规定：“个人为进行违法犯罪活动而设立的公司、企业、事业单位实施犯罪的，或者公司、企业、事业单位设立后，以实施犯罪为主要活动的，不是单位犯罪。”</a:t>
            </a:r>
            <a:endParaRPr lang="zh-CN" altLang="en-US" sz="2000" dirty="0">
              <a:latin typeface="微软雅黑" panose="020B0503020204020204" pitchFamily="34" charset="-122"/>
              <a:ea typeface="微软雅黑" panose="020B0503020204020204" pitchFamily="34" charset="-122"/>
            </a:endParaRPr>
          </a:p>
          <a:p>
            <a:pPr eaLnBrk="1" hangingPunct="1">
              <a:lnSpc>
                <a:spcPct val="90000"/>
              </a:lnSpc>
              <a:buFont typeface="Wingdings" panose="05000000000000000000" pitchFamily="2" charset="2"/>
              <a:buNone/>
            </a:pPr>
            <a:endParaRPr lang="zh-CN" altLang="en-US" sz="2000" dirty="0">
              <a:latin typeface="微软雅黑" panose="020B0503020204020204" pitchFamily="34" charset="-122"/>
              <a:ea typeface="微软雅黑" panose="020B0503020204020204" pitchFamily="34" charset="-122"/>
            </a:endParaRPr>
          </a:p>
          <a:p>
            <a:pPr eaLnBrk="1" hangingPunct="1">
              <a:lnSpc>
                <a:spcPct val="90000"/>
              </a:lnSpc>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最高人民研究室关于外国公司、企业、事业单位在我国领域内犯罪如何适用法律问题的答复</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（法研</a:t>
            </a:r>
            <a:r>
              <a:rPr lang="en-US" altLang="zh-CN" sz="2000" dirty="0">
                <a:latin typeface="微软雅黑" panose="020B0503020204020204" pitchFamily="34" charset="-122"/>
                <a:ea typeface="微软雅黑" panose="020B0503020204020204" pitchFamily="34" charset="-122"/>
              </a:rPr>
              <a:t>[2003]153</a:t>
            </a:r>
            <a:r>
              <a:rPr lang="zh-CN" altLang="en-US" sz="2000" dirty="0">
                <a:latin typeface="微软雅黑" panose="020B0503020204020204" pitchFamily="34" charset="-122"/>
                <a:ea typeface="微软雅黑" panose="020B0503020204020204" pitchFamily="34" charset="-122"/>
              </a:rPr>
              <a:t>号）规定：“个人为在我国领域内进行违法犯罪活动而设立的外国公司、企业、事业单位实施犯罪的，或者外国公司、企业、事业单位设立后在我国领域内以实施违法犯罪为主要活动的，不以单位犯罪论处。”</a:t>
            </a:r>
            <a:endParaRPr lang="zh-CN" altLang="en-US" sz="2000" dirty="0" smtClean="0">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785" y="1346835"/>
            <a:ext cx="9906000" cy="4448175"/>
          </a:xfrm>
          <a:prstGeom prst="rect">
            <a:avLst/>
          </a:prstGeom>
          <a:noFill/>
        </p:spPr>
        <p:txBody>
          <a:bodyPr wrap="square" rtlCol="0">
            <a:noAutofit/>
          </a:bodyPr>
          <a:lstStyle/>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 </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主观上具有罪过</a:t>
            </a:r>
            <a:endParaRPr lang="en-US" altLang="zh-CN" sz="2200" dirty="0" smtClean="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单位</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成员实施的体现单位意志的行为表现为两种情形:</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一是执行单位决策机构的决策和单位法定代表人或者负责人的决定的</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（即“自上而下”的</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单位犯罪。此时将单位领导的罪过直接归于单位自身。因单位代表或决策机构命令、批准、默认或决策失误而导致工作人员实施某种法定的危害行为时，单位承担故意犯罪或过失犯罪的</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刑事责任）</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二是单位成员在单位业务范围内履行职责的</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（即“自下而上”</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的单位犯罪。此时将单位一般人员的罪过间接归于单位自身。即使单位代表或决策机构不知情，但其工作人员实施某种法定的危害行为时，单位承担过失犯罪的刑事责任。在此，单位对其雇佣人员负有防止其实施违法行为的选任、监督</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责任） </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（三）客观上实施了危害行为</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单位是由众多部门、人员组成的整体，各部分必须统一于单位意志</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之下</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9475" y="1393825"/>
            <a:ext cx="9906000" cy="4448175"/>
          </a:xfrm>
          <a:prstGeom prst="rect">
            <a:avLst/>
          </a:prstGeom>
          <a:noFill/>
        </p:spPr>
        <p:txBody>
          <a:bodyPr wrap="square" rtlCol="0">
            <a:noAutofit/>
          </a:bodyPr>
          <a:lstStyle/>
          <a:p>
            <a:pPr>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单位组成人员在业务活动中实施的行为，只要经过单位领导直接或间接的许可，或者符合单位业务操作程序，均应视作单位自身的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尽管没有经过单位负责人同意，但其行为符合业务活动的一般规则或操作习惯时，也可将其视为单位自身的行为。</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二</a:t>
            </a: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、单位犯罪的处罚原则</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对单位犯罪，一般采取双罚制的原则。刑法分则中，少数单位犯罪采取了单罚制。</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2995" name="Group 179"/>
          <p:cNvGraphicFramePr>
            <a:graphicFrameLocks noGrp="1"/>
          </p:cNvGraphicFramePr>
          <p:nvPr>
            <p:ph sz="half" idx="1"/>
          </p:nvPr>
        </p:nvGraphicFramePr>
        <p:xfrm>
          <a:off x="2209800" y="928689"/>
          <a:ext cx="7696200" cy="5159389"/>
        </p:xfrm>
        <a:graphic>
          <a:graphicData uri="http://schemas.openxmlformats.org/drawingml/2006/table">
            <a:tbl>
              <a:tblPr/>
              <a:tblGrid>
                <a:gridCol w="2543175"/>
                <a:gridCol w="5153025"/>
              </a:tblGrid>
              <a:tr h="396223">
                <a:tc rowSpan="13">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采取“单罚制”的单位犯罪罪名</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资助危害国家安全犯罪活动罪（第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107</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重大劳动安全事故罪（第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135</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大型群众性活动重大安全事故罪（第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135</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工程重大安全事故罪（第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137</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教育设施重大安全事故罪（第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138</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消防责任事故罪（第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139</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违规披露、不披露重要信息罪（第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161</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妨害清算罪（第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162</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04701">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雇用童工从事危重劳动罪（第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244</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条之一）</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出版歧视、侮辱少数民族作品罪（第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250</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挪用特定款物罪（第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273</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私分国有资产罪（第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396</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6223">
                <a:tc vMerge="1">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私分罚没财物罪（第</a:t>
                      </a: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396</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条）</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785" y="1346835"/>
            <a:ext cx="9906000" cy="4448175"/>
          </a:xfrm>
          <a:prstGeom prst="rect">
            <a:avLst/>
          </a:prstGeom>
          <a:noFill/>
        </p:spPr>
        <p:txBody>
          <a:bodyPr wrap="square" rtlCol="0">
            <a:noAutofit/>
          </a:bodyPr>
          <a:lstStyle/>
          <a:p>
            <a:pPr>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单位犯罪适用中的疑难</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问题</a:t>
            </a:r>
            <a:endParaRPr lang="en-US" altLang="zh-CN" sz="24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全国人民代表大会常务委员会关于</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中华人民共和国刑法</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第三十条的解释</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规定：“公司、企业、事业单位、机关、团体等单位实施刑法规定的危害社会的行为，刑法分则和其他法律未规定追究单位的刑事责任的，对</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组织、策划、实施该危害社会行为的人</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依法追究刑事责任。”</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最高人民检察院关于涉嫌犯罪单位被撤销、</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注销</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、吊销营业执照或者宣告破产的应如何进行</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追诉问题</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的批复</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（高检发释字</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[2002]4</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号）规定：</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“涉嫌</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犯罪的单位被撤销、注销、吊销营业执照</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或者宣告</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破产的，应当根据刑法关于单位犯罪的相关</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规定</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实施犯罪行为的该单位直接负责的主管</a:t>
            </a:r>
            <a:r>
              <a:rPr lang="zh-CN" altLang="en-US" sz="2000"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人员和</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其他直接责任人员</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追究刑事责任，对该单位</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不再追诉</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785" y="1346835"/>
            <a:ext cx="9906000" cy="4448175"/>
          </a:xfrm>
          <a:prstGeom prst="rect">
            <a:avLst/>
          </a:prstGeom>
          <a:noFill/>
        </p:spPr>
        <p:txBody>
          <a:bodyPr wrap="square" rtlCol="0">
            <a:noAutofit/>
          </a:bodyPr>
          <a:lstStyle/>
          <a:p>
            <a:pPr>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最高人民法院研究室关于企业犯罪后被合并应当如何追究刑事责任问题的答复</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规定：“人民检察院起诉时该犯罪企业已被合并到一个新企业的，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仍</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应依法追究</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原犯罪企业及其直接负责的主管</a:t>
            </a:r>
            <a:r>
              <a:rPr lang="zh-CN" altLang="en-US" sz="2000"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人员和</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其他直接人员</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的刑事责任。人民法院审判时，</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对被告</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单位应列原犯罪企业名称，但注明已被并入</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新的</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企业，对被告单位所判处的罚金数额以其并入</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新的</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企业的财产及收益为限。”</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全国法院审理金融犯罪案件工作座谈会纪要</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（法</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[2001] 8</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号）</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第二（一）</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条规定：“</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直接负责的主管人员，</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是在单位实施的犯罪中起决定、批准、授意、纵容、指挥等作用的人员，一般是单位的主管负责人，包括法定代表人。</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其他直接责任人员，</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是在单位犯罪中具体实施犯罪并起较大作用的人员，既可以是单位的经营管理人员，也可以是单位的职工，包括聘任、雇佣的人员。</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应当注意的是，</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在单位犯罪中，对于受</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单位</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785" y="1346835"/>
            <a:ext cx="9906000" cy="4448175"/>
          </a:xfrm>
          <a:prstGeom prst="rect">
            <a:avLst/>
          </a:prstGeom>
          <a:noFill/>
        </p:spPr>
        <p:txBody>
          <a:bodyPr wrap="square" rtlCol="0">
            <a:noAutofit/>
          </a:bodyPr>
          <a:lstStyle/>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领导指派</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或奉命</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而参与实施了一定犯罪行为的人员，一般不宜作为直接责任人员追究刑事责任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对单位犯罪中的直接负责的主管人员和其他直接责任人员，应根据其</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在单位犯罪中的地位、作用和犯罪情节，</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分别处以相应的刑罚，主管人员与直接责任人员，在个案中，不是当然的主、从犯关系，有的案件，主管人员与直接责任人员在实施犯罪行为的主从关系不明显的，</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可不分主、从犯</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。但具体案件可以分清主、从犯，且不分清主、从犯，在同一法定刑档次、幅度内量刑无法做到罪刑相适应的，</a:t>
            </a:r>
            <a:r>
              <a:rPr lang="zh-CN" altLang="en-US" sz="2000"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应当分清主、从犯</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，依法处罚。</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endPar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îṥḷîďe"/>
          <p:cNvSpPr/>
          <p:nvPr/>
        </p:nvSpPr>
        <p:spPr>
          <a:xfrm>
            <a:off x="1056640" y="1706245"/>
            <a:ext cx="10098405" cy="4189095"/>
          </a:xfrm>
          <a:prstGeom prst="roundRect">
            <a:avLst>
              <a:gd name="adj" fmla="val 5574"/>
            </a:avLst>
          </a:prstGeom>
          <a:solidFill>
            <a:schemeClr val="bg1"/>
          </a:solidFill>
          <a:ln w="12700">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chorCtr="0" forceAA="0" compatLnSpc="1">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endParaRPr lang="zh-CN" altLang="en-US" sz="1600" b="1" dirty="0">
              <a:solidFill>
                <a:schemeClr val="tx1">
                  <a:lumMod val="85000"/>
                  <a:lumOff val="15000"/>
                </a:schemeClr>
              </a:solidFill>
            </a:endParaRPr>
          </a:p>
        </p:txBody>
      </p:sp>
      <p:pic>
        <p:nvPicPr>
          <p:cNvPr id="11" name="图片 10"/>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1415480" y="0"/>
            <a:ext cx="10776520" cy="2873196"/>
          </a:xfrm>
          <a:prstGeom prst="rect">
            <a:avLst/>
          </a:prstGeom>
        </p:spPr>
      </p:pic>
      <p:grpSp>
        <p:nvGrpSpPr>
          <p:cNvPr id="3" name="组合 2"/>
          <p:cNvGrpSpPr/>
          <p:nvPr/>
        </p:nvGrpSpPr>
        <p:grpSpPr>
          <a:xfrm>
            <a:off x="1056660" y="869261"/>
            <a:ext cx="2162532" cy="688568"/>
            <a:chOff x="1056660" y="1278201"/>
            <a:chExt cx="2162532" cy="688568"/>
          </a:xfrm>
        </p:grpSpPr>
        <p:sp>
          <p:nvSpPr>
            <p:cNvPr id="37" name="Retângulo 23"/>
            <p:cNvSpPr/>
            <p:nvPr/>
          </p:nvSpPr>
          <p:spPr>
            <a:xfrm rot="16200000">
              <a:off x="2073464" y="821041"/>
              <a:ext cx="128924" cy="2162532"/>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dirty="0"/>
            </a:p>
          </p:txBody>
        </p:sp>
        <p:sp>
          <p:nvSpPr>
            <p:cNvPr id="2" name="文本框 1"/>
            <p:cNvSpPr txBox="1"/>
            <p:nvPr/>
          </p:nvSpPr>
          <p:spPr>
            <a:xfrm>
              <a:off x="1292181" y="1278201"/>
              <a:ext cx="1691489" cy="523220"/>
            </a:xfrm>
            <a:prstGeom prst="rect">
              <a:avLst/>
            </a:prstGeom>
            <a:noFill/>
          </p:spPr>
          <p:txBody>
            <a:bodyPr wrap="none" rtlCol="0">
              <a:spAutoFit/>
            </a:bodyPr>
            <a:lstStyle/>
            <a:p>
              <a:r>
                <a:rPr lang="zh-CN" altLang="en-US" sz="2800" b="1" dirty="0" smtClean="0">
                  <a:latin typeface="微软雅黑" panose="020B0503020204020204" pitchFamily="34" charset="-122"/>
                  <a:ea typeface="微软雅黑" panose="020B0503020204020204" pitchFamily="34" charset="-122"/>
                </a:rPr>
                <a:t>思  考  题</a:t>
              </a:r>
              <a:endParaRPr lang="zh-CN" altLang="en-US" sz="2800" b="1" dirty="0">
                <a:latin typeface="微软雅黑" panose="020B0503020204020204" pitchFamily="34" charset="-122"/>
                <a:ea typeface="微软雅黑" panose="020B0503020204020204" pitchFamily="34" charset="-122"/>
              </a:endParaRPr>
            </a:p>
          </p:txBody>
        </p:sp>
      </p:grpSp>
      <p:sp>
        <p:nvSpPr>
          <p:cNvPr id="5" name="矩形 4"/>
          <p:cNvSpPr/>
          <p:nvPr/>
        </p:nvSpPr>
        <p:spPr>
          <a:xfrm>
            <a:off x="1846580" y="2091055"/>
            <a:ext cx="8840470" cy="3322955"/>
          </a:xfrm>
          <a:prstGeom prst="rect">
            <a:avLst/>
          </a:prstGeom>
        </p:spPr>
        <p:txBody>
          <a:bodyPr wrap="square">
            <a:spAutoFit/>
          </a:bodyPr>
          <a:lstStyle/>
          <a:p>
            <a:pPr algn="just">
              <a:lnSpc>
                <a:spcPct val="150000"/>
              </a:lnSpc>
            </a:pPr>
            <a:r>
              <a:rPr lang="zh-CN" altLang="en-US" sz="2000" dirty="0">
                <a:latin typeface="微软雅黑" panose="020B0503020204020204" pitchFamily="34" charset="-122"/>
                <a:ea typeface="微软雅黑" panose="020B0503020204020204" pitchFamily="34" charset="-122"/>
              </a:rPr>
              <a:t>1.如何理解犯罪主体的概念？</a:t>
            </a:r>
            <a:endParaRPr lang="zh-CN" altLang="en-US"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何谓刑事责任能力？辨认行为能力与控制行为能力之间的关系为何？</a:t>
            </a:r>
            <a:endParaRPr lang="zh-CN" altLang="en-US"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rPr>
              <a:t>3.如何理解我国刑法中刑事责任年龄阶段的划分？</a:t>
            </a:r>
            <a:endParaRPr lang="zh-CN" altLang="en-US"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rPr>
              <a:t>4</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怎样理解和掌握精神障碍人的刑事责任能力问题？</a:t>
            </a:r>
            <a:endParaRPr lang="zh-CN" altLang="en-US"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rPr>
              <a:t>5.聋哑人、盲人、生理性醉酒人的刑事责任能力如何？</a:t>
            </a:r>
            <a:endParaRPr lang="zh-CN" altLang="en-US"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rPr>
              <a:t>6</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犯罪主体的特殊身份有什么意义？</a:t>
            </a:r>
            <a:endParaRPr lang="zh-CN" altLang="en-US" sz="2000" dirty="0">
              <a:latin typeface="微软雅黑" panose="020B0503020204020204" pitchFamily="34" charset="-122"/>
              <a:ea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rPr>
              <a:t>7</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怎样理解单位犯罪及双罚制？</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0" presetClass="entr" presetSubtype="0" fill="hold" grpId="0" nodeType="afterEffect">
                                  <p:stCondLst>
                                    <p:cond delay="0"/>
                                  </p:stCondLst>
                                  <p:iterate type="wd">
                                    <p:tmPct val="10000"/>
                                  </p:iterate>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5" grpId="0"/>
    </p:bldLst>
  </p:timing>
</p:sld>
</file>

<file path=ppt/tags/tag1.xml><?xml version="1.0" encoding="utf-8"?>
<p:tagLst xmlns:p="http://schemas.openxmlformats.org/presentationml/2006/main">
  <p:tag name="COMMONDATA" val="eyJoZGlkIjoiYzU3Zjg5ZjEwZjFiYjFiOTBkY2I5ZGU1ZDEwYzUyOTcifQ=="/>
  <p:tag name="KSO_WPP_MARK_KEY" val="faec4d44-be91-4183-9982-a7558bd25e9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8448</Words>
  <Application>WPS 演示</Application>
  <PresentationFormat>宽屏</PresentationFormat>
  <Paragraphs>495</Paragraphs>
  <Slides>36</Slides>
  <Notes>0</Notes>
  <HiddenSlides>0</HiddenSlides>
  <MMClips>1</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36</vt:i4>
      </vt:variant>
    </vt:vector>
  </HeadingPairs>
  <TitlesOfParts>
    <vt:vector size="54" baseType="lpstr">
      <vt:lpstr>Arial</vt:lpstr>
      <vt:lpstr>宋体</vt:lpstr>
      <vt:lpstr>Wingdings</vt:lpstr>
      <vt:lpstr>微软雅黑</vt:lpstr>
      <vt:lpstr>华文新魏</vt:lpstr>
      <vt:lpstr>Roboto</vt:lpstr>
      <vt:lpstr>Times New Roman</vt:lpstr>
      <vt:lpstr>华文中宋</vt:lpstr>
      <vt:lpstr>黑体</vt:lpstr>
      <vt:lpstr>等线</vt:lpstr>
      <vt:lpstr>Impact</vt:lpstr>
      <vt:lpstr>Wingdings</vt:lpstr>
      <vt:lpstr>Arial Unicode MS</vt:lpstr>
      <vt:lpstr>Calibri</vt:lpstr>
      <vt:lpstr>Symbol</vt:lpstr>
      <vt:lpstr>等线 Light</vt:lpstr>
      <vt:lpstr>Office 主题​​</vt:lpstr>
      <vt:lpstr>2_Office 主题​​</vt:lpstr>
      <vt:lpstr>PowerPoint 演示文稿</vt:lpstr>
      <vt:lpstr>PowerPoint 演示文稿</vt:lpstr>
      <vt:lpstr>第一节</vt:lpstr>
      <vt:lpstr>PowerPoint 演示文稿</vt:lpstr>
      <vt:lpstr>第二节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yujie zhang</dc:creator>
  <cp:lastModifiedBy>WPS_1644414002</cp:lastModifiedBy>
  <cp:revision>238</cp:revision>
  <dcterms:created xsi:type="dcterms:W3CDTF">2017-08-25T04:22:00Z</dcterms:created>
  <dcterms:modified xsi:type="dcterms:W3CDTF">2025-04-01T12:23:10Z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3BB50E480C894F6EA53CFDBEDC7E35FA_12</vt:lpwstr>
  </property>
  <property fmtid="{D5CDD505-2E9C-101B-9397-08002B2CF9AE}" pid="3" name="KSOProductBuildVer">
    <vt:lpwstr>2052-12.1.0.20305</vt:lpwstr>
  </property>
</Properties>
</file>