
<file path=[Content_Types].xml><?xml version="1.0" encoding="utf-8"?>
<Types xmlns="http://schemas.openxmlformats.org/package/2006/content-types">
  <Default Extension="jpeg" ContentType="image/jpeg"/>
  <Default Extension="JPG" ContentType="image/.jp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9"/>
  </p:notesMasterIdLst>
  <p:handoutMasterIdLst>
    <p:handoutMasterId r:id="rId60"/>
  </p:handoutMasterIdLst>
  <p:sldIdLst>
    <p:sldId id="260" r:id="rId3"/>
    <p:sldId id="295" r:id="rId4"/>
    <p:sldId id="419" r:id="rId5"/>
    <p:sldId id="296" r:id="rId6"/>
    <p:sldId id="421" r:id="rId7"/>
    <p:sldId id="420" r:id="rId8"/>
    <p:sldId id="523" r:id="rId9"/>
    <p:sldId id="481" r:id="rId10"/>
    <p:sldId id="422" r:id="rId11"/>
    <p:sldId id="482" r:id="rId12"/>
    <p:sldId id="424" r:id="rId13"/>
    <p:sldId id="483" r:id="rId14"/>
    <p:sldId id="425" r:id="rId15"/>
    <p:sldId id="484" r:id="rId16"/>
    <p:sldId id="426" r:id="rId17"/>
    <p:sldId id="485" r:id="rId18"/>
    <p:sldId id="428" r:id="rId19"/>
    <p:sldId id="486" r:id="rId20"/>
    <p:sldId id="429" r:id="rId21"/>
    <p:sldId id="430" r:id="rId22"/>
    <p:sldId id="524" r:id="rId23"/>
    <p:sldId id="487" r:id="rId24"/>
    <p:sldId id="431" r:id="rId25"/>
    <p:sldId id="525" r:id="rId26"/>
    <p:sldId id="526" r:id="rId27"/>
    <p:sldId id="432" r:id="rId28"/>
    <p:sldId id="433" r:id="rId29"/>
    <p:sldId id="527" r:id="rId30"/>
    <p:sldId id="434" r:id="rId31"/>
    <p:sldId id="528" r:id="rId32"/>
    <p:sldId id="435" r:id="rId33"/>
    <p:sldId id="530" r:id="rId34"/>
    <p:sldId id="488" r:id="rId35"/>
    <p:sldId id="436" r:id="rId36"/>
    <p:sldId id="437" r:id="rId37"/>
    <p:sldId id="438" r:id="rId38"/>
    <p:sldId id="520" r:id="rId39"/>
    <p:sldId id="439" r:id="rId40"/>
    <p:sldId id="522" r:id="rId41"/>
    <p:sldId id="440" r:id="rId42"/>
    <p:sldId id="489" r:id="rId43"/>
    <p:sldId id="441" r:id="rId44"/>
    <p:sldId id="531" r:id="rId45"/>
    <p:sldId id="490" r:id="rId46"/>
    <p:sldId id="491" r:id="rId47"/>
    <p:sldId id="492" r:id="rId48"/>
    <p:sldId id="442" r:id="rId49"/>
    <p:sldId id="443" r:id="rId50"/>
    <p:sldId id="532" r:id="rId51"/>
    <p:sldId id="493" r:id="rId52"/>
    <p:sldId id="444" r:id="rId53"/>
    <p:sldId id="445" r:id="rId54"/>
    <p:sldId id="495" r:id="rId55"/>
    <p:sldId id="494" r:id="rId56"/>
    <p:sldId id="446" r:id="rId57"/>
    <p:sldId id="280" r:id="rId58"/>
  </p:sldIdLst>
  <p:sldSz cx="12192000" cy="6858000"/>
  <p:notesSz cx="6858000" cy="9144000"/>
  <p:custDataLst>
    <p:tags r:id="rId6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288DD"/>
    <a:srgbClr val="0289D9"/>
    <a:srgbClr val="D9793F"/>
    <a:srgbClr val="FFFFFF"/>
    <a:srgbClr val="BFBFBF"/>
    <a:srgbClr val="000000"/>
    <a:srgbClr val="E6E6E6"/>
    <a:srgbClr val="0F42E7"/>
    <a:srgbClr val="1D4BFF"/>
    <a:srgbClr val="5A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23" autoAdjust="0"/>
    <p:restoredTop sz="94225" autoAdjust="0"/>
  </p:normalViewPr>
  <p:slideViewPr>
    <p:cSldViewPr snapToGrid="0" showGuides="1">
      <p:cViewPr varScale="1">
        <p:scale>
          <a:sx n="93" d="100"/>
          <a:sy n="93" d="100"/>
        </p:scale>
        <p:origin x="101" y="850"/>
      </p:cViewPr>
      <p:guideLst>
        <p:guide orient="horz" pos="2160"/>
        <p:guide pos="3839"/>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78" d="100"/>
          <a:sy n="78" d="100"/>
        </p:scale>
        <p:origin x="2370" y="90"/>
      </p:cViewPr>
      <p:guideLst/>
    </p:cSldViewPr>
  </p:notes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4" Type="http://schemas.openxmlformats.org/officeDocument/2006/relationships/tags" Target="tags/tag7.xml"/><Relationship Id="rId63" Type="http://schemas.openxmlformats.org/officeDocument/2006/relationships/tableStyles" Target="tableStyles.xml"/><Relationship Id="rId62" Type="http://schemas.openxmlformats.org/officeDocument/2006/relationships/viewProps" Target="viewProps.xml"/><Relationship Id="rId61" Type="http://schemas.openxmlformats.org/officeDocument/2006/relationships/presProps" Target="presProps.xml"/><Relationship Id="rId60" Type="http://schemas.openxmlformats.org/officeDocument/2006/relationships/handoutMaster" Target="handoutMasters/handoutMaster1.xml"/><Relationship Id="rId6" Type="http://schemas.openxmlformats.org/officeDocument/2006/relationships/slide" Target="slides/slide4.xml"/><Relationship Id="rId59" Type="http://schemas.openxmlformats.org/officeDocument/2006/relationships/notesMaster" Target="notesMasters/notesMaster1.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353F9F3-6723-4E3B-82A5-806A60DF3ADB}"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85BFA49-FC84-4341-BDD0-4D1160FD670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刑</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1" name="椭圆 10"/>
              <p:cNvSpPr/>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法</a:t>
                </a:r>
                <a:endParaRPr lang="zh-CN" altLang="en-US" sz="1400" dirty="0">
                  <a:solidFill>
                    <a:schemeClr val="bg1"/>
                  </a:solidFill>
                  <a:latin typeface="微软雅黑" panose="020B0503020204020204" pitchFamily="34" charset="-122"/>
                  <a:ea typeface="微软雅黑" panose="020B0503020204020204" pitchFamily="34" charset="-122"/>
                </a:endParaRPr>
              </a:p>
            </p:txBody>
          </p:sp>
          <p:sp>
            <p:nvSpPr>
              <p:cNvPr id="12" name="椭圆 11"/>
              <p:cNvSpPr/>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pitchFamily="34" charset="-122"/>
                    <a:ea typeface="微软雅黑" panose="020B0503020204020204" pitchFamily="34" charset="-122"/>
                  </a:rPr>
                  <a:t>学</a:t>
                </a:r>
                <a:endParaRPr lang="zh-CN" altLang="en-US" sz="1400" dirty="0">
                  <a:solidFill>
                    <a:schemeClr val="bg1"/>
                  </a:solidFill>
                  <a:latin typeface="微软雅黑" panose="020B0503020204020204" pitchFamily="34" charset="-122"/>
                  <a:ea typeface="微软雅黑" panose="020B0503020204020204" pitchFamily="34" charset="-122"/>
                </a:endParaRPr>
              </a:p>
            </p:txBody>
          </p:sp>
        </p:grpSp>
        <p:cxnSp>
          <p:nvCxnSpPr>
            <p:cNvPr id="7" name="直接连接符 6"/>
            <p:cNvCxnSpPr/>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第八章  </a:t>
              </a:r>
              <a:endParaRPr lang="en-US" altLang="zh-CN" sz="1400" b="1" dirty="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a:xfrm>
            <a:off x="669924" y="1"/>
            <a:ext cx="10850563" cy="1028699"/>
          </a:xfrm>
          <a:prstGeom prst="rect">
            <a:avLst/>
          </a:prstGeom>
        </p:spPr>
        <p:txBody>
          <a:bodyPr/>
          <a:lstStyle>
            <a:lvl1pPr>
              <a:defRPr/>
            </a:lvl1pPr>
          </a:lstStyle>
          <a:p>
            <a:r>
              <a:rPr lang="en-US" altLang="zh-CN" dirty="0"/>
              <a:t>Click to edit Master title style</a:t>
            </a:r>
            <a:endParaRPr lang="en-US" dirty="0"/>
          </a:p>
        </p:txBody>
      </p:sp>
      <p:sp>
        <p:nvSpPr>
          <p:cNvPr id="3" name="Date Placeholder 2"/>
          <p:cNvSpPr>
            <a:spLocks noGrp="1"/>
          </p:cNvSpPr>
          <p:nvPr>
            <p:ph type="dt" sz="half" idx="10"/>
          </p:nvPr>
        </p:nvSpPr>
        <p:spPr>
          <a:xfrm>
            <a:off x="5401732" y="6240463"/>
            <a:ext cx="1388536" cy="206381"/>
          </a:xfrm>
          <a:prstGeom prst="rect">
            <a:avLst/>
          </a:prstGeom>
        </p:spPr>
        <p:txBody>
          <a:bodyPr/>
          <a:lstStyle/>
          <a:p>
            <a:endParaRPr lang="zh-CN" altLang="en-US"/>
          </a:p>
        </p:txBody>
      </p:sp>
      <p:sp>
        <p:nvSpPr>
          <p:cNvPr id="4" name="Footer Placeholder 3"/>
          <p:cNvSpPr>
            <a:spLocks noGrp="1"/>
          </p:cNvSpPr>
          <p:nvPr>
            <p:ph type="ftr" sz="quarter" idx="11"/>
          </p:nvPr>
        </p:nvSpPr>
        <p:spPr>
          <a:xfrm>
            <a:off x="669924" y="6240463"/>
            <a:ext cx="4140201" cy="206381"/>
          </a:xfrm>
          <a:prstGeom prst="rect">
            <a:avLst/>
          </a:prstGeom>
        </p:spPr>
        <p:txBody>
          <a:bodyPr/>
          <a:lstStyle/>
          <a:p>
            <a:r>
              <a:rPr lang="zh-CN" altLang="en-US"/>
              <a:t>请在插入菜单</a:t>
            </a:r>
            <a:r>
              <a:rPr lang="en-US" altLang="zh-CN"/>
              <a:t>—</a:t>
            </a:r>
            <a:r>
              <a:rPr lang="zh-CN" altLang="en-US"/>
              <a:t>页眉和页脚中修改此文本</a:t>
            </a:r>
            <a:endParaRPr lang="zh-CN" altLang="en-US" dirty="0"/>
          </a:p>
        </p:txBody>
      </p:sp>
      <p:sp>
        <p:nvSpPr>
          <p:cNvPr id="5" name="Slide Number Placeholder 4"/>
          <p:cNvSpPr>
            <a:spLocks noGrp="1"/>
          </p:cNvSpPr>
          <p:nvPr>
            <p:ph type="sldNum" sz="quarter" idx="12"/>
          </p:nvPr>
        </p:nvSpPr>
        <p:spPr>
          <a:xfrm>
            <a:off x="8610599" y="6240463"/>
            <a:ext cx="2909888" cy="206381"/>
          </a:xfrm>
          <a:prstGeom prst="rect">
            <a:avLst/>
          </a:prstGeom>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showMasterSp="0" userDrawn="1">
  <p:cSld name="节标题">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extLst>
              <a:ext uri="{28A0092B-C50C-407E-A947-70E740481C1C}">
                <a14:useLocalDpi xmlns:a14="http://schemas.microsoft.com/office/drawing/2010/main" val="0"/>
              </a:ext>
            </a:extLst>
          </a:blip>
          <a:srcRect l="7624" t="3696" r="7783" b="32380"/>
          <a:stretch>
            <a:fillRect/>
          </a:stretch>
        </p:blipFill>
        <p:spPr>
          <a:xfrm>
            <a:off x="0" y="-26894"/>
            <a:ext cx="12166899" cy="6895652"/>
          </a:xfrm>
          <a:prstGeom prst="rtTriangle">
            <a:avLst/>
          </a:prstGeom>
        </p:spPr>
      </p:pic>
      <p:sp>
        <p:nvSpPr>
          <p:cNvPr id="5" name="矩形 4"/>
          <p:cNvSpPr/>
          <p:nvPr userDrawn="1"/>
        </p:nvSpPr>
        <p:spPr>
          <a:xfrm>
            <a:off x="489568" y="278342"/>
            <a:ext cx="11212865" cy="6301317"/>
          </a:xfrm>
          <a:prstGeom prst="rect">
            <a:avLst/>
          </a:prstGeom>
          <a:noFill/>
          <a:ln w="508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标题 1"/>
          <p:cNvSpPr>
            <a:spLocks noGrp="1"/>
          </p:cNvSpPr>
          <p:nvPr userDrawn="1">
            <p:ph type="title"/>
          </p:nvPr>
        </p:nvSpPr>
        <p:spPr>
          <a:xfrm>
            <a:off x="675698" y="4223127"/>
            <a:ext cx="5419185" cy="895350"/>
          </a:xfrm>
          <a:prstGeom prst="rect">
            <a:avLst/>
          </a:prstGeom>
        </p:spPr>
        <p:txBody>
          <a:bodyPr anchor="b">
            <a:normAutofit/>
          </a:bodyPr>
          <a:lstStyle>
            <a:lvl1pPr algn="l">
              <a:defRPr sz="2400" b="1">
                <a:solidFill>
                  <a:schemeClr val="bg1"/>
                </a:solidFill>
              </a:defRPr>
            </a:lvl1pPr>
          </a:lstStyle>
          <a:p>
            <a:r>
              <a:rPr lang="en-US" dirty="0"/>
              <a:t>Click to edit Master title style</a:t>
            </a:r>
            <a:endParaRPr lang="zh-CN" altLang="en-US" dirty="0"/>
          </a:p>
        </p:txBody>
      </p:sp>
      <p:sp>
        <p:nvSpPr>
          <p:cNvPr id="21" name="文本占位符 2"/>
          <p:cNvSpPr>
            <a:spLocks noGrp="1"/>
          </p:cNvSpPr>
          <p:nvPr userDrawn="1">
            <p:ph type="body" idx="1"/>
          </p:nvPr>
        </p:nvSpPr>
        <p:spPr>
          <a:xfrm>
            <a:off x="676814" y="5118477"/>
            <a:ext cx="5419185" cy="1015623"/>
          </a:xfrm>
          <a:prstGeom prst="rect">
            <a:avLst/>
          </a:prstGeom>
        </p:spPr>
        <p:txBody>
          <a:bodyPr anchor="t">
            <a:normAutofit/>
          </a:bodyPr>
          <a:lstStyle>
            <a:lvl1pPr marL="0" indent="0" algn="l">
              <a:lnSpc>
                <a:spcPct val="150000"/>
              </a:lnSpc>
              <a:spcBef>
                <a:spcPts val="0"/>
              </a:spcBef>
              <a:buNone/>
              <a:defRPr sz="11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402167" y="609600"/>
            <a:ext cx="11387667" cy="1143000"/>
          </a:xfrm>
          <a:prstGeom prst="rect">
            <a:avLst/>
          </a:prstGeom>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402167" y="1905000"/>
            <a:ext cx="11387667" cy="2020888"/>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4" name="内容占位符 3"/>
          <p:cNvSpPr>
            <a:spLocks noGrp="1"/>
          </p:cNvSpPr>
          <p:nvPr>
            <p:ph sz="half" idx="2"/>
          </p:nvPr>
        </p:nvSpPr>
        <p:spPr>
          <a:xfrm>
            <a:off x="402167" y="4078289"/>
            <a:ext cx="11387667" cy="2020887"/>
          </a:xfrm>
          <a:prstGeom prst="rect">
            <a:avLst/>
          </a:prstGeom>
        </p:spPr>
        <p:txBody>
          <a:bodyPr/>
          <a:lstStyle/>
          <a:p>
            <a:pPr lvl="0"/>
            <a:r>
              <a:rPr lang="zh-CN" altLang="en-US" noProof="1" smtClean="0"/>
              <a:t>单击此处编辑母版文本样式</a:t>
            </a:r>
            <a:endParaRPr lang="zh-CN" altLang="en-US" noProof="1" smtClean="0"/>
          </a:p>
          <a:p>
            <a:pPr lvl="1"/>
            <a:r>
              <a:rPr lang="zh-CN" altLang="en-US" noProof="1" smtClean="0"/>
              <a:t>第二级</a:t>
            </a:r>
            <a:endParaRPr lang="zh-CN" altLang="en-US" noProof="1" smtClean="0"/>
          </a:p>
          <a:p>
            <a:pPr lvl="2"/>
            <a:r>
              <a:rPr lang="zh-CN" altLang="en-US" noProof="1" smtClean="0"/>
              <a:t>第三级</a:t>
            </a:r>
            <a:endParaRPr lang="zh-CN" altLang="en-US" noProof="1" smtClean="0"/>
          </a:p>
          <a:p>
            <a:pPr lvl="3"/>
            <a:r>
              <a:rPr lang="zh-CN" altLang="en-US" noProof="1" smtClean="0"/>
              <a:t>第四级</a:t>
            </a:r>
            <a:endParaRPr lang="zh-CN" altLang="en-US" noProof="1" smtClean="0"/>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a:xfrm>
            <a:off x="402167" y="6245225"/>
            <a:ext cx="3052233" cy="476250"/>
          </a:xfrm>
          <a:prstGeom prst="rect">
            <a:avLst/>
          </a:prstGeom>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xfrm>
            <a:off x="4165600" y="6245225"/>
            <a:ext cx="3860800" cy="476250"/>
          </a:xfrm>
          <a:prstGeom prst="rect">
            <a:avLst/>
          </a:prstGeom>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xfrm>
            <a:off x="8737601" y="6245225"/>
            <a:ext cx="3052233" cy="476250"/>
          </a:xfrm>
          <a:prstGeom prst="rect">
            <a:avLst/>
          </a:prstGeom>
        </p:spPr>
        <p:txBody>
          <a:bodyPr/>
          <a:lstStyle>
            <a:lvl1pPr>
              <a:defRPr/>
            </a:lvl1pPr>
          </a:lstStyle>
          <a:p>
            <a:pPr>
              <a:defRPr/>
            </a:pPr>
            <a:fld id="{D41043C6-0E00-47CB-84FD-716115E861F4}"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3" Type="http://schemas.microsoft.com/office/2007/relationships/media" Target="../media/media1.mp3"/><Relationship Id="rId2" Type="http://schemas.openxmlformats.org/officeDocument/2006/relationships/audio" Target="../media/media1.mp3"/><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1">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1">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马克思主义理论研究</a:t>
            </a:r>
            <a:endParaRPr kumimoji="0" lang="en-US" altLang="zh-CN"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刑</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法</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
        <p:nvSpPr>
          <p:cNvPr id="9" name="文本框 8"/>
          <p:cNvSpPr txBox="1"/>
          <p:nvPr/>
        </p:nvSpPr>
        <p:spPr>
          <a:xfrm>
            <a:off x="1770014" y="5871348"/>
            <a:ext cx="2657532" cy="337185"/>
          </a:xfrm>
          <a:prstGeom prst="rect">
            <a:avLst/>
          </a:prstGeom>
          <a:noFill/>
        </p:spPr>
        <p:txBody>
          <a:bodyPr wrap="square" rtlCol="0">
            <a:spAutoFit/>
          </a:bodyPr>
          <a:lstStyle/>
          <a:p>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刑法学</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编写组</a:t>
            </a:r>
            <a:endParaRPr lang="zh-CN" altLang="en-US" sz="1600" dirty="0">
              <a:latin typeface="微软雅黑" panose="020B0503020204020204" pitchFamily="34" charset="-122"/>
              <a:ea typeface="微软雅黑" panose="020B0503020204020204" pitchFamily="3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6"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547957" y="2438527"/>
            <a:ext cx="5880735" cy="1322070"/>
          </a:xfrm>
          <a:prstGeom prst="rect">
            <a:avLst/>
          </a:prstGeom>
        </p:spPr>
        <p:txBody>
          <a:bodyPr wrap="none">
            <a:spAutoFit/>
          </a:bodyPr>
          <a:lstStyle/>
          <a:p>
            <a:pPr indent="0" algn="l" fontAlgn="auto">
              <a:lnSpc>
                <a:spcPct val="200000"/>
              </a:lnSpc>
              <a:spcBef>
                <a:spcPts val="1200"/>
              </a:spcBef>
            </a:pP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
        <p:nvSpPr>
          <p:cNvPr id="3" name="矩形 2"/>
          <p:cNvSpPr/>
          <p:nvPr/>
        </p:nvSpPr>
        <p:spPr>
          <a:xfrm>
            <a:off x="1937703" y="4288818"/>
            <a:ext cx="1836438"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endParaRPr lang="zh-CN" altLang="en-US" dirty="0">
              <a:solidFill>
                <a:srgbClr val="D9793F"/>
              </a:solidFill>
              <a:latin typeface="黑体" panose="02010609060101010101" pitchFamily="49" charset="-122"/>
              <a:ea typeface="黑体" panose="020106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1000"/>
                                        <p:tgtEl>
                                          <p:spTgt spid="28"/>
                                        </p:tgtEl>
                                      </p:cBhvr>
                                    </p:animEffect>
                                    <p:anim calcmode="lin" valueType="num">
                                      <p:cBhvr>
                                        <p:cTn id="12" dur="1000" fill="hold"/>
                                        <p:tgtEl>
                                          <p:spTgt spid="28"/>
                                        </p:tgtEl>
                                        <p:attrNameLst>
                                          <p:attrName>ppt_x</p:attrName>
                                        </p:attrNameLst>
                                      </p:cBhvr>
                                      <p:tavLst>
                                        <p:tav tm="0">
                                          <p:val>
                                            <p:strVal val="#ppt_x"/>
                                          </p:val>
                                        </p:tav>
                                        <p:tav tm="100000">
                                          <p:val>
                                            <p:strVal val="#ppt_x"/>
                                          </p:val>
                                        </p:tav>
                                      </p:tavLst>
                                    </p:anim>
                                    <p:anim calcmode="lin" valueType="num">
                                      <p:cBhvr>
                                        <p:cTn id="13" dur="1000" fill="hold"/>
                                        <p:tgtEl>
                                          <p:spTgt spid="28"/>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par>
                          <p:cTn id="24" fill="hold">
                            <p:stCondLst>
                              <p:cond delay="3000"/>
                            </p:stCondLst>
                            <p:childTnLst>
                              <p:par>
                                <p:cTn id="25" presetID="10" presetClass="entr" presetSubtype="0" fill="hold" grpId="0" nodeType="afterEffect">
                                  <p:stCondLst>
                                    <p:cond delay="0"/>
                                  </p:stCondLst>
                                  <p:iterate type="wd">
                                    <p:tmPct val="10000"/>
                                  </p:iterate>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par>
                          <p:cTn id="28" fill="hold">
                            <p:stCondLst>
                              <p:cond delay="4349"/>
                            </p:stCondLst>
                            <p:childTnLst>
                              <p:par>
                                <p:cTn id="29" presetID="10" presetClass="entr" presetSubtype="0" fill="hold" grpId="0" nodeType="afterEffect">
                                  <p:stCondLst>
                                    <p:cond delay="0"/>
                                  </p:stCondLst>
                                  <p:iterate type="wd">
                                    <p:tmPct val="10000"/>
                                  </p:iterate>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par>
                          <p:cTn id="32" fill="hold">
                            <p:stCondLst>
                              <p:cond delay="5199"/>
                            </p:stCondLst>
                            <p:childTnLst>
                              <p:par>
                                <p:cTn id="33" presetID="2" presetClass="entr" presetSubtype="4" fill="hold" nodeType="afterEffect">
                                  <p:stCondLst>
                                    <p:cond delay="0"/>
                                  </p:stCondLst>
                                  <p:childTnLst>
                                    <p:set>
                                      <p:cBhvr>
                                        <p:cTn id="34" dur="1" fill="hold">
                                          <p:stCondLst>
                                            <p:cond delay="0"/>
                                          </p:stCondLst>
                                        </p:cTn>
                                        <p:tgtEl>
                                          <p:spTgt spid="20"/>
                                        </p:tgtEl>
                                        <p:attrNameLst>
                                          <p:attrName>style.visibility</p:attrName>
                                        </p:attrNameLst>
                                      </p:cBhvr>
                                      <p:to>
                                        <p:strVal val="visible"/>
                                      </p:to>
                                    </p:set>
                                    <p:anim calcmode="lin" valueType="num">
                                      <p:cBhvr additive="base">
                                        <p:cTn id="35" dur="500" fill="hold"/>
                                        <p:tgtEl>
                                          <p:spTgt spid="20"/>
                                        </p:tgtEl>
                                        <p:attrNameLst>
                                          <p:attrName>ppt_x</p:attrName>
                                        </p:attrNameLst>
                                      </p:cBhvr>
                                      <p:tavLst>
                                        <p:tav tm="0">
                                          <p:val>
                                            <p:strVal val="#ppt_x"/>
                                          </p:val>
                                        </p:tav>
                                        <p:tav tm="100000">
                                          <p:val>
                                            <p:strVal val="#ppt_x"/>
                                          </p:val>
                                        </p:tav>
                                      </p:tavLst>
                                    </p:anim>
                                    <p:anim calcmode="lin" valueType="num">
                                      <p:cBhvr additive="base">
                                        <p:cTn id="36"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20000" numSld="999" showWhenStopped="0">
                <p:cTn id="37" repeatCount="indefinite" fill="hold" display="0">
                  <p:stCondLst>
                    <p:cond delay="indefinite"/>
                  </p:stCondLst>
                  <p:endCondLst>
                    <p:cond evt="onStopAudio" delay="0">
                      <p:tgtEl>
                        <p:sldTgt/>
                      </p:tgtEl>
                    </p:cond>
                  </p:endCondLst>
                </p:cTn>
                <p:tgtEl>
                  <p:spTgt spid="41"/>
                </p:tgtEl>
              </p:cMediaNode>
            </p:audio>
          </p:childTnLst>
        </p:cTn>
      </p:par>
    </p:tnLst>
    <p:bldLst>
      <p:bldP spid="5" grpId="0" animBg="1"/>
      <p:bldP spid="38" grpId="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3567504" y="1334157"/>
            <a:ext cx="6427334" cy="922020"/>
            <a:chOff x="6063487" y="808531"/>
            <a:chExt cx="5374980" cy="844706"/>
          </a:xfrm>
        </p:grpSpPr>
        <p:sp>
          <p:nvSpPr>
            <p:cNvPr id="4" name="椭圆 3"/>
            <p:cNvSpPr/>
            <p:nvPr/>
          </p:nvSpPr>
          <p:spPr>
            <a:xfrm>
              <a:off x="6063487" y="942228"/>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1</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矩形 7"/>
            <p:cNvSpPr/>
            <p:nvPr/>
          </p:nvSpPr>
          <p:spPr>
            <a:xfrm>
              <a:off x="6819327" y="808531"/>
              <a:ext cx="4619140" cy="844706"/>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第一节</a:t>
              </a:r>
              <a:endParaRPr lang="zh-CN" altLang="en-US" b="1" dirty="0">
                <a:solidFill>
                  <a:srgbClr val="D9793F"/>
                </a:solidFill>
                <a:latin typeface="微软雅黑" panose="020B0503020204020204" pitchFamily="34" charset="-122"/>
                <a:ea typeface="微软雅黑" panose="020B0503020204020204" pitchFamily="34" charset="-122"/>
              </a:endParaRPr>
            </a:p>
            <a:p>
              <a:pPr lvl="0" algn="just" eaLnBrk="0" fontAlgn="base" hangingPunct="0">
                <a:lnSpc>
                  <a:spcPct val="150000"/>
                </a:lnSpc>
                <a:spcBef>
                  <a:spcPct val="0"/>
                </a:spcBef>
                <a:spcAft>
                  <a:spcPct val="0"/>
                </a:spcAft>
                <a:defRPr/>
              </a:pPr>
              <a:r>
                <a:rPr lang="en-US" altLang="zh-CN" dirty="0" err="1">
                  <a:latin typeface="微软雅黑" panose="020B0503020204020204" pitchFamily="34" charset="-122"/>
                  <a:ea typeface="微软雅黑" panose="020B0503020204020204" pitchFamily="34" charset="-122"/>
                </a:rPr>
                <a:t>犯罪</a:t>
              </a:r>
              <a:r>
                <a:rPr lang="zh-CN" altLang="en-US" dirty="0" err="1">
                  <a:latin typeface="微软雅黑" panose="020B0503020204020204" pitchFamily="34" charset="-122"/>
                  <a:ea typeface="微软雅黑" panose="020B0503020204020204" pitchFamily="34" charset="-122"/>
                </a:rPr>
                <a:t>主观方面</a:t>
              </a:r>
              <a:r>
                <a:rPr lang="en-US" altLang="zh-CN" dirty="0" err="1">
                  <a:latin typeface="微软雅黑" panose="020B0503020204020204" pitchFamily="34" charset="-122"/>
                  <a:ea typeface="微软雅黑" panose="020B0503020204020204" pitchFamily="34" charset="-122"/>
                </a:rPr>
                <a:t>概述</a:t>
              </a:r>
              <a:endParaRPr lang="en-US" altLang="zh-CN" dirty="0" err="1">
                <a:latin typeface="微软雅黑" panose="020B0503020204020204" pitchFamily="34" charset="-122"/>
                <a:ea typeface="微软雅黑" panose="020B0503020204020204" pitchFamily="34" charset="-122"/>
              </a:endParaRPr>
            </a:p>
          </p:txBody>
        </p:sp>
      </p:grpSp>
      <p:grpSp>
        <p:nvGrpSpPr>
          <p:cNvPr id="14" name="组合 13"/>
          <p:cNvGrpSpPr/>
          <p:nvPr/>
        </p:nvGrpSpPr>
        <p:grpSpPr>
          <a:xfrm>
            <a:off x="4018799" y="2306977"/>
            <a:ext cx="6427334" cy="783590"/>
            <a:chOff x="6063487" y="2021055"/>
            <a:chExt cx="5374980" cy="717884"/>
          </a:xfrm>
        </p:grpSpPr>
        <p:sp>
          <p:nvSpPr>
            <p:cNvPr id="3" name="椭圆 2"/>
            <p:cNvSpPr/>
            <p:nvPr/>
          </p:nvSpPr>
          <p:spPr>
            <a:xfrm>
              <a:off x="6063487" y="2057930"/>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2</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9" name="矩形 8"/>
            <p:cNvSpPr/>
            <p:nvPr/>
          </p:nvSpPr>
          <p:spPr>
            <a:xfrm>
              <a:off x="6819327" y="2021055"/>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第二节</a:t>
              </a:r>
              <a:endParaRPr lang="zh-CN" altLang="en-US" b="1" dirty="0">
                <a:solidFill>
                  <a:srgbClr val="D9793F"/>
                </a:solidFill>
                <a:latin typeface="微软雅黑" panose="020B0503020204020204" pitchFamily="34" charset="-122"/>
                <a:ea typeface="微软雅黑" panose="020B0503020204020204" pitchFamily="34" charset="-122"/>
              </a:endParaRPr>
            </a:p>
            <a:p>
              <a:pPr lvl="0"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犯罪故意</a:t>
              </a:r>
              <a:endParaRPr lang="zh-CN" altLang="en-US" dirty="0" err="1">
                <a:latin typeface="微软雅黑" panose="020B0503020204020204" pitchFamily="34" charset="-122"/>
                <a:ea typeface="微软雅黑" panose="020B0503020204020204" pitchFamily="34" charset="-122"/>
              </a:endParaRPr>
            </a:p>
          </p:txBody>
        </p:sp>
      </p:grpSp>
      <p:grpSp>
        <p:nvGrpSpPr>
          <p:cNvPr id="15" name="组合 14"/>
          <p:cNvGrpSpPr/>
          <p:nvPr/>
        </p:nvGrpSpPr>
        <p:grpSpPr>
          <a:xfrm>
            <a:off x="5067628" y="4032709"/>
            <a:ext cx="6427334" cy="783590"/>
            <a:chOff x="6063487" y="3115241"/>
            <a:chExt cx="5374980" cy="717884"/>
          </a:xfrm>
        </p:grpSpPr>
        <p:sp>
          <p:nvSpPr>
            <p:cNvPr id="5" name="椭圆 4"/>
            <p:cNvSpPr/>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4</a:t>
              </a:r>
              <a:endPar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0" name="矩形 9"/>
            <p:cNvSpPr/>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第四节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犯罪过失</a:t>
              </a:r>
              <a:endParaRPr lang="zh-CN" altLang="en-US" dirty="0" err="1">
                <a:latin typeface="微软雅黑" panose="020B0503020204020204" pitchFamily="34" charset="-122"/>
                <a:ea typeface="微软雅黑" panose="020B0503020204020204" pitchFamily="34" charset="-122"/>
              </a:endParaRPr>
            </a:p>
          </p:txBody>
        </p:sp>
      </p:grpSp>
      <p:cxnSp>
        <p:nvCxnSpPr>
          <p:cNvPr id="23" name="Conexão reta 24"/>
          <p:cNvCxnSpPr/>
          <p:nvPr/>
        </p:nvCxnSpPr>
        <p:spPr>
          <a:xfrm>
            <a:off x="4524436" y="1334047"/>
            <a:ext cx="7514492" cy="16829"/>
          </a:xfrm>
          <a:prstGeom prst="line">
            <a:avLst/>
          </a:prstGeom>
          <a:ln>
            <a:solidFill>
              <a:srgbClr val="D9793F"/>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0714853" y="681712"/>
            <a:ext cx="1225015" cy="523220"/>
          </a:xfrm>
          <a:prstGeom prst="rect">
            <a:avLst/>
          </a:prstGeom>
          <a:noFill/>
        </p:spPr>
        <p:txBody>
          <a:bodyPr wrap="none" rtlCol="0">
            <a:spAutoFit/>
          </a:bodyPr>
          <a:lstStyle/>
          <a:p>
            <a:r>
              <a:rPr lang="zh-CN" altLang="en-US" sz="2800" b="1" dirty="0">
                <a:solidFill>
                  <a:srgbClr val="D9793F"/>
                </a:solidFill>
                <a:latin typeface="微软雅黑" panose="020B0503020204020204" pitchFamily="34" charset="-122"/>
                <a:ea typeface="微软雅黑" panose="020B0503020204020204" pitchFamily="34" charset="-122"/>
              </a:rPr>
              <a:t>目   录</a:t>
            </a:r>
            <a:endParaRPr lang="zh-CN" altLang="en-US" sz="2800" b="1" dirty="0">
              <a:solidFill>
                <a:srgbClr val="D9793F"/>
              </a:solidFill>
              <a:latin typeface="微软雅黑" panose="020B0503020204020204" pitchFamily="34" charset="-122"/>
              <a:ea typeface="微软雅黑" panose="020B0503020204020204" pitchFamily="34" charset="-122"/>
            </a:endParaRPr>
          </a:p>
        </p:txBody>
      </p:sp>
      <p:pic>
        <p:nvPicPr>
          <p:cNvPr id="20" name="图片 19"/>
          <p:cNvPicPr>
            <a:picLocks noChangeAspect="1"/>
          </p:cNvPicPr>
          <p:nvPr/>
        </p:nvPicPr>
        <p:blipFill rotWithShape="1">
          <a:blip r:embed="rId1">
            <a:extLst>
              <a:ext uri="{28A0092B-C50C-407E-A947-70E740481C1C}">
                <a14:useLocalDpi xmlns:a14="http://schemas.microsoft.com/office/drawing/2010/main" val="0"/>
              </a:ext>
            </a:extLst>
          </a:blip>
          <a:srcRect l="7624" t="3696" r="7783" b="32380"/>
          <a:stretch>
            <a:fillRect/>
          </a:stretch>
        </p:blipFill>
        <p:spPr>
          <a:xfrm flipH="1">
            <a:off x="211767" y="545933"/>
            <a:ext cx="5673915" cy="6013129"/>
          </a:xfrm>
          <a:prstGeom prst="parallelogram">
            <a:avLst>
              <a:gd name="adj" fmla="val 63902"/>
            </a:avLst>
          </a:prstGeom>
        </p:spPr>
      </p:pic>
      <p:sp>
        <p:nvSpPr>
          <p:cNvPr id="11" name="椭圆 10"/>
          <p:cNvSpPr/>
          <p:nvPr>
            <p:custDataLst>
              <p:tags r:id="rId2"/>
            </p:custDataLst>
          </p:nvPr>
        </p:nvSpPr>
        <p:spPr>
          <a:xfrm>
            <a:off x="4524375" y="3242945"/>
            <a:ext cx="643890" cy="588010"/>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3</a:t>
            </a:r>
            <a:endParaRPr kumimoji="0" lang="zh-CN" altLang="en-US"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2" name="矩形 11"/>
          <p:cNvSpPr/>
          <p:nvPr>
            <p:custDataLst>
              <p:tags r:id="rId3"/>
            </p:custDataLst>
          </p:nvPr>
        </p:nvSpPr>
        <p:spPr>
          <a:xfrm>
            <a:off x="5427980" y="3179445"/>
            <a:ext cx="5523230" cy="783590"/>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第三节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犯罪目的与犯罪动机</a:t>
            </a:r>
            <a:endParaRPr lang="zh-CN" altLang="en-US" dirty="0" err="1">
              <a:latin typeface="微软雅黑" panose="020B0503020204020204" pitchFamily="34" charset="-122"/>
              <a:ea typeface="微软雅黑" panose="020B0503020204020204" pitchFamily="34" charset="-122"/>
            </a:endParaRPr>
          </a:p>
        </p:txBody>
      </p:sp>
      <p:grpSp>
        <p:nvGrpSpPr>
          <p:cNvPr id="16" name="组合 15"/>
          <p:cNvGrpSpPr/>
          <p:nvPr/>
        </p:nvGrpSpPr>
        <p:grpSpPr>
          <a:xfrm>
            <a:off x="5971233" y="5626559"/>
            <a:ext cx="6427334" cy="783590"/>
            <a:chOff x="6063487" y="3115241"/>
            <a:chExt cx="5374980" cy="717884"/>
          </a:xfrm>
        </p:grpSpPr>
        <p:sp>
          <p:nvSpPr>
            <p:cNvPr id="17" name="椭圆 16"/>
            <p:cNvSpPr/>
            <p:nvPr>
              <p:custDataLst>
                <p:tags r:id="rId4"/>
              </p:custDataLst>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6</a:t>
              </a:r>
              <a:endPar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18" name="矩形 17"/>
            <p:cNvSpPr/>
            <p:nvPr>
              <p:custDataLst>
                <p:tags r:id="rId5"/>
              </p:custDataLst>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第六节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刑法上的认识错误</a:t>
              </a:r>
              <a:endParaRPr lang="zh-CN" altLang="en-US" dirty="0" err="1">
                <a:latin typeface="微软雅黑" panose="020B0503020204020204" pitchFamily="34" charset="-122"/>
                <a:ea typeface="微软雅黑" panose="020B0503020204020204" pitchFamily="34" charset="-122"/>
              </a:endParaRPr>
            </a:p>
          </p:txBody>
        </p:sp>
      </p:grpSp>
      <p:grpSp>
        <p:nvGrpSpPr>
          <p:cNvPr id="21" name="组合 20"/>
          <p:cNvGrpSpPr/>
          <p:nvPr/>
        </p:nvGrpSpPr>
        <p:grpSpPr>
          <a:xfrm>
            <a:off x="5512128" y="4886149"/>
            <a:ext cx="6427334" cy="783590"/>
            <a:chOff x="6063487" y="3115241"/>
            <a:chExt cx="5374980" cy="717884"/>
          </a:xfrm>
        </p:grpSpPr>
        <p:sp>
          <p:nvSpPr>
            <p:cNvPr id="22" name="椭圆 21"/>
            <p:cNvSpPr/>
            <p:nvPr>
              <p:custDataLst>
                <p:tags r:id="rId6"/>
              </p:custDataLst>
            </p:nvPr>
          </p:nvSpPr>
          <p:spPr>
            <a:xfrm>
              <a:off x="6063487" y="3173632"/>
              <a:ext cx="538529" cy="538529"/>
            </a:xfrm>
            <a:prstGeom prst="ellipse">
              <a:avLst/>
            </a:prstGeom>
            <a:solidFill>
              <a:srgbClr val="D9793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rPr>
                <a:t>5</a:t>
              </a:r>
              <a:endParaRPr kumimoji="0" lang="en-US" altLang="zh-CN" sz="24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24" name="矩形 23"/>
            <p:cNvSpPr/>
            <p:nvPr>
              <p:custDataLst>
                <p:tags r:id="rId7"/>
              </p:custDataLst>
            </p:nvPr>
          </p:nvSpPr>
          <p:spPr>
            <a:xfrm>
              <a:off x="6819327" y="3115241"/>
              <a:ext cx="4619140" cy="717884"/>
            </a:xfrm>
            <a:prstGeom prst="rect">
              <a:avLst/>
            </a:prstGeom>
          </p:spPr>
          <p:txBody>
            <a:bodyPr wrap="square">
              <a:spAutoFit/>
            </a:bodyPr>
            <a:lstStyle/>
            <a:p>
              <a:pPr algn="just" eaLnBrk="0" fontAlgn="base" hangingPunct="0">
                <a:lnSpc>
                  <a:spcPct val="150000"/>
                </a:lnSpc>
                <a:spcBef>
                  <a:spcPct val="0"/>
                </a:spcBef>
                <a:spcAft>
                  <a:spcPct val="0"/>
                </a:spcAft>
                <a:defRPr/>
              </a:pPr>
              <a:r>
                <a:rPr lang="zh-CN" altLang="en-US" b="1" dirty="0">
                  <a:solidFill>
                    <a:srgbClr val="D9793F"/>
                  </a:solidFill>
                  <a:latin typeface="微软雅黑" panose="020B0503020204020204" pitchFamily="34" charset="-122"/>
                  <a:ea typeface="微软雅黑" panose="020B0503020204020204" pitchFamily="34" charset="-122"/>
                </a:rPr>
                <a:t>第五节</a:t>
              </a:r>
              <a:endParaRPr lang="en-US" altLang="zh-CN" b="1" dirty="0">
                <a:solidFill>
                  <a:srgbClr val="D9793F"/>
                </a:solidFill>
                <a:latin typeface="微软雅黑" panose="020B0503020204020204" pitchFamily="34" charset="-122"/>
                <a:ea typeface="微软雅黑" panose="020B0503020204020204" pitchFamily="34" charset="-122"/>
              </a:endParaRPr>
            </a:p>
            <a:p>
              <a:pPr algn="just" eaLnBrk="0" fontAlgn="base" hangingPunct="0">
                <a:spcBef>
                  <a:spcPct val="0"/>
                </a:spcBef>
                <a:spcAft>
                  <a:spcPct val="0"/>
                </a:spcAft>
                <a:defRPr/>
              </a:pPr>
              <a:r>
                <a:rPr lang="zh-CN" altLang="en-US" dirty="0" err="1">
                  <a:latin typeface="微软雅黑" panose="020B0503020204020204" pitchFamily="34" charset="-122"/>
                  <a:ea typeface="微软雅黑" panose="020B0503020204020204" pitchFamily="34" charset="-122"/>
                </a:rPr>
                <a:t>无罪过行为</a:t>
              </a:r>
              <a:endParaRPr lang="zh-CN" altLang="en-US" dirty="0" err="1">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 presetClass="entr" presetSubtype="2" fill="hold" nodeType="afterEffect">
                                  <p:stCondLst>
                                    <p:cond delay="0"/>
                                  </p:stCondLst>
                                  <p:childTnLst>
                                    <p:set>
                                      <p:cBhvr>
                                        <p:cTn id="12" dur="1" fill="hold">
                                          <p:stCondLst>
                                            <p:cond delay="0"/>
                                          </p:stCondLst>
                                        </p:cTn>
                                        <p:tgtEl>
                                          <p:spTgt spid="23"/>
                                        </p:tgtEl>
                                        <p:attrNameLst>
                                          <p:attrName>style.visibility</p:attrName>
                                        </p:attrNameLst>
                                      </p:cBhvr>
                                      <p:to>
                                        <p:strVal val="visible"/>
                                      </p:to>
                                    </p:set>
                                    <p:anim calcmode="lin" valueType="num">
                                      <p:cBhvr additive="base">
                                        <p:cTn id="13" dur="500" fill="hold"/>
                                        <p:tgtEl>
                                          <p:spTgt spid="23"/>
                                        </p:tgtEl>
                                        <p:attrNameLst>
                                          <p:attrName>ppt_x</p:attrName>
                                        </p:attrNameLst>
                                      </p:cBhvr>
                                      <p:tavLst>
                                        <p:tav tm="0">
                                          <p:val>
                                            <p:strVal val="1+#ppt_w/2"/>
                                          </p:val>
                                        </p:tav>
                                        <p:tav tm="100000">
                                          <p:val>
                                            <p:strVal val="#ppt_x"/>
                                          </p:val>
                                        </p:tav>
                                      </p:tavLst>
                                    </p:anim>
                                    <p:anim calcmode="lin" valueType="num">
                                      <p:cBhvr additive="base">
                                        <p:cTn id="14" dur="500" fill="hold"/>
                                        <p:tgtEl>
                                          <p:spTgt spid="23"/>
                                        </p:tgtEl>
                                        <p:attrNameLst>
                                          <p:attrName>ppt_y</p:attrName>
                                        </p:attrNameLst>
                                      </p:cBhvr>
                                      <p:tavLst>
                                        <p:tav tm="0">
                                          <p:val>
                                            <p:strVal val="#ppt_y"/>
                                          </p:val>
                                        </p:tav>
                                        <p:tav tm="100000">
                                          <p:val>
                                            <p:strVal val="#ppt_y"/>
                                          </p:val>
                                        </p:tav>
                                      </p:tavLst>
                                    </p:anim>
                                  </p:childTnLst>
                                </p:cTn>
                              </p:par>
                            </p:childTnLst>
                          </p:cTn>
                        </p:par>
                        <p:par>
                          <p:cTn id="15" fill="hold">
                            <p:stCondLst>
                              <p:cond delay="1500"/>
                            </p:stCondLst>
                            <p:childTnLst>
                              <p:par>
                                <p:cTn id="16" presetID="22" presetClass="entr" presetSubtype="8" fill="hold" nodeType="after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par>
                          <p:cTn id="19" fill="hold">
                            <p:stCondLst>
                              <p:cond delay="2000"/>
                            </p:stCondLst>
                            <p:childTnLst>
                              <p:par>
                                <p:cTn id="20" presetID="22" presetClass="entr" presetSubtype="8" fill="hold" nodeType="after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500"/>
                                        <p:tgtEl>
                                          <p:spTgt spid="14"/>
                                        </p:tgtEl>
                                      </p:cBhvr>
                                    </p:animEffect>
                                  </p:childTnLst>
                                </p:cTn>
                              </p:par>
                            </p:childTnLst>
                          </p:cTn>
                        </p:par>
                        <p:par>
                          <p:cTn id="23" fill="hold">
                            <p:stCondLst>
                              <p:cond delay="2500"/>
                            </p:stCondLst>
                            <p:childTnLst>
                              <p:par>
                                <p:cTn id="24" presetID="22" presetClass="entr" presetSubtype="8" fill="hold" nodeType="after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500"/>
                                        <p:tgtEl>
                                          <p:spTgt spid="15"/>
                                        </p:tgtEl>
                                      </p:cBhvr>
                                    </p:animEffect>
                                  </p:childTnLst>
                                </p:cTn>
                              </p:par>
                            </p:childTnLst>
                          </p:cTn>
                        </p:par>
                        <p:par>
                          <p:cTn id="27" fill="hold">
                            <p:stCondLst>
                              <p:cond delay="3000"/>
                            </p:stCondLst>
                            <p:childTnLst>
                              <p:par>
                                <p:cTn id="28" presetID="22" presetClass="entr" presetSubtype="8"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left)">
                                      <p:cBhvr>
                                        <p:cTn id="30" dur="500"/>
                                        <p:tgtEl>
                                          <p:spTgt spid="16"/>
                                        </p:tgtEl>
                                      </p:cBhvr>
                                    </p:animEffect>
                                  </p:childTnLst>
                                </p:cTn>
                              </p:par>
                            </p:childTnLst>
                          </p:cTn>
                        </p:par>
                        <p:par>
                          <p:cTn id="31" fill="hold">
                            <p:stCondLst>
                              <p:cond delay="3500"/>
                            </p:stCondLst>
                            <p:childTnLst>
                              <p:par>
                                <p:cTn id="32" presetID="22" presetClass="entr" presetSubtype="8"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第一节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en-US" altLang="zh-CN" sz="2400" b="1" dirty="0" err="1">
                <a:latin typeface="微软雅黑" panose="020B0503020204020204" pitchFamily="34" charset="-122"/>
                <a:ea typeface="微软雅黑" panose="020B0503020204020204" pitchFamily="34" charset="-122"/>
              </a:rPr>
              <a:t>犯罪</a:t>
            </a:r>
            <a:r>
              <a:rPr lang="zh-CN" altLang="en-US" sz="2400" b="1" dirty="0" err="1">
                <a:latin typeface="微软雅黑" panose="020B0503020204020204" pitchFamily="34" charset="-122"/>
                <a:ea typeface="微软雅黑" panose="020B0503020204020204" pitchFamily="34" charset="-122"/>
              </a:rPr>
              <a:t>主观方面</a:t>
            </a:r>
            <a:r>
              <a:rPr lang="en-US" altLang="zh-CN" sz="2400" b="1" dirty="0" err="1">
                <a:latin typeface="微软雅黑" panose="020B0503020204020204" pitchFamily="34" charset="-122"/>
                <a:ea typeface="微软雅黑" panose="020B0503020204020204" pitchFamily="34" charset="-122"/>
              </a:rPr>
              <a:t>概述</a:t>
            </a:r>
            <a:endParaRPr lang="en-US" altLang="zh-CN"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/08</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6007958" y="775078"/>
            <a:ext cx="538289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33145" y="829310"/>
            <a:ext cx="1001268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一、犯罪主观方面的概念</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err="1">
                <a:latin typeface="微软雅黑" panose="020B0503020204020204" pitchFamily="34" charset="-122"/>
                <a:ea typeface="微软雅黑" panose="020B0503020204020204" pitchFamily="34" charset="-122"/>
                <a:cs typeface="宋体" panose="02010600030101010101" pitchFamily="2" charset="-122"/>
                <a:sym typeface="+mn-ea"/>
              </a:rPr>
              <a:t>犯罪主观方面，</a:t>
            </a:r>
            <a:r>
              <a:rPr sz="2000" dirty="0" err="1" smtClean="0">
                <a:latin typeface="微软雅黑" panose="020B0503020204020204" pitchFamily="34" charset="-122"/>
                <a:ea typeface="微软雅黑" panose="020B0503020204020204" pitchFamily="34" charset="-122"/>
                <a:cs typeface="宋体" panose="02010600030101010101" pitchFamily="2" charset="-122"/>
                <a:sym typeface="+mn-ea"/>
              </a:rPr>
              <a:t>是指行为人对其实施的行为所必然或可能引起的危害社会的结果所持的心理态度</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（犯罪主体对其实施的危害行为及其造成的危害结果所抱的心理态度）</a:t>
            </a:r>
            <a:r>
              <a:rPr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犯罪主观方面包括罪过</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犯罪故意和犯罪过失</a:t>
            </a: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sz="2000" dirty="0">
                <a:latin typeface="微软雅黑" panose="020B0503020204020204" pitchFamily="34" charset="-122"/>
                <a:ea typeface="微软雅黑" panose="020B0503020204020204" pitchFamily="34" charset="-122"/>
                <a:cs typeface="宋体" panose="02010600030101010101" pitchFamily="2" charset="-122"/>
                <a:sym typeface="+mn-ea"/>
              </a:rPr>
              <a:t>、犯罪目的和犯罪动机等因素。</a:t>
            </a: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二、犯罪主观方面的特征</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（一）犯罪主观方面是支配行为人实施危害行为的心理状态</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（二）犯罪主观方面主要体现为对行为危害结果的心理状态</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（三）犯罪主观方面是刑法明文规定的心理状态</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（四）犯罪主观方面是一切犯罪必须具备的要件</a:t>
            </a:r>
            <a:r>
              <a:rPr lang="zh-CN" altLang="en-US" sz="1400" b="1" dirty="0" smtClean="0">
                <a:solidFill>
                  <a:srgbClr val="00B0F0"/>
                </a:solidFill>
                <a:latin typeface="华文中宋" panose="02010600040101010101" pitchFamily="2" charset="-122"/>
                <a:ea typeface="华文中宋" panose="02010600040101010101" pitchFamily="2" charset="-122"/>
                <a:cs typeface="华文中宋" panose="02010600040101010101" pitchFamily="2" charset="-122"/>
                <a:sym typeface="+mn-ea"/>
              </a:rPr>
              <a:t>（防止客观归罪和主观归罪）</a:t>
            </a:r>
            <a:endParaRPr sz="1400" b="1" dirty="0">
              <a:solidFill>
                <a:srgbClr val="00B0F0"/>
              </a:solidFill>
              <a:latin typeface="华文中宋" panose="02010600040101010101" pitchFamily="2" charset="-122"/>
              <a:ea typeface="华文中宋" panose="02010600040101010101" pitchFamily="2" charset="-122"/>
              <a:cs typeface="宋体" panose="02010600030101010101" pitchFamily="2"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第二节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en-US" altLang="zh-CN" sz="2400" b="1" dirty="0" err="1">
                <a:latin typeface="微软雅黑" panose="020B0503020204020204" pitchFamily="34" charset="-122"/>
                <a:ea typeface="微软雅黑" panose="020B0503020204020204" pitchFamily="34" charset="-122"/>
              </a:rPr>
              <a:t>犯罪</a:t>
            </a:r>
            <a:r>
              <a:rPr lang="zh-CN" sz="2400" b="1" dirty="0" err="1">
                <a:latin typeface="微软雅黑" panose="020B0503020204020204" pitchFamily="34" charset="-122"/>
                <a:ea typeface="微软雅黑" panose="020B0503020204020204" pitchFamily="34" charset="-122"/>
              </a:rPr>
              <a:t>故意</a:t>
            </a:r>
            <a:endParaRPr lang="zh-CN"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/08</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649818" y="775078"/>
            <a:ext cx="538289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6169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一、犯罪故意的概念</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所谓犯罪故意，是指行为人明知自己的行为会造成危害社会的结果，并且希望或者放任这种结果发生的心理态度。</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第一，犯罪故意与故意犯罪并不是等同的概念。</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第二，要注意犯罪故意与一般生活意义上“故意”的区别。</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二、犯罪故意的构成要素</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（一）犯罪故意的认识因素</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犯罪故意的认识因素，即行为人明知自己的行为会发生危害社会的结果。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9310" name="Group 110"/>
          <p:cNvGraphicFramePr>
            <a:graphicFrameLocks noGrp="1"/>
          </p:cNvGraphicFramePr>
          <p:nvPr>
            <p:ph sz="half" idx="1"/>
          </p:nvPr>
        </p:nvGraphicFramePr>
        <p:xfrm>
          <a:off x="1872102" y="2073165"/>
          <a:ext cx="8431211" cy="1947974"/>
        </p:xfrm>
        <a:graphic>
          <a:graphicData uri="http://schemas.openxmlformats.org/drawingml/2006/table">
            <a:tbl>
              <a:tblPr/>
              <a:tblGrid>
                <a:gridCol w="2108279"/>
                <a:gridCol w="2107644"/>
                <a:gridCol w="2107644"/>
                <a:gridCol w="2107644"/>
              </a:tblGrid>
              <a:tr h="41229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希望说”</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sym typeface="Symbol" panose="05050102010706020507" pitchFamily="18" charset="2"/>
                        </a:rPr>
                        <a:t></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sym typeface="Symbol" panose="05050102010706020507" pitchFamily="18" charset="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a:t>
                      </a:r>
                      <a:r>
                        <a:rPr kumimoji="0" lang="zh-CN" altLang="en-US" sz="2000" b="0"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rPr>
                        <a:t>容认说”</a:t>
                      </a:r>
                      <a:endParaRPr kumimoji="0" lang="zh-CN" altLang="en-US" sz="2000" b="0" i="0" u="none" strike="noStrike" cap="none" normalizeH="0" baseline="0" dirty="0" smtClean="0">
                        <a:ln>
                          <a:noFill/>
                        </a:ln>
                        <a:solidFill>
                          <a:srgbClr val="0288DD"/>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39948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认识说”</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sym typeface="Symbol" panose="05050102010706020507" pitchFamily="18" charset="2"/>
                        </a:rPr>
                        <a:t></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盖然性说”</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136201">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意欲实现构成要件的结果时，成立故意</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认识或可能认识构成要件事实时，成立故意</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容认或放任危害结果发生时，成立故意</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认识到危害结果发生的可能性很大时，成立故意</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43" marR="91443" marT="45728" marB="45728"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181281" name="Group 33"/>
          <p:cNvGraphicFramePr>
            <a:graphicFrameLocks noGrp="1"/>
          </p:cNvGraphicFramePr>
          <p:nvPr/>
        </p:nvGraphicFramePr>
        <p:xfrm>
          <a:off x="1872101" y="4021139"/>
          <a:ext cx="8431212" cy="1219200"/>
        </p:xfrm>
        <a:graphic>
          <a:graphicData uri="http://schemas.openxmlformats.org/drawingml/2006/table">
            <a:tbl>
              <a:tblPr/>
              <a:tblGrid>
                <a:gridCol w="2108120"/>
                <a:gridCol w="2107486"/>
                <a:gridCol w="2108120"/>
                <a:gridCol w="2107486"/>
              </a:tblGrid>
              <a:tr h="121920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侧重意志因素，过于缩小故意的成立范围</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91437" marR="9143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侧重认识因素，过于扩大故意的成立范围</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L="91437" marR="9143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增加了间接故意的内容，排除过于自信的过失</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91437" marR="9143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认识到结果很可能发生，不代表容认结果发生</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marL="91437" marR="91437"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Rectangle 3"/>
          <p:cNvSpPr txBox="1">
            <a:spLocks noRot="1" noChangeArrowheads="1"/>
          </p:cNvSpPr>
          <p:nvPr/>
        </p:nvSpPr>
        <p:spPr>
          <a:xfrm>
            <a:off x="1443805" y="1091927"/>
            <a:ext cx="8540750" cy="61074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None/>
            </a:pPr>
            <a:r>
              <a:rPr lang="zh-CN" altLang="en-US" sz="2000" dirty="0" smtClean="0">
                <a:solidFill>
                  <a:srgbClr val="000000"/>
                </a:solidFill>
                <a:latin typeface="微软雅黑" panose="020B0503020204020204" pitchFamily="34" charset="-122"/>
                <a:ea typeface="微软雅黑" panose="020B0503020204020204" pitchFamily="34" charset="-122"/>
              </a:rPr>
              <a:t>相关学说</a:t>
            </a:r>
            <a:endParaRPr lang="zh-CN" altLang="en-US" sz="2000" dirty="0" smtClean="0">
              <a:solidFill>
                <a:srgbClr val="000000"/>
              </a:solidFill>
              <a:latin typeface="微软雅黑" panose="020B0503020204020204" pitchFamily="34" charset="-122"/>
              <a:ea typeface="微软雅黑" panose="020B0503020204020204" pitchFamily="34" charset="-122"/>
            </a:endParaRPr>
          </a:p>
          <a:p>
            <a:pPr>
              <a:buFont typeface="Wingdings" panose="05000000000000000000" pitchFamily="2" charset="2"/>
              <a:buNone/>
            </a:pPr>
            <a:endParaRPr lang="zh-CN" altLang="en-US" b="1" dirty="0" smtClean="0">
              <a:solidFill>
                <a:srgbClr val="00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33120"/>
            <a:ext cx="1010475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二、犯罪故意的构成要素</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 犯罪故意的认识因素</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1.对“明知”的理解。</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犯罪故意的“明知”，应当限定为法律规定的构成某种故意犯罪所不可缺少的客观事实</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因素</a:t>
            </a:r>
            <a:r>
              <a:rPr lang="zh-CN" altLang="en-US" sz="1400" b="1" dirty="0" smtClean="0">
                <a:solidFill>
                  <a:srgbClr val="0288DD"/>
                </a:solidFill>
                <a:latin typeface="微软雅黑" panose="020B0503020204020204" pitchFamily="34" charset="-122"/>
                <a:ea typeface="微软雅黑" panose="020B0503020204020204" pitchFamily="34" charset="-122"/>
                <a:cs typeface="宋体" panose="02010600030101010101" pitchFamily="2" charset="-122"/>
                <a:sym typeface="+mn-ea"/>
              </a:rPr>
              <a:t>（客观构成要件事实）</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，但是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反映定量因素的定罪情节除外。主要包括以下内容：</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）对行为</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性质的</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认识，包括对行为的内容和作用的认识。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）对危害结果的认识。即对行为造成或可能造成的危害社会结果的内容与性质的认识。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）对法定的行为对象的认识。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）对特定的时间、地点、方法的认识。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注意：</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明知</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不限于确知，还包括一定条件下的</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应知</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（可能知道）</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80110" y="1024255"/>
            <a:ext cx="10059035" cy="4448175"/>
          </a:xfrm>
          <a:prstGeom prst="rect">
            <a:avLst/>
          </a:prstGeom>
          <a:noFill/>
        </p:spPr>
        <p:txBody>
          <a:bodyPr wrap="square" rtlCol="0">
            <a:noAutofit/>
          </a:bodyPr>
          <a:lstStyle/>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（一）犯罪故意的认识因素</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2.关于犯罪故意内容是否包含违法性认识的问题。</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通说认为，原则上，犯罪故意只要求对行为的社会危害性有所认识，而不要求</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对</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刑事</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违法</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性有所认识。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3.对明知自己的行为“会发生”危害社会的结果的理解。</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刑法理论界普遍认为，这里的“会发生”包括两种情形：</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明知自己的行为</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必然</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会造成某种危害结果。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明知自己的行为有</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可能</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造成某种危害结果。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457200"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98550" y="1656080"/>
            <a:ext cx="10224135" cy="4448175"/>
          </a:xfrm>
          <a:prstGeom prst="rect">
            <a:avLst/>
          </a:prstGeom>
          <a:noFill/>
        </p:spPr>
        <p:txBody>
          <a:bodyPr wrap="square" rtlCol="0">
            <a:noAutofit/>
          </a:bodyPr>
          <a:lstStyle/>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（二）犯罪故意的意志因素</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Font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犯罪故意的意志因素，即行为人希望或者放任危害结果的发生。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具体而言，犯罪故意的意志因素表现为希望和放任两种形式。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希望，是指行为人对危害结果抱着积极追求的态度，这种态度明显而坚决。</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放任，是指行为人对危害结果的态度既不是希望，也不是不</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希望</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（听之任之、无所谓）</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latin typeface="华文中宋" panose="02010600040101010101" pitchFamily="2" charset="-122"/>
                <a:ea typeface="华文中宋" panose="02010600040101010101" pitchFamily="2" charset="-122"/>
                <a:cs typeface="华文中宋" panose="02010600040101010101" pitchFamily="2" charset="-122"/>
                <a:sym typeface="+mn-ea"/>
              </a:rPr>
              <a:t>（三）认识因素与意志因素的关系</a:t>
            </a:r>
            <a:endParaRPr lang="zh-CN" altLang="en-US" sz="20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认识因素是意志因素的前提，意志因素是认识因素的发展</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认识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因素是犯罪故意的基础，意志因素是犯罪故意的关键。</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buNone/>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67740" y="1373505"/>
            <a:ext cx="971232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三、犯罪故意的分类</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just">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（一）理论分类</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endParaRPr>
          </a:p>
          <a:p>
            <a:pPr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1.根据成立犯罪故意所要求的认识与意志不同，将犯罪故意分为行为故意和结果故意。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行为故意，是指明知自己的行为属于违法的、符合构成要件的事实，仍决意并以意志努力实施该种行为的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心理状态</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（行为犯的故意）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结果故意，是行为人明知自己的行为会导致危害社会的结果，仍决意实施该行为并希望或放任这种结果发生的心理状态</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结果</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的故意）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277620"/>
            <a:ext cx="10104755" cy="4448175"/>
          </a:xfrm>
          <a:prstGeom prst="rect">
            <a:avLst/>
          </a:prstGeom>
          <a:noFill/>
        </p:spPr>
        <p:txBody>
          <a:bodyPr wrap="square" rtlCol="0">
            <a:noAutofit/>
          </a:bodyPr>
          <a:lstStyle/>
          <a:p>
            <a:pPr indent="0" fontAlgn="auto">
              <a:lnSpc>
                <a:spcPct val="150000"/>
              </a:lnSpc>
            </a:pPr>
            <a:r>
              <a:rPr lang="zh-CN" altLang="en-US" sz="2000" dirty="0">
                <a:latin typeface="华文中宋" panose="02010600040101010101" pitchFamily="2" charset="-122"/>
                <a:ea typeface="华文中宋" panose="02010600040101010101" pitchFamily="2" charset="-122"/>
                <a:cs typeface="华文中宋" panose="02010600040101010101" pitchFamily="2" charset="-122"/>
                <a:sym typeface="+mn-ea"/>
              </a:rPr>
              <a:t>（一）理论分类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2.根据行为人对构成要件结果的认识内容与认识程度的不同，可将犯罪故意分为确定故意与不确定故意。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）确定故意，是指行为人明知自己的行为必然会发生某种具体的危害社会结果，仍希望这种结果发生的心理态度。</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）不确定故意，是指行为人明知自己的行为会发生某种危害社会结果，但对结果的具体内容认识不确定，或者对结果发生概率的认识不确定，而希望或放任结果发生的心理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态度</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概括故意：必然发生</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希望</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放任发生；</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b.</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择一故意：必然发生</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希望</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发生；</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c.</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未必故意：可能</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发生</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放任发生）</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FontTx/>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2960" y="1205230"/>
            <a:ext cx="10332720" cy="4448175"/>
          </a:xfrm>
          <a:prstGeom prst="rect">
            <a:avLst/>
          </a:prstGeom>
          <a:noFill/>
        </p:spPr>
        <p:txBody>
          <a:bodyPr wrap="square" rtlCol="0">
            <a:noAutofit/>
          </a:bodyPr>
          <a:lstStyle/>
          <a:p>
            <a:pPr indent="0" algn="just"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（一）理论分类</a:t>
            </a:r>
            <a:endParaRPr lang="zh-CN" altLang="en-US" sz="22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3.根据要求行为人所认识的构成要件结果的状态的不同，可将犯罪故意分为实害故意和危险故意两种。</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实害故意，是指行为人明知自己的行为会导致危害社会的实体的、具象的结果，而希望或放任这种结果发生的心理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态度</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（实害犯的故意）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危险故意，是指行为人明知自己的行为会导致危害社会的某种危险状态，而希望或放任这种危险状态出现的心理态度</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（危险犯</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的故意）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22960" y="956945"/>
            <a:ext cx="10332720" cy="4448175"/>
          </a:xfrm>
          <a:prstGeom prst="rect">
            <a:avLst/>
          </a:prstGeom>
          <a:noFill/>
        </p:spPr>
        <p:txBody>
          <a:bodyPr wrap="square" rtlCol="0">
            <a:noAutofit/>
          </a:bodyPr>
          <a:lstStyle/>
          <a:p>
            <a:pPr indent="0" algn="just"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（一）理论分类</a:t>
            </a:r>
            <a:endParaRPr lang="zh-CN" altLang="en-US" sz="22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4.根据行为人意志中策划的有无，可将犯罪故意分为预谋故意和非预谋故意。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预谋故意，是指行为人产生犯罪决意后，经过策划付诸实施的犯罪故意。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非预谋故意，是指行为人产生犯罪决意后，未经策划，在较短时间内决定行动过程并付诸实施的犯罪故意。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5.根据行为人对行为形式的意志选择的不同，可将犯罪故意分为作为故意和不作为故意。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作为故意，就是作为犯的故意，是指行为人明知会发生危害社会的事实，仍决意以作为方式实施犯罪行为的故意。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不作为故意，就是不作为犯的故意，是指行为人明知会发生危害社会的事实，仍决意以不作为方式实施犯罪行为的故意。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8045" y="1026795"/>
            <a:ext cx="10455275" cy="4448175"/>
          </a:xfrm>
          <a:prstGeom prst="rect">
            <a:avLst/>
          </a:prstGeom>
          <a:noFill/>
        </p:spPr>
        <p:txBody>
          <a:bodyPr wrap="square" rtlCol="0">
            <a:noAutofit/>
          </a:bodyPr>
          <a:lstStyle/>
          <a:p>
            <a:pPr algn="just">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 犯罪故意的法定分类</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1.直接故意，是指行为人明知自己的行为会发生某种危害社会的结果，并且希望这种结果发生的心理态度</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（必然</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可能发生</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希望发生）</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间接故意，是指行为人明知自己的行为可能发生某种危害社会的结果，并且放任这种结果发生的心理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态度</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（可能</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发生</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放任发生</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一般认为，间接故意主要表现为下列三种情形：</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行为人在追求某一非犯罪目的的同时，</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其行为可能引起的某一危害结果的发生。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行为人在追求某一犯罪目的的同时，</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其行为可能引起的另一个危害结果的发生。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 在某些突发性犯罪中，行为人临时起意，不计后果，</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放任</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严重后果的发生。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67410" y="1101090"/>
            <a:ext cx="10455275" cy="4448175"/>
          </a:xfrm>
          <a:prstGeom prst="rect">
            <a:avLst/>
          </a:prstGeom>
          <a:noFill/>
        </p:spPr>
        <p:txBody>
          <a:bodyPr wrap="square" rtlCol="0">
            <a:noAutofit/>
          </a:bodyPr>
          <a:lstStyle/>
          <a:p>
            <a:pPr algn="just"/>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 犯罪故意的法定分类</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3.直接故意与间接故意的区分。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两者共性主要为：</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在认识因素上，二者对危害结果的发生都有明知；</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在意志因素上，二者都不反对危害结果的发生。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二者的主要区别在于：</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）在认识因素上，行为人对危害结果发生的确定性认识有所不同。</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）在意志因素上，行为人对危害结果发生的心理态度显然不同。</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）从司法实践看，直接故意犯罪不以危害结果的实际发生为必要，而如果客观上没有发生危害结果，就难以认定行为人主观上是否具有对危害结果发生的放任心态</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（特定危害结果发生与否，对定罪的意义</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1026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四、犯意转化与另起犯意</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 犯意转化</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犯意转化是指行为人在实施犯罪行为的过程中，改变犯罪故意从而导致此罪向彼罪的转化。</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在司法实践中，犯意转化主要有以下两种情形：</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1.预备阶段的此犯意在实行阶段转化为彼犯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意</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（处理方案：</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实行行为吸收预备行为；</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b.</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想象竞合犯）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2.在实行犯罪过程中的犯意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转变</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（处理方案：犯意升高者，从新意；犯意降低者，从旧意）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（二）另起犯意</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另起犯意，是指在实施犯罪行为过程中，因某种</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情形</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出现，停止原犯罪行为而另起其他犯罪故意，实施另外一个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犯罪行为</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（前一犯罪已经既遂、未遂或中止后，又产生其他的犯罪故意而实施后一犯罪）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对于另起犯意者，原则上应实行数罪并罚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44550" y="890270"/>
            <a:ext cx="10104755" cy="4448175"/>
          </a:xfrm>
          <a:prstGeom prst="rect">
            <a:avLst/>
          </a:prstGeom>
          <a:noFill/>
        </p:spPr>
        <p:txBody>
          <a:bodyPr wrap="square" rtlCol="0">
            <a:noAutofit/>
          </a:bodyPr>
          <a:lstStyle/>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犯意转化与另起犯意的主要区别在于：</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1.前一犯罪行为是否已经停止</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下来</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（行为是否终了）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犯意转化是前一犯罪行为正在继续进行过程中的犯意变更；</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另起犯意是前一犯罪行为基于某种原因已经停止后的临时起意。</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2.犯罪对象是否为同一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对象</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（是否针对同一对象）</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犯意转化是针对同一对象存在的；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另起犯意既可以针对同一对象也可以针对另一对象（更多地体现为不同对象）。</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3.犯罪客体即所侵害的法益是否为同一或同类法</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益</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（法益是否具有包容关系）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在犯意转化的情形下，前后犯意所侵害的法益是同一或者同类的；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在另起犯意的情形下，前后犯意所侵害的法益多数情况下是不相同的。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第三节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en-US" altLang="zh-CN" sz="2400" b="1" dirty="0" err="1">
                <a:latin typeface="微软雅黑" panose="020B0503020204020204" pitchFamily="34" charset="-122"/>
                <a:ea typeface="微软雅黑" panose="020B0503020204020204" pitchFamily="34" charset="-122"/>
              </a:rPr>
              <a:t>犯罪</a:t>
            </a:r>
            <a:r>
              <a:rPr lang="zh-CN" altLang="en-US" sz="2400" b="1" dirty="0" err="1">
                <a:latin typeface="微软雅黑" panose="020B0503020204020204" pitchFamily="34" charset="-122"/>
                <a:ea typeface="微软雅黑" panose="020B0503020204020204" pitchFamily="34" charset="-122"/>
              </a:rPr>
              <a:t>目的与犯罪动机</a:t>
            </a:r>
            <a:endParaRPr lang="zh-CN" altLang="en-US"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/08</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649818" y="775078"/>
            <a:ext cx="538289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11910" y="758190"/>
            <a:ext cx="982662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一、犯罪目的</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犯罪目的，是指行为人通过实施犯罪行为希望达到的某种危害社会的结果，也就是预期的危害结果在行为人大脑中的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反映</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（与犯罪故意的意志因素相对应）</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所谓目的犯，即刑法明确要求行为人必须具备特定的目的才能成立的犯罪。对目的犯而言，行为人是否具有特定的目的，是罪与非</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罪、此</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罪与彼罪认定的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关键</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（成文</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的</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目的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犯与不成文</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的目的犯）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二、犯罪动机</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所谓犯罪动机，是指引起和</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推动</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（刺激）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人实施犯罪行为，以满足某种需要的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内心</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（冲动）</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起因</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犯罪动机的形成须具备两个基本条件：</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（1）行为人内在的需要和欲望。</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）外界的诱因与刺激。</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Group 168"/>
          <p:cNvGraphicFramePr/>
          <p:nvPr/>
        </p:nvGraphicFramePr>
        <p:xfrm>
          <a:off x="1524000" y="1672280"/>
          <a:ext cx="9333470" cy="3356920"/>
        </p:xfrm>
        <a:graphic>
          <a:graphicData uri="http://schemas.openxmlformats.org/drawingml/2006/table">
            <a:tbl>
              <a:tblPr/>
              <a:tblGrid>
                <a:gridCol w="4082661"/>
                <a:gridCol w="5250809"/>
              </a:tblGrid>
              <a:tr h="67138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贪财动机</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经济犯罪、财产犯罪</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38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报复动机</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暴力犯罪、有组织犯罪</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38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嫉妒动机</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侵犯人身权利的犯罪</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38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rPr>
                        <a:t>性动机</a:t>
                      </a:r>
                      <a:endParaRPr kumimoji="0" lang="zh-CN" altLang="en-US" sz="2000" b="0" i="0" u="none" strike="noStrike" cap="none" normalizeH="0" baseline="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性犯罪、风化犯罪</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71384">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a:t>
                      </a: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友情”动机</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rPr>
                        <a:t>扰乱公共秩序的犯罪</a:t>
                      </a:r>
                      <a:endParaRPr kumimoji="0" lang="zh-CN" altLang="en-US" sz="2000" b="0" i="0" u="none" strike="noStrike" cap="none" normalizeH="0" baseline="0" dirty="0" smtClean="0">
                        <a:ln>
                          <a:noFill/>
                        </a:ln>
                        <a:solidFill>
                          <a:srgbClr val="000000"/>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364615"/>
            <a:ext cx="10104755" cy="4448175"/>
          </a:xfrm>
          <a:prstGeom prst="rect">
            <a:avLst/>
          </a:prstGeom>
          <a:noFill/>
        </p:spPr>
        <p:txBody>
          <a:bodyPr wrap="square" rtlCol="0">
            <a:noAutofit/>
          </a:bodyPr>
          <a:lstStyle/>
          <a:p>
            <a:pPr indent="0" algn="just"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三、犯罪动机与犯罪目的的关系</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（一）二者的联系</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1.二者都是行为人在实施直接故意犯罪行为过程中产生的主观心理活动，都在一定程度上反映了行为人的主观恶性程度。</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2.犯罪目的以犯罪动机为前提和基础，犯罪动机促使犯罪目的形成，犯罪目的是犯罪动机的具体化</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二者有时反映的需求是一致的。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7870"/>
            <a:ext cx="10104755" cy="4448175"/>
          </a:xfrm>
          <a:prstGeom prst="rect">
            <a:avLst/>
          </a:prstGeom>
          <a:noFill/>
        </p:spPr>
        <p:txBody>
          <a:bodyPr wrap="square" rtlCol="0">
            <a:noAutofit/>
          </a:bodyPr>
          <a:lstStyle/>
          <a:p>
            <a:pPr indent="0" algn="just"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（二）二者的区别</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1.二者形成的时间顺序不同。</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由于犯罪目的来源于犯罪动机，故犯罪动机产生在前，犯罪目的产生在后。</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2.二者的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内容、性质和作用不同</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犯罪动机是犯罪的内心起因或内在动力，比较隐蔽、抽象</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（犯罪动机揭示行为人犯罪的内心起因，较为抽象，起到推动犯罪实施的作用）</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犯罪目的是行为人追求的客观结果在主观上的反映，比较直观、具体</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（犯罪目的是行为人追求的危害结果在主观上的反映，较为具体，起着引导、定向的作用）</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3.一种犯罪通常只有一个犯罪目的，而同种犯罪的动机则往往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因人而异</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（如取得型财产犯罪）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7870"/>
            <a:ext cx="10104755" cy="4448175"/>
          </a:xfrm>
          <a:prstGeom prst="rect">
            <a:avLst/>
          </a:prstGeom>
          <a:noFill/>
        </p:spPr>
        <p:txBody>
          <a:bodyPr wrap="square" rtlCol="0">
            <a:noAutofit/>
          </a:bodyPr>
          <a:lstStyle/>
          <a:p>
            <a:pPr indent="0" algn="just"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同一</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犯罪目的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（如非法剥夺他人生命）</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可以</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出于不同的犯罪动机，而相同的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犯罪动机</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（如报复他人）</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也</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可能导致不同的犯罪目的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5.</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二者反映</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的需要有时不</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一致</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（如间谍罪）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6</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二者在定罪量刑中的地位和作用不同。</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犯罪目的是犯罪构成的选择要素，因而不仅影响量刑，还影响定罪；</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犯罪动机不是独立的犯罪构成要素，其作用主要侧重于量刑方面</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just">
              <a:lnSpc>
                <a:spcPct val="150000"/>
              </a:lnSpc>
            </a:pP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四、</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犯罪动机与犯罪目的</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的</a:t>
            </a: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有</a:t>
            </a:r>
            <a:r>
              <a:rPr lang="zh-CN" altLang="en-US" sz="2400" dirty="0" smtClean="0">
                <a:latin typeface="微软雅黑" panose="020B0503020204020204" pitchFamily="34" charset="-122"/>
                <a:ea typeface="微软雅黑" panose="020B0503020204020204" pitchFamily="34" charset="-122"/>
                <a:cs typeface="宋体" panose="02010600030101010101" pitchFamily="2" charset="-122"/>
                <a:sym typeface="+mn-ea"/>
              </a:rPr>
              <a:t>无</a:t>
            </a:r>
            <a:endParaRPr lang="en-US" altLang="zh-CN" sz="24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犯罪目的要有</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明确的指向性</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，而间接故意中放任的心理态度不具有这种鲜明的目标性，危害结果的发生与否均不违背行为人的本意，因此，行为人在主观上也不会积极追求危害结果的发生，不会产生犯罪目的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7870"/>
            <a:ext cx="10104755" cy="4448175"/>
          </a:xfrm>
          <a:prstGeom prst="rect">
            <a:avLst/>
          </a:prstGeom>
          <a:noFill/>
        </p:spPr>
        <p:txBody>
          <a:bodyPr wrap="square" rtlCol="0">
            <a:noAutofit/>
          </a:bodyPr>
          <a:lstStyle/>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一定的动机总是与一定的目的相连的，离开了目的，行为就失去了方向，动机也就失去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了目标。</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所以，间接故意犯罪不可能是行为人基于一定动机而实施的、却又漫无目标的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既然否定间接故意犯罪中存在犯罪目的，就必然否定其也存在犯罪动机。</a:t>
            </a:r>
            <a:endPar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第四节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en-US" altLang="zh-CN" sz="2400" b="1" dirty="0" err="1">
                <a:latin typeface="微软雅黑" panose="020B0503020204020204" pitchFamily="34" charset="-122"/>
                <a:ea typeface="微软雅黑" panose="020B0503020204020204" pitchFamily="34" charset="-122"/>
              </a:rPr>
              <a:t>犯罪</a:t>
            </a:r>
            <a:r>
              <a:rPr lang="zh-CN" altLang="en-US" sz="2400" b="1" dirty="0" err="1">
                <a:latin typeface="微软雅黑" panose="020B0503020204020204" pitchFamily="34" charset="-122"/>
                <a:ea typeface="微软雅黑" panose="020B0503020204020204" pitchFamily="34" charset="-122"/>
              </a:rPr>
              <a:t>过失</a:t>
            </a:r>
            <a:endParaRPr lang="zh-CN" altLang="en-US"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/08</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649818" y="775078"/>
            <a:ext cx="538289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3435" y="772160"/>
            <a:ext cx="10104755" cy="4448175"/>
          </a:xfrm>
          <a:prstGeom prst="rect">
            <a:avLst/>
          </a:prstGeom>
          <a:noFill/>
        </p:spPr>
        <p:txBody>
          <a:bodyPr wrap="square" rtlCol="0">
            <a:noAutofit/>
          </a:bodyPr>
          <a:lstStyle/>
          <a:p>
            <a:pPr indent="0" algn="just"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一、犯罪过失的概念</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所谓犯罪过失，是指行为人应当预见自己的行为可能发生危害社会的结果，因为疏忽大意而没有预见或已经预见但轻信能够避免，导致危害结果发生的一种心理态度。</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犯罪过失也包括认识因素和意志因素两个方面。其特点是：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在认识因素上，表现为对危害结果应当预见而没有预见，或者已经预见而轻信能够避免；</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在意志因素上，行为人对危害结果的发生持根本否定的态度，是一种事与愿违、主观愿望与客观效果不一致的情况</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在过失犯的场合，行为人只要稍加注意，就能预见危害结果，并采取适当措施防止危害结果的发生。但是，行为人没有尽到其应尽的注意义务，未能有效回避危害结果的发生。因此，相比犯罪故意这种“明知故犯”的心理态度，犯罪过失是一种“不够谨慎”的心理</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态度，即注意</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义务</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结果预见义务</a:t>
            </a:r>
            <a:r>
              <a:rPr lang="en-US" altLang="zh-CN"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结果</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回避</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义务</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13435" y="772160"/>
            <a:ext cx="10104755" cy="4448175"/>
          </a:xfrm>
          <a:prstGeom prst="rect">
            <a:avLst/>
          </a:prstGeom>
          <a:noFill/>
        </p:spPr>
        <p:txBody>
          <a:bodyPr wrap="square" rtlCol="0">
            <a:noAutofit/>
          </a:bodyPr>
          <a:lstStyle/>
          <a:p>
            <a:pPr indent="0" algn="just" fontAlgn="auto">
              <a:lnSpc>
                <a:spcPct val="150000"/>
              </a:lnSpc>
            </a:pP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过失在主观心理方面具有两个显著特征：其一，认识能力与实际情况相分离。即行为人本来能够认识危害结果发生的可能性，但事实上没有认识到，或者虽然认识到，但错误地认为可以避免。其二，主观愿望与客观效果相分离。即危害结果的发生之所以出人意料，是因为行为人马虎草率，或者错误地估计了导致危害结果发生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因素。）</a:t>
            </a:r>
            <a:endPar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对</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过失犯罪追究刑事责任的正当根据在于：</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行为人应当对自己不负责任的态度支配的行为所造成的严重后果承担刑事责任。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7870"/>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二、犯罪过失的分类</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（一）犯罪过失的法定分类</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1.疏忽大意的过失。</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疏忽大意的过失，也称无认识的过失，是指行为人应当预见自己的行为可能发生危害社会的结果，因为疏忽大意而未预见，以致发生这种结果的主观心理状态。</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疏忽大意的过失有以下特征：</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行为人应当预见到行为可能发生危害结果。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“应当预见”是“预见义务”和“预见能力”的统一。</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预见义务，是指行为人预测自己行为可能发生危害社会结果的责任</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737870"/>
            <a:ext cx="1010475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预见义务的发生根据：一是法律规定，如行政管理法规、行业规章制度的规定等；二是职业要求，如风险职业特有的谨慎从事、避免风险的要求等；三是公共生活准则，如实施冒险行为前，先确认周边安全等</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algn="just" fontAlgn="auto">
              <a:lnSpc>
                <a:spcPct val="150000"/>
              </a:lnSpc>
              <a:buFont typeface="Arial" panose="020B0604020202020204" pitchFamily="34" charset="0"/>
              <a:buChar char="•"/>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预见</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能力，是指行为人预见并避免其行为可能产生的危害结果的主观上的能力。</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graphicFrame>
        <p:nvGraphicFramePr>
          <p:cNvPr id="3" name="Group 41"/>
          <p:cNvGraphicFramePr/>
          <p:nvPr/>
        </p:nvGraphicFramePr>
        <p:xfrm>
          <a:off x="939114" y="3052573"/>
          <a:ext cx="10256109" cy="3082175"/>
        </p:xfrm>
        <a:graphic>
          <a:graphicData uri="http://schemas.openxmlformats.org/drawingml/2006/table">
            <a:tbl>
              <a:tblPr/>
              <a:tblGrid>
                <a:gridCol w="3418703"/>
                <a:gridCol w="3418703"/>
                <a:gridCol w="3418703"/>
              </a:tblGrid>
              <a:tr h="39748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客观说</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主观说</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折衷说</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31476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以社会上一般人的能力为标准</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以当时行为人的能力为标准</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首先考察行为人所属的一般人能否预见</a:t>
                      </a:r>
                      <a:r>
                        <a:rPr kumimoji="0" lang="zh-CN" altLang="en-US" sz="1400" b="1"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（客观标准）</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，然后结合行为时的具体状况和行为人自身的认识能力进行判断</a:t>
                      </a:r>
                      <a:r>
                        <a:rPr kumimoji="0" lang="zh-CN" altLang="en-US" sz="1400" b="1"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（主观标准）</a:t>
                      </a:r>
                      <a:endParaRPr kumimoji="0" lang="zh-CN" altLang="en-US" sz="1400" b="1"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69248">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当行为人的能力低于一般人时，未免强人所难</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失去评价预见能力的客观尺度，可能缩小过失犯的处罚范围</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通  说</a:t>
                      </a: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（以客观标准为参考，以主观标准为根据）</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33120" y="1306195"/>
            <a:ext cx="10104755" cy="4448175"/>
          </a:xfrm>
          <a:prstGeom prst="rect">
            <a:avLst/>
          </a:prstGeom>
          <a:noFill/>
        </p:spPr>
        <p:txBody>
          <a:bodyPr wrap="square" rtlCol="0">
            <a:noAutofit/>
          </a:bodyPr>
          <a:lstStyle/>
          <a:p>
            <a:pPr algn="just">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 行为人因疏忽大意而对危害结果的发生没有预见</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.过于自信的过失。</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过于自信的过失，也称为“有认识的过失”，是指行为人已经预见到自己的行为可能发生危害社会的结果，但轻信能够避免，以致发生这种结果的心理态度。</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过于自信的过失主要有以下特征：</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行为人</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已经预见到</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可能发生</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危害</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社会的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结果</a:t>
            </a:r>
            <a:r>
              <a:rPr lang="zh-CN" altLang="en-US" sz="1400" b="1" dirty="0" smtClean="0">
                <a:solidFill>
                  <a:srgbClr val="0289D9"/>
                </a:solidFill>
                <a:latin typeface="微软雅黑" panose="020B0503020204020204" pitchFamily="34" charset="-122"/>
                <a:ea typeface="微软雅黑" panose="020B0503020204020204" pitchFamily="34" charset="-122"/>
                <a:cs typeface="宋体" panose="02010600030101010101" pitchFamily="2" charset="-122"/>
                <a:sym typeface="+mn-ea"/>
              </a:rPr>
              <a:t>（否则就是疏忽大意的过失、意外事件或直接故意）</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algn="just"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行为人轻信能够避免危害结果的发生。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3.疏忽大意的过失与过于自信的过失的区别。</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关键区别点就在于行为人在行为当时是否已经认识到其行为可能会导致某种结果的发生。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930876" y="573475"/>
          <a:ext cx="10305535" cy="2334483"/>
        </p:xfrm>
        <a:graphic>
          <a:graphicData uri="http://schemas.openxmlformats.org/drawingml/2006/table">
            <a:tbl>
              <a:tblPr/>
              <a:tblGrid>
                <a:gridCol w="2042983"/>
                <a:gridCol w="4305074"/>
                <a:gridCol w="3957478"/>
              </a:tblGrid>
              <a:tr h="481719">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认识因素</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rPr>
                        <a:t>意志因素</a:t>
                      </a:r>
                      <a:endParaRPr kumimoji="0" lang="zh-CN" altLang="en-US" sz="2000" b="0" i="0" u="none" strike="noStrike" cap="none" normalizeH="0" baseline="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2638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疏忽大意的过失</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应当预见到可能发生危害社会的结果</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由于疏忽而没有预见到危害结果的发生</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26382">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过于自信的过失</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已经预见到可能发生危害社会的结果</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由于轻信而认为能够避免危害结果的发生</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marT="45735" marB="4573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3" name="矩形 2"/>
          <p:cNvSpPr/>
          <p:nvPr/>
        </p:nvSpPr>
        <p:spPr>
          <a:xfrm>
            <a:off x="930876" y="3109181"/>
            <a:ext cx="4501553" cy="499624"/>
          </a:xfrm>
          <a:prstGeom prst="rect">
            <a:avLst/>
          </a:prstGeom>
        </p:spPr>
        <p:txBody>
          <a:bodyPr wrap="none">
            <a:spAutoFit/>
          </a:bodyPr>
          <a:lstStyle/>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4</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.过于</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自信的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过失与间接故意的</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区别。</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graphicFrame>
        <p:nvGraphicFramePr>
          <p:cNvPr id="4" name="Group 51"/>
          <p:cNvGraphicFramePr/>
          <p:nvPr/>
        </p:nvGraphicFramePr>
        <p:xfrm>
          <a:off x="930874" y="3810029"/>
          <a:ext cx="10305536" cy="1467221"/>
        </p:xfrm>
        <a:graphic>
          <a:graphicData uri="http://schemas.openxmlformats.org/drawingml/2006/table">
            <a:tbl>
              <a:tblPr/>
              <a:tblGrid>
                <a:gridCol w="2108888"/>
                <a:gridCol w="4258962"/>
                <a:gridCol w="3937686"/>
              </a:tblGrid>
              <a:tr h="391206">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zh-CN"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认识因素</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意志因素</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1070981">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过于自信的过失</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主观认识与客观现实之间</a:t>
                      </a:r>
                      <a:r>
                        <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不一致</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，对结果发生的可能性转化为现实性</a:t>
                      </a:r>
                      <a:r>
                        <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给予了错误估计</a:t>
                      </a:r>
                      <a:endPar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排斥、反对</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危害结果的发生，相信凭借有利条件可以避免危害结果的发生</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graphicFrame>
        <p:nvGraphicFramePr>
          <p:cNvPr id="5" name="Group 22"/>
          <p:cNvGraphicFramePr/>
          <p:nvPr/>
        </p:nvGraphicFramePr>
        <p:xfrm>
          <a:off x="930874" y="5280455"/>
          <a:ext cx="10305536" cy="1096457"/>
        </p:xfrm>
        <a:graphic>
          <a:graphicData uri="http://schemas.openxmlformats.org/drawingml/2006/table">
            <a:tbl>
              <a:tblPr/>
              <a:tblGrid>
                <a:gridCol w="2125364"/>
                <a:gridCol w="4258962"/>
                <a:gridCol w="3921210"/>
              </a:tblGrid>
              <a:tr h="1096457">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endParaRPr kumimoji="0" lang="en-US" altLang="zh-CN"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p>
                      <a:pPr marL="0" marR="0" lvl="0" indent="0" algn="ctr"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间接故意</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主观认识与客观现实之间是</a:t>
                      </a:r>
                      <a:r>
                        <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一致的</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，对结果发生的可能性转化为现实性</a:t>
                      </a:r>
                      <a:r>
                        <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没有发生错误认识</a:t>
                      </a:r>
                      <a:endPar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5000"/>
                        <a:buFont typeface="Wingdings" panose="05000000000000000000" pitchFamily="2" charset="2"/>
                        <a:buNone/>
                      </a:pPr>
                      <a:r>
                        <a:rPr kumimoji="0" lang="zh-CN" altLang="en-US" sz="2000" b="0" i="0" u="none" strike="noStrike" cap="none" normalizeH="0" baseline="0" dirty="0" smtClean="0">
                          <a:ln>
                            <a:noFill/>
                          </a:ln>
                          <a:solidFill>
                            <a:srgbClr val="0289D9"/>
                          </a:solidFill>
                          <a:effectLst/>
                          <a:latin typeface="微软雅黑" panose="020B0503020204020204" pitchFamily="34" charset="-122"/>
                          <a:ea typeface="微软雅黑" panose="020B0503020204020204" pitchFamily="34" charset="-122"/>
                        </a:rPr>
                        <a:t>放任、搁置</a:t>
                      </a:r>
                      <a:r>
                        <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rPr>
                        <a:t>危害结果的发生，不会相信可以凭借有利条件避免危害结果的发生</a:t>
                      </a:r>
                      <a:endParaRPr kumimoji="0" lang="zh-CN" altLang="en-US" sz="2000" b="0" i="0" u="none" strike="noStrike" cap="none" normalizeH="0" baseline="0" dirty="0" smtClean="0">
                        <a:ln>
                          <a:noFill/>
                        </a:ln>
                        <a:solidFill>
                          <a:schemeClr val="tx1"/>
                        </a:solidFill>
                        <a:effectLst/>
                        <a:latin typeface="微软雅黑" panose="020B0503020204020204" pitchFamily="34" charset="-122"/>
                        <a:ea typeface="微软雅黑" panose="020B0503020204020204" pitchFamily="34"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61365" y="1553845"/>
            <a:ext cx="10104755" cy="4448175"/>
          </a:xfrm>
          <a:prstGeom prst="rect">
            <a:avLst/>
          </a:prstGeom>
          <a:noFill/>
        </p:spPr>
        <p:txBody>
          <a:bodyPr wrap="square" rtlCol="0">
            <a:noAutofit/>
          </a:bodyPr>
          <a:lstStyle/>
          <a:p>
            <a:pPr indent="0" algn="just"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（二）犯罪过失的其他分类</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根据主体及其违反的规范内容，可将其分为普通过失和业务过失；</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根据过失的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程度，可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将其分为重过失与轻过失等；</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此外，还有一种比较特殊的过失形式，就是监督（或管理）过失。</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buFont typeface="Arial" panose="020B0604020202020204" pitchFamily="34" charset="0"/>
              <a:buNone/>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62293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三、认定犯罪过失应注意的几个问题</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（一）正确区分犯罪过失与容许的危险行为</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容许的危险行为，是指某种行为虽然潜藏着损害法益的危险，但该行为的目的具有正当性，并在客观上有益于社会，因而法律在一定限度内允许这种危险行为的实施。</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（二）信赖</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原则</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p389—390</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a:t>
            </a: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）过失向故意的发展</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（张明楷：</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刑法学</a:t>
            </a:r>
            <a:r>
              <a:rPr lang="en-US" altLang="zh-CN"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r>
              <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（上 第六版），</a:t>
            </a:r>
            <a:r>
              <a:rPr lang="en-US" altLang="zh-CN"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p391—392</a:t>
            </a:r>
            <a:r>
              <a:rPr lang="zh-CN" altLang="en-US" sz="1400" b="1" dirty="0" smtClean="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zh-CN" altLang="en-US" sz="1400" b="1" dirty="0">
              <a:solidFill>
                <a:srgbClr val="0288DD"/>
              </a:solidFill>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第五节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无罪过行为</a:t>
            </a:r>
            <a:endParaRPr lang="zh-CN"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/08</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649818" y="775078"/>
            <a:ext cx="538289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48105" y="1286510"/>
            <a:ext cx="952817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一、意外事件</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刑法上的意外事件，是指行为人的行为虽然造成了客观上的损害结果，但不是出于故意或过失，而是由无法预见的原因引起的情况</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意外事件的主要特征包括：</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行为人的行为客观上造成了损害结果。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行为人主观上不是出于故意或者过失。</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 损害结果的发生是由不能预见的原因引起</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的</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（不可能预见、不应当预见而没有预见）</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387475" y="1405890"/>
            <a:ext cx="9488805" cy="4448175"/>
          </a:xfrm>
          <a:prstGeom prst="rect">
            <a:avLst/>
          </a:prstGeom>
          <a:noFill/>
        </p:spPr>
        <p:txBody>
          <a:bodyPr wrap="square" rtlCol="0">
            <a:noAutofit/>
          </a:bodyPr>
          <a:lstStyle/>
          <a:p>
            <a:pPr marL="342900" indent="-342900" fontAlgn="auto">
              <a:lnSpc>
                <a:spcPct val="150000"/>
              </a:lnSpc>
              <a:buFont typeface="Wingdings" panose="05000000000000000000" charset="0"/>
              <a:buChar char="l"/>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意外事件</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与疏忽大意的过失存在相似之处：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对于危害结果的发生，行为人事先都没有预见到；</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对后来发生的危害结果，行为人都持否定的态度。</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Wingdings" panose="05000000000000000000" charset="0"/>
              <a:buChar char="l"/>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区分二者的关键在于：</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行为人在行为当时对危害结果能否</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预见的原因，</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即判断行为人有无预见的能力。</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129665" y="1141730"/>
            <a:ext cx="974661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二、不可抗力</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刑法上的不可抗力，是指行为在客观上虽然造成了损害结果，但不是出于故意或者过失，而是由不能抗拒的原因所引起的情况</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不可抗力具有以下特征：</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 行为人的行为客观上造成了损害结果。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 对所造成的损害结果，行为人主观上既无故意，也无</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过失。</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 损害结果是由不能抗拒的原因引起</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（有所</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预见，但不能抗拒）</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在不可抗力的情况下，行为人主观上缺乏罪过，因而其行为不属于犯罪，不负刑事责任。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497965" y="1997710"/>
            <a:ext cx="9497695" cy="4448175"/>
          </a:xfrm>
          <a:prstGeom prst="rect">
            <a:avLst/>
          </a:prstGeom>
          <a:noFill/>
        </p:spPr>
        <p:txBody>
          <a:bodyPr wrap="square" rtlCol="0">
            <a:noAutofit/>
          </a:bodyPr>
          <a:lstStyle/>
          <a:p>
            <a:pPr algn="l" fontAlgn="auto">
              <a:lnSpc>
                <a:spcPct val="150000"/>
              </a:lnSpc>
              <a:buClrTx/>
              <a:buSzTx/>
              <a:buFontTx/>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三、无期待可能性</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（适法行为的）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期待</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可能性，是指从行为时的具体情况看，可以期待行为人不实施违法行为，而应实施合法行为的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情形</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（广义的期待可能性理论与狭义的期待可能性要素）</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如果不具有期待可能性，也就不能对行为人的违法行为进行谴责与非难。</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normAutofit/>
          </a:bodyPr>
          <a:lstStyle/>
          <a:p>
            <a:r>
              <a:rPr lang="zh-CN" altLang="en-US" sz="3200" dirty="0">
                <a:latin typeface="华文中宋" panose="02010600040101010101" pitchFamily="2" charset="-122"/>
                <a:ea typeface="华文中宋" panose="02010600040101010101" pitchFamily="2" charset="-122"/>
              </a:rPr>
              <a:t>第六节</a:t>
            </a:r>
            <a:endParaRPr lang="zh-CN" altLang="en-US" sz="3200" dirty="0">
              <a:latin typeface="华文中宋" panose="02010600040101010101" pitchFamily="2" charset="-122"/>
              <a:ea typeface="华文中宋" panose="02010600040101010101" pitchFamily="2" charset="-122"/>
            </a:endParaRPr>
          </a:p>
        </p:txBody>
      </p:sp>
      <p:sp>
        <p:nvSpPr>
          <p:cNvPr id="6" name="文本占位符 5"/>
          <p:cNvSpPr>
            <a:spLocks noGrp="1"/>
          </p:cNvSpPr>
          <p:nvPr>
            <p:ph type="body" idx="1"/>
          </p:nvPr>
        </p:nvSpPr>
        <p:spPr/>
        <p:txBody>
          <a:bodyPr>
            <a:noAutofit/>
          </a:bodyPr>
          <a:lstStyle/>
          <a:p>
            <a:pPr lvl="0" algn="just" eaLnBrk="0" fontAlgn="base" hangingPunct="0">
              <a:spcBef>
                <a:spcPct val="0"/>
              </a:spcBef>
              <a:spcAft>
                <a:spcPct val="0"/>
              </a:spcAft>
              <a:defRPr/>
            </a:pPr>
            <a:r>
              <a:rPr lang="zh-CN" sz="2400" b="1" dirty="0" err="1">
                <a:latin typeface="微软雅黑" panose="020B0503020204020204" pitchFamily="34" charset="-122"/>
                <a:ea typeface="微软雅黑" panose="020B0503020204020204" pitchFamily="34" charset="-122"/>
              </a:rPr>
              <a:t>刑法上的认识错误</a:t>
            </a:r>
            <a:endParaRPr lang="zh-CN" sz="2400" b="1" dirty="0" err="1">
              <a:latin typeface="微软雅黑" panose="020B0503020204020204" pitchFamily="34" charset="-122"/>
              <a:ea typeface="微软雅黑" panose="020B0503020204020204" pitchFamily="34" charset="-122"/>
            </a:endParaRPr>
          </a:p>
        </p:txBody>
      </p:sp>
      <p:sp>
        <p:nvSpPr>
          <p:cNvPr id="9" name="文本框 8"/>
          <p:cNvSpPr txBox="1"/>
          <p:nvPr/>
        </p:nvSpPr>
        <p:spPr>
          <a:xfrm>
            <a:off x="804403" y="1955801"/>
            <a:ext cx="2206137" cy="1918154"/>
          </a:xfrm>
          <a:prstGeom prst="rect">
            <a:avLst/>
          </a:prstGeom>
          <a:noFill/>
          <a:ln w="117475">
            <a:noFill/>
          </a:ln>
        </p:spPr>
        <p:txBody>
          <a:bodyPr wrap="none" rtlCol="0">
            <a:prstTxWarp prst="textPlain">
              <a:avLst/>
            </a:prstTxWarp>
            <a:spAutoFit/>
          </a:bodyPr>
          <a:lstStyle/>
          <a:p>
            <a:r>
              <a:rPr lang="en-US" altLang="zh-CN" spc="100" dirty="0">
                <a:solidFill>
                  <a:schemeClr val="bg1"/>
                </a:solidFill>
                <a:latin typeface="Impact" panose="020B0806030902050204" pitchFamily="34" charset="0"/>
                <a:cs typeface="Arial" panose="020B0604020202020204" pitchFamily="34" charset="0"/>
              </a:rPr>
              <a:t>/08</a:t>
            </a:r>
            <a:endParaRPr lang="zh-CN" altLang="en-US" spc="100" dirty="0">
              <a:solidFill>
                <a:schemeClr val="bg1"/>
              </a:solidFill>
              <a:latin typeface="Impact" panose="020B0806030902050204" pitchFamily="34" charset="0"/>
              <a:cs typeface="Arial" panose="020B0604020202020204" pitchFamily="34" charset="0"/>
            </a:endParaRPr>
          </a:p>
        </p:txBody>
      </p:sp>
      <p:sp>
        <p:nvSpPr>
          <p:cNvPr id="7" name="矩形 6"/>
          <p:cNvSpPr/>
          <p:nvPr/>
        </p:nvSpPr>
        <p:spPr>
          <a:xfrm>
            <a:off x="5649818" y="775078"/>
            <a:ext cx="5382895" cy="829945"/>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第八章  </a:t>
            </a:r>
            <a:r>
              <a:rPr lang="en-US" altLang="zh-CN" sz="4000" b="1" dirty="0">
                <a:solidFill>
                  <a:srgbClr val="D9793F"/>
                </a:solidFill>
                <a:latin typeface="华文新魏" panose="02010800040101010101" charset="-122"/>
                <a:ea typeface="华文新魏" panose="02010800040101010101" charset="-122"/>
                <a:sym typeface="+mn-ea"/>
              </a:rPr>
              <a:t>   </a:t>
            </a:r>
            <a:r>
              <a:rPr lang="zh-CN" altLang="en-US" sz="4000" b="1" dirty="0">
                <a:solidFill>
                  <a:srgbClr val="D9793F"/>
                </a:solidFill>
                <a:latin typeface="华文新魏" panose="02010800040101010101" charset="-122"/>
                <a:ea typeface="华文新魏" panose="02010800040101010101" charset="-122"/>
                <a:sym typeface="+mn-ea"/>
              </a:rPr>
              <a:t>犯罪主观方面</a:t>
            </a:r>
            <a:endParaRPr lang="zh-CN" altLang="en-US" sz="4000" b="1" dirty="0">
              <a:solidFill>
                <a:srgbClr val="D9793F"/>
              </a:solidFill>
              <a:latin typeface="华文新魏" panose="02010800040101010101" charset="-122"/>
              <a:ea typeface="华文新魏" panose="02010800040101010101"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par>
                          <p:cTn id="10" fill="hold">
                            <p:stCondLst>
                              <p:cond delay="500"/>
                            </p:stCondLst>
                            <p:childTnLst>
                              <p:par>
                                <p:cTn id="11" presetID="10" presetClass="entr" presetSubtype="0" fill="hold" grpId="0" nodeType="afterEffect">
                                  <p:stCondLst>
                                    <p:cond delay="0"/>
                                  </p:stCondLst>
                                  <p:iterate type="wd">
                                    <p:tmPct val="10000"/>
                                  </p:iterate>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par>
                          <p:cTn id="14" fill="hold">
                            <p:stCondLst>
                              <p:cond delay="1649"/>
                            </p:stCondLst>
                            <p:childTnLst>
                              <p:par>
                                <p:cTn id="15" presetID="10" presetClass="entr" presetSubtype="0" fill="hold" grpId="0" nodeType="afterEffect">
                                  <p:stCondLst>
                                    <p:cond delay="0"/>
                                  </p:stCondLst>
                                  <p:iterate type="wd">
                                    <p:tmPct val="10000"/>
                                  </p:iterate>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par>
                          <p:cTn id="18" fill="hold">
                            <p:stCondLst>
                              <p:cond delay="2250"/>
                            </p:stCondLst>
                            <p:childTnLst>
                              <p:par>
                                <p:cTn id="19" presetID="10" presetClass="entr" presetSubtype="0" fill="hold" grpId="0" nodeType="afterEffect">
                                  <p:stCondLst>
                                    <p:cond delay="0"/>
                                  </p:stCondLst>
                                  <p:iterate type="wd">
                                    <p:tmPct val="10000"/>
                                  </p:iterate>
                                  <p:childTnLst>
                                    <p:set>
                                      <p:cBhvr>
                                        <p:cTn id="20" dur="1" fill="hold">
                                          <p:stCondLst>
                                            <p:cond delay="0"/>
                                          </p:stCondLst>
                                        </p:cTn>
                                        <p:tgtEl>
                                          <p:spTgt spid="6">
                                            <p:txEl>
                                              <p:pRg st="0" end="0"/>
                                            </p:txEl>
                                          </p:spTgt>
                                        </p:tgtEl>
                                        <p:attrNameLst>
                                          <p:attrName>style.visibility</p:attrName>
                                        </p:attrNameLst>
                                      </p:cBhvr>
                                      <p:to>
                                        <p:strVal val="visible"/>
                                      </p:to>
                                    </p:set>
                                    <p:animEffect transition="in" filter="fade">
                                      <p:cBhvr>
                                        <p:cTn id="21"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uild="p"/>
      <p:bldP spid="9" grpId="0"/>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430020"/>
            <a:ext cx="1010475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刑法上的认识错误，是指行为人对于自己行为的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法律意义或</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事实情况的认识发生错误。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一、法律认识错误</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法律认识错误，即违法性错误，是指行为人对自己的行为在法律上是否构成犯罪、构成何种犯罪或者应当受到何种处罚的错误认识。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法律认识错误中，行为人只是对其行为的法律评价有不正确理解，对其行为在事实上的情况并无错误认识，因此，对其行为的性质及法律后果并没有影响，其行为是否构成犯罪、如何追究刑事责任，只能严格按照法律的规定加以认定和处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8488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一、法律认识错误</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（一）假想的犯罪</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假想的犯罪，即行为人的行为在法律上不构成犯罪，而行为人误认为构成</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（积极的法律错误或幻觉</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将一般违法行为或违反道德行为误认为</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;b.</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将某种正当行为误认为</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犯罪</a:t>
            </a:r>
            <a:r>
              <a:rPr lang="en-US" altLang="zh-CN"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;c.</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将现在缺少刑事违法性的行为误认为犯罪</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根据罪刑法定原则的要求，只能依据法律认定行为的性质，对于法律不认为是犯罪的行为，当然不能以犯罪论处。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（二）假想的无罪</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假想的无罪，即行为人的行为在法律上构成犯罪，而行为人误认为不构成</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a:t>
            </a:r>
            <a:r>
              <a:rPr lang="zh-CN" altLang="en-US" sz="1400" b="1"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（消极的法律</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错误）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84885"/>
            <a:ext cx="1010475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在此场合，能否对行为人的行为免责，古今中外的看法不尽一致。罗马法长期奉行“不知法律不赦”的原则，但是，这一古老原则在现代正在受到不小的冲击。</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德国刑法典</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17</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条规定：“行为人行为时没有认识其违法性，如该错误认识不可避免，则对其行为不负责任。如该错误认识可以避免，则依第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49</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项减轻处罚。”</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日本刑法典</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38</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条第</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项也规定：“即使不知法律，也不能据此认为没有犯罪的故意，但可以根据情节减轻刑罚。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我国</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刑法</a:t>
            </a: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未作类似规定，但在</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特殊情况</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下，可排除行为人的故意或酌情从宽处罚</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对假想无罪的情形，由于行为人已经实施了触犯刑法的行为，因而应当依法追究其刑事责任。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65468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一、法律认识错误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（二）假想的无罪</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在以下三种特殊情况下，行为人的法律认识错误是</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不可避免</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的，不宜认定行为人的行为构成犯罪并追究</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刑事责任</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（缺乏认识法律的机会、条件，已尽到了认识法律的最大努力）</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（1）某种原来并非法律所禁止的行为，后来国家以特别法的形式规定为犯罪，在该法律刚实施之际，行为人确实不知道新的法律颁行并已经禁止此行为，而仍然认为自己的行为是合法的。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（2）对法的状况产生疑问，因信赖主管机关或者司法机关的见解而产生了违法性的错误的，属于不可避免的错误。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（3）当上位法和下位法发生矛盾时，行为人因信赖下位法而违背上位法的，属于不可避免的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错误</a:t>
            </a:r>
            <a:r>
              <a:rPr lang="zh-CN" altLang="en-US" sz="2000"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78535" y="1480820"/>
            <a:ext cx="10001250"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一、法律认识错误</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（三）对具体罪名及刑罚轻重的认识错误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对具体罪名及刑罚轻重的认识错误，即行为人认识到自己的行为已经构成犯罪，但对自己的行为构成何种罪名，以及应当如何处罚，存在错误的理解</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主观认识的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罪名、刑罚轻</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于实际符合的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罪名、刑罚</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主观认识的罪名、刑罚重于实际符合的罪名、刑罚</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：行为人的此类错误，既不影响定罪，也不影响量刑，因为司法机关只能根据案件事实和法律规定定罪处刑，追究行为人的刑事责任。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057275"/>
            <a:ext cx="1010475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二、事实认识错误</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事实认识错误，是指行为人主观上对决定其行为性质及刑事责任的有关事实情况存在不正确的理解。</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行为人认识的事实虽然与实际发生的事实不一致，但没有超出同一犯罪构成的范围的，称为</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具体的事实认识错误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，也称</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同一犯罪构成内的错误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行为人认识的事实与实际发生的事实不一致，且已超出同一犯罪构成的范围的，称为</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抽象的事实认识错误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，也称</a:t>
            </a:r>
            <a:r>
              <a:rPr lang="zh-CN" altLang="en-US" sz="2000" dirty="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不同犯罪构成的错误</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80745" y="1357630"/>
            <a:ext cx="998537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二、事实认识错误</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     </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对于事实认识错误的处理，理论上存在具体符合说和法定符合说的争论。</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具体符合说认为，只有当行为人所认识的事实与实际发生的事实相一致时，才成立故意的既遂</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（重视法益主体的区别）</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marL="342900" indent="-342900" fontAlgn="auto">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法定符合说认为，行为人所认识的事实与实际发生的事实，只要在犯罪构成范围内是一致的，就成立故意的既遂</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（重视法益的性质）</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32180" y="1018540"/>
            <a:ext cx="10183495" cy="4448175"/>
          </a:xfrm>
          <a:prstGeom prst="rect">
            <a:avLst/>
          </a:prstGeom>
          <a:noFill/>
        </p:spPr>
        <p:txBody>
          <a:bodyPr wrap="square" rtlCol="0">
            <a:noAutofit/>
          </a:bodyPr>
          <a:lstStyle/>
          <a:p>
            <a:pPr indent="0" fontAlgn="auto">
              <a:lnSpc>
                <a:spcPct val="150000"/>
              </a:lnSpc>
            </a:pPr>
            <a:r>
              <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rPr>
              <a:t>二、事实认识错误</a:t>
            </a:r>
            <a:endParaRPr lang="zh-CN" altLang="en-US" sz="24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事实认识错误主要有以下几种：</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一）客体错误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客体错误，是指行为人意图侵犯一种客体，而实际上侵犯了另一种客体。</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处理方法：对客体认识错误的案件，应当按照行为人意图侵犯的客体定罪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客体实际上存在，行为人误认为不存在</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例如</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，行为人误将他人当做野兽射杀，此时构成意外事件或过失犯罪</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en-US" altLang="zh-CN" sz="2000" dirty="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客体实际上不存在，行为人误认为存在</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例如</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，车间主任与厂长争吵后，为泄愤报复而割断电线，意图使生产限于停顿，但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其实厂里</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已更改线路，原有线路早已不再使用。此时，行为人构成犯罪未遂</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32180" y="1018540"/>
            <a:ext cx="10183495"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 </a:t>
            </a:r>
            <a:r>
              <a:rPr lang="en-US" altLang="zh-CN" sz="2000" dirty="0">
                <a:latin typeface="微软雅黑" panose="020B0503020204020204" pitchFamily="34" charset="-122"/>
                <a:ea typeface="微软雅黑" panose="020B0503020204020204" pitchFamily="34" charset="-122"/>
                <a:cs typeface="华文中宋" panose="02010600040101010101" pitchFamily="2" charset="-122"/>
                <a:sym typeface="+mn-ea"/>
              </a:rPr>
              <a:t>3.</a:t>
            </a: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行为人意图侵害某一客体，结果却侵害了另一客体</a:t>
            </a:r>
            <a:endPar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华文中宋" panose="02010600040101010101" pitchFamily="2" charset="-122"/>
                <a:sym typeface="+mn-ea"/>
              </a:rPr>
              <a:t>例如，行为人误将失去意识的他人当作尸体奸淫，在此应构成犯罪既</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遂</a:t>
            </a:r>
            <a:r>
              <a:rPr lang="zh-CN" altLang="en-US" sz="2000" dirty="0" smtClean="0">
                <a:solidFill>
                  <a:srgbClr val="00B0F0"/>
                </a:solidFill>
                <a:latin typeface="微软雅黑" panose="020B0503020204020204" pitchFamily="34" charset="-122"/>
                <a:ea typeface="微软雅黑" panose="020B0503020204020204" pitchFamily="34" charset="-122"/>
                <a:cs typeface="华文中宋" panose="02010600040101010101" pitchFamily="2" charset="-122"/>
                <a:sym typeface="+mn-ea"/>
              </a:rPr>
              <a:t>（ ？）</a:t>
            </a:r>
            <a:r>
              <a:rPr lang="zh-CN" altLang="en-US" sz="2000" dirty="0" smtClean="0">
                <a:latin typeface="微软雅黑" panose="020B0503020204020204" pitchFamily="34" charset="-122"/>
                <a:ea typeface="微软雅黑" panose="020B0503020204020204" pitchFamily="34" charset="-122"/>
                <a:cs typeface="华文中宋" panose="02010600040101010101" pitchFamily="2" charset="-122"/>
                <a:sym typeface="+mn-ea"/>
              </a:rPr>
              <a:t>。</a:t>
            </a:r>
            <a:endParaRPr lang="en-US" altLang="zh-CN" sz="2000" dirty="0" smtClean="0">
              <a:latin typeface="微软雅黑" panose="020B0503020204020204" pitchFamily="34" charset="-122"/>
              <a:ea typeface="微软雅黑" panose="020B0503020204020204" pitchFamily="34" charset="-122"/>
              <a:cs typeface="华文中宋" panose="02010600040101010101" pitchFamily="2" charset="-122"/>
              <a:sym typeface="+mn-ea"/>
            </a:endParaRPr>
          </a:p>
          <a:p>
            <a:pPr indent="0" fontAlgn="auto">
              <a:lnSpc>
                <a:spcPct val="150000"/>
              </a:lnSpc>
            </a:pPr>
            <a:r>
              <a:rPr lang="zh-CN" altLang="en-US" sz="2200" dirty="0" smtClean="0">
                <a:latin typeface="华文中宋" panose="02010600040101010101" pitchFamily="2" charset="-122"/>
                <a:ea typeface="华文中宋" panose="02010600040101010101" pitchFamily="2" charset="-122"/>
                <a:cs typeface="华文中宋" panose="02010600040101010101" pitchFamily="2" charset="-122"/>
                <a:sym typeface="+mn-ea"/>
              </a:rPr>
              <a:t>（</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二）对象错误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对象错误，是指行为人对自己行为所指向的人或物的具体性质或种类的认识错误。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对象错误具体可分为三种情况：</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1.意欲指向的具体犯罪对象不存在，行为人误以为存在而实施犯罪的。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处理：行为人仍成立故意犯罪，但由于作为犯罪构成要件事实的犯罪对象不存在，犯罪不可能得逞，因而行为人只负犯罪未遂的刑事责任。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79780" y="1204595"/>
            <a:ext cx="10631170"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（二）对象错误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2.对同一性质具体对象的认识错误。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即行为人对危害行为所作用的具体的人或物发生错误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认识</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（具体的事实认识错误）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处理：通说对此问题采取“法定符合说”，即没有引起客体变化的对象认识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错误，不</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影响定性。</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3.对不同性质具体对象的认识错误。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行为人对打击对象的认识错误引起了客体错误，认识内容和发生事实分别属于不同的犯罪构成</a:t>
            </a:r>
            <a:r>
              <a:rPr lang="zh-CN" altLang="en-US" sz="1400" b="1" dirty="0" smtClean="0">
                <a:solidFill>
                  <a:srgbClr val="00B0F0"/>
                </a:solidFill>
                <a:latin typeface="微软雅黑" panose="020B0503020204020204" pitchFamily="34" charset="-122"/>
                <a:ea typeface="微软雅黑" panose="020B0503020204020204" pitchFamily="34" charset="-122"/>
                <a:cs typeface="宋体" panose="02010600030101010101" pitchFamily="2" charset="-122"/>
                <a:sym typeface="+mn-ea"/>
              </a:rPr>
              <a:t>（抽象的事实认识错误）</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a:t>
            </a:r>
            <a:endPar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：对于超出了同一犯罪构成的内容，行为人在主观上应被认定为过失，一般按照故意犯罪的未遂和过失行为的竞合来处理。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283970"/>
            <a:ext cx="10001885" cy="4448175"/>
          </a:xfrm>
          <a:prstGeom prst="rect">
            <a:avLst/>
          </a:prstGeom>
          <a:noFill/>
        </p:spPr>
        <p:txBody>
          <a:bodyPr wrap="square" rtlCol="0">
            <a:noAutofit/>
          </a:bodyPr>
          <a:lstStyle/>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（三） 行为性质错误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行为性质错误，是指行为人对自己行为的实际性质发生了错误的认识。假想防卫、假想避险等都属于此种情况。</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处理：一般可以排除故意犯罪的成立，行为要么不构成犯罪，要么构成过失犯罪。</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（四）工具错误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工具错误，是指行为人在实施危害行为时，对其使用的工具产生错误认识。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algn="l" fontAlgn="auto">
              <a:lnSpc>
                <a:spcPct val="150000"/>
              </a:lnSpc>
              <a:buClrTx/>
              <a:buSzTx/>
              <a:buNone/>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处理：以犯罪未遂追究行为人的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刑事责任。</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25830" y="1204595"/>
            <a:ext cx="10053955" cy="4448175"/>
          </a:xfrm>
          <a:prstGeom prst="rect">
            <a:avLst/>
          </a:prstGeom>
          <a:noFill/>
        </p:spPr>
        <p:txBody>
          <a:bodyPr wrap="square" rtlCol="0">
            <a:noAutofit/>
          </a:bodyPr>
          <a:lstStyle/>
          <a:p>
            <a:pPr algn="l" fontAlgn="auto">
              <a:lnSpc>
                <a:spcPct val="150000"/>
              </a:lnSpc>
              <a:buClrTx/>
              <a:buSzTx/>
              <a:buFontTx/>
            </a:pPr>
            <a:r>
              <a:rPr lang="zh-CN" altLang="en-US" sz="2200">
                <a:latin typeface="华文中宋" panose="02010600040101010101" pitchFamily="2" charset="-122"/>
                <a:ea typeface="华文中宋" panose="02010600040101010101" pitchFamily="2" charset="-122"/>
                <a:cs typeface="华文中宋" panose="02010600040101010101" pitchFamily="2" charset="-122"/>
                <a:sym typeface="+mn-ea"/>
              </a:rPr>
              <a:t>（五）</a:t>
            </a: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因果关系的错误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因果关系的错误，是指行为人对自己的行为与某种结果之间有无因果关系，以及因果关系的实际发展方向或具体进程发生了错误认识。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1.因果关系存在与否的错误。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即行为人对其行为是否造成了预期的结果，或者说其追求的结果是否由自己行为造成，发生了错误的认识。</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处理：不影响犯罪的性质，但可能会影响犯罪的形态。</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988060"/>
            <a:ext cx="10671810" cy="4448175"/>
          </a:xfrm>
          <a:prstGeom prst="rect">
            <a:avLst/>
          </a:prstGeom>
          <a:noFill/>
        </p:spPr>
        <p:txBody>
          <a:bodyPr wrap="square" rtlCol="0">
            <a:noAutofit/>
          </a:bodyPr>
          <a:lstStyle/>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因果关系存在与否的错误的具体情形</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（1）行为人实施了某种故意犯罪行为，客观上也造成了某种危害结果，但行为人自以为该结果没有发生。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犯罪既遂。</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（2）行为人误以为自己的行为造成了预期的犯罪结果，但该结果实际上并未发生。</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犯罪未遂。</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（3）行为人所追求的结果事实上是由其他原因造成的，行为人误认为是自己的行为造成的。</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犯罪未遂。</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829945"/>
            <a:ext cx="10609580" cy="4448175"/>
          </a:xfrm>
          <a:prstGeom prst="rect">
            <a:avLst/>
          </a:prstGeom>
          <a:noFill/>
        </p:spPr>
        <p:txBody>
          <a:bodyPr wrap="square" rtlCol="0">
            <a:noAutofit/>
          </a:bodyPr>
          <a:lstStyle/>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（五）因果关系的错误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2.因果关系发展方向的错误。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即行为人的行为没有按照他预想的方向发展，造成了其所预见、追求的目标之外的其他结果。</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一般是在按照原有的故意心理确定犯罪性质的同时，将超出故意范围的结果作为量刑时考虑的因素。</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3.因果关系具体进程的错误。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不影响刑事责任，仍构成犯罪既遂。</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4.犯罪结果的提前实现。</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即行为人所追求的犯罪结果提前于行为人的预想实现。</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如果已经着手，则认定为犯罪既遂。</a:t>
            </a:r>
            <a:endParaRPr lang="zh-CN" altLang="en-US" sz="20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875030" y="1204595"/>
            <a:ext cx="10104755" cy="4448175"/>
          </a:xfrm>
          <a:prstGeom prst="rect">
            <a:avLst/>
          </a:prstGeom>
          <a:noFill/>
        </p:spPr>
        <p:txBody>
          <a:bodyPr wrap="square" rtlCol="0">
            <a:noAutofit/>
          </a:bodyPr>
          <a:lstStyle/>
          <a:p>
            <a:pPr algn="l" fontAlgn="auto">
              <a:lnSpc>
                <a:spcPct val="150000"/>
              </a:lnSpc>
              <a:buClrTx/>
              <a:buSzTx/>
              <a:buFontTx/>
            </a:pPr>
            <a:r>
              <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rPr>
              <a:t>（六） 打击错误</a:t>
            </a:r>
            <a:endParaRPr lang="zh-CN" altLang="en-US" sz="2200" dirty="0">
              <a:latin typeface="华文中宋" panose="02010600040101010101" pitchFamily="2" charset="-122"/>
              <a:ea typeface="华文中宋" panose="02010600040101010101" pitchFamily="2" charset="-122"/>
              <a:cs typeface="华文中宋" panose="02010600040101010101" pitchFamily="2" charset="-122"/>
              <a:sym typeface="+mn-ea"/>
            </a:endParaRPr>
          </a:p>
          <a:p>
            <a:pPr indent="0" fontAlgn="auto">
              <a:lnSpc>
                <a:spcPct val="150000"/>
              </a:lnSpc>
            </a:pP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打击错误，又称“方法错误”，是指行为人对自己意欲侵害的某一对象实施侵害行为，由于行为本身的偏差，导致行为人所欲攻击的对象与实际受害的对象不一致。</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打击错误包括两类情况：</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1</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.同一犯罪构成内部的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错误。</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构成</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犯罪既遂</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2</a:t>
            </a:r>
            <a:r>
              <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rPr>
              <a:t>.不同犯罪构成的</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错误。</a:t>
            </a:r>
            <a:endParaRPr lang="en-US" altLang="zh-CN" sz="2000" dirty="0" smtClean="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r>
              <a:rPr lang="zh-CN" altLang="en-US" sz="2000" b="1" dirty="0" smtClean="0">
                <a:latin typeface="微软雅黑" panose="020B0503020204020204" pitchFamily="34" charset="-122"/>
                <a:ea typeface="微软雅黑" panose="020B0503020204020204" pitchFamily="34" charset="-122"/>
                <a:cs typeface="宋体" panose="02010600030101010101" pitchFamily="2" charset="-122"/>
                <a:sym typeface="+mn-ea"/>
              </a:rPr>
              <a:t>处理：</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成立</a:t>
            </a:r>
            <a:r>
              <a:rPr lang="zh-CN" altLang="en-US" sz="2000" dirty="0" smtClean="0">
                <a:latin typeface="微软雅黑" panose="020B0503020204020204" pitchFamily="34" charset="-122"/>
                <a:ea typeface="微软雅黑" panose="020B0503020204020204" pitchFamily="34" charset="-122"/>
                <a:cs typeface="宋体" panose="02010600030101010101" pitchFamily="2" charset="-122"/>
                <a:sym typeface="+mn-ea"/>
              </a:rPr>
              <a:t>想象竞合犯</a:t>
            </a: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a:p>
            <a:pPr indent="0" fontAlgn="auto">
              <a:lnSpc>
                <a:spcPct val="150000"/>
              </a:lnSpc>
            </a:pPr>
            <a:endParaRPr lang="zh-CN" altLang="en-US" sz="2000" dirty="0">
              <a:latin typeface="微软雅黑" panose="020B0503020204020204" pitchFamily="34" charset="-122"/>
              <a:ea typeface="微软雅黑" panose="020B0503020204020204" pitchFamily="34" charset="-122"/>
              <a:cs typeface="宋体" panose="02010600030101010101" pitchFamily="2"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îṥḷîďe"/>
          <p:cNvSpPr/>
          <p:nvPr/>
        </p:nvSpPr>
        <p:spPr>
          <a:xfrm>
            <a:off x="1056640" y="2081530"/>
            <a:ext cx="10098405" cy="3766185"/>
          </a:xfrm>
          <a:prstGeom prst="roundRect">
            <a:avLst>
              <a:gd name="adj" fmla="val 5574"/>
            </a:avLst>
          </a:prstGeom>
          <a:solidFill>
            <a:schemeClr val="bg1"/>
          </a:solidFill>
          <a:ln w="12700">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chorCtr="0" forceAA="0" compatLnSpc="1">
            <a:normAutofit/>
          </a:bodyPr>
          <a:lstStyle>
            <a:defPPr>
              <a:defRPr lang="zh-CN"/>
            </a:defPPr>
            <a:lvl1pPr marL="0" algn="l" defTabSz="913765" rtl="0" eaLnBrk="1" latinLnBrk="0" hangingPunct="1">
              <a:defRPr sz="1800" kern="1200">
                <a:solidFill>
                  <a:schemeClr val="lt1"/>
                </a:solidFill>
              </a:defRPr>
            </a:lvl1pPr>
            <a:lvl2pPr marL="457200" algn="l" defTabSz="913765" rtl="0" eaLnBrk="1" latinLnBrk="0" hangingPunct="1">
              <a:defRPr sz="1800" kern="1200">
                <a:solidFill>
                  <a:schemeClr val="lt1"/>
                </a:solidFill>
              </a:defRPr>
            </a:lvl2pPr>
            <a:lvl3pPr marL="914400" algn="l" defTabSz="913765" rtl="0" eaLnBrk="1" latinLnBrk="0" hangingPunct="1">
              <a:defRPr sz="1800" kern="1200">
                <a:solidFill>
                  <a:schemeClr val="lt1"/>
                </a:solidFill>
              </a:defRPr>
            </a:lvl3pPr>
            <a:lvl4pPr marL="1371600" algn="l" defTabSz="913765" rtl="0" eaLnBrk="1" latinLnBrk="0" hangingPunct="1">
              <a:defRPr sz="1800" kern="1200">
                <a:solidFill>
                  <a:schemeClr val="lt1"/>
                </a:solidFill>
              </a:defRPr>
            </a:lvl4pPr>
            <a:lvl5pPr marL="1828800" algn="l" defTabSz="913765" rtl="0" eaLnBrk="1" latinLnBrk="0" hangingPunct="1">
              <a:defRPr sz="1800" kern="1200">
                <a:solidFill>
                  <a:schemeClr val="lt1"/>
                </a:solidFill>
              </a:defRPr>
            </a:lvl5pPr>
            <a:lvl6pPr marL="2286000" algn="l" defTabSz="913765" rtl="0" eaLnBrk="1" latinLnBrk="0" hangingPunct="1">
              <a:defRPr sz="1800" kern="1200">
                <a:solidFill>
                  <a:schemeClr val="lt1"/>
                </a:solidFill>
              </a:defRPr>
            </a:lvl6pPr>
            <a:lvl7pPr marL="2743200" algn="l" defTabSz="913765" rtl="0" eaLnBrk="1" latinLnBrk="0" hangingPunct="1">
              <a:defRPr sz="1800" kern="1200">
                <a:solidFill>
                  <a:schemeClr val="lt1"/>
                </a:solidFill>
              </a:defRPr>
            </a:lvl7pPr>
            <a:lvl8pPr marL="3200400" algn="l" defTabSz="913765" rtl="0" eaLnBrk="1" latinLnBrk="0" hangingPunct="1">
              <a:defRPr sz="1800" kern="1200">
                <a:solidFill>
                  <a:schemeClr val="lt1"/>
                </a:solidFill>
              </a:defRPr>
            </a:lvl8pPr>
            <a:lvl9pPr marL="3657600" algn="l" defTabSz="913765" rtl="0" eaLnBrk="1" latinLnBrk="0" hangingPunct="1">
              <a:defRPr sz="1800" kern="1200">
                <a:solidFill>
                  <a:schemeClr val="lt1"/>
                </a:solidFill>
              </a:defRPr>
            </a:lvl9pPr>
          </a:lstStyle>
          <a:p>
            <a:endParaRPr lang="zh-CN" altLang="en-US" sz="1600" b="1" dirty="0">
              <a:solidFill>
                <a:schemeClr val="tx1">
                  <a:lumMod val="85000"/>
                  <a:lumOff val="15000"/>
                </a:schemeClr>
              </a:solidFill>
            </a:endParaRPr>
          </a:p>
        </p:txBody>
      </p:sp>
      <p:pic>
        <p:nvPicPr>
          <p:cNvPr id="11" name="图片 10"/>
          <p:cNvPicPr>
            <a:picLocks noChangeAspect="1"/>
          </p:cNvPicPr>
          <p:nvPr/>
        </p:nvPicPr>
        <p:blipFill rotWithShape="1">
          <a:blip r:embed="rId1" cstate="print">
            <a:extLst>
              <a:ext uri="{28A0092B-C50C-407E-A947-70E740481C1C}">
                <a14:useLocalDpi xmlns:a14="http://schemas.microsoft.com/office/drawing/2010/main" val="0"/>
              </a:ext>
            </a:extLst>
          </a:blip>
          <a:srcRect/>
          <a:stretch>
            <a:fillRect/>
          </a:stretch>
        </p:blipFill>
        <p:spPr>
          <a:xfrm>
            <a:off x="1415480" y="0"/>
            <a:ext cx="10776520" cy="2873196"/>
          </a:xfrm>
          <a:prstGeom prst="rect">
            <a:avLst/>
          </a:prstGeom>
        </p:spPr>
      </p:pic>
      <p:grpSp>
        <p:nvGrpSpPr>
          <p:cNvPr id="3" name="组合 2"/>
          <p:cNvGrpSpPr/>
          <p:nvPr/>
        </p:nvGrpSpPr>
        <p:grpSpPr>
          <a:xfrm>
            <a:off x="1056660" y="1278201"/>
            <a:ext cx="2162532" cy="688568"/>
            <a:chOff x="1056660" y="1278201"/>
            <a:chExt cx="2162532" cy="688568"/>
          </a:xfrm>
        </p:grpSpPr>
        <p:sp>
          <p:nvSpPr>
            <p:cNvPr id="37" name="Retângulo 23"/>
            <p:cNvSpPr/>
            <p:nvPr/>
          </p:nvSpPr>
          <p:spPr>
            <a:xfrm rot="16200000">
              <a:off x="2073464" y="821041"/>
              <a:ext cx="128924" cy="2162532"/>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dirty="0"/>
            </a:p>
          </p:txBody>
        </p:sp>
        <p:sp>
          <p:nvSpPr>
            <p:cNvPr id="2" name="文本框 1"/>
            <p:cNvSpPr txBox="1"/>
            <p:nvPr/>
          </p:nvSpPr>
          <p:spPr>
            <a:xfrm>
              <a:off x="1292181" y="1278201"/>
              <a:ext cx="1691489" cy="523220"/>
            </a:xfrm>
            <a:prstGeom prst="rect">
              <a:avLst/>
            </a:prstGeom>
            <a:noFill/>
          </p:spPr>
          <p:txBody>
            <a:bodyPr wrap="none" rtlCol="0">
              <a:spAutoFit/>
            </a:bodyPr>
            <a:lstStyle/>
            <a:p>
              <a:r>
                <a:rPr lang="zh-CN" altLang="en-US" sz="2800" b="1" dirty="0">
                  <a:latin typeface="微软雅黑" panose="020B0503020204020204" pitchFamily="34" charset="-122"/>
                  <a:ea typeface="微软雅黑" panose="020B0503020204020204" pitchFamily="34" charset="-122"/>
                </a:rPr>
                <a:t>思  考  题</a:t>
              </a:r>
              <a:endParaRPr lang="zh-CN" altLang="en-US" sz="2800" b="1" dirty="0">
                <a:latin typeface="微软雅黑" panose="020B0503020204020204" pitchFamily="34" charset="-122"/>
                <a:ea typeface="微软雅黑" panose="020B0503020204020204" pitchFamily="34" charset="-122"/>
              </a:endParaRPr>
            </a:p>
          </p:txBody>
        </p:sp>
      </p:grpSp>
      <p:sp>
        <p:nvSpPr>
          <p:cNvPr id="5" name="矩形 4"/>
          <p:cNvSpPr/>
          <p:nvPr/>
        </p:nvSpPr>
        <p:spPr>
          <a:xfrm>
            <a:off x="2037716" y="2395063"/>
            <a:ext cx="8697089" cy="3138170"/>
          </a:xfrm>
          <a:prstGeom prst="rect">
            <a:avLst/>
          </a:prstGeom>
        </p:spPr>
        <p:txBody>
          <a:bodyPr wrap="square">
            <a:spAutoFit/>
          </a:bodyPr>
          <a:lstStyle/>
          <a:p>
            <a:pPr algn="just">
              <a:lnSpc>
                <a:spcPct val="150000"/>
              </a:lnSpc>
            </a:pPr>
            <a:r>
              <a:rPr lang="zh-CN" altLang="en-US" sz="2200" dirty="0">
                <a:latin typeface="微软雅黑" panose="020B0503020204020204" pitchFamily="34" charset="-122"/>
                <a:ea typeface="微软雅黑" panose="020B0503020204020204" pitchFamily="34" charset="-122"/>
              </a:rPr>
              <a:t>1</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为什么说罪过是行为人承担刑事责任的主观基础？</a:t>
            </a:r>
            <a:endParaRPr lang="zh-CN" altLang="en-US" sz="2200" dirty="0">
              <a:latin typeface="微软雅黑" panose="020B0503020204020204" pitchFamily="34" charset="-122"/>
              <a:ea typeface="微软雅黑" panose="020B0503020204020204" pitchFamily="34" charset="-122"/>
            </a:endParaRPr>
          </a:p>
          <a:p>
            <a:pPr algn="just">
              <a:lnSpc>
                <a:spcPct val="150000"/>
              </a:lnSpc>
            </a:pPr>
            <a:r>
              <a:rPr lang="zh-CN" altLang="en-US" sz="2200" dirty="0">
                <a:latin typeface="微软雅黑" panose="020B0503020204020204" pitchFamily="34" charset="-122"/>
                <a:ea typeface="微软雅黑" panose="020B0503020204020204" pitchFamily="34" charset="-122"/>
              </a:rPr>
              <a:t>2.如何区分刑法中的犯罪故意与日常生活中的故意？</a:t>
            </a:r>
            <a:endParaRPr lang="zh-CN" altLang="en-US" sz="2200" dirty="0">
              <a:latin typeface="微软雅黑" panose="020B0503020204020204" pitchFamily="34" charset="-122"/>
              <a:ea typeface="微软雅黑" panose="020B0503020204020204" pitchFamily="34" charset="-122"/>
            </a:endParaRPr>
          </a:p>
          <a:p>
            <a:pPr algn="just">
              <a:lnSpc>
                <a:spcPct val="150000"/>
              </a:lnSpc>
            </a:pPr>
            <a:r>
              <a:rPr lang="zh-CN" altLang="en-US" sz="2200" dirty="0">
                <a:latin typeface="微软雅黑" panose="020B0503020204020204" pitchFamily="34" charset="-122"/>
                <a:ea typeface="微软雅黑" panose="020B0503020204020204" pitchFamily="34" charset="-122"/>
              </a:rPr>
              <a:t>3</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如何理解犯罪故意中的“明知”？</a:t>
            </a:r>
            <a:endParaRPr lang="zh-CN" altLang="en-US" sz="2200" dirty="0">
              <a:latin typeface="微软雅黑" panose="020B0503020204020204" pitchFamily="34" charset="-122"/>
              <a:ea typeface="微软雅黑" panose="020B0503020204020204" pitchFamily="34" charset="-122"/>
            </a:endParaRPr>
          </a:p>
          <a:p>
            <a:pPr algn="just">
              <a:lnSpc>
                <a:spcPct val="150000"/>
              </a:lnSpc>
            </a:pPr>
            <a:r>
              <a:rPr lang="zh-CN" altLang="en-US" sz="2200" dirty="0">
                <a:latin typeface="微软雅黑" panose="020B0503020204020204" pitchFamily="34" charset="-122"/>
                <a:ea typeface="微软雅黑" panose="020B0503020204020204" pitchFamily="34" charset="-122"/>
              </a:rPr>
              <a:t>4</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如何理解间接故意中的“放任”？</a:t>
            </a:r>
            <a:endParaRPr lang="zh-CN" altLang="en-US" sz="2200" dirty="0">
              <a:latin typeface="微软雅黑" panose="020B0503020204020204" pitchFamily="34" charset="-122"/>
              <a:ea typeface="微软雅黑" panose="020B0503020204020204" pitchFamily="34" charset="-122"/>
            </a:endParaRPr>
          </a:p>
          <a:p>
            <a:pPr algn="just">
              <a:lnSpc>
                <a:spcPct val="150000"/>
              </a:lnSpc>
            </a:pPr>
            <a:r>
              <a:rPr lang="zh-CN" altLang="en-US" sz="2200" dirty="0">
                <a:latin typeface="微软雅黑" panose="020B0503020204020204" pitchFamily="34" charset="-122"/>
                <a:ea typeface="微软雅黑" panose="020B0503020204020204" pitchFamily="34" charset="-122"/>
              </a:rPr>
              <a:t>5</a:t>
            </a:r>
            <a:r>
              <a:rPr lang="en-US" altLang="zh-CN" sz="2200" dirty="0">
                <a:latin typeface="微软雅黑" panose="020B0503020204020204" pitchFamily="34" charset="-122"/>
                <a:ea typeface="微软雅黑" panose="020B0503020204020204" pitchFamily="34" charset="-122"/>
              </a:rPr>
              <a:t>.</a:t>
            </a:r>
            <a:r>
              <a:rPr lang="zh-CN" altLang="en-US" sz="2200" dirty="0">
                <a:latin typeface="微软雅黑" panose="020B0503020204020204" pitchFamily="34" charset="-122"/>
                <a:ea typeface="微软雅黑" panose="020B0503020204020204" pitchFamily="34" charset="-122"/>
              </a:rPr>
              <a:t>如何理解和把握犯罪过失中的“应当预见”？</a:t>
            </a:r>
            <a:endParaRPr lang="zh-CN" altLang="en-US" sz="2200" dirty="0">
              <a:latin typeface="微软雅黑" panose="020B0503020204020204" pitchFamily="34" charset="-122"/>
              <a:ea typeface="微软雅黑" panose="020B0503020204020204" pitchFamily="34" charset="-122"/>
            </a:endParaRPr>
          </a:p>
          <a:p>
            <a:pPr algn="just">
              <a:lnSpc>
                <a:spcPct val="150000"/>
              </a:lnSpc>
            </a:pPr>
            <a:r>
              <a:rPr lang="zh-CN" altLang="en-US" sz="2200" dirty="0">
                <a:latin typeface="微软雅黑" panose="020B0503020204020204" pitchFamily="34" charset="-122"/>
                <a:ea typeface="微软雅黑" panose="020B0503020204020204" pitchFamily="34" charset="-122"/>
              </a:rPr>
              <a:t>6.如何处理事实认识错误？</a:t>
            </a:r>
            <a:endParaRPr lang="zh-CN" altLang="en-US" sz="2200" dirty="0">
              <a:latin typeface="微软雅黑" panose="020B0503020204020204" pitchFamily="34" charset="-122"/>
              <a:ea typeface="微软雅黑" panose="020B0503020204020204" pitchFamily="34" charset="-122"/>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1000"/>
                                        <p:tgtEl>
                                          <p:spTgt spid="15"/>
                                        </p:tgtEl>
                                      </p:cBhvr>
                                    </p:animEffect>
                                    <p:anim calcmode="lin" valueType="num">
                                      <p:cBhvr>
                                        <p:cTn id="13" dur="1000" fill="hold"/>
                                        <p:tgtEl>
                                          <p:spTgt spid="15"/>
                                        </p:tgtEl>
                                        <p:attrNameLst>
                                          <p:attrName>ppt_x</p:attrName>
                                        </p:attrNameLst>
                                      </p:cBhvr>
                                      <p:tavLst>
                                        <p:tav tm="0">
                                          <p:val>
                                            <p:strVal val="#ppt_x"/>
                                          </p:val>
                                        </p:tav>
                                        <p:tav tm="100000">
                                          <p:val>
                                            <p:strVal val="#ppt_x"/>
                                          </p:val>
                                        </p:tav>
                                      </p:tavLst>
                                    </p:anim>
                                    <p:anim calcmode="lin" valueType="num">
                                      <p:cBhvr>
                                        <p:cTn id="14" dur="1000" fill="hold"/>
                                        <p:tgtEl>
                                          <p:spTgt spid="1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10" presetClass="entr" presetSubtype="0" fill="hold" grpId="0" nodeType="afterEffect">
                                  <p:stCondLst>
                                    <p:cond delay="0"/>
                                  </p:stCondLst>
                                  <p:iterate type="wd">
                                    <p:tmPct val="10000"/>
                                  </p:iterate>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5"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YzU3Zjg5ZjEwZjFiYjFiOTBkY2I5ZGU1ZDEwYzUyOTcifQ=="/>
  <p:tag name="KSO_WPP_MARK_KEY" val="fea9c380-9ee9-4ff8-aafc-3c18207044b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10058</Words>
  <Application>WPS 演示</Application>
  <PresentationFormat>宽屏</PresentationFormat>
  <Paragraphs>554</Paragraphs>
  <Slides>56</Slides>
  <Notes>0</Notes>
  <HiddenSlides>0</HiddenSlides>
  <MMClips>1</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56</vt:i4>
      </vt:variant>
    </vt:vector>
  </HeadingPairs>
  <TitlesOfParts>
    <vt:vector size="73" baseType="lpstr">
      <vt:lpstr>Arial</vt:lpstr>
      <vt:lpstr>宋体</vt:lpstr>
      <vt:lpstr>Wingdings</vt:lpstr>
      <vt:lpstr>微软雅黑</vt:lpstr>
      <vt:lpstr>华文新魏</vt:lpstr>
      <vt:lpstr>Roboto</vt:lpstr>
      <vt:lpstr>Times New Roman</vt:lpstr>
      <vt:lpstr>华文中宋</vt:lpstr>
      <vt:lpstr>黑体</vt:lpstr>
      <vt:lpstr>等线</vt:lpstr>
      <vt:lpstr>Impact</vt:lpstr>
      <vt:lpstr>Symbol</vt:lpstr>
      <vt:lpstr>Arial Unicode MS</vt:lpstr>
      <vt:lpstr>Calibri</vt:lpstr>
      <vt:lpstr>Wingdings</vt:lpstr>
      <vt:lpstr>等线 Light</vt:lpstr>
      <vt:lpstr>Office 主题​​</vt:lpstr>
      <vt:lpstr>PowerPoint 演示文稿</vt:lpstr>
      <vt:lpstr>PowerPoint 演示文稿</vt:lpstr>
      <vt:lpstr>第一节</vt:lpstr>
      <vt:lpstr>PowerPoint 演示文稿</vt:lpstr>
      <vt:lpstr>第二节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第三节</vt:lpstr>
      <vt:lpstr>PowerPoint 演示文稿</vt:lpstr>
      <vt:lpstr>PowerPoint 演示文稿</vt:lpstr>
      <vt:lpstr>PowerPoint 演示文稿</vt:lpstr>
      <vt:lpstr>PowerPoint 演示文稿</vt:lpstr>
      <vt:lpstr>PowerPoint 演示文稿</vt:lpstr>
      <vt:lpstr>PowerPoint 演示文稿</vt:lpstr>
      <vt:lpstr>第四节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第五节</vt:lpstr>
      <vt:lpstr>PowerPoint 演示文稿</vt:lpstr>
      <vt:lpstr>PowerPoint 演示文稿</vt:lpstr>
      <vt:lpstr>PowerPoint 演示文稿</vt:lpstr>
      <vt:lpstr>PowerPoint 演示文稿</vt:lpstr>
      <vt:lpstr>第六节</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yujie zhang</dc:creator>
  <cp:lastModifiedBy>WPS_1644414002</cp:lastModifiedBy>
  <cp:revision>253</cp:revision>
  <dcterms:created xsi:type="dcterms:W3CDTF">2017-08-25T04:22:00Z</dcterms:created>
  <dcterms:modified xsi:type="dcterms:W3CDTF">2025-04-01T12:23:12Z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3BB50E480C894F6EA53CFDBEDC7E35FA_12</vt:lpwstr>
  </property>
  <property fmtid="{D5CDD505-2E9C-101B-9397-08002B2CF9AE}" pid="3" name="KSOProductBuildVer">
    <vt:lpwstr>2052-12.1.0.20305</vt:lpwstr>
  </property>
</Properties>
</file>