
<file path=[Content_Types].xml><?xml version="1.0" encoding="utf-8"?>
<Types xmlns="http://schemas.openxmlformats.org/package/2006/content-types">
  <Default Extension="mp3" ContentType="audio/mpeg"/>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60" r:id="rId5"/>
    <p:sldId id="261" r:id="rId6"/>
    <p:sldId id="262" r:id="rId7"/>
    <p:sldId id="263" r:id="rId8"/>
    <p:sldId id="264" r:id="rId9"/>
    <p:sldId id="293" r:id="rId10"/>
    <p:sldId id="265" r:id="rId11"/>
    <p:sldId id="267" r:id="rId12"/>
    <p:sldId id="270" r:id="rId13"/>
    <p:sldId id="274" r:id="rId14"/>
    <p:sldId id="273" r:id="rId15"/>
    <p:sldId id="259" r:id="rId16"/>
    <p:sldId id="275" r:id="rId17"/>
    <p:sldId id="278" r:id="rId18"/>
    <p:sldId id="280" r:id="rId19"/>
    <p:sldId id="281" r:id="rId20"/>
    <p:sldId id="294" r:id="rId21"/>
    <p:sldId id="283" r:id="rId22"/>
    <p:sldId id="284" r:id="rId23"/>
    <p:sldId id="286" r:id="rId24"/>
    <p:sldId id="287" r:id="rId25"/>
    <p:sldId id="285" r:id="rId26"/>
    <p:sldId id="288" r:id="rId27"/>
    <p:sldId id="292" r:id="rId28"/>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7" d="100"/>
          <a:sy n="87" d="100"/>
        </p:scale>
        <p:origin x="96" y="8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t>2025/3/4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t>2025/3/4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t>2025/3/4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grpSp>
        <p:nvGrpSpPr>
          <p:cNvPr id="5" name="组合 4"/>
          <p:cNvGrpSpPr/>
          <p:nvPr userDrawn="1"/>
        </p:nvGrpSpPr>
        <p:grpSpPr>
          <a:xfrm>
            <a:off x="223031" y="122345"/>
            <a:ext cx="11718488" cy="6610935"/>
            <a:chOff x="223031" y="122345"/>
            <a:chExt cx="11718488" cy="6610935"/>
          </a:xfrm>
        </p:grpSpPr>
        <p:grpSp>
          <p:nvGrpSpPr>
            <p:cNvPr id="6" name="组合 5"/>
            <p:cNvGrpSpPr/>
            <p:nvPr/>
          </p:nvGrpSpPr>
          <p:grpSpPr>
            <a:xfrm>
              <a:off x="223031" y="122345"/>
              <a:ext cx="934049" cy="265879"/>
              <a:chOff x="1643460" y="3128803"/>
              <a:chExt cx="3165103" cy="900953"/>
            </a:xfrm>
          </p:grpSpPr>
          <p:sp>
            <p:nvSpPr>
              <p:cNvPr id="10" name="椭圆 9"/>
              <p:cNvSpPr/>
              <p:nvPr>
                <p:custDataLst>
                  <p:tags r:id="rId4"/>
                </p:custDataLst>
              </p:nvPr>
            </p:nvSpPr>
            <p:spPr>
              <a:xfrm>
                <a:off x="164346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charset="-122"/>
                    <a:ea typeface="微软雅黑" panose="020B0503020204020204" charset="-122"/>
                  </a:rPr>
                  <a:t>刑</a:t>
                </a:r>
              </a:p>
            </p:txBody>
          </p:sp>
          <p:sp>
            <p:nvSpPr>
              <p:cNvPr id="11" name="椭圆 10"/>
              <p:cNvSpPr/>
              <p:nvPr>
                <p:custDataLst>
                  <p:tags r:id="rId5"/>
                </p:custDataLst>
              </p:nvPr>
            </p:nvSpPr>
            <p:spPr>
              <a:xfrm>
                <a:off x="2775535"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charset="-122"/>
                    <a:ea typeface="微软雅黑" panose="020B0503020204020204" charset="-122"/>
                  </a:rPr>
                  <a:t>法</a:t>
                </a:r>
              </a:p>
            </p:txBody>
          </p:sp>
          <p:sp>
            <p:nvSpPr>
              <p:cNvPr id="12" name="椭圆 11"/>
              <p:cNvSpPr/>
              <p:nvPr>
                <p:custDataLst>
                  <p:tags r:id="rId6"/>
                </p:custDataLst>
              </p:nvPr>
            </p:nvSpPr>
            <p:spPr>
              <a:xfrm>
                <a:off x="3907610" y="3128803"/>
                <a:ext cx="900953" cy="900953"/>
              </a:xfrm>
              <a:prstGeom prst="ellipse">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latin typeface="微软雅黑" panose="020B0503020204020204" charset="-122"/>
                    <a:ea typeface="微软雅黑" panose="020B0503020204020204" charset="-122"/>
                  </a:rPr>
                  <a:t>学</a:t>
                </a:r>
              </a:p>
            </p:txBody>
          </p:sp>
        </p:grpSp>
        <p:cxnSp>
          <p:nvCxnSpPr>
            <p:cNvPr id="7" name="直接连接符 6"/>
            <p:cNvCxnSpPr/>
            <p:nvPr>
              <p:custDataLst>
                <p:tags r:id="rId1"/>
              </p:custDataLst>
            </p:nvPr>
          </p:nvCxnSpPr>
          <p:spPr>
            <a:xfrm>
              <a:off x="1244762" y="260131"/>
              <a:ext cx="1060486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a:endCxn id="9" idx="1"/>
            </p:cNvCxnSpPr>
            <p:nvPr>
              <p:custDataLst>
                <p:tags r:id="rId2"/>
              </p:custDataLst>
            </p:nvPr>
          </p:nvCxnSpPr>
          <p:spPr>
            <a:xfrm>
              <a:off x="397993" y="6558828"/>
              <a:ext cx="10738134"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9" name="矩形 8"/>
            <p:cNvSpPr/>
            <p:nvPr>
              <p:custDataLst>
                <p:tags r:id="rId3"/>
              </p:custDataLst>
            </p:nvPr>
          </p:nvSpPr>
          <p:spPr>
            <a:xfrm>
              <a:off x="11135704" y="6384030"/>
              <a:ext cx="805815" cy="349250"/>
            </a:xfrm>
            <a:prstGeom prst="rect">
              <a:avLst/>
            </a:prstGeom>
          </p:spPr>
          <p:txBody>
            <a:bodyPr wrap="none">
              <a:spAutoFit/>
            </a:bodyPr>
            <a:lstStyle/>
            <a:p>
              <a:pPr algn="r">
                <a:lnSpc>
                  <a:spcPct val="120000"/>
                </a:lnSpc>
              </a:pPr>
              <a:r>
                <a:rPr lang="zh-CN" altLang="en-US" sz="1400" b="1" dirty="0">
                  <a:solidFill>
                    <a:srgbClr val="D9793F"/>
                  </a:solidFill>
                  <a:latin typeface="华文新魏" panose="02010800040101010101" charset="-122"/>
                  <a:ea typeface="华文新魏" panose="02010800040101010101" charset="-122"/>
                  <a:sym typeface="+mn-ea"/>
                </a:rPr>
                <a:t>第五章  </a:t>
              </a:r>
              <a:endParaRPr lang="en-US" altLang="zh-CN" sz="1400" b="1" dirty="0" smtClean="0">
                <a:solidFill>
                  <a:srgbClr val="D9793F"/>
                </a:solidFill>
                <a:latin typeface="华文新魏" panose="02010800040101010101" charset="-122"/>
                <a:ea typeface="华文新魏" panose="02010800040101010101" charset="-122"/>
                <a:sym typeface="+mn-ea"/>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2025/3/4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2025/3/4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t>2025/3/4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标题和内容在文本之上">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609600" y="1600200"/>
            <a:ext cx="10972800" cy="2185988"/>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609600" y="3938589"/>
            <a:ext cx="10972800" cy="218757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CFC8A02-1925-4B1F-A10D-BADD63364D31}" type="slidenum">
              <a:rPr lang="en-US" altLang="zh-CN"/>
              <a:pPr>
                <a:defRPr/>
              </a:pPr>
              <a:t>‹#›</a:t>
            </a:fld>
            <a:endParaRPr lang="en-US" altLang="zh-CN"/>
          </a:p>
        </p:txBody>
      </p:sp>
    </p:spTree>
    <p:extLst>
      <p:ext uri="{BB962C8B-B14F-4D97-AF65-F5344CB8AC3E}">
        <p14:creationId xmlns:p14="http://schemas.microsoft.com/office/powerpoint/2010/main" val="1920760799"/>
      </p:ext>
    </p:extLst>
  </p:cSld>
  <p:clrMapOvr>
    <a:masterClrMapping/>
  </p:clrMapOvr>
  <p:transition>
    <p:comb/>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2025/3/4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4.png"/><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6.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8.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image" Target="../media/image5.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18.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4"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4"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4"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slideLayout" Target="../slideLayouts/slideLayout7.xml"/><Relationship Id="rId4" Type="http://schemas.openxmlformats.org/officeDocument/2006/relationships/tags" Target="../tags/tag42.xml"/></Relationships>
</file>

<file path=ppt/slides/_rels/slide25.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slideLayout" Target="../slideLayouts/slideLayout7.xml"/><Relationship Id="rId4" Type="http://schemas.openxmlformats.org/officeDocument/2006/relationships/tags" Target="../tags/tag46.xml"/></Relationships>
</file>

<file path=ppt/slides/_rels/slide26.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tags" Target="../tags/tag47.xml"/><Relationship Id="rId5" Type="http://schemas.openxmlformats.org/officeDocument/2006/relationships/slideLayout" Target="../slideLayouts/slideLayout7.xml"/><Relationship Id="rId4" Type="http://schemas.openxmlformats.org/officeDocument/2006/relationships/tags" Target="../tags/tag50.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rotWithShape="1">
          <a:blip r:embed="rId4">
            <a:extLst>
              <a:ext uri="{28A0092B-C50C-407E-A947-70E740481C1C}">
                <a14:useLocalDpi xmlns:a14="http://schemas.microsoft.com/office/drawing/2010/main" val="0"/>
              </a:ext>
            </a:extLst>
          </a:blip>
          <a:srcRect t="5951" b="37991"/>
          <a:stretch>
            <a:fillRect/>
          </a:stretch>
        </p:blipFill>
        <p:spPr>
          <a:xfrm>
            <a:off x="0" y="2269865"/>
            <a:ext cx="5203294" cy="1947134"/>
          </a:xfrm>
          <a:prstGeom prst="rect">
            <a:avLst/>
          </a:prstGeom>
          <a:ln>
            <a:noFill/>
          </a:ln>
        </p:spPr>
      </p:pic>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l="23048" t="67985"/>
          <a:stretch>
            <a:fillRect/>
          </a:stretch>
        </p:blipFill>
        <p:spPr>
          <a:xfrm>
            <a:off x="5162843" y="0"/>
            <a:ext cx="7036506" cy="6857999"/>
          </a:xfrm>
          <a:prstGeom prst="rect">
            <a:avLst/>
          </a:prstGeom>
        </p:spPr>
      </p:pic>
      <p:sp>
        <p:nvSpPr>
          <p:cNvPr id="5" name="矩形 4"/>
          <p:cNvSpPr/>
          <p:nvPr/>
        </p:nvSpPr>
        <p:spPr>
          <a:xfrm>
            <a:off x="5181601" y="2284576"/>
            <a:ext cx="7010398" cy="1940623"/>
          </a:xfrm>
          <a:prstGeom prst="rect">
            <a:avLst/>
          </a:prstGeom>
          <a:solidFill>
            <a:schemeClr val="bg1">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p>
        </p:txBody>
      </p:sp>
      <p:sp>
        <p:nvSpPr>
          <p:cNvPr id="38" name="L 形 37"/>
          <p:cNvSpPr/>
          <p:nvPr/>
        </p:nvSpPr>
        <p:spPr>
          <a:xfrm>
            <a:off x="315078" y="0"/>
            <a:ext cx="719638" cy="863383"/>
          </a:xfrm>
          <a:prstGeom prst="corner">
            <a:avLst>
              <a:gd name="adj1" fmla="val 0"/>
              <a:gd name="adj2" fmla="val 38139"/>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8" name="Shape 749"/>
          <p:cNvSpPr txBox="1"/>
          <p:nvPr/>
        </p:nvSpPr>
        <p:spPr>
          <a:xfrm>
            <a:off x="613981" y="172463"/>
            <a:ext cx="3074101" cy="690920"/>
          </a:xfrm>
          <a:prstGeom prst="rect">
            <a:avLst/>
          </a:prstGeom>
          <a:ln w="12700">
            <a:miter lim="400000"/>
          </a:ln>
        </p:spPr>
        <p:txBody>
          <a:bodyPr lIns="50800" tIns="50800" rIns="50800" bIns="50800" anchor="t">
            <a:normAutofit fontScale="92500" lnSpcReduction="10000"/>
          </a:bodyPr>
          <a:lstStyle>
            <a:lvl1pPr marL="0" marR="0" indent="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1pPr>
            <a:lvl2pPr marL="0" marR="0" indent="228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2pPr>
            <a:lvl3pPr marL="0" marR="0" indent="457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3pPr>
            <a:lvl4pPr marL="0" marR="0" indent="685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4pPr>
            <a:lvl5pPr marL="0" marR="0" indent="9144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5pPr>
            <a:lvl6pPr marL="0" marR="0" indent="11430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6pPr>
            <a:lvl7pPr marL="0" marR="0" indent="13716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7pPr>
            <a:lvl8pPr marL="0" marR="0" indent="16002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8pPr>
            <a:lvl9pPr marL="0" marR="0" indent="1828800" algn="l" defTabSz="825500" rtl="0" latinLnBrk="0">
              <a:lnSpc>
                <a:spcPct val="70000"/>
              </a:lnSpc>
              <a:spcBef>
                <a:spcPts val="0"/>
              </a:spcBef>
              <a:spcAft>
                <a:spcPts val="0"/>
              </a:spcAft>
              <a:buClrTx/>
              <a:buSzTx/>
              <a:buFontTx/>
              <a:buNone/>
              <a:defRPr sz="10000" b="1" i="0" u="none" strike="noStrike" cap="none" spc="0" baseline="0">
                <a:ln>
                  <a:noFill/>
                </a:ln>
                <a:solidFill>
                  <a:srgbClr val="44474F"/>
                </a:solidFill>
                <a:uFillTx/>
                <a:latin typeface="+mn-lt"/>
                <a:ea typeface="+mn-ea"/>
                <a:cs typeface="+mn-cs"/>
                <a:sym typeface="Roboto" panose="02000000000000000000"/>
              </a:defRPr>
            </a:lvl9pPr>
          </a:lstStyle>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rPr>
              <a:t>马克思主义理论研究</a:t>
            </a:r>
            <a:endParaRPr kumimoji="0" lang="en-US" altLang="zh-CN"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endParaRPr>
          </a:p>
          <a:p>
            <a:pPr marL="0" marR="0" lvl="0" indent="0" algn="l" defTabSz="825500" rtl="0" eaLnBrk="1" fontAlgn="auto" latinLnBrk="0" hangingPunct="1">
              <a:lnSpc>
                <a:spcPct val="120000"/>
              </a:lnSpc>
              <a:spcBef>
                <a:spcPts val="0"/>
              </a:spcBef>
              <a:spcAft>
                <a:spcPts val="0"/>
              </a:spcAft>
              <a:buClrTx/>
              <a:buSzTx/>
              <a:buFontTx/>
              <a:buNone/>
              <a:defRPr/>
            </a:pPr>
            <a:r>
              <a:rPr kumimoji="0" lang="zh-CN" altLang="en-US" sz="1800" b="1" i="0" u="none" strike="noStrike" kern="0" cap="none" spc="0" normalizeH="0" baseline="0" noProof="0" dirty="0" smtClean="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rPr>
              <a:t>和建设工程重点教材</a:t>
            </a:r>
            <a:endParaRPr kumimoji="0" lang="en-US" sz="1800" b="1" i="0" u="none" strike="noStrike" kern="0" cap="none" spc="0" normalizeH="0" baseline="0" noProof="0" dirty="0">
              <a:ln>
                <a:noFill/>
              </a:ln>
              <a:solidFill>
                <a:srgbClr val="D9793F"/>
              </a:solidFill>
              <a:effectLst/>
              <a:uLnTx/>
              <a:uFillTx/>
              <a:latin typeface="华文中宋" panose="02010600040101010101" pitchFamily="2" charset="-122"/>
              <a:ea typeface="华文中宋" panose="02010600040101010101" pitchFamily="2" charset="-122"/>
              <a:sym typeface="Roboto" panose="02000000000000000000"/>
            </a:endParaRPr>
          </a:p>
        </p:txBody>
      </p:sp>
      <p:pic>
        <p:nvPicPr>
          <p:cNvPr id="41" name="Real - Capo Productions">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2844947" y="6334038"/>
            <a:ext cx="487363" cy="487363"/>
          </a:xfrm>
          <a:prstGeom prst="rect">
            <a:avLst/>
          </a:prstGeom>
        </p:spPr>
      </p:pic>
      <p:grpSp>
        <p:nvGrpSpPr>
          <p:cNvPr id="8" name="组合 7"/>
          <p:cNvGrpSpPr/>
          <p:nvPr/>
        </p:nvGrpSpPr>
        <p:grpSpPr>
          <a:xfrm>
            <a:off x="1643460" y="2831304"/>
            <a:ext cx="3165103" cy="900953"/>
            <a:chOff x="1643460" y="3128803"/>
            <a:chExt cx="3165103" cy="900953"/>
          </a:xfrm>
        </p:grpSpPr>
        <p:sp>
          <p:nvSpPr>
            <p:cNvPr id="7" name="椭圆 6"/>
            <p:cNvSpPr/>
            <p:nvPr/>
          </p:nvSpPr>
          <p:spPr>
            <a:xfrm>
              <a:off x="164346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charset="-122"/>
                  <a:ea typeface="微软雅黑" panose="020B0503020204020204" charset="-122"/>
                </a:rPr>
                <a:t>刑</a:t>
              </a:r>
            </a:p>
          </p:txBody>
        </p:sp>
        <p:sp>
          <p:nvSpPr>
            <p:cNvPr id="16" name="椭圆 15"/>
            <p:cNvSpPr/>
            <p:nvPr/>
          </p:nvSpPr>
          <p:spPr>
            <a:xfrm>
              <a:off x="2775535"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a:solidFill>
                    <a:srgbClr val="D9793F"/>
                  </a:solidFill>
                  <a:effectLst>
                    <a:outerShdw blurRad="38100" dist="38100" dir="2700000" algn="tl">
                      <a:srgbClr val="000000">
                        <a:alpha val="43137"/>
                      </a:srgbClr>
                    </a:outerShdw>
                  </a:effectLst>
                  <a:latin typeface="微软雅黑" panose="020B0503020204020204" charset="-122"/>
                  <a:ea typeface="微软雅黑" panose="020B0503020204020204" charset="-122"/>
                </a:rPr>
                <a:t>法</a:t>
              </a:r>
            </a:p>
          </p:txBody>
        </p:sp>
        <p:sp>
          <p:nvSpPr>
            <p:cNvPr id="17" name="椭圆 16"/>
            <p:cNvSpPr/>
            <p:nvPr/>
          </p:nvSpPr>
          <p:spPr>
            <a:xfrm>
              <a:off x="3907610" y="3128803"/>
              <a:ext cx="900953" cy="900953"/>
            </a:xfrm>
            <a:prstGeom prst="ellipse">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dirty="0" smtClean="0">
                  <a:solidFill>
                    <a:srgbClr val="D9793F"/>
                  </a:solidFill>
                  <a:effectLst>
                    <a:outerShdw blurRad="38100" dist="38100" dir="2700000" algn="tl">
                      <a:srgbClr val="000000">
                        <a:alpha val="43137"/>
                      </a:srgbClr>
                    </a:outerShdw>
                  </a:effectLst>
                  <a:latin typeface="微软雅黑" panose="020B0503020204020204" charset="-122"/>
                  <a:ea typeface="微软雅黑" panose="020B0503020204020204" charset="-122"/>
                </a:rPr>
                <a:t>学</a:t>
              </a:r>
              <a:endParaRPr lang="zh-CN" altLang="en-US" sz="4800" dirty="0">
                <a:solidFill>
                  <a:srgbClr val="D9793F"/>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grpSp>
      <p:sp>
        <p:nvSpPr>
          <p:cNvPr id="9" name="文本框 8"/>
          <p:cNvSpPr txBox="1"/>
          <p:nvPr/>
        </p:nvSpPr>
        <p:spPr>
          <a:xfrm>
            <a:off x="1609897" y="5819326"/>
            <a:ext cx="2657532" cy="337185"/>
          </a:xfrm>
          <a:prstGeom prst="rect">
            <a:avLst/>
          </a:prstGeom>
          <a:noFill/>
        </p:spPr>
        <p:txBody>
          <a:bodyPr wrap="square" rtlCol="0">
            <a:spAutoFit/>
          </a:bodyPr>
          <a:lstStyle/>
          <a:p>
            <a:r>
              <a:rPr lang="en-US" altLang="zh-CN" sz="1600" dirty="0" smtClean="0">
                <a:latin typeface="微软雅黑" panose="020B0503020204020204" charset="-122"/>
                <a:ea typeface="微软雅黑" panose="020B0503020204020204" charset="-122"/>
              </a:rPr>
              <a:t>《</a:t>
            </a:r>
            <a:r>
              <a:rPr lang="zh-CN" altLang="en-US" sz="1600" dirty="0" smtClean="0">
                <a:latin typeface="微软雅黑" panose="020B0503020204020204" charset="-122"/>
                <a:ea typeface="微软雅黑" panose="020B0503020204020204" charset="-122"/>
              </a:rPr>
              <a:t>刑法学</a:t>
            </a:r>
            <a:r>
              <a:rPr lang="en-US" altLang="zh-CN" sz="1600" dirty="0" smtClean="0">
                <a:latin typeface="微软雅黑" panose="020B0503020204020204" charset="-122"/>
                <a:ea typeface="微软雅黑" panose="020B0503020204020204" charset="-122"/>
              </a:rPr>
              <a:t>》</a:t>
            </a:r>
            <a:r>
              <a:rPr lang="zh-CN" altLang="en-US" sz="1600" dirty="0" smtClean="0">
                <a:latin typeface="微软雅黑" panose="020B0503020204020204" charset="-122"/>
                <a:ea typeface="微软雅黑" panose="020B0503020204020204" charset="-122"/>
              </a:rPr>
              <a:t>编写组</a:t>
            </a:r>
            <a:endParaRPr lang="zh-CN" altLang="en-US" sz="1600" dirty="0">
              <a:latin typeface="微软雅黑" panose="020B0503020204020204" charset="-122"/>
              <a:ea typeface="微软雅黑" panose="020B0503020204020204" charset="-122"/>
            </a:endParaRPr>
          </a:p>
        </p:txBody>
      </p:sp>
      <p:grpSp>
        <p:nvGrpSpPr>
          <p:cNvPr id="20" name="组合 19"/>
          <p:cNvGrpSpPr/>
          <p:nvPr/>
        </p:nvGrpSpPr>
        <p:grpSpPr>
          <a:xfrm>
            <a:off x="5547957" y="6381378"/>
            <a:ext cx="1328652" cy="196341"/>
            <a:chOff x="4957648" y="5949625"/>
            <a:chExt cx="2301292" cy="340073"/>
          </a:xfrm>
        </p:grpSpPr>
        <p:pic>
          <p:nvPicPr>
            <p:cNvPr id="21" name="图片 2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957648" y="5968939"/>
              <a:ext cx="311738" cy="320759"/>
            </a:xfrm>
            <a:prstGeom prst="rect">
              <a:avLst/>
            </a:prstGeom>
          </p:spPr>
        </p:pic>
        <p:pic>
          <p:nvPicPr>
            <p:cNvPr id="22" name="图片 21"/>
            <p:cNvPicPr>
              <a:picLocks noChangeAspect="1"/>
            </p:cNvPicPr>
            <p:nvPr/>
          </p:nvPicPr>
          <p:blipFill rotWithShape="1">
            <a:blip r:embed="rId7" cstate="print">
              <a:extLst>
                <a:ext uri="{28A0092B-C50C-407E-A947-70E740481C1C}">
                  <a14:useLocalDpi xmlns:a14="http://schemas.microsoft.com/office/drawing/2010/main" val="0"/>
                </a:ext>
              </a:extLst>
            </a:blip>
            <a:srcRect b="23896"/>
            <a:stretch>
              <a:fillRect/>
            </a:stretch>
          </p:blipFill>
          <p:spPr>
            <a:xfrm>
              <a:off x="5400192" y="5949625"/>
              <a:ext cx="1858748" cy="334537"/>
            </a:xfrm>
            <a:prstGeom prst="rect">
              <a:avLst/>
            </a:prstGeom>
          </p:spPr>
        </p:pic>
      </p:grpSp>
      <p:sp>
        <p:nvSpPr>
          <p:cNvPr id="10" name="矩形 9"/>
          <p:cNvSpPr/>
          <p:nvPr/>
        </p:nvSpPr>
        <p:spPr>
          <a:xfrm>
            <a:off x="5803227" y="2459482"/>
            <a:ext cx="2217420" cy="1568450"/>
          </a:xfrm>
          <a:prstGeom prst="rect">
            <a:avLst/>
          </a:prstGeom>
        </p:spPr>
        <p:txBody>
          <a:bodyPr wrap="none">
            <a:spAutoFit/>
          </a:bodyPr>
          <a:lstStyle/>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第五章</a:t>
            </a:r>
          </a:p>
          <a:p>
            <a:pPr algn="l">
              <a:lnSpc>
                <a:spcPct val="120000"/>
              </a:lnSpc>
            </a:pPr>
            <a:r>
              <a:rPr lang="zh-CN" altLang="en-US" sz="4000" b="1" dirty="0">
                <a:solidFill>
                  <a:srgbClr val="D9793F"/>
                </a:solidFill>
                <a:latin typeface="华文新魏" panose="02010800040101010101" charset="-122"/>
                <a:ea typeface="华文新魏" panose="02010800040101010101" charset="-122"/>
                <a:sym typeface="+mn-ea"/>
              </a:rPr>
              <a:t>犯罪客体</a:t>
            </a:r>
          </a:p>
        </p:txBody>
      </p:sp>
      <p:sp>
        <p:nvSpPr>
          <p:cNvPr id="6" name="矩形 5"/>
          <p:cNvSpPr/>
          <p:nvPr/>
        </p:nvSpPr>
        <p:spPr>
          <a:xfrm>
            <a:off x="1716811" y="4293696"/>
            <a:ext cx="1655204" cy="646331"/>
          </a:xfrm>
          <a:prstGeom prst="rect">
            <a:avLst/>
          </a:prstGeom>
        </p:spPr>
        <p:txBody>
          <a:bodyPr wrap="square">
            <a:spAutoFit/>
          </a:bodyPr>
          <a:lstStyle/>
          <a:p>
            <a:r>
              <a:rPr lang="zh-CN" altLang="en-US" dirty="0">
                <a:solidFill>
                  <a:srgbClr val="D9793F"/>
                </a:solidFill>
                <a:latin typeface="黑体" panose="02010609060101010101" pitchFamily="49" charset="-122"/>
                <a:ea typeface="黑体" panose="02010609060101010101" pitchFamily="49" charset="-122"/>
              </a:rPr>
              <a:t>（上册</a:t>
            </a:r>
            <a:r>
              <a:rPr lang="en-US" altLang="zh-CN" dirty="0">
                <a:solidFill>
                  <a:srgbClr val="D9793F"/>
                </a:solidFill>
                <a:latin typeface="黑体" panose="02010609060101010101" pitchFamily="49" charset="-122"/>
                <a:ea typeface="黑体" panose="02010609060101010101" pitchFamily="49" charset="-122"/>
              </a:rPr>
              <a:t>·</a:t>
            </a:r>
            <a:r>
              <a:rPr lang="zh-CN" altLang="en-US" dirty="0">
                <a:solidFill>
                  <a:srgbClr val="D9793F"/>
                </a:solidFill>
                <a:latin typeface="黑体" panose="02010609060101010101" pitchFamily="49" charset="-122"/>
                <a:ea typeface="黑体" panose="02010609060101010101" pitchFamily="49" charset="-122"/>
              </a:rPr>
              <a:t>总论）</a:t>
            </a:r>
            <a:endParaRPr lang="en-US" altLang="zh-CN" dirty="0">
              <a:solidFill>
                <a:srgbClr val="D9793F"/>
              </a:solidFill>
              <a:latin typeface="黑体" panose="02010609060101010101" pitchFamily="49" charset="-122"/>
              <a:ea typeface="黑体" panose="02010609060101010101" pitchFamily="49" charset="-122"/>
            </a:endParaRPr>
          </a:p>
          <a:p>
            <a:pPr algn="ctr"/>
            <a:r>
              <a:rPr lang="zh-CN" altLang="en-US" dirty="0">
                <a:solidFill>
                  <a:srgbClr val="D9793F"/>
                </a:solidFill>
                <a:latin typeface="黑体" panose="02010609060101010101" pitchFamily="49" charset="-122"/>
                <a:ea typeface="黑体" panose="02010609060101010101" pitchFamily="49" charset="-122"/>
              </a:rPr>
              <a:t>（第二版）</a:t>
            </a:r>
          </a:p>
        </p:txBody>
      </p:sp>
    </p:spTree>
  </p:cSld>
  <p:clrMapOvr>
    <a:masterClrMapping/>
  </p:clrMapOvr>
  <p:transition/>
  <p:timing>
    <p:tnLst>
      <p:par>
        <p:cTn id="1" dur="indefinite" restart="never" nodeType="tmRoot">
          <p:childTnLst>
            <p:audio>
              <p:cMediaNode vol="20000" numSld="999" showWhenStopped="0">
                <p:cTn id="2" repeatCount="indefinite" fill="hold" display="0">
                  <p:stCondLst>
                    <p:cond delay="indefinite"/>
                  </p:stCondLst>
                  <p:endCondLst>
                    <p:cond evt="onStopAudio" delay="0">
                      <p:tgtEl>
                        <p:sldTgt/>
                      </p:tgtEl>
                    </p:cond>
                  </p:endCondLst>
                </p:cTn>
                <p:tgtEl>
                  <p:spTgt spid="41"/>
                </p:tgtEl>
              </p:cMediaNode>
            </p:audio>
          </p:childTnLst>
        </p:cTn>
      </p:par>
    </p:tnLst>
    <p:bldLst>
      <p:bldP spid="5" grpId="0" bldLvl="0" animBg="1"/>
      <p:bldP spid="38" grpId="0" bldLvl="0" animBg="1"/>
      <p:bldP spid="28" grpId="0" animBg="1"/>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nvCxnSpPr>
        <p:spPr>
          <a:xfrm>
            <a:off x="660400" y="1391446"/>
            <a:ext cx="10858500" cy="0"/>
          </a:xfrm>
          <a:prstGeom prst="line">
            <a:avLst/>
          </a:prstGeom>
          <a:ln w="3175" cap="rnd">
            <a:solidFill>
              <a:schemeClr val="bg1">
                <a:lumMod val="75000"/>
              </a:schemeClr>
            </a:solidFill>
            <a:round/>
            <a:headEnd type="none"/>
            <a:tailEnd type="none" w="med" len="med"/>
          </a:ln>
        </p:spPr>
        <p:style>
          <a:lnRef idx="1">
            <a:schemeClr val="accent1"/>
          </a:lnRef>
          <a:fillRef idx="0">
            <a:schemeClr val="accent1"/>
          </a:fillRef>
          <a:effectRef idx="0">
            <a:schemeClr val="accent1"/>
          </a:effectRef>
          <a:fontRef idx="minor">
            <a:schemeClr val="tx1"/>
          </a:fontRef>
        </p:style>
      </p:cxnSp>
      <p:sp>
        <p:nvSpPr>
          <p:cNvPr id="7" name="ïşlîḑe"/>
          <p:cNvSpPr txBox="1"/>
          <p:nvPr/>
        </p:nvSpPr>
        <p:spPr>
          <a:xfrm>
            <a:off x="5195900" y="1135067"/>
            <a:ext cx="1800200" cy="512758"/>
          </a:xfrm>
          <a:prstGeom prst="roundRect">
            <a:avLst>
              <a:gd name="adj" fmla="val 50000"/>
            </a:avLst>
          </a:prstGeom>
          <a:solidFill>
            <a:srgbClr val="D9793F"/>
          </a:solidFill>
        </p:spPr>
        <p:txBody>
          <a:bodyPr wrap="square" lIns="91440" tIns="45720" rIns="91440" bIns="45720" anchor="ctr">
            <a:normAutofit lnSpcReduction="10000"/>
          </a:bodyPr>
          <a:lstStyle/>
          <a:p>
            <a:pPr algn="ctr"/>
            <a:r>
              <a:rPr lang="zh-CN" altLang="en-US" b="1" dirty="0">
                <a:solidFill>
                  <a:schemeClr val="bg1"/>
                </a:solidFill>
              </a:rPr>
              <a:t>目录</a:t>
            </a:r>
            <a:endParaRPr lang="en-US" altLang="zh-CN" b="1" dirty="0">
              <a:solidFill>
                <a:schemeClr val="bg1"/>
              </a:solidFill>
            </a:endParaRPr>
          </a:p>
        </p:txBody>
      </p:sp>
      <p:sp>
        <p:nvSpPr>
          <p:cNvPr id="8" name="îṧļïdè"/>
          <p:cNvSpPr txBox="1"/>
          <p:nvPr/>
        </p:nvSpPr>
        <p:spPr>
          <a:xfrm>
            <a:off x="1554621" y="3276993"/>
            <a:ext cx="748923" cy="830997"/>
          </a:xfrm>
          <a:prstGeom prst="rect">
            <a:avLst/>
          </a:prstGeom>
          <a:noFill/>
        </p:spPr>
        <p:txBody>
          <a:bodyPr wrap="square" lIns="91440" tIns="45720" rIns="91440" bIns="45720" anchor="ctr">
            <a:normAutofit/>
          </a:bodyPr>
          <a:lstStyle/>
          <a:p>
            <a:pPr algn="ctr"/>
            <a:r>
              <a:rPr lang="en-US" altLang="zh-CN" sz="4800" dirty="0">
                <a:solidFill>
                  <a:schemeClr val="bg1">
                    <a:lumMod val="75000"/>
                  </a:schemeClr>
                </a:solidFill>
                <a:latin typeface="Impact" panose="020B0806030902050204" pitchFamily="34" charset="0"/>
              </a:rPr>
              <a:t>01</a:t>
            </a:r>
          </a:p>
        </p:txBody>
      </p:sp>
      <p:sp>
        <p:nvSpPr>
          <p:cNvPr id="9" name="íṧļïdé"/>
          <p:cNvSpPr txBox="1"/>
          <p:nvPr/>
        </p:nvSpPr>
        <p:spPr>
          <a:xfrm>
            <a:off x="2490724" y="3151112"/>
            <a:ext cx="2843893" cy="368746"/>
          </a:xfrm>
          <a:prstGeom prst="rect">
            <a:avLst/>
          </a:prstGeom>
          <a:noFill/>
        </p:spPr>
        <p:txBody>
          <a:bodyPr wrap="square" lIns="91440" tIns="45720" rIns="91440" bIns="45720" anchor="b" anchorCtr="0">
            <a:noAutofit/>
          </a:bodyPr>
          <a:lstStyle/>
          <a:p>
            <a:r>
              <a:rPr lang="zh-CN" altLang="en-US" sz="2400" b="1" dirty="0" smtClean="0">
                <a:solidFill>
                  <a:srgbClr val="D9793F"/>
                </a:solidFill>
              </a:rPr>
              <a:t>第一节</a:t>
            </a:r>
          </a:p>
        </p:txBody>
      </p:sp>
      <p:sp>
        <p:nvSpPr>
          <p:cNvPr id="10" name="ïśḷíďè"/>
          <p:cNvSpPr txBox="1"/>
          <p:nvPr/>
        </p:nvSpPr>
        <p:spPr>
          <a:xfrm>
            <a:off x="2490470" y="3519805"/>
            <a:ext cx="3441700" cy="588010"/>
          </a:xfrm>
          <a:prstGeom prst="rect">
            <a:avLst/>
          </a:prstGeom>
        </p:spPr>
        <p:txBody>
          <a:bodyPr vert="horz" wrap="square" lIns="91440" tIns="45720" rIns="91440" bIns="45720" anchor="t" anchorCtr="0">
            <a:noAutofit/>
          </a:bodyPr>
          <a:lstStyle/>
          <a:p>
            <a:pPr lvl="0" algn="just" eaLnBrk="0" fontAlgn="base" hangingPunct="0">
              <a:spcBef>
                <a:spcPct val="0"/>
              </a:spcBef>
              <a:spcAft>
                <a:spcPct val="0"/>
              </a:spcAft>
              <a:defRPr/>
            </a:pPr>
            <a:r>
              <a:rPr lang="zh-CN" altLang="en-US" sz="2400" dirty="0" err="1">
                <a:latin typeface="微软雅黑" panose="020B0503020204020204" charset="-122"/>
                <a:ea typeface="微软雅黑" panose="020B0503020204020204" charset="-122"/>
              </a:rPr>
              <a:t>犯罪客体的概念与特征</a:t>
            </a:r>
          </a:p>
        </p:txBody>
      </p:sp>
      <p:cxnSp>
        <p:nvCxnSpPr>
          <p:cNvPr id="11" name="直接连接符 10"/>
          <p:cNvCxnSpPr/>
          <p:nvPr/>
        </p:nvCxnSpPr>
        <p:spPr>
          <a:xfrm>
            <a:off x="2409621" y="3276993"/>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2" name="îṩļïḑè"/>
          <p:cNvSpPr txBox="1"/>
          <p:nvPr/>
        </p:nvSpPr>
        <p:spPr>
          <a:xfrm>
            <a:off x="6901180" y="3277235"/>
            <a:ext cx="847090" cy="831215"/>
          </a:xfrm>
          <a:prstGeom prst="rect">
            <a:avLst/>
          </a:prstGeom>
          <a:noFill/>
        </p:spPr>
        <p:txBody>
          <a:bodyPr wrap="square" lIns="91440" tIns="45720" rIns="91440" bIns="45720" anchor="ctr">
            <a:noAutofit/>
          </a:bodyPr>
          <a:lstStyle/>
          <a:p>
            <a:pPr algn="ctr"/>
            <a:r>
              <a:rPr lang="en-US" altLang="zh-CN" sz="4800" dirty="0">
                <a:solidFill>
                  <a:schemeClr val="bg1">
                    <a:lumMod val="75000"/>
                  </a:schemeClr>
                </a:solidFill>
                <a:latin typeface="Impact" panose="020B0806030902050204" pitchFamily="34" charset="0"/>
              </a:rPr>
              <a:t>02</a:t>
            </a:r>
          </a:p>
        </p:txBody>
      </p:sp>
      <p:sp>
        <p:nvSpPr>
          <p:cNvPr id="13" name="ïṧḷïḓé"/>
          <p:cNvSpPr txBox="1"/>
          <p:nvPr/>
        </p:nvSpPr>
        <p:spPr>
          <a:xfrm>
            <a:off x="7935726" y="3151112"/>
            <a:ext cx="2843893" cy="368746"/>
          </a:xfrm>
          <a:prstGeom prst="rect">
            <a:avLst/>
          </a:prstGeom>
          <a:noFill/>
        </p:spPr>
        <p:txBody>
          <a:bodyPr wrap="square" lIns="91440" tIns="45720" rIns="91440" bIns="45720" anchor="b" anchorCtr="0">
            <a:noAutofit/>
          </a:bodyPr>
          <a:lstStyle/>
          <a:p>
            <a:r>
              <a:rPr lang="zh-CN" altLang="en-US" sz="2400" b="1" dirty="0" smtClean="0">
                <a:solidFill>
                  <a:srgbClr val="D9793F"/>
                </a:solidFill>
              </a:rPr>
              <a:t>第二节</a:t>
            </a:r>
          </a:p>
        </p:txBody>
      </p:sp>
      <p:sp>
        <p:nvSpPr>
          <p:cNvPr id="14" name="íṩļíḋê"/>
          <p:cNvSpPr txBox="1"/>
          <p:nvPr/>
        </p:nvSpPr>
        <p:spPr>
          <a:xfrm>
            <a:off x="7935726" y="3519856"/>
            <a:ext cx="2843893" cy="588133"/>
          </a:xfrm>
          <a:prstGeom prst="rect">
            <a:avLst/>
          </a:prstGeom>
        </p:spPr>
        <p:txBody>
          <a:bodyPr vert="horz" wrap="square" lIns="91440" tIns="45720" rIns="91440" bIns="45720" anchor="t" anchorCtr="0">
            <a:noAutofit/>
          </a:bodyPr>
          <a:lstStyle/>
          <a:p>
            <a:pPr lvl="0" algn="just" eaLnBrk="0" fontAlgn="base" hangingPunct="0">
              <a:spcBef>
                <a:spcPct val="0"/>
              </a:spcBef>
              <a:spcAft>
                <a:spcPct val="0"/>
              </a:spcAft>
              <a:defRPr/>
            </a:pPr>
            <a:r>
              <a:rPr lang="zh-CN" altLang="en-US" sz="2400" dirty="0" err="1">
                <a:latin typeface="微软雅黑" panose="020B0503020204020204" charset="-122"/>
                <a:ea typeface="微软雅黑" panose="020B0503020204020204" charset="-122"/>
              </a:rPr>
              <a:t>犯罪客体的分类</a:t>
            </a:r>
          </a:p>
        </p:txBody>
      </p:sp>
      <p:cxnSp>
        <p:nvCxnSpPr>
          <p:cNvPr id="15" name="直接连接符 14"/>
          <p:cNvCxnSpPr/>
          <p:nvPr/>
        </p:nvCxnSpPr>
        <p:spPr>
          <a:xfrm>
            <a:off x="7854623" y="3276993"/>
            <a:ext cx="0" cy="830997"/>
          </a:xfrm>
          <a:prstGeom prst="line">
            <a:avLst/>
          </a:prstGeom>
          <a:ln w="12700" cap="flat" cmpd="sng" algn="ctr">
            <a:solidFill>
              <a:schemeClr val="bg1">
                <a:lumMod val="75000"/>
              </a:schemeClr>
            </a:solidFill>
            <a:prstDash val="solid"/>
            <a:miter lim="800000"/>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par>
    </p:tnLst>
    <p:bldLst>
      <p:bldP spid="7" grpId="0" bldLvl="0" animBg="1"/>
      <p:bldP spid="8" grpId="0"/>
      <p:bldP spid="9" grpId="0"/>
      <p:bldP spid="10" grpId="0"/>
      <p:bldP spid="12" grpId="0"/>
      <p:bldP spid="13" grpId="0"/>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848107"/>
            <a:ext cx="5574158" cy="230695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charset="-122"/>
                <a:ea typeface="微软雅黑" panose="020B0503020204020204" charset="-122"/>
              </a:rPr>
              <a:t>一、犯罪客体的概念</a:t>
            </a:r>
          </a:p>
          <a:p>
            <a:pPr>
              <a:lnSpc>
                <a:spcPct val="150000"/>
              </a:lnSpc>
            </a:pPr>
            <a:r>
              <a:rPr lang="zh-CN" altLang="en-US" sz="2400" dirty="0">
                <a:solidFill>
                  <a:schemeClr val="tx1">
                    <a:lumMod val="95000"/>
                    <a:lumOff val="5000"/>
                  </a:schemeClr>
                </a:solidFill>
                <a:latin typeface="微软雅黑" panose="020B0503020204020204" charset="-122"/>
                <a:ea typeface="微软雅黑" panose="020B0503020204020204" charset="-122"/>
              </a:rPr>
              <a:t>二、犯罪客体的特征</a:t>
            </a:r>
          </a:p>
          <a:p>
            <a:pPr>
              <a:lnSpc>
                <a:spcPct val="150000"/>
              </a:lnSpc>
            </a:pPr>
            <a:r>
              <a:rPr lang="zh-CN" altLang="en-US" sz="2400" dirty="0">
                <a:solidFill>
                  <a:schemeClr val="tx1">
                    <a:lumMod val="95000"/>
                    <a:lumOff val="5000"/>
                  </a:schemeClr>
                </a:solidFill>
                <a:latin typeface="微软雅黑" panose="020B0503020204020204" charset="-122"/>
                <a:ea typeface="微软雅黑" panose="020B0503020204020204" charset="-122"/>
              </a:rPr>
              <a:t>三、犯罪客体与犯罪对象</a:t>
            </a:r>
          </a:p>
          <a:p>
            <a:pPr>
              <a:lnSpc>
                <a:spcPct val="150000"/>
              </a:lnSpc>
            </a:pPr>
            <a:endParaRPr lang="zh-CN" altLang="en-US" sz="2400" dirty="0">
              <a:solidFill>
                <a:schemeClr val="tx1">
                  <a:lumMod val="95000"/>
                  <a:lumOff val="5000"/>
                </a:schemeClr>
              </a:solidFill>
              <a:latin typeface="微软雅黑" panose="020B0503020204020204" charset="-122"/>
              <a:ea typeface="微软雅黑" panose="020B0503020204020204" charset="-122"/>
            </a:endParaRPr>
          </a:p>
        </p:txBody>
      </p:sp>
      <p:sp>
        <p:nvSpPr>
          <p:cNvPr id="23" name="矩形 22"/>
          <p:cNvSpPr/>
          <p:nvPr/>
        </p:nvSpPr>
        <p:spPr>
          <a:xfrm>
            <a:off x="3623945" y="775335"/>
            <a:ext cx="8126730" cy="829945"/>
          </a:xfrm>
          <a:prstGeom prst="rect">
            <a:avLst/>
          </a:prstGeom>
        </p:spPr>
        <p:txBody>
          <a:bodyPr wrap="square">
            <a:spAutoFit/>
          </a:bodyPr>
          <a:lstStyle/>
          <a:p>
            <a:pPr algn="l">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第一节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犯罪客体的概念与特征</a:t>
            </a: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timing>
    <p:tnLst>
      <p:par>
        <p:cTn id="1" dur="indefinite" restart="never" nodeType="tmRoot"/>
      </p:par>
    </p:tnLst>
    <p:bldLst>
      <p:bldP spid="18" grpId="0" bldLvl="0" animBg="1"/>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3696335" y="1628140"/>
            <a:ext cx="7332124" cy="3307715"/>
          </a:xfrm>
          <a:prstGeom prst="rect">
            <a:avLst/>
          </a:prstGeom>
          <a:noFill/>
        </p:spPr>
        <p:txBody>
          <a:bodyPr wrap="square" rtlCol="0">
            <a:noAutofit/>
          </a:bodyPr>
          <a:lstStyle/>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err="1">
                <a:latin typeface="微软雅黑" panose="020B0503020204020204" charset="-122"/>
                <a:ea typeface="微软雅黑" panose="020B0503020204020204" charset="-122"/>
                <a:cs typeface="宋体" panose="02010600030101010101" pitchFamily="2" charset="-122"/>
                <a:sym typeface="+mn-ea"/>
              </a:rPr>
              <a:t>犯罪客体，</a:t>
            </a:r>
            <a:r>
              <a:rPr sz="2000" dirty="0" err="1" smtClean="0">
                <a:latin typeface="微软雅黑" panose="020B0503020204020204" charset="-122"/>
                <a:ea typeface="微软雅黑" panose="020B0503020204020204" charset="-122"/>
                <a:cs typeface="宋体" panose="02010600030101010101" pitchFamily="2" charset="-122"/>
                <a:sym typeface="+mn-ea"/>
              </a:rPr>
              <a:t>是指我国刑法保护的为犯罪行为所侵犯的社会关系</a:t>
            </a:r>
            <a:r>
              <a:rPr lang="zh-CN" altLang="en-US" sz="1400" b="1" dirty="0">
                <a:solidFill>
                  <a:srgbClr val="00B0F0"/>
                </a:solidFill>
                <a:latin typeface="微软雅黑" panose="020B0503020204020204" charset="-122"/>
                <a:ea typeface="微软雅黑" panose="020B0503020204020204" charset="-122"/>
                <a:cs typeface="宋体" panose="02010600030101010101" pitchFamily="2" charset="-122"/>
                <a:sym typeface="+mn-ea"/>
              </a:rPr>
              <a:t>（法益是指刑法保护的重要的生活利益</a:t>
            </a: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a:t>
            </a:r>
            <a:r>
              <a:rPr lang="zh-CN" altLang="zh-CN" sz="1400" dirty="0">
                <a:latin typeface="微软雅黑" panose="020B0503020204020204" charset="-122"/>
                <a:ea typeface="微软雅黑" panose="020B0503020204020204" charset="-122"/>
                <a:cs typeface="宋体" panose="02010600030101010101" pitchFamily="2" charset="-122"/>
                <a:sym typeface="+mn-ea"/>
              </a:rPr>
              <a:t> 。</a:t>
            </a:r>
            <a:endParaRPr lang="zh-CN" altLang="en-US" sz="1400" b="1" dirty="0">
              <a:solidFill>
                <a:srgbClr val="00B0F0"/>
              </a:solidFill>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err="1" smtClean="0">
                <a:latin typeface="微软雅黑" panose="020B0503020204020204" charset="-122"/>
                <a:ea typeface="微软雅黑" panose="020B0503020204020204" charset="-122"/>
                <a:cs typeface="宋体" panose="02010600030101010101" pitchFamily="2" charset="-122"/>
                <a:sym typeface="+mn-ea"/>
              </a:rPr>
              <a:t>犯罪客体是犯罪构成的必备要件</a:t>
            </a:r>
            <a:r>
              <a:rPr sz="2000" dirty="0" err="1">
                <a:latin typeface="微软雅黑" panose="020B0503020204020204" charset="-122"/>
                <a:ea typeface="微软雅黑" panose="020B0503020204020204" charset="-122"/>
                <a:cs typeface="宋体" panose="02010600030101010101" pitchFamily="2" charset="-122"/>
                <a:sym typeface="+mn-ea"/>
              </a:rPr>
              <a:t>。任何一种犯罪都必然侵犯刑法所保护的社会关系，否则，就不具备严重的社会危害性，缺乏犯罪的本质特征</a:t>
            </a:r>
            <a:r>
              <a:rPr sz="2000" dirty="0">
                <a:latin typeface="微软雅黑" panose="020B0503020204020204" charset="-122"/>
                <a:ea typeface="微软雅黑" panose="020B0503020204020204" charset="-122"/>
                <a:cs typeface="宋体" panose="02010600030101010101" pitchFamily="2" charset="-122"/>
                <a:sym typeface="+mn-ea"/>
              </a:rPr>
              <a:t>。</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4121925" y="936334"/>
            <a:ext cx="2926080" cy="460375"/>
          </a:xfrm>
          <a:prstGeom prst="rect">
            <a:avLst/>
          </a:prstGeom>
        </p:spPr>
        <p:txBody>
          <a:bodyPr wrap="none">
            <a:spAutoFit/>
          </a:bodyPr>
          <a:lstStyle/>
          <a:p>
            <a:pPr algn="l"/>
            <a:r>
              <a:rPr lang="zh-CN" altLang="en-US" sz="2400" b="1" dirty="0">
                <a:latin typeface="微软雅黑" panose="020B0503020204020204" charset="-122"/>
                <a:ea typeface="微软雅黑" panose="020B0503020204020204" charset="-122"/>
                <a:cs typeface="宋体" panose="02010600030101010101" pitchFamily="2" charset="-122"/>
                <a:sym typeface="+mn-ea"/>
              </a:rPr>
              <a:t>一、犯罪客体的概念</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3103145"/>
            <a:ext cx="7248512" cy="2585323"/>
          </a:xfrm>
          <a:prstGeom prst="rect">
            <a:avLst/>
          </a:prstGeom>
          <a:noFill/>
        </p:spPr>
        <p:txBody>
          <a:bodyPr wrap="square" rtlCol="0">
            <a:spAutoFit/>
          </a:bodyPr>
          <a:lstStyle/>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刑法学界有一种观点认为，犯罪客体</a:t>
            </a:r>
            <a:r>
              <a:rPr sz="2000" b="1" dirty="0">
                <a:latin typeface="微软雅黑" panose="020B0503020204020204" charset="-122"/>
                <a:ea typeface="微软雅黑" panose="020B0503020204020204" charset="-122"/>
                <a:cs typeface="宋体" panose="02010600030101010101" pitchFamily="2" charset="-122"/>
                <a:sym typeface="+mn-ea"/>
              </a:rPr>
              <a:t>应是犯罪概念研究的对象，而不是犯罪的构成要件</a:t>
            </a:r>
            <a:r>
              <a:rPr lang="zh-CN" sz="2000" dirty="0">
                <a:latin typeface="微软雅黑" panose="020B0503020204020204" charset="-122"/>
                <a:ea typeface="微软雅黑" panose="020B0503020204020204" charset="-122"/>
                <a:cs typeface="宋体" panose="02010600030101010101" pitchFamily="2" charset="-122"/>
                <a:sym typeface="+mn-ea"/>
              </a:rPr>
              <a:t>；</a:t>
            </a:r>
            <a:r>
              <a:rPr sz="2000" dirty="0">
                <a:latin typeface="微软雅黑" panose="020B0503020204020204" charset="-122"/>
                <a:ea typeface="微软雅黑" panose="020B0503020204020204" charset="-122"/>
                <a:cs typeface="宋体" panose="02010600030101010101" pitchFamily="2" charset="-122"/>
                <a:sym typeface="+mn-ea"/>
              </a:rPr>
              <a:t>而行为对象(或称犯罪对象、行为客体) </a:t>
            </a:r>
            <a:r>
              <a:rPr sz="2000" dirty="0" err="1">
                <a:latin typeface="微软雅黑" panose="020B0503020204020204" charset="-122"/>
                <a:ea typeface="微软雅黑" panose="020B0503020204020204" charset="-122"/>
                <a:cs typeface="宋体" panose="02010600030101010101" pitchFamily="2" charset="-122"/>
                <a:sym typeface="+mn-ea"/>
              </a:rPr>
              <a:t>体现了犯罪行为直接作用的人或物，</a:t>
            </a:r>
            <a:r>
              <a:rPr sz="2000" b="1" dirty="0" err="1">
                <a:latin typeface="微软雅黑" panose="020B0503020204020204" charset="-122"/>
                <a:ea typeface="微软雅黑" panose="020B0503020204020204" charset="-122"/>
                <a:cs typeface="宋体" panose="02010600030101010101" pitchFamily="2" charset="-122"/>
                <a:sym typeface="+mn-ea"/>
              </a:rPr>
              <a:t>应是犯罪构成客观方面的一个要件</a:t>
            </a:r>
            <a:r>
              <a:rPr lang="zh-CN" sz="2000" b="1" dirty="0" smtClean="0">
                <a:latin typeface="微软雅黑" panose="020B0503020204020204" charset="-122"/>
                <a:ea typeface="微软雅黑" panose="020B0503020204020204" charset="-122"/>
                <a:cs typeface="宋体" panose="02010600030101010101" pitchFamily="2" charset="-122"/>
                <a:sym typeface="+mn-ea"/>
              </a:rPr>
              <a:t>。</a:t>
            </a:r>
            <a:endParaRPr lang="en-US" altLang="zh-CN" sz="2000" b="1" dirty="0" smtClean="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犯罪客体</a:t>
            </a:r>
            <a:r>
              <a:rPr lang="en-US" altLang="zh-CN"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a:t>
            </a: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保护客体（法益）</a:t>
            </a:r>
            <a:endParaRPr lang="en-US" altLang="zh-CN"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犯罪对象</a:t>
            </a:r>
            <a:r>
              <a:rPr lang="en-US" altLang="zh-CN"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a:t>
            </a: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行为客体</a:t>
            </a:r>
            <a:r>
              <a:rPr lang="en-US" altLang="zh-CN"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a:t>
            </a: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对象（人、物体等）</a:t>
            </a:r>
            <a:endParaRPr sz="1400" dirty="0">
              <a:solidFill>
                <a:srgbClr val="00B0F0"/>
              </a:solidFill>
              <a:latin typeface="微软雅黑" panose="020B0503020204020204" charset="-122"/>
              <a:ea typeface="微软雅黑" panose="020B050302020402020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235128"/>
            <a:ext cx="3177303" cy="1674132"/>
            <a:chOff x="760461" y="3235128"/>
            <a:chExt cx="3177303"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476468" y="3633146"/>
              <a:ext cx="1610360" cy="598805"/>
            </a:xfrm>
            <a:prstGeom prst="rect">
              <a:avLst/>
            </a:prstGeom>
          </p:spPr>
          <p:txBody>
            <a:bodyPr wrap="non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新的观点</a:t>
              </a:r>
            </a:p>
          </p:txBody>
        </p:sp>
      </p:grpSp>
      <p:sp>
        <p:nvSpPr>
          <p:cNvPr id="3" name="矩形 2"/>
          <p:cNvSpPr/>
          <p:nvPr/>
        </p:nvSpPr>
        <p:spPr>
          <a:xfrm>
            <a:off x="4121925" y="1237324"/>
            <a:ext cx="2926080" cy="460375"/>
          </a:xfrm>
          <a:prstGeom prst="rect">
            <a:avLst/>
          </a:prstGeom>
        </p:spPr>
        <p:txBody>
          <a:bodyPr wrap="none">
            <a:spAutoFit/>
          </a:bodyPr>
          <a:lstStyle/>
          <a:p>
            <a:pPr algn="l"/>
            <a:r>
              <a:rPr lang="zh-CN" altLang="en-US" sz="2400" b="1" dirty="0">
                <a:latin typeface="微软雅黑" panose="020B0503020204020204" charset="-122"/>
                <a:ea typeface="微软雅黑" panose="020B0503020204020204" charset="-122"/>
                <a:cs typeface="宋体" panose="02010600030101010101" pitchFamily="2" charset="-122"/>
                <a:sym typeface="+mn-ea"/>
              </a:rPr>
              <a:t>一、犯罪客体的概念</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641500"/>
            <a:ext cx="7248512" cy="2862322"/>
          </a:xfrm>
          <a:prstGeom prst="rect">
            <a:avLst/>
          </a:prstGeom>
          <a:noFill/>
        </p:spPr>
        <p:txBody>
          <a:bodyPr wrap="square" rtlCol="0">
            <a:spAutoFit/>
          </a:bodyPr>
          <a:lstStyle/>
          <a:p>
            <a:pPr indent="457200">
              <a:lnSpc>
                <a:spcPct val="150000"/>
              </a:lnSpc>
            </a:pPr>
            <a:r>
              <a:rPr sz="2000" dirty="0" err="1" smtClean="0">
                <a:latin typeface="微软雅黑" panose="020B0503020204020204" charset="-122"/>
                <a:ea typeface="微软雅黑" panose="020B0503020204020204" charset="-122"/>
                <a:cs typeface="宋体" panose="02010600030101010101" pitchFamily="2" charset="-122"/>
                <a:sym typeface="+mn-ea"/>
              </a:rPr>
              <a:t>社会关系是人们在生产活动和共同生活中所形成的人与人之间的相互关系</a:t>
            </a: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（物质关系</a:t>
            </a:r>
            <a:r>
              <a:rPr lang="en-US" altLang="zh-CN"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a:t>
            </a: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非物质关系）</a:t>
            </a:r>
            <a:r>
              <a:rPr lang="zh-CN" altLang="en-US" sz="2000" dirty="0" smtClean="0">
                <a:latin typeface="微软雅黑" panose="020B0503020204020204" charset="-122"/>
                <a:ea typeface="微软雅黑" panose="020B0503020204020204" charset="-122"/>
                <a:cs typeface="宋体" panose="02010600030101010101" pitchFamily="2" charset="-122"/>
                <a:sym typeface="+mn-ea"/>
              </a:rPr>
              <a:t>，</a:t>
            </a:r>
            <a:r>
              <a:rPr sz="2000" dirty="0" err="1" smtClean="0">
                <a:latin typeface="微软雅黑" panose="020B0503020204020204" charset="-122"/>
                <a:ea typeface="微软雅黑" panose="020B0503020204020204" charset="-122"/>
                <a:cs typeface="宋体" panose="02010600030101010101" pitchFamily="2" charset="-122"/>
                <a:sym typeface="+mn-ea"/>
              </a:rPr>
              <a:t>这种关系是人类社会存在的必要条件</a:t>
            </a:r>
            <a:r>
              <a:rPr sz="2000" dirty="0">
                <a:latin typeface="微软雅黑" panose="020B0503020204020204" charset="-122"/>
                <a:ea typeface="微软雅黑" panose="020B0503020204020204" charset="-122"/>
                <a:cs typeface="宋体" panose="02010600030101010101" pitchFamily="2" charset="-122"/>
                <a:sym typeface="+mn-ea"/>
              </a:rPr>
              <a:t>。</a:t>
            </a:r>
            <a:endParaRPr sz="2000" b="1"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在阶级社会中，要用法律等手段去调整和维护一定的社会关系，如果行为人的行为侵犯了这种社会关系并达到一定的严重程度，就会被认为是犯罪。</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676641" y="3235128"/>
            <a:ext cx="3331845" cy="1674132"/>
            <a:chOff x="676641" y="3235128"/>
            <a:chExt cx="3331845"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676641" y="3336728"/>
              <a:ext cx="333184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（一）犯罪客体是一种社会关系</a:t>
              </a:r>
            </a:p>
          </p:txBody>
        </p:sp>
      </p:grpSp>
      <p:sp>
        <p:nvSpPr>
          <p:cNvPr id="3" name="矩形 2"/>
          <p:cNvSpPr/>
          <p:nvPr/>
        </p:nvSpPr>
        <p:spPr>
          <a:xfrm>
            <a:off x="4121925" y="1123659"/>
            <a:ext cx="2926080" cy="460375"/>
          </a:xfrm>
          <a:prstGeom prst="rect">
            <a:avLst/>
          </a:prstGeom>
        </p:spPr>
        <p:txBody>
          <a:bodyPr wrap="none">
            <a:spAutoFit/>
          </a:bodyPr>
          <a:lstStyle/>
          <a:p>
            <a:r>
              <a:rPr lang="zh-CN" altLang="en-US" sz="2400" b="1" dirty="0">
                <a:latin typeface="微软雅黑" panose="020B0503020204020204" charset="-122"/>
                <a:ea typeface="微软雅黑" panose="020B0503020204020204" charset="-122"/>
                <a:cs typeface="宋体" panose="02010600030101010101" pitchFamily="2" charset="-122"/>
                <a:sym typeface="+mn-ea"/>
              </a:rPr>
              <a:t>二、犯罪客体的特征</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69" y="2459255"/>
            <a:ext cx="7479645" cy="2861310"/>
          </a:xfrm>
          <a:prstGeom prst="rect">
            <a:avLst/>
          </a:prstGeom>
          <a:noFill/>
        </p:spPr>
        <p:txBody>
          <a:bodyPr wrap="square" rtlCol="0">
            <a:spAutoFit/>
          </a:bodyPr>
          <a:lstStyle/>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我国《刑法》第</a:t>
            </a:r>
            <a:r>
              <a:rPr lang="en-US" sz="2000" dirty="0">
                <a:latin typeface="微软雅黑" panose="020B0503020204020204" charset="-122"/>
                <a:ea typeface="微软雅黑" panose="020B0503020204020204" charset="-122"/>
                <a:cs typeface="宋体" panose="02010600030101010101" pitchFamily="2" charset="-122"/>
                <a:sym typeface="+mn-ea"/>
              </a:rPr>
              <a:t>2</a:t>
            </a:r>
            <a:r>
              <a:rPr sz="2000" dirty="0">
                <a:latin typeface="微软雅黑" panose="020B0503020204020204" charset="-122"/>
                <a:ea typeface="微软雅黑" panose="020B0503020204020204" charset="-122"/>
                <a:cs typeface="宋体" panose="02010600030101010101" pitchFamily="2" charset="-122"/>
                <a:sym typeface="+mn-ea"/>
              </a:rPr>
              <a:t>条、第</a:t>
            </a:r>
            <a:r>
              <a:rPr lang="en-US" sz="2000" dirty="0">
                <a:latin typeface="微软雅黑" panose="020B0503020204020204" charset="-122"/>
                <a:ea typeface="微软雅黑" panose="020B0503020204020204" charset="-122"/>
                <a:cs typeface="宋体" panose="02010600030101010101" pitchFamily="2" charset="-122"/>
                <a:sym typeface="+mn-ea"/>
              </a:rPr>
              <a:t>13</a:t>
            </a:r>
            <a:r>
              <a:rPr sz="2000" dirty="0">
                <a:latin typeface="微软雅黑" panose="020B0503020204020204" charset="-122"/>
                <a:ea typeface="微软雅黑" panose="020B0503020204020204" charset="-122"/>
                <a:cs typeface="宋体" panose="02010600030101010101" pitchFamily="2" charset="-122"/>
                <a:sym typeface="+mn-ea"/>
              </a:rPr>
              <a:t>条明文规定予以保护的国家安全，人民民主专政的政权，社会主义制度，财产所有权，公民的人身权利、民主权利和其他权利，社会秩序，经济秩序，</a:t>
            </a:r>
            <a:r>
              <a:rPr sz="2000" dirty="0" smtClean="0">
                <a:latin typeface="微软雅黑" panose="020B0503020204020204" charset="-122"/>
                <a:ea typeface="微软雅黑" panose="020B0503020204020204" charset="-122"/>
                <a:cs typeface="宋体" panose="02010600030101010101" pitchFamily="2" charset="-122"/>
                <a:sym typeface="+mn-ea"/>
              </a:rPr>
              <a:t>以及刑法分则条文规定予以保护的各种社会关系</a:t>
            </a: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（国家法益</a:t>
            </a:r>
            <a:r>
              <a:rPr lang="en-US" altLang="zh-CN"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a:t>
            </a: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社会法益</a:t>
            </a:r>
            <a:r>
              <a:rPr lang="en-US" altLang="zh-CN"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a:t>
            </a: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个人法益）</a:t>
            </a:r>
            <a:r>
              <a:rPr sz="2000" dirty="0" smtClean="0">
                <a:latin typeface="微软雅黑" panose="020B0503020204020204" charset="-122"/>
                <a:ea typeface="微软雅黑" panose="020B0503020204020204" charset="-122"/>
                <a:cs typeface="宋体" panose="02010600030101010101" pitchFamily="2" charset="-122"/>
                <a:sym typeface="+mn-ea"/>
              </a:rPr>
              <a:t>，</a:t>
            </a:r>
            <a:r>
              <a:rPr sz="2000" dirty="0">
                <a:latin typeface="微软雅黑" panose="020B0503020204020204" charset="-122"/>
                <a:ea typeface="微软雅黑" panose="020B0503020204020204" charset="-122"/>
                <a:cs typeface="宋体" panose="02010600030101010101" pitchFamily="2" charset="-122"/>
                <a:sym typeface="+mn-ea"/>
              </a:rPr>
              <a:t>就是我国刑法规定的犯罪客体。</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235128"/>
            <a:ext cx="3298825" cy="1674132"/>
            <a:chOff x="760461" y="3235128"/>
            <a:chExt cx="3298825"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017001" y="3336728"/>
              <a:ext cx="304228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（二）犯罪客体是我国刑法保护的社会关系</a:t>
              </a:r>
            </a:p>
          </p:txBody>
        </p:sp>
      </p:grpSp>
      <p:sp>
        <p:nvSpPr>
          <p:cNvPr id="3" name="矩形 2"/>
          <p:cNvSpPr/>
          <p:nvPr/>
        </p:nvSpPr>
        <p:spPr>
          <a:xfrm>
            <a:off x="4121925" y="1232244"/>
            <a:ext cx="2926080" cy="460375"/>
          </a:xfrm>
          <a:prstGeom prst="rect">
            <a:avLst/>
          </a:prstGeom>
        </p:spPr>
        <p:txBody>
          <a:bodyPr wrap="none">
            <a:spAutoFit/>
          </a:bodyPr>
          <a:lstStyle/>
          <a:p>
            <a:r>
              <a:rPr lang="zh-CN" altLang="en-US" sz="2400" b="1" dirty="0">
                <a:latin typeface="微软雅黑" panose="020B0503020204020204" charset="-122"/>
                <a:ea typeface="微软雅黑" panose="020B0503020204020204" charset="-122"/>
                <a:cs typeface="宋体" panose="02010600030101010101" pitchFamily="2" charset="-122"/>
                <a:sym typeface="+mn-ea"/>
              </a:rPr>
              <a:t>二、犯罪客体的特征</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69" y="1123850"/>
            <a:ext cx="7495547" cy="3785652"/>
          </a:xfrm>
          <a:prstGeom prst="rect">
            <a:avLst/>
          </a:prstGeom>
          <a:noFill/>
        </p:spPr>
        <p:txBody>
          <a:bodyPr wrap="square" rtlCol="0">
            <a:spAutoFit/>
          </a:bodyPr>
          <a:lstStyle/>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lang="zh-CN" sz="2000" dirty="0" smtClean="0">
                <a:latin typeface="微软雅黑" panose="020B0503020204020204" charset="-122"/>
                <a:ea typeface="微软雅黑" panose="020B0503020204020204" charset="-122"/>
                <a:cs typeface="宋体" panose="02010600030101010101" pitchFamily="2" charset="-122"/>
                <a:sym typeface="+mn-ea"/>
              </a:rPr>
              <a:t>社会关系</a:t>
            </a:r>
            <a:r>
              <a:rPr lang="zh-CN" altLang="en-US" sz="2000" dirty="0" smtClean="0">
                <a:latin typeface="微软雅黑" panose="020B0503020204020204" charset="-122"/>
                <a:ea typeface="微软雅黑" panose="020B0503020204020204" charset="-122"/>
                <a:cs typeface="宋体" panose="02010600030101010101" pitchFamily="2" charset="-122"/>
                <a:sym typeface="+mn-ea"/>
              </a:rPr>
              <a:t>只有</a:t>
            </a:r>
            <a:r>
              <a:rPr sz="2000" b="1" dirty="0" err="1" smtClean="0">
                <a:latin typeface="微软雅黑" panose="020B0503020204020204" charset="-122"/>
                <a:ea typeface="微软雅黑" panose="020B0503020204020204" charset="-122"/>
                <a:cs typeface="宋体" panose="02010600030101010101" pitchFamily="2" charset="-122"/>
                <a:sym typeface="+mn-ea"/>
              </a:rPr>
              <a:t>被犯罪行为侵犯</a:t>
            </a:r>
            <a:r>
              <a:rPr sz="2000" dirty="0" err="1" smtClean="0">
                <a:latin typeface="微软雅黑" panose="020B0503020204020204" charset="-122"/>
                <a:ea typeface="微软雅黑" panose="020B0503020204020204" charset="-122"/>
                <a:cs typeface="宋体" panose="02010600030101010101" pitchFamily="2" charset="-122"/>
                <a:sym typeface="+mn-ea"/>
              </a:rPr>
              <a:t>时</a:t>
            </a:r>
            <a:r>
              <a:rPr sz="2000" dirty="0" err="1">
                <a:latin typeface="微软雅黑" panose="020B0503020204020204" charset="-122"/>
                <a:ea typeface="微软雅黑" panose="020B0503020204020204" charset="-122"/>
                <a:cs typeface="宋体" panose="02010600030101010101" pitchFamily="2" charset="-122"/>
                <a:sym typeface="+mn-ea"/>
              </a:rPr>
              <a:t>，才能成为犯罪客体</a:t>
            </a:r>
            <a:r>
              <a:rPr sz="2000" dirty="0">
                <a:latin typeface="微软雅黑" panose="020B0503020204020204" charset="-122"/>
                <a:ea typeface="微软雅黑" panose="020B0503020204020204" charset="-122"/>
                <a:cs typeface="宋体" panose="02010600030101010101" pitchFamily="2" charset="-122"/>
                <a:sym typeface="+mn-ea"/>
              </a:rPr>
              <a:t>。</a:t>
            </a:r>
          </a:p>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犯罪行为与犯罪客体具有密切的关系，没有犯罪行为，也就没有犯罪客体。反之，如果行为没有侵犯刑法保护的社会关系，没有侵犯任何客体，也就不可能构成犯罪。</a:t>
            </a: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235128"/>
            <a:ext cx="3298825" cy="1674132"/>
            <a:chOff x="760461" y="3235128"/>
            <a:chExt cx="3298825"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1017001" y="3336728"/>
              <a:ext cx="304228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（三）犯罪客体是犯罪行为侵犯的社会关系</a:t>
              </a:r>
            </a:p>
          </p:txBody>
        </p:sp>
      </p:grpSp>
      <p:sp>
        <p:nvSpPr>
          <p:cNvPr id="3" name="矩形 2"/>
          <p:cNvSpPr/>
          <p:nvPr/>
        </p:nvSpPr>
        <p:spPr>
          <a:xfrm>
            <a:off x="4121925" y="663284"/>
            <a:ext cx="2926080" cy="460375"/>
          </a:xfrm>
          <a:prstGeom prst="rect">
            <a:avLst/>
          </a:prstGeom>
        </p:spPr>
        <p:txBody>
          <a:bodyPr wrap="none">
            <a:spAutoFit/>
          </a:bodyPr>
          <a:lstStyle/>
          <a:p>
            <a:r>
              <a:rPr lang="zh-CN" altLang="en-US" sz="2400" b="1" dirty="0">
                <a:latin typeface="微软雅黑" panose="020B0503020204020204" charset="-122"/>
                <a:ea typeface="微软雅黑" panose="020B0503020204020204" charset="-122"/>
                <a:cs typeface="宋体" panose="02010600030101010101" pitchFamily="2" charset="-122"/>
                <a:sym typeface="+mn-ea"/>
              </a:rPr>
              <a:t>二、犯罪客体的特征</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5291" y="757231"/>
            <a:ext cx="5117123" cy="5230288"/>
          </a:xfrm>
          <a:prstGeom prst="rect">
            <a:avLst/>
          </a:prstGeom>
        </p:spPr>
      </p:pic>
      <p:pic>
        <p:nvPicPr>
          <p:cNvPr id="3" name="图片 2"/>
          <p:cNvPicPr>
            <a:picLocks noChangeAspect="1"/>
          </p:cNvPicPr>
          <p:nvPr/>
        </p:nvPicPr>
        <p:blipFill>
          <a:blip r:embed="rId3"/>
          <a:stretch>
            <a:fillRect/>
          </a:stretch>
        </p:blipFill>
        <p:spPr>
          <a:xfrm>
            <a:off x="1310054" y="650263"/>
            <a:ext cx="3780691" cy="5337256"/>
          </a:xfrm>
          <a:prstGeom prst="rect">
            <a:avLst/>
          </a:prstGeom>
        </p:spPr>
      </p:pic>
    </p:spTree>
    <p:extLst>
      <p:ext uri="{BB962C8B-B14F-4D97-AF65-F5344CB8AC3E}">
        <p14:creationId xmlns:p14="http://schemas.microsoft.com/office/powerpoint/2010/main" val="1195109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515135"/>
            <a:ext cx="7248512" cy="2861310"/>
          </a:xfrm>
          <a:prstGeom prst="rect">
            <a:avLst/>
          </a:prstGeom>
          <a:noFill/>
        </p:spPr>
        <p:txBody>
          <a:bodyPr wrap="square" rtlCol="0">
            <a:spAutoFit/>
          </a:bodyPr>
          <a:lstStyle/>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犯罪对象，是指刑法分则条文规定的受犯罪行为直接作用或影响的具体的人或物。</a:t>
            </a: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犯罪对象基本特征:</a:t>
            </a:r>
          </a:p>
          <a:p>
            <a:pPr indent="457200">
              <a:lnSpc>
                <a:spcPct val="150000"/>
              </a:lnSpc>
            </a:pPr>
            <a:r>
              <a:rPr lang="en-US" sz="2000" b="1" dirty="0">
                <a:latin typeface="微软雅黑" panose="020B0503020204020204" charset="-122"/>
                <a:ea typeface="微软雅黑" panose="020B0503020204020204" charset="-122"/>
                <a:cs typeface="宋体" panose="02010600030101010101" pitchFamily="2" charset="-122"/>
                <a:sym typeface="+mn-ea"/>
              </a:rPr>
              <a:t>1.</a:t>
            </a:r>
            <a:r>
              <a:rPr sz="2000" b="1" dirty="0">
                <a:latin typeface="微软雅黑" panose="020B0503020204020204" charset="-122"/>
                <a:ea typeface="微软雅黑" panose="020B0503020204020204" charset="-122"/>
                <a:cs typeface="宋体" panose="02010600030101010101" pitchFamily="2" charset="-122"/>
                <a:sym typeface="+mn-ea"/>
              </a:rPr>
              <a:t>犯罪对象是具体的人或物。</a:t>
            </a:r>
          </a:p>
          <a:p>
            <a:pPr indent="457200">
              <a:lnSpc>
                <a:spcPct val="150000"/>
              </a:lnSpc>
            </a:pPr>
            <a:r>
              <a:rPr sz="2000" b="1" dirty="0">
                <a:latin typeface="微软雅黑" panose="020B0503020204020204" charset="-122"/>
                <a:ea typeface="微软雅黑" panose="020B0503020204020204" charset="-122"/>
                <a:cs typeface="宋体" panose="02010600030101010101" pitchFamily="2" charset="-122"/>
                <a:sym typeface="+mn-ea"/>
              </a:rPr>
              <a:t>2.犯罪对象是刑法规定的人或物。</a:t>
            </a: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b="1" dirty="0">
                <a:latin typeface="微软雅黑" panose="020B0503020204020204" charset="-122"/>
                <a:ea typeface="微软雅黑" panose="020B0503020204020204" charset="-122"/>
                <a:cs typeface="宋体" panose="02010600030101010101" pitchFamily="2" charset="-122"/>
                <a:sym typeface="+mn-ea"/>
              </a:rPr>
              <a:t>3.犯罪对象是受犯罪行为直接作用或影响的人或物。</a:t>
            </a:r>
            <a:endParaRPr sz="2000" dirty="0">
              <a:latin typeface="微软雅黑" panose="020B0503020204020204" charset="-122"/>
              <a:ea typeface="微软雅黑" panose="020B050302020402020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4086" y="3235128"/>
            <a:ext cx="3383678" cy="1674132"/>
            <a:chOff x="554086" y="3235128"/>
            <a:chExt cx="3383678"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4086" y="3646608"/>
              <a:ext cx="3042285" cy="598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（一）犯罪对象</a:t>
              </a:r>
            </a:p>
          </p:txBody>
        </p:sp>
      </p:grpSp>
      <p:sp>
        <p:nvSpPr>
          <p:cNvPr id="3" name="矩形 2"/>
          <p:cNvSpPr/>
          <p:nvPr/>
        </p:nvSpPr>
        <p:spPr>
          <a:xfrm>
            <a:off x="4121925" y="1232244"/>
            <a:ext cx="3535680" cy="460375"/>
          </a:xfrm>
          <a:prstGeom prst="rect">
            <a:avLst/>
          </a:prstGeom>
        </p:spPr>
        <p:txBody>
          <a:bodyPr wrap="none">
            <a:spAutoFit/>
          </a:bodyPr>
          <a:lstStyle/>
          <a:p>
            <a:r>
              <a:rPr lang="zh-CN" altLang="en-US" sz="2400" b="1" dirty="0">
                <a:latin typeface="微软雅黑" panose="020B0503020204020204" charset="-122"/>
                <a:ea typeface="微软雅黑" panose="020B0503020204020204" charset="-122"/>
                <a:cs typeface="宋体" panose="02010600030101010101" pitchFamily="2" charset="-122"/>
                <a:sym typeface="+mn-ea"/>
              </a:rPr>
              <a:t>三、犯罪客体与犯罪对象</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1225450"/>
            <a:ext cx="7248512" cy="4708981"/>
          </a:xfrm>
          <a:prstGeom prst="rect">
            <a:avLst/>
          </a:prstGeom>
          <a:noFill/>
        </p:spPr>
        <p:txBody>
          <a:bodyPr wrap="square" rtlCol="0">
            <a:spAutoFit/>
          </a:bodyPr>
          <a:lstStyle/>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犯罪对象的理论及实践意义</a:t>
            </a:r>
            <a:r>
              <a:rPr lang="zh-CN" sz="2000" dirty="0">
                <a:latin typeface="微软雅黑" panose="020B0503020204020204" charset="-122"/>
                <a:ea typeface="微软雅黑" panose="020B0503020204020204" charset="-122"/>
                <a:cs typeface="宋体" panose="02010600030101010101" pitchFamily="2" charset="-122"/>
                <a:sym typeface="+mn-ea"/>
              </a:rPr>
              <a:t>：</a:t>
            </a: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b="1" dirty="0">
                <a:latin typeface="微软雅黑" panose="020B0503020204020204" charset="-122"/>
                <a:ea typeface="微软雅黑" panose="020B0503020204020204" charset="-122"/>
                <a:cs typeface="宋体" panose="02010600030101010101" pitchFamily="2" charset="-122"/>
                <a:sym typeface="+mn-ea"/>
              </a:rPr>
              <a:t>1.犯罪对象决定某些犯罪是否成立。</a:t>
            </a:r>
            <a:r>
              <a:rPr sz="2000" dirty="0">
                <a:latin typeface="微软雅黑" panose="020B0503020204020204" charset="-122"/>
                <a:ea typeface="微软雅黑" panose="020B0503020204020204" charset="-122"/>
                <a:cs typeface="宋体" panose="02010600030101010101" pitchFamily="2" charset="-122"/>
                <a:sym typeface="+mn-ea"/>
              </a:rPr>
              <a:t>在某些犯罪中，犯罪行为只有作用于特定对象，</a:t>
            </a:r>
            <a:r>
              <a:rPr sz="2000" dirty="0" smtClean="0">
                <a:latin typeface="微软雅黑" panose="020B0503020204020204" charset="-122"/>
                <a:ea typeface="微软雅黑" panose="020B0503020204020204" charset="-122"/>
                <a:cs typeface="宋体" panose="02010600030101010101" pitchFamily="2" charset="-122"/>
                <a:sym typeface="+mn-ea"/>
              </a:rPr>
              <a:t>才能构成犯罪</a:t>
            </a: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（贪污罪）</a:t>
            </a:r>
            <a:r>
              <a:rPr sz="2000" dirty="0" smtClean="0">
                <a:latin typeface="微软雅黑" panose="020B0503020204020204" charset="-122"/>
                <a:ea typeface="微软雅黑" panose="020B0503020204020204" charset="-122"/>
                <a:cs typeface="宋体" panose="02010600030101010101" pitchFamily="2" charset="-122"/>
                <a:sym typeface="+mn-ea"/>
              </a:rPr>
              <a:t>。</a:t>
            </a: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b="1" dirty="0">
                <a:latin typeface="微软雅黑" panose="020B0503020204020204" charset="-122"/>
                <a:ea typeface="微软雅黑" panose="020B0503020204020204" charset="-122"/>
                <a:cs typeface="宋体" panose="02010600030101010101" pitchFamily="2" charset="-122"/>
                <a:sym typeface="+mn-ea"/>
              </a:rPr>
              <a:t>2.特定犯罪对象影响此罪与彼罪的区分。</a:t>
            </a:r>
            <a:r>
              <a:rPr sz="2000" dirty="0">
                <a:latin typeface="微软雅黑" panose="020B0503020204020204" charset="-122"/>
                <a:ea typeface="微软雅黑" panose="020B0503020204020204" charset="-122"/>
                <a:cs typeface="宋体" panose="02010600030101010101" pitchFamily="2" charset="-122"/>
                <a:sym typeface="+mn-ea"/>
              </a:rPr>
              <a:t>在许多情况下，</a:t>
            </a:r>
            <a:r>
              <a:rPr sz="2000" dirty="0" smtClean="0">
                <a:latin typeface="微软雅黑" panose="020B0503020204020204" charset="-122"/>
                <a:ea typeface="微软雅黑" panose="020B0503020204020204" charset="-122"/>
                <a:cs typeface="宋体" panose="02010600030101010101" pitchFamily="2" charset="-122"/>
                <a:sym typeface="+mn-ea"/>
              </a:rPr>
              <a:t>犯罪对象不同</a:t>
            </a:r>
            <a:r>
              <a:rPr lang="zh-CN" altLang="en-US" sz="2000" dirty="0" smtClean="0">
                <a:latin typeface="微软雅黑" panose="020B0503020204020204" charset="-122"/>
                <a:ea typeface="微软雅黑" panose="020B0503020204020204" charset="-122"/>
                <a:cs typeface="宋体" panose="02010600030101010101" pitchFamily="2" charset="-122"/>
                <a:sym typeface="+mn-ea"/>
              </a:rPr>
              <a:t>，</a:t>
            </a:r>
            <a:r>
              <a:rPr sz="2000" dirty="0" err="1" smtClean="0">
                <a:latin typeface="微软雅黑" panose="020B0503020204020204" charset="-122"/>
                <a:ea typeface="微软雅黑" panose="020B0503020204020204" charset="-122"/>
                <a:cs typeface="宋体" panose="02010600030101010101" pitchFamily="2" charset="-122"/>
                <a:sym typeface="+mn-ea"/>
              </a:rPr>
              <a:t>犯罪的性质就不相同</a:t>
            </a:r>
            <a:r>
              <a:rPr sz="2000" dirty="0" err="1">
                <a:latin typeface="微软雅黑" panose="020B0503020204020204" charset="-122"/>
                <a:ea typeface="微软雅黑" panose="020B0503020204020204" charset="-122"/>
                <a:cs typeface="宋体" panose="02010600030101010101" pitchFamily="2" charset="-122"/>
                <a:sym typeface="+mn-ea"/>
              </a:rPr>
              <a:t>，</a:t>
            </a:r>
            <a:r>
              <a:rPr sz="2000" dirty="0" err="1" smtClean="0">
                <a:latin typeface="微软雅黑" panose="020B0503020204020204" charset="-122"/>
                <a:ea typeface="微软雅黑" panose="020B0503020204020204" charset="-122"/>
                <a:cs typeface="宋体" panose="02010600030101010101" pitchFamily="2" charset="-122"/>
                <a:sym typeface="+mn-ea"/>
              </a:rPr>
              <a:t>罪名亦不同</a:t>
            </a:r>
            <a:r>
              <a:rPr lang="zh-CN" altLang="en-US" sz="1400" b="1" dirty="0">
                <a:solidFill>
                  <a:srgbClr val="00B0F0"/>
                </a:solidFill>
                <a:latin typeface="微软雅黑" panose="020B0503020204020204" charset="-122"/>
                <a:ea typeface="微软雅黑" panose="020B0503020204020204" charset="-122"/>
                <a:cs typeface="宋体" panose="02010600030101010101" pitchFamily="2" charset="-122"/>
                <a:sym typeface="+mn-ea"/>
              </a:rPr>
              <a:t>（劫持船只、汽车罪）</a:t>
            </a:r>
            <a:r>
              <a:rPr sz="2000" dirty="0" smtClean="0">
                <a:latin typeface="微软雅黑" panose="020B0503020204020204" charset="-122"/>
                <a:ea typeface="微软雅黑" panose="020B0503020204020204" charset="-122"/>
                <a:cs typeface="宋体" panose="02010600030101010101" pitchFamily="2" charset="-122"/>
                <a:sym typeface="+mn-ea"/>
              </a:rPr>
              <a:t>。</a:t>
            </a: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b="1" dirty="0">
                <a:latin typeface="微软雅黑" panose="020B0503020204020204" charset="-122"/>
                <a:ea typeface="微软雅黑" panose="020B0503020204020204" charset="-122"/>
                <a:cs typeface="宋体" panose="02010600030101010101" pitchFamily="2" charset="-122"/>
                <a:sym typeface="+mn-ea"/>
              </a:rPr>
              <a:t>3.犯罪对象不同影响罪行的轻重，进而影响量刑。</a:t>
            </a:r>
            <a:r>
              <a:rPr sz="2000" dirty="0">
                <a:latin typeface="微软雅黑" panose="020B0503020204020204" charset="-122"/>
                <a:ea typeface="微软雅黑" panose="020B0503020204020204" charset="-122"/>
                <a:cs typeface="宋体" panose="02010600030101010101" pitchFamily="2" charset="-122"/>
                <a:sym typeface="+mn-ea"/>
              </a:rPr>
              <a:t>许多犯罪虽未规定具体的犯罪对象，但行为人具体选择的对象不同或者对象的特点、数量等不同，犯罪的社会危害性也会不同，</a:t>
            </a:r>
            <a:r>
              <a:rPr sz="2000" dirty="0" smtClean="0">
                <a:latin typeface="微软雅黑" panose="020B0503020204020204" charset="-122"/>
                <a:ea typeface="微软雅黑" panose="020B0503020204020204" charset="-122"/>
                <a:cs typeface="宋体" panose="02010600030101010101" pitchFamily="2" charset="-122"/>
                <a:sym typeface="+mn-ea"/>
              </a:rPr>
              <a:t>进而量刑也会有所不同</a:t>
            </a:r>
            <a:r>
              <a:rPr lang="zh-CN" altLang="en-US" sz="1400" b="1" dirty="0">
                <a:solidFill>
                  <a:srgbClr val="00B0F0"/>
                </a:solidFill>
                <a:latin typeface="微软雅黑" panose="020B0503020204020204" charset="-122"/>
                <a:ea typeface="微软雅黑" panose="020B0503020204020204" charset="-122"/>
                <a:cs typeface="宋体" panose="02010600030101010101" pitchFamily="2" charset="-122"/>
                <a:sym typeface="+mn-ea"/>
              </a:rPr>
              <a:t>（虐待被监护、看护人罪）</a:t>
            </a:r>
            <a:r>
              <a:rPr sz="2000" dirty="0" smtClean="0">
                <a:latin typeface="微软雅黑" panose="020B0503020204020204" charset="-122"/>
                <a:ea typeface="微软雅黑" panose="020B0503020204020204" charset="-122"/>
                <a:cs typeface="宋体" panose="02010600030101010101" pitchFamily="2" charset="-122"/>
                <a:sym typeface="+mn-ea"/>
              </a:rPr>
              <a:t>。</a:t>
            </a:r>
            <a:endParaRPr sz="2000" dirty="0">
              <a:latin typeface="微软雅黑" panose="020B0503020204020204" charset="-122"/>
              <a:ea typeface="微软雅黑" panose="020B050302020402020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554086" y="3235128"/>
            <a:ext cx="3383678" cy="1674132"/>
            <a:chOff x="554086" y="3235128"/>
            <a:chExt cx="3383678"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554086" y="3646608"/>
              <a:ext cx="3042285" cy="598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（一）犯罪对象</a:t>
              </a:r>
            </a:p>
          </p:txBody>
        </p:sp>
      </p:grpSp>
      <p:sp>
        <p:nvSpPr>
          <p:cNvPr id="3" name="矩形 2"/>
          <p:cNvSpPr/>
          <p:nvPr/>
        </p:nvSpPr>
        <p:spPr>
          <a:xfrm>
            <a:off x="4121925" y="663284"/>
            <a:ext cx="3535680" cy="460375"/>
          </a:xfrm>
          <a:prstGeom prst="rect">
            <a:avLst/>
          </a:prstGeom>
        </p:spPr>
        <p:txBody>
          <a:bodyPr wrap="none">
            <a:spAutoFit/>
          </a:bodyPr>
          <a:lstStyle/>
          <a:p>
            <a:r>
              <a:rPr lang="zh-CN" altLang="en-US" sz="2400" b="1" dirty="0">
                <a:latin typeface="微软雅黑" panose="020B0503020204020204" charset="-122"/>
                <a:ea typeface="微软雅黑" panose="020B0503020204020204" charset="-122"/>
                <a:cs typeface="宋体" panose="02010600030101010101" pitchFamily="2" charset="-122"/>
                <a:sym typeface="+mn-ea"/>
              </a:rPr>
              <a:t>三、犯罪客体与犯罪对象</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551330"/>
            <a:ext cx="7248512" cy="2861310"/>
          </a:xfrm>
          <a:prstGeom prst="rect">
            <a:avLst/>
          </a:prstGeom>
          <a:noFill/>
        </p:spPr>
        <p:txBody>
          <a:bodyPr wrap="square" rtlCol="0">
            <a:spAutoFit/>
          </a:bodyPr>
          <a:lstStyle/>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犯罪客体与犯罪对象的关系密切</a:t>
            </a:r>
            <a:r>
              <a:rPr lang="zh-CN" sz="2000" dirty="0">
                <a:latin typeface="微软雅黑" panose="020B0503020204020204" charset="-122"/>
                <a:ea typeface="微软雅黑" panose="020B0503020204020204" charset="-122"/>
                <a:cs typeface="宋体" panose="02010600030101010101" pitchFamily="2" charset="-122"/>
                <a:sym typeface="+mn-ea"/>
              </a:rPr>
              <a:t>：</a:t>
            </a:r>
            <a:r>
              <a:rPr sz="2000" dirty="0">
                <a:latin typeface="微软雅黑" panose="020B0503020204020204" charset="-122"/>
                <a:ea typeface="微软雅黑" panose="020B0503020204020204" charset="-122"/>
                <a:cs typeface="宋体" panose="02010600030101010101" pitchFamily="2" charset="-122"/>
                <a:sym typeface="+mn-ea"/>
              </a:rPr>
              <a:t>犯罪客体</a:t>
            </a:r>
            <a:r>
              <a:rPr sz="2000" b="1" dirty="0">
                <a:latin typeface="微软雅黑" panose="020B0503020204020204" charset="-122"/>
                <a:ea typeface="微软雅黑" panose="020B0503020204020204" charset="-122"/>
                <a:cs typeface="宋体" panose="02010600030101010101" pitchFamily="2" charset="-122"/>
                <a:sym typeface="+mn-ea"/>
              </a:rPr>
              <a:t>制约</a:t>
            </a:r>
            <a:r>
              <a:rPr sz="2000" dirty="0">
                <a:latin typeface="微软雅黑" panose="020B0503020204020204" charset="-122"/>
                <a:ea typeface="微软雅黑" panose="020B0503020204020204" charset="-122"/>
                <a:cs typeface="宋体" panose="02010600030101010101" pitchFamily="2" charset="-122"/>
                <a:sym typeface="+mn-ea"/>
              </a:rPr>
              <a:t>犯罪对象，犯罪对象</a:t>
            </a:r>
            <a:r>
              <a:rPr sz="2000" b="1" dirty="0">
                <a:latin typeface="微软雅黑" panose="020B0503020204020204" charset="-122"/>
                <a:ea typeface="微软雅黑" panose="020B0503020204020204" charset="-122"/>
                <a:cs typeface="宋体" panose="02010600030101010101" pitchFamily="2" charset="-122"/>
                <a:sym typeface="+mn-ea"/>
              </a:rPr>
              <a:t>反映</a:t>
            </a:r>
            <a:r>
              <a:rPr sz="2000" dirty="0">
                <a:latin typeface="微软雅黑" panose="020B0503020204020204" charset="-122"/>
                <a:ea typeface="微软雅黑" panose="020B0503020204020204" charset="-122"/>
                <a:cs typeface="宋体" panose="02010600030101010101" pitchFamily="2" charset="-122"/>
                <a:sym typeface="+mn-ea"/>
              </a:rPr>
              <a:t>犯罪客体。但二者又存在明显的区别</a:t>
            </a:r>
            <a:r>
              <a:rPr lang="zh-CN" sz="2000" dirty="0">
                <a:latin typeface="微软雅黑" panose="020B0503020204020204" charset="-122"/>
                <a:ea typeface="微软雅黑" panose="020B0503020204020204" charset="-122"/>
                <a:cs typeface="宋体" panose="02010600030101010101" pitchFamily="2" charset="-122"/>
                <a:sym typeface="+mn-ea"/>
              </a:rPr>
              <a:t>。</a:t>
            </a:r>
          </a:p>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1.</a:t>
            </a:r>
            <a:r>
              <a:rPr lang="en-US" sz="2000" dirty="0">
                <a:latin typeface="微软雅黑" panose="020B0503020204020204" charset="-122"/>
                <a:ea typeface="微软雅黑" panose="020B0503020204020204" charset="-122"/>
                <a:cs typeface="宋体" panose="02010600030101010101" pitchFamily="2" charset="-122"/>
                <a:sym typeface="+mn-ea"/>
              </a:rPr>
              <a:t> </a:t>
            </a:r>
            <a:r>
              <a:rPr sz="2000" dirty="0">
                <a:latin typeface="微软雅黑" panose="020B0503020204020204" charset="-122"/>
                <a:ea typeface="微软雅黑" panose="020B0503020204020204" charset="-122"/>
                <a:cs typeface="宋体" panose="02010600030101010101" pitchFamily="2" charset="-122"/>
                <a:sym typeface="+mn-ea"/>
              </a:rPr>
              <a:t>犯罪客体是生命权、财产所有权、公共安全、国家安全等凭借人的思维才能认识的观念的事物</a:t>
            </a:r>
            <a:r>
              <a:rPr lang="zh-CN" sz="2000" dirty="0">
                <a:latin typeface="微软雅黑" panose="020B0503020204020204" charset="-122"/>
                <a:ea typeface="微软雅黑" panose="020B0503020204020204" charset="-122"/>
                <a:cs typeface="宋体" panose="02010600030101010101" pitchFamily="2" charset="-122"/>
                <a:sym typeface="+mn-ea"/>
              </a:rPr>
              <a:t>；</a:t>
            </a:r>
            <a:r>
              <a:rPr sz="2000" dirty="0">
                <a:latin typeface="微软雅黑" panose="020B0503020204020204" charset="-122"/>
                <a:ea typeface="微软雅黑" panose="020B0503020204020204" charset="-122"/>
                <a:cs typeface="宋体" panose="02010600030101010101" pitchFamily="2" charset="-122"/>
                <a:sym typeface="+mn-ea"/>
              </a:rPr>
              <a:t>犯罪对象是人、物等可以凭借人的感官感知的事物。两者表现出抽象与具体的差异</a:t>
            </a:r>
            <a:r>
              <a:rPr lang="zh-CN" sz="2000" dirty="0">
                <a:latin typeface="微软雅黑" panose="020B0503020204020204" charset="-122"/>
                <a:ea typeface="微软雅黑" panose="020B0503020204020204" charset="-122"/>
                <a:cs typeface="宋体" panose="02010600030101010101" pitchFamily="2" charset="-122"/>
                <a:sym typeface="+mn-ea"/>
              </a:rPr>
              <a:t>。</a:t>
            </a:r>
            <a:endParaRPr sz="2000" dirty="0">
              <a:latin typeface="微软雅黑" panose="020B0503020204020204" charset="-122"/>
              <a:ea typeface="微软雅黑" panose="020B050302020402020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235128"/>
            <a:ext cx="3177303" cy="1674132"/>
            <a:chOff x="760461" y="3235128"/>
            <a:chExt cx="3177303"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760461" y="3428803"/>
              <a:ext cx="3042285" cy="1048044"/>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（二）犯罪客体与犯罪对象的</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关系</a:t>
              </a:r>
              <a:r>
                <a:rPr lang="zh-CN" altLang="en-US" sz="1600" b="1" dirty="0" smtClean="0">
                  <a:solidFill>
                    <a:srgbClr val="00B0F0"/>
                  </a:solidFill>
                  <a:latin typeface="华文中宋" panose="02010600040101010101" pitchFamily="2" charset="-122"/>
                  <a:ea typeface="华文中宋" panose="02010600040101010101" pitchFamily="2" charset="-122"/>
                  <a:cs typeface="宋体" panose="02010600030101010101" pitchFamily="2" charset="-122"/>
                </a:rPr>
                <a:t>（区别）</a:t>
              </a:r>
              <a:endParaRPr lang="zh-CN" altLang="en-US" sz="1600" b="1" dirty="0">
                <a:solidFill>
                  <a:srgbClr val="00B0F0"/>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3535680" cy="460375"/>
          </a:xfrm>
          <a:prstGeom prst="rect">
            <a:avLst/>
          </a:prstGeom>
        </p:spPr>
        <p:txBody>
          <a:bodyPr wrap="none">
            <a:spAutoFit/>
          </a:bodyPr>
          <a:lstStyle/>
          <a:p>
            <a:r>
              <a:rPr lang="zh-CN" altLang="en-US" sz="2400" b="1" dirty="0">
                <a:latin typeface="微软雅黑" panose="020B0503020204020204" charset="-122"/>
                <a:ea typeface="微软雅黑" panose="020B0503020204020204" charset="-122"/>
                <a:cs typeface="宋体" panose="02010600030101010101" pitchFamily="2" charset="-122"/>
                <a:sym typeface="+mn-ea"/>
              </a:rPr>
              <a:t>三、犯罪客体与犯罪对象</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254465" y="2410995"/>
            <a:ext cx="7248512" cy="3785652"/>
          </a:xfrm>
          <a:prstGeom prst="rect">
            <a:avLst/>
          </a:prstGeom>
          <a:noFill/>
        </p:spPr>
        <p:txBody>
          <a:bodyPr wrap="square" rtlCol="0">
            <a:spAutoFit/>
          </a:bodyPr>
          <a:lstStyle/>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2.</a:t>
            </a:r>
            <a:r>
              <a:rPr lang="en-US" sz="2000" dirty="0">
                <a:latin typeface="微软雅黑" panose="020B0503020204020204" charset="-122"/>
                <a:ea typeface="微软雅黑" panose="020B0503020204020204" charset="-122"/>
                <a:cs typeface="宋体" panose="02010600030101010101" pitchFamily="2" charset="-122"/>
                <a:sym typeface="+mn-ea"/>
              </a:rPr>
              <a:t> </a:t>
            </a:r>
            <a:r>
              <a:rPr sz="2000" dirty="0">
                <a:latin typeface="微软雅黑" panose="020B0503020204020204" charset="-122"/>
                <a:ea typeface="微软雅黑" panose="020B0503020204020204" charset="-122"/>
                <a:cs typeface="宋体" panose="02010600030101010101" pitchFamily="2" charset="-122"/>
                <a:sym typeface="+mn-ea"/>
              </a:rPr>
              <a:t>犯罪客体决定犯罪性质，犯罪对象则未必。分析某一案件，单从犯罪对象去看，是分不清犯罪性质的，只有通过犯罪对象所体现的社会关系即犯罪客体，才能确定某种行为构成什么罪。</a:t>
            </a: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3.</a:t>
            </a:r>
            <a:r>
              <a:rPr lang="en-US" sz="2000" dirty="0">
                <a:latin typeface="微软雅黑" panose="020B0503020204020204" charset="-122"/>
                <a:ea typeface="微软雅黑" panose="020B0503020204020204" charset="-122"/>
                <a:cs typeface="宋体" panose="02010600030101010101" pitchFamily="2" charset="-122"/>
                <a:sym typeface="+mn-ea"/>
              </a:rPr>
              <a:t> </a:t>
            </a:r>
            <a:r>
              <a:rPr sz="2000" dirty="0" err="1">
                <a:latin typeface="微软雅黑" panose="020B0503020204020204" charset="-122"/>
                <a:ea typeface="微软雅黑" panose="020B0503020204020204" charset="-122"/>
                <a:cs typeface="宋体" panose="02010600030101010101" pitchFamily="2" charset="-122"/>
                <a:sym typeface="+mn-ea"/>
              </a:rPr>
              <a:t>犯罪客体是任何犯罪构成的必要条件，</a:t>
            </a:r>
            <a:r>
              <a:rPr sz="2000" dirty="0" err="1" smtClean="0">
                <a:latin typeface="微软雅黑" panose="020B0503020204020204" charset="-122"/>
                <a:ea typeface="微软雅黑" panose="020B0503020204020204" charset="-122"/>
                <a:cs typeface="宋体" panose="02010600030101010101" pitchFamily="2" charset="-122"/>
                <a:sym typeface="+mn-ea"/>
              </a:rPr>
              <a:t>犯罪对象则不是任何犯罪都不可缺少的</a:t>
            </a: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（偷越国（边）境罪）</a:t>
            </a:r>
            <a:r>
              <a:rPr sz="2000" dirty="0" smtClean="0">
                <a:latin typeface="微软雅黑" panose="020B0503020204020204" charset="-122"/>
                <a:ea typeface="微软雅黑" panose="020B0503020204020204" charset="-122"/>
                <a:cs typeface="宋体" panose="02010600030101010101" pitchFamily="2" charset="-122"/>
                <a:sym typeface="+mn-ea"/>
              </a:rPr>
              <a:t>，</a:t>
            </a:r>
            <a:r>
              <a:rPr sz="2000" dirty="0">
                <a:latin typeface="微软雅黑" panose="020B0503020204020204" charset="-122"/>
                <a:ea typeface="微软雅黑" panose="020B0503020204020204" charset="-122"/>
                <a:cs typeface="宋体" panose="02010600030101010101" pitchFamily="2" charset="-122"/>
                <a:sym typeface="+mn-ea"/>
              </a:rPr>
              <a:t>它仅仅是某些犯罪的必要条件。</a:t>
            </a:r>
          </a:p>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235128"/>
            <a:ext cx="3177303" cy="1674132"/>
            <a:chOff x="760461" y="3235128"/>
            <a:chExt cx="3177303"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760461" y="3428803"/>
              <a:ext cx="3042285" cy="1088760"/>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（二）犯罪客体与犯罪对象的</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关系</a:t>
              </a:r>
              <a:r>
                <a:rPr lang="zh-CN" altLang="en-US" sz="1600" b="1" dirty="0">
                  <a:solidFill>
                    <a:srgbClr val="00B0F0"/>
                  </a:solidFill>
                  <a:latin typeface="华文中宋" panose="02010600040101010101" pitchFamily="2" charset="-122"/>
                  <a:ea typeface="华文中宋" panose="02010600040101010101" pitchFamily="2" charset="-122"/>
                  <a:cs typeface="宋体" panose="02010600030101010101" pitchFamily="2" charset="-122"/>
                </a:rPr>
                <a:t>（区别</a:t>
              </a:r>
              <a:r>
                <a:rPr lang="zh-CN" altLang="en-US" sz="1600" b="1" dirty="0" smtClean="0">
                  <a:solidFill>
                    <a:srgbClr val="00B0F0"/>
                  </a:solidFill>
                  <a:latin typeface="华文中宋" panose="02010600040101010101" pitchFamily="2" charset="-122"/>
                  <a:ea typeface="华文中宋" panose="02010600040101010101" pitchFamily="2" charset="-122"/>
                  <a:cs typeface="宋体" panose="02010600030101010101" pitchFamily="2" charset="-122"/>
                </a:rPr>
                <a:t>）</a:t>
              </a:r>
              <a:endParaRPr lang="zh-CN" altLang="en-US" sz="1600" b="1" dirty="0">
                <a:solidFill>
                  <a:srgbClr val="00B0F0"/>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2244"/>
            <a:ext cx="3535680" cy="460375"/>
          </a:xfrm>
          <a:prstGeom prst="rect">
            <a:avLst/>
          </a:prstGeom>
        </p:spPr>
        <p:txBody>
          <a:bodyPr wrap="none">
            <a:spAutoFit/>
          </a:bodyPr>
          <a:lstStyle/>
          <a:p>
            <a:r>
              <a:rPr lang="zh-CN" altLang="en-US" sz="2400" b="1" dirty="0">
                <a:latin typeface="微软雅黑" panose="020B0503020204020204" charset="-122"/>
                <a:ea typeface="微软雅黑" panose="020B0503020204020204" charset="-122"/>
                <a:cs typeface="宋体" panose="02010600030101010101" pitchFamily="2" charset="-122"/>
                <a:sym typeface="+mn-ea"/>
              </a:rPr>
              <a:t>三、犯罪客体与犯罪对象</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192870" y="2551330"/>
            <a:ext cx="7248512" cy="2399665"/>
          </a:xfrm>
          <a:prstGeom prst="rect">
            <a:avLst/>
          </a:prstGeom>
          <a:noFill/>
        </p:spPr>
        <p:txBody>
          <a:bodyPr wrap="square" rtlCol="0">
            <a:spAutoFit/>
          </a:bodyPr>
          <a:lstStyle/>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4.任何犯罪都会使犯罪客体受到危害，犯罪对象则不一定受到损害。</a:t>
            </a: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5.犯罪客体相同意味着犯罪性质相同，所以犯罪客体是犯罪分类的根据。而犯罪对象不是犯罪分类的根据，因为犯罪对象相同并不意味着犯罪性质相同</a:t>
            </a:r>
            <a:r>
              <a:rPr lang="zh-CN" sz="2000" dirty="0">
                <a:latin typeface="微软雅黑" panose="020B0503020204020204" charset="-122"/>
                <a:ea typeface="微软雅黑" panose="020B0503020204020204" charset="-122"/>
                <a:cs typeface="宋体" panose="02010600030101010101" pitchFamily="2" charset="-122"/>
                <a:sym typeface="+mn-ea"/>
              </a:rPr>
              <a:t>。</a:t>
            </a:r>
            <a:endParaRPr sz="2000" dirty="0">
              <a:latin typeface="微软雅黑" panose="020B0503020204020204" charset="-122"/>
              <a:ea typeface="微软雅黑" panose="020B0503020204020204" charset="-122"/>
              <a:cs typeface="宋体" panose="02010600030101010101" pitchFamily="2" charset="-122"/>
              <a:sym typeface="+mn-ea"/>
            </a:endParaRPr>
          </a:p>
        </p:txBody>
      </p:sp>
      <p:sp>
        <p:nvSpPr>
          <p:cNvPr id="7" name="菱形 6"/>
          <p:cNvSpPr/>
          <p:nvPr/>
        </p:nvSpPr>
        <p:spPr>
          <a:xfrm>
            <a:off x="2315879" y="948160"/>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1549020" y="93641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p:cNvGrpSpPr/>
          <p:nvPr/>
        </p:nvGrpSpPr>
        <p:grpSpPr>
          <a:xfrm>
            <a:off x="760461" y="3235128"/>
            <a:ext cx="3177303" cy="1674132"/>
            <a:chOff x="760461" y="3235128"/>
            <a:chExt cx="3177303" cy="1674132"/>
          </a:xfrm>
        </p:grpSpPr>
        <p:sp>
          <p:nvSpPr>
            <p:cNvPr id="20" name="L 形 19"/>
            <p:cNvSpPr/>
            <p:nvPr/>
          </p:nvSpPr>
          <p:spPr>
            <a:xfrm>
              <a:off x="760461" y="3235128"/>
              <a:ext cx="3177303" cy="1674132"/>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760461" y="3428803"/>
              <a:ext cx="3042285" cy="1088760"/>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（二）犯罪客体与犯罪对象的</a:t>
              </a:r>
              <a:r>
                <a:rPr lang="zh-CN" altLang="en-US" sz="2200" b="1" dirty="0" smtClean="0">
                  <a:solidFill>
                    <a:srgbClr val="D9793F"/>
                  </a:solidFill>
                  <a:latin typeface="华文中宋" panose="02010600040101010101" pitchFamily="2" charset="-122"/>
                  <a:ea typeface="华文中宋" panose="02010600040101010101" pitchFamily="2" charset="-122"/>
                  <a:cs typeface="宋体" panose="02010600030101010101" pitchFamily="2" charset="-122"/>
                </a:rPr>
                <a:t>关系</a:t>
              </a:r>
              <a:r>
                <a:rPr lang="zh-CN" altLang="en-US" sz="1600" b="1" dirty="0">
                  <a:solidFill>
                    <a:srgbClr val="00B0F0"/>
                  </a:solidFill>
                  <a:latin typeface="华文中宋" panose="02010600040101010101" pitchFamily="2" charset="-122"/>
                  <a:ea typeface="华文中宋" panose="02010600040101010101" pitchFamily="2" charset="-122"/>
                  <a:cs typeface="宋体" panose="02010600030101010101" pitchFamily="2" charset="-122"/>
                </a:rPr>
                <a:t>（区别</a:t>
              </a:r>
              <a:r>
                <a:rPr lang="zh-CN" altLang="en-US" sz="1600" b="1" dirty="0" smtClean="0">
                  <a:solidFill>
                    <a:srgbClr val="00B0F0"/>
                  </a:solidFill>
                  <a:latin typeface="华文中宋" panose="02010600040101010101" pitchFamily="2" charset="-122"/>
                  <a:ea typeface="华文中宋" panose="02010600040101010101" pitchFamily="2" charset="-122"/>
                  <a:cs typeface="宋体" panose="02010600030101010101" pitchFamily="2" charset="-122"/>
                </a:rPr>
                <a:t>）</a:t>
              </a:r>
              <a:endParaRPr lang="zh-CN" altLang="en-US" sz="1600" b="1" dirty="0">
                <a:solidFill>
                  <a:srgbClr val="00B0F0"/>
                </a:solidFill>
                <a:latin typeface="华文中宋" panose="02010600040101010101" pitchFamily="2" charset="-122"/>
                <a:ea typeface="华文中宋" panose="02010600040101010101" pitchFamily="2" charset="-122"/>
                <a:cs typeface="宋体" panose="02010600030101010101" pitchFamily="2" charset="-122"/>
              </a:endParaRPr>
            </a:p>
          </p:txBody>
        </p:sp>
      </p:grpSp>
      <p:sp>
        <p:nvSpPr>
          <p:cNvPr id="3" name="矩形 2"/>
          <p:cNvSpPr/>
          <p:nvPr/>
        </p:nvSpPr>
        <p:spPr>
          <a:xfrm>
            <a:off x="4121925" y="1237324"/>
            <a:ext cx="3535680" cy="460375"/>
          </a:xfrm>
          <a:prstGeom prst="rect">
            <a:avLst/>
          </a:prstGeom>
        </p:spPr>
        <p:txBody>
          <a:bodyPr wrap="none">
            <a:spAutoFit/>
          </a:bodyPr>
          <a:lstStyle/>
          <a:p>
            <a:r>
              <a:rPr lang="zh-CN" altLang="en-US" sz="2400" b="1" dirty="0">
                <a:latin typeface="微软雅黑" panose="020B0503020204020204" charset="-122"/>
                <a:ea typeface="微软雅黑" panose="020B0503020204020204" charset="-122"/>
                <a:cs typeface="宋体" panose="02010600030101010101" pitchFamily="2" charset="-122"/>
                <a:sym typeface="+mn-ea"/>
              </a:rPr>
              <a:t>三、犯罪客体与犯罪对象</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Conexão reta 34"/>
          <p:cNvCxnSpPr/>
          <p:nvPr/>
        </p:nvCxnSpPr>
        <p:spPr>
          <a:xfrm>
            <a:off x="0" y="2344738"/>
            <a:ext cx="5183859" cy="0"/>
          </a:xfrm>
          <a:prstGeom prst="line">
            <a:avLst/>
          </a:prstGeom>
          <a:ln w="19050">
            <a:noFill/>
          </a:ln>
        </p:spPr>
        <p:style>
          <a:lnRef idx="1">
            <a:schemeClr val="accent1"/>
          </a:lnRef>
          <a:fillRef idx="0">
            <a:schemeClr val="accent1"/>
          </a:fillRef>
          <a:effectRef idx="0">
            <a:schemeClr val="accent1"/>
          </a:effectRef>
          <a:fontRef idx="minor">
            <a:schemeClr val="tx1"/>
          </a:fontRef>
        </p:style>
      </p:cxnSp>
      <p:sp>
        <p:nvSpPr>
          <p:cNvPr id="18" name="Retângulo 23"/>
          <p:cNvSpPr/>
          <p:nvPr/>
        </p:nvSpPr>
        <p:spPr>
          <a:xfrm rot="16200000">
            <a:off x="7844757" y="-279733"/>
            <a:ext cx="122920" cy="5444715"/>
          </a:xfrm>
          <a:prstGeom prst="rect">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t-PT"/>
          </a:p>
        </p:txBody>
      </p:sp>
      <p:sp>
        <p:nvSpPr>
          <p:cNvPr id="19" name="PA_文本框 3"/>
          <p:cNvSpPr txBox="1"/>
          <p:nvPr>
            <p:custDataLst>
              <p:tags r:id="rId1"/>
            </p:custDataLst>
          </p:nvPr>
        </p:nvSpPr>
        <p:spPr>
          <a:xfrm>
            <a:off x="5183859" y="2957327"/>
            <a:ext cx="5574158" cy="2306955"/>
          </a:xfrm>
          <a:prstGeom prst="rect">
            <a:avLst/>
          </a:prstGeom>
          <a:noFill/>
        </p:spPr>
        <p:txBody>
          <a:bodyPr wrap="square" rtlCol="0">
            <a:spAutoFit/>
          </a:bodyPr>
          <a:lstStyle/>
          <a:p>
            <a:pPr>
              <a:lnSpc>
                <a:spcPct val="150000"/>
              </a:lnSpc>
            </a:pPr>
            <a:r>
              <a:rPr lang="zh-CN" altLang="en-US" sz="2400" dirty="0" smtClean="0">
                <a:solidFill>
                  <a:schemeClr val="tx1">
                    <a:lumMod val="95000"/>
                    <a:lumOff val="5000"/>
                  </a:schemeClr>
                </a:solidFill>
                <a:latin typeface="微软雅黑" panose="020B0503020204020204" charset="-122"/>
                <a:ea typeface="微软雅黑" panose="020B0503020204020204" charset="-122"/>
              </a:rPr>
              <a:t>一、一般客体</a:t>
            </a:r>
          </a:p>
          <a:p>
            <a:pPr>
              <a:lnSpc>
                <a:spcPct val="150000"/>
              </a:lnSpc>
            </a:pPr>
            <a:r>
              <a:rPr lang="zh-CN" altLang="en-US" sz="2400" dirty="0">
                <a:solidFill>
                  <a:schemeClr val="tx1">
                    <a:lumMod val="95000"/>
                    <a:lumOff val="5000"/>
                  </a:schemeClr>
                </a:solidFill>
                <a:latin typeface="微软雅黑" panose="020B0503020204020204" charset="-122"/>
                <a:ea typeface="微软雅黑" panose="020B0503020204020204" charset="-122"/>
              </a:rPr>
              <a:t>二、同类客体</a:t>
            </a:r>
          </a:p>
          <a:p>
            <a:pPr>
              <a:lnSpc>
                <a:spcPct val="150000"/>
              </a:lnSpc>
            </a:pPr>
            <a:r>
              <a:rPr lang="zh-CN" altLang="en-US" sz="2400" dirty="0">
                <a:solidFill>
                  <a:schemeClr val="tx1">
                    <a:lumMod val="95000"/>
                    <a:lumOff val="5000"/>
                  </a:schemeClr>
                </a:solidFill>
                <a:latin typeface="微软雅黑" panose="020B0503020204020204" charset="-122"/>
                <a:ea typeface="微软雅黑" panose="020B0503020204020204" charset="-122"/>
              </a:rPr>
              <a:t>三、直接客体</a:t>
            </a:r>
          </a:p>
          <a:p>
            <a:pPr>
              <a:lnSpc>
                <a:spcPct val="150000"/>
              </a:lnSpc>
            </a:pPr>
            <a:endParaRPr lang="zh-CN" altLang="en-US" sz="2400" dirty="0">
              <a:solidFill>
                <a:schemeClr val="tx1">
                  <a:lumMod val="95000"/>
                  <a:lumOff val="5000"/>
                </a:schemeClr>
              </a:solidFill>
              <a:latin typeface="微软雅黑" panose="020B0503020204020204" charset="-122"/>
              <a:ea typeface="微软雅黑" panose="020B0503020204020204" charset="-122"/>
            </a:endParaRPr>
          </a:p>
        </p:txBody>
      </p:sp>
      <p:sp>
        <p:nvSpPr>
          <p:cNvPr id="23" name="矩形 22"/>
          <p:cNvSpPr/>
          <p:nvPr/>
        </p:nvSpPr>
        <p:spPr>
          <a:xfrm>
            <a:off x="3623945" y="775335"/>
            <a:ext cx="7134225" cy="829945"/>
          </a:xfrm>
          <a:prstGeom prst="rect">
            <a:avLst/>
          </a:prstGeom>
        </p:spPr>
        <p:txBody>
          <a:bodyPr wrap="square">
            <a:spAutoFit/>
          </a:bodyPr>
          <a:lstStyle/>
          <a:p>
            <a:pPr algn="l">
              <a:lnSpc>
                <a:spcPct val="120000"/>
              </a:lnSpc>
            </a:pPr>
            <a:r>
              <a:rPr lang="zh-CN" altLang="en-US" sz="4000" b="1" dirty="0" smtClean="0">
                <a:solidFill>
                  <a:srgbClr val="D9793F"/>
                </a:solidFill>
                <a:latin typeface="华文新魏" panose="02010800040101010101" charset="-122"/>
                <a:ea typeface="华文新魏" panose="02010800040101010101" charset="-122"/>
                <a:sym typeface="+mn-ea"/>
              </a:rPr>
              <a:t>第二节</a:t>
            </a:r>
            <a:r>
              <a:rPr lang="en-US" altLang="zh-CN" sz="4000" b="1" dirty="0" smtClean="0">
                <a:solidFill>
                  <a:srgbClr val="D9793F"/>
                </a:solidFill>
                <a:latin typeface="华文新魏" panose="02010800040101010101" charset="-122"/>
                <a:ea typeface="华文新魏" panose="02010800040101010101" charset="-122"/>
                <a:sym typeface="+mn-ea"/>
              </a:rPr>
              <a:t>    </a:t>
            </a:r>
            <a:r>
              <a:rPr lang="zh-CN" altLang="en-US" sz="4000" b="1" dirty="0" smtClean="0">
                <a:solidFill>
                  <a:srgbClr val="D9793F"/>
                </a:solidFill>
                <a:latin typeface="华文新魏" panose="02010800040101010101" charset="-122"/>
                <a:ea typeface="华文新魏" panose="02010800040101010101" charset="-122"/>
                <a:sym typeface="+mn-ea"/>
              </a:rPr>
              <a:t>犯罪客体的分类</a:t>
            </a:r>
          </a:p>
        </p:txBody>
      </p:sp>
      <p:pic>
        <p:nvPicPr>
          <p:cNvPr id="100" name="图片 99"/>
          <p:cNvPicPr/>
          <p:nvPr>
            <p:custDataLst>
              <p:tags r:id="rId2"/>
            </p:custDataLst>
          </p:nvPr>
        </p:nvPicPr>
        <p:blipFill>
          <a:blip r:embed="rId4"/>
          <a:stretch>
            <a:fillRect/>
          </a:stretch>
        </p:blipFill>
        <p:spPr>
          <a:xfrm>
            <a:off x="493395" y="2381250"/>
            <a:ext cx="4197985" cy="2506980"/>
          </a:xfrm>
          <a:prstGeom prst="rect">
            <a:avLst/>
          </a:prstGeom>
          <a:noFill/>
          <a:ln w="9525">
            <a:noFill/>
          </a:ln>
        </p:spPr>
      </p:pic>
    </p:spTree>
  </p:cSld>
  <p:clrMapOvr>
    <a:masterClrMapping/>
  </p:clrMapOvr>
  <p:transition spd="slow"/>
  <p:timing>
    <p:tnLst>
      <p:par>
        <p:cTn id="1" dur="indefinite" restart="never" nodeType="tmRoot"/>
      </p:par>
    </p:tnLst>
    <p:bldLst>
      <p:bldP spid="18" grpId="0" bldLvl="0" animBg="1"/>
      <p:bldP spid="1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2684780" y="2035175"/>
            <a:ext cx="8342630" cy="2399665"/>
          </a:xfrm>
          <a:prstGeom prst="rect">
            <a:avLst/>
          </a:prstGeom>
          <a:noFill/>
        </p:spPr>
        <p:txBody>
          <a:bodyPr wrap="square" rtlCol="0">
            <a:spAutoFit/>
          </a:bodyPr>
          <a:lstStyle/>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犯罪的一般客体，又称犯罪的共同客体，是指一切犯罪共同侵犯的社会关系，即刑法所保护的社会关系的整体。</a:t>
            </a:r>
          </a:p>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一般客体揭示了一切犯罪的本质，是否存在犯罪的一般客体，是区分罪与非罪的重要标准。</a:t>
            </a:r>
          </a:p>
        </p:txBody>
      </p:sp>
      <p:sp>
        <p:nvSpPr>
          <p:cNvPr id="7" name="菱形 6"/>
          <p:cNvSpPr/>
          <p:nvPr/>
        </p:nvSpPr>
        <p:spPr>
          <a:xfrm>
            <a:off x="1489744" y="677015"/>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940055" y="66336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3003690" y="966179"/>
            <a:ext cx="2011680" cy="460375"/>
          </a:xfrm>
          <a:prstGeom prst="rect">
            <a:avLst/>
          </a:prstGeom>
        </p:spPr>
        <p:txBody>
          <a:bodyPr wrap="none">
            <a:spAutoFit/>
          </a:bodyPr>
          <a:lstStyle/>
          <a:p>
            <a:pPr algn="l"/>
            <a:r>
              <a:rPr lang="zh-CN" altLang="en-US" sz="2400" b="1" dirty="0">
                <a:latin typeface="微软雅黑" panose="020B0503020204020204" charset="-122"/>
                <a:ea typeface="微软雅黑" panose="020B0503020204020204" charset="-122"/>
                <a:cs typeface="宋体" panose="02010600030101010101" pitchFamily="2" charset="-122"/>
                <a:sym typeface="+mn-ea"/>
              </a:rPr>
              <a:t>一、一般客体</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2684780" y="2454910"/>
            <a:ext cx="8342630" cy="2861310"/>
          </a:xfrm>
          <a:prstGeom prst="rect">
            <a:avLst/>
          </a:prstGeom>
          <a:noFill/>
        </p:spPr>
        <p:txBody>
          <a:bodyPr wrap="square" rtlCol="0">
            <a:spAutoFit/>
          </a:bodyPr>
          <a:lstStyle/>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犯罪的同类客体，是指某一类犯罪所共同侵犯的我国刑法所保护的社会关系。</a:t>
            </a:r>
          </a:p>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犯罪的同类客体，是根据犯罪行为侵害的刑法所保护的社会关系所具有的相同或相近的性质确定的。</a:t>
            </a:r>
          </a:p>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p:txBody>
      </p:sp>
      <p:sp>
        <p:nvSpPr>
          <p:cNvPr id="7" name="菱形 6"/>
          <p:cNvSpPr/>
          <p:nvPr/>
        </p:nvSpPr>
        <p:spPr>
          <a:xfrm>
            <a:off x="1489744" y="677015"/>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940055" y="66336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2880500" y="966179"/>
            <a:ext cx="2011680" cy="460375"/>
          </a:xfrm>
          <a:prstGeom prst="rect">
            <a:avLst/>
          </a:prstGeom>
        </p:spPr>
        <p:txBody>
          <a:bodyPr wrap="none">
            <a:spAutoFit/>
          </a:bodyPr>
          <a:lstStyle/>
          <a:p>
            <a:pPr algn="l"/>
            <a:r>
              <a:rPr lang="zh-CN" altLang="en-US" sz="2400" b="1" dirty="0">
                <a:latin typeface="微软雅黑" panose="020B0503020204020204" charset="-122"/>
                <a:ea typeface="微软雅黑" panose="020B0503020204020204" charset="-122"/>
                <a:cs typeface="宋体" panose="02010600030101010101" pitchFamily="2" charset="-122"/>
                <a:sym typeface="+mn-ea"/>
              </a:rPr>
              <a:t>二、同类客体</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4001135" y="2858770"/>
            <a:ext cx="7224395" cy="2862322"/>
          </a:xfrm>
          <a:prstGeom prst="rect">
            <a:avLst/>
          </a:prstGeom>
          <a:noFill/>
        </p:spPr>
        <p:txBody>
          <a:bodyPr wrap="square" rtlCol="0">
            <a:spAutoFit/>
          </a:bodyPr>
          <a:lstStyle/>
          <a:p>
            <a:pPr indent="457200">
              <a:lnSpc>
                <a:spcPct val="150000"/>
              </a:lnSpc>
            </a:pPr>
            <a:r>
              <a:rPr lang="zh-CN" altLang="en-US" sz="2000" dirty="0" smtClean="0">
                <a:latin typeface="微软雅黑" panose="020B0503020204020204" charset="-122"/>
                <a:ea typeface="微软雅黑" panose="020B0503020204020204" charset="-122"/>
                <a:cs typeface="宋体" panose="02010600030101010101" pitchFamily="2" charset="-122"/>
                <a:sym typeface="+mn-ea"/>
              </a:rPr>
              <a:t>犯罪的直接客体，是指某一特定犯罪直接侵犯的客体，亦即某一特定犯罪直接侵害的某种具体的社会关系。</a:t>
            </a:r>
            <a:endParaRPr lang="en-US" sz="2000" dirty="0" smtClean="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smtClean="0">
                <a:latin typeface="微软雅黑" panose="020B0503020204020204" charset="-122"/>
                <a:ea typeface="微软雅黑" panose="020B0503020204020204" charset="-122"/>
                <a:cs typeface="宋体" panose="02010600030101010101" pitchFamily="2" charset="-122"/>
                <a:sym typeface="+mn-ea"/>
              </a:rPr>
              <a:t>犯罪的直接客体揭示了具体犯罪所侵害社会关系的性质以及该犯罪的社会危害性</a:t>
            </a:r>
            <a:r>
              <a:rPr sz="2000" dirty="0">
                <a:latin typeface="微软雅黑" panose="020B0503020204020204" charset="-122"/>
                <a:ea typeface="微软雅黑" panose="020B0503020204020204" charset="-122"/>
                <a:cs typeface="宋体" panose="02010600030101010101" pitchFamily="2" charset="-122"/>
                <a:sym typeface="+mn-ea"/>
              </a:rPr>
              <a:t>。因此，犯罪的直接客体是研究犯罪客体的重点，也是司法实践中区分罪与非罪、此罪与彼罪的关键。按照不同的标准，还可以对直接客体作进一步的分类。</a:t>
            </a:r>
          </a:p>
        </p:txBody>
      </p:sp>
      <p:sp>
        <p:nvSpPr>
          <p:cNvPr id="7" name="菱形 6"/>
          <p:cNvSpPr/>
          <p:nvPr/>
        </p:nvSpPr>
        <p:spPr>
          <a:xfrm>
            <a:off x="1489744" y="677015"/>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940055" y="66336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2890660" y="966179"/>
            <a:ext cx="2011680" cy="460375"/>
          </a:xfrm>
          <a:prstGeom prst="rect">
            <a:avLst/>
          </a:prstGeom>
        </p:spPr>
        <p:txBody>
          <a:bodyPr wrap="none">
            <a:spAutoFit/>
          </a:bodyPr>
          <a:lstStyle/>
          <a:p>
            <a:pPr algn="l"/>
            <a:r>
              <a:rPr lang="zh-CN" altLang="en-US" sz="2400" b="1" dirty="0">
                <a:latin typeface="微软雅黑" panose="020B0503020204020204" charset="-122"/>
                <a:ea typeface="微软雅黑" panose="020B0503020204020204" charset="-122"/>
                <a:cs typeface="宋体" panose="02010600030101010101" pitchFamily="2" charset="-122"/>
                <a:sym typeface="+mn-ea"/>
              </a:rPr>
              <a:t>三、直接客体</a:t>
            </a:r>
          </a:p>
        </p:txBody>
      </p:sp>
      <p:sp>
        <p:nvSpPr>
          <p:cNvPr id="9" name="L 形 8"/>
          <p:cNvSpPr/>
          <p:nvPr>
            <p:custDataLst>
              <p:tags r:id="rId2"/>
            </p:custDataLst>
          </p:nvPr>
        </p:nvSpPr>
        <p:spPr>
          <a:xfrm>
            <a:off x="530860" y="2990850"/>
            <a:ext cx="2725420" cy="1673860"/>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p:cNvSpPr/>
          <p:nvPr>
            <p:custDataLst>
              <p:tags r:id="rId3"/>
            </p:custDataLst>
          </p:nvPr>
        </p:nvSpPr>
        <p:spPr>
          <a:xfrm>
            <a:off x="530860" y="3184525"/>
            <a:ext cx="260921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（一）直接客体的概念及分类</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3482340" y="2076450"/>
            <a:ext cx="8092440" cy="2862322"/>
          </a:xfrm>
          <a:prstGeom prst="rect">
            <a:avLst/>
          </a:prstGeom>
          <a:noFill/>
        </p:spPr>
        <p:txBody>
          <a:bodyPr wrap="square" rtlCol="0">
            <a:spAutoFit/>
          </a:bodyPr>
          <a:lstStyle/>
          <a:p>
            <a:pPr indent="457200">
              <a:lnSpc>
                <a:spcPct val="150000"/>
              </a:lnSpc>
            </a:pPr>
            <a:r>
              <a:rPr sz="2000" b="1" dirty="0">
                <a:latin typeface="微软雅黑" panose="020B0503020204020204" charset="-122"/>
                <a:ea typeface="微软雅黑" panose="020B0503020204020204" charset="-122"/>
                <a:cs typeface="宋体" panose="02010600030101010101" pitchFamily="2" charset="-122"/>
                <a:sym typeface="+mn-ea"/>
              </a:rPr>
              <a:t>1.简单客体与复杂客体</a:t>
            </a:r>
          </a:p>
          <a:p>
            <a:pPr indent="457200">
              <a:lnSpc>
                <a:spcPct val="150000"/>
              </a:lnSpc>
            </a:pPr>
            <a:r>
              <a:rPr sz="2000" b="1" dirty="0" err="1">
                <a:latin typeface="微软雅黑" panose="020B0503020204020204" charset="-122"/>
                <a:ea typeface="微软雅黑" panose="020B0503020204020204" charset="-122"/>
                <a:cs typeface="宋体" panose="02010600030101010101" pitchFamily="2" charset="-122"/>
                <a:sym typeface="+mn-ea"/>
              </a:rPr>
              <a:t>简单客体，</a:t>
            </a:r>
            <a:r>
              <a:rPr sz="2000" dirty="0" err="1">
                <a:latin typeface="微软雅黑" panose="020B0503020204020204" charset="-122"/>
                <a:ea typeface="微软雅黑" panose="020B0503020204020204" charset="-122"/>
                <a:cs typeface="宋体" panose="02010600030101010101" pitchFamily="2" charset="-122"/>
                <a:sym typeface="+mn-ea"/>
              </a:rPr>
              <a:t>也叫单一客体，是指某种犯罪行为仅仅侵犯一种具体的社会关系，</a:t>
            </a:r>
            <a:r>
              <a:rPr sz="2000" dirty="0" err="1" smtClean="0">
                <a:latin typeface="微软雅黑" panose="020B0503020204020204" charset="-122"/>
                <a:ea typeface="微软雅黑" panose="020B0503020204020204" charset="-122"/>
                <a:cs typeface="宋体" panose="02010600030101010101" pitchFamily="2" charset="-122"/>
                <a:sym typeface="+mn-ea"/>
              </a:rPr>
              <a:t>即只有一个直接客体</a:t>
            </a: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（侮辱罪）</a:t>
            </a:r>
            <a:r>
              <a:rPr sz="2000" dirty="0" smtClean="0">
                <a:latin typeface="微软雅黑" panose="020B0503020204020204" charset="-122"/>
                <a:ea typeface="微软雅黑" panose="020B0503020204020204" charset="-122"/>
                <a:cs typeface="宋体" panose="02010600030101010101" pitchFamily="2" charset="-122"/>
                <a:sym typeface="+mn-ea"/>
              </a:rPr>
              <a:t>。</a:t>
            </a: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b="1" dirty="0" err="1">
                <a:latin typeface="微软雅黑" panose="020B0503020204020204" charset="-122"/>
                <a:ea typeface="微软雅黑" panose="020B0503020204020204" charset="-122"/>
                <a:cs typeface="宋体" panose="02010600030101010101" pitchFamily="2" charset="-122"/>
                <a:sym typeface="+mn-ea"/>
              </a:rPr>
              <a:t>复杂客体，</a:t>
            </a:r>
            <a:r>
              <a:rPr sz="2000" dirty="0" err="1" smtClean="0">
                <a:latin typeface="微软雅黑" panose="020B0503020204020204" charset="-122"/>
                <a:ea typeface="微软雅黑" panose="020B0503020204020204" charset="-122"/>
                <a:cs typeface="宋体" panose="02010600030101010101" pitchFamily="2" charset="-122"/>
                <a:sym typeface="+mn-ea"/>
              </a:rPr>
              <a:t>是指某种犯罪行为同时侵犯两种或两种以上的具体的社会关系</a:t>
            </a:r>
            <a:r>
              <a:rPr lang="zh-CN" altLang="en-US" sz="2000" dirty="0" smtClean="0">
                <a:latin typeface="微软雅黑" panose="020B0503020204020204" charset="-122"/>
                <a:ea typeface="微软雅黑" panose="020B0503020204020204" charset="-122"/>
                <a:cs typeface="宋体" panose="02010600030101010101" pitchFamily="2" charset="-122"/>
                <a:sym typeface="+mn-ea"/>
              </a:rPr>
              <a:t>，</a:t>
            </a:r>
            <a:r>
              <a:rPr sz="2000" dirty="0" err="1" smtClean="0">
                <a:latin typeface="微软雅黑" panose="020B0503020204020204" charset="-122"/>
                <a:ea typeface="微软雅黑" panose="020B0503020204020204" charset="-122"/>
                <a:cs typeface="宋体" panose="02010600030101010101" pitchFamily="2" charset="-122"/>
                <a:sym typeface="+mn-ea"/>
              </a:rPr>
              <a:t>即有两个或两个以上的直接客体</a:t>
            </a:r>
            <a:r>
              <a:rPr lang="zh-CN" altLang="en-US" sz="1400" b="1" dirty="0" smtClean="0">
                <a:solidFill>
                  <a:srgbClr val="00B0F0"/>
                </a:solidFill>
                <a:latin typeface="微软雅黑" panose="020B0503020204020204" charset="-122"/>
                <a:ea typeface="微软雅黑" panose="020B0503020204020204" charset="-122"/>
                <a:cs typeface="宋体" panose="02010600030101010101" pitchFamily="2" charset="-122"/>
                <a:sym typeface="+mn-ea"/>
              </a:rPr>
              <a:t>（抢劫罪）</a:t>
            </a:r>
            <a:r>
              <a:rPr sz="2000" dirty="0" smtClean="0">
                <a:latin typeface="微软雅黑" panose="020B0503020204020204" charset="-122"/>
                <a:ea typeface="微软雅黑" panose="020B0503020204020204" charset="-122"/>
                <a:cs typeface="宋体" panose="02010600030101010101" pitchFamily="2" charset="-122"/>
                <a:sym typeface="+mn-ea"/>
              </a:rPr>
              <a:t>。</a:t>
            </a:r>
            <a:r>
              <a:rPr sz="2000" dirty="0" err="1" smtClean="0">
                <a:latin typeface="微软雅黑" panose="020B0503020204020204" charset="-122"/>
                <a:ea typeface="微软雅黑" panose="020B0503020204020204" charset="-122"/>
                <a:cs typeface="宋体" panose="02010600030101010101" pitchFamily="2" charset="-122"/>
                <a:sym typeface="+mn-ea"/>
              </a:rPr>
              <a:t>对于复杂客体</a:t>
            </a:r>
            <a:r>
              <a:rPr sz="2000" dirty="0" err="1">
                <a:latin typeface="微软雅黑" panose="020B0503020204020204" charset="-122"/>
                <a:ea typeface="微软雅黑" panose="020B0503020204020204" charset="-122"/>
                <a:cs typeface="宋体" panose="02010600030101010101" pitchFamily="2" charset="-122"/>
                <a:sym typeface="+mn-ea"/>
              </a:rPr>
              <a:t>，</a:t>
            </a:r>
            <a:r>
              <a:rPr sz="2000" dirty="0" err="1" smtClean="0">
                <a:latin typeface="微软雅黑" panose="020B0503020204020204" charset="-122"/>
                <a:ea typeface="微软雅黑" panose="020B0503020204020204" charset="-122"/>
                <a:cs typeface="宋体" panose="02010600030101010101" pitchFamily="2" charset="-122"/>
                <a:sym typeface="+mn-ea"/>
              </a:rPr>
              <a:t>通常要区分</a:t>
            </a:r>
            <a:r>
              <a:rPr sz="2000" b="1" dirty="0" err="1" smtClean="0">
                <a:latin typeface="微软雅黑" panose="020B0503020204020204" charset="-122"/>
                <a:ea typeface="微软雅黑" panose="020B0503020204020204" charset="-122"/>
                <a:cs typeface="宋体" panose="02010600030101010101" pitchFamily="2" charset="-122"/>
                <a:sym typeface="+mn-ea"/>
              </a:rPr>
              <a:t>主要客体</a:t>
            </a:r>
            <a:r>
              <a:rPr sz="2000" dirty="0" err="1" smtClean="0">
                <a:latin typeface="微软雅黑" panose="020B0503020204020204" charset="-122"/>
                <a:ea typeface="微软雅黑" panose="020B0503020204020204" charset="-122"/>
                <a:cs typeface="宋体" panose="02010600030101010101" pitchFamily="2" charset="-122"/>
                <a:sym typeface="+mn-ea"/>
              </a:rPr>
              <a:t>和</a:t>
            </a:r>
            <a:r>
              <a:rPr sz="2000" b="1" dirty="0" err="1" smtClean="0">
                <a:latin typeface="微软雅黑" panose="020B0503020204020204" charset="-122"/>
                <a:ea typeface="微软雅黑" panose="020B0503020204020204" charset="-122"/>
                <a:cs typeface="宋体" panose="02010600030101010101" pitchFamily="2" charset="-122"/>
                <a:sym typeface="+mn-ea"/>
              </a:rPr>
              <a:t>次要客体</a:t>
            </a:r>
            <a:r>
              <a:rPr lang="zh-CN" altLang="en-US" sz="2000" b="1" dirty="0" smtClean="0">
                <a:latin typeface="微软雅黑" panose="020B0503020204020204" charset="-122"/>
                <a:ea typeface="微软雅黑" panose="020B0503020204020204" charset="-122"/>
                <a:cs typeface="宋体" panose="02010600030101010101" pitchFamily="2" charset="-122"/>
                <a:sym typeface="+mn-ea"/>
              </a:rPr>
              <a:t>、随机客体</a:t>
            </a:r>
            <a:r>
              <a:rPr sz="2000" b="1" dirty="0" smtClean="0">
                <a:latin typeface="微软雅黑" panose="020B0503020204020204" charset="-122"/>
                <a:ea typeface="微软雅黑" panose="020B0503020204020204" charset="-122"/>
                <a:cs typeface="宋体" panose="02010600030101010101" pitchFamily="2" charset="-122"/>
                <a:sym typeface="+mn-ea"/>
              </a:rPr>
              <a:t>。</a:t>
            </a:r>
            <a:endParaRPr sz="2000" dirty="0">
              <a:latin typeface="微软雅黑" panose="020B0503020204020204" charset="-122"/>
              <a:ea typeface="微软雅黑" panose="020B0503020204020204" charset="-122"/>
              <a:cs typeface="宋体" panose="02010600030101010101" pitchFamily="2" charset="-122"/>
              <a:sym typeface="+mn-ea"/>
            </a:endParaRPr>
          </a:p>
        </p:txBody>
      </p:sp>
      <p:sp>
        <p:nvSpPr>
          <p:cNvPr id="7" name="菱形 6"/>
          <p:cNvSpPr/>
          <p:nvPr/>
        </p:nvSpPr>
        <p:spPr>
          <a:xfrm>
            <a:off x="1489744" y="677015"/>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940055" y="66336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3013850" y="927444"/>
            <a:ext cx="2011680" cy="460375"/>
          </a:xfrm>
          <a:prstGeom prst="rect">
            <a:avLst/>
          </a:prstGeom>
        </p:spPr>
        <p:txBody>
          <a:bodyPr wrap="none">
            <a:spAutoFit/>
          </a:bodyPr>
          <a:lstStyle/>
          <a:p>
            <a:pPr algn="l"/>
            <a:r>
              <a:rPr lang="zh-CN" altLang="en-US" sz="2400" b="1" dirty="0">
                <a:latin typeface="微软雅黑" panose="020B0503020204020204" charset="-122"/>
                <a:ea typeface="微软雅黑" panose="020B0503020204020204" charset="-122"/>
                <a:cs typeface="宋体" panose="02010600030101010101" pitchFamily="2" charset="-122"/>
                <a:sym typeface="+mn-ea"/>
              </a:rPr>
              <a:t>三、直接客体</a:t>
            </a:r>
          </a:p>
        </p:txBody>
      </p:sp>
      <p:sp>
        <p:nvSpPr>
          <p:cNvPr id="5" name="L 形 4"/>
          <p:cNvSpPr/>
          <p:nvPr>
            <p:custDataLst>
              <p:tags r:id="rId2"/>
            </p:custDataLst>
          </p:nvPr>
        </p:nvSpPr>
        <p:spPr>
          <a:xfrm>
            <a:off x="530860" y="2990850"/>
            <a:ext cx="2725420" cy="1673860"/>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custDataLst>
              <p:tags r:id="rId3"/>
            </p:custDataLst>
          </p:nvPr>
        </p:nvSpPr>
        <p:spPr>
          <a:xfrm>
            <a:off x="530860" y="3184525"/>
            <a:ext cx="260921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（一）直接客体的概念及分类</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2802" name="Group 50"/>
          <p:cNvGraphicFramePr>
            <a:graphicFrameLocks noGrp="1"/>
          </p:cNvGraphicFramePr>
          <p:nvPr>
            <p:ph sz="half" idx="1"/>
            <p:extLst>
              <p:ext uri="{D42A27DB-BD31-4B8C-83A1-F6EECF244321}">
                <p14:modId xmlns:p14="http://schemas.microsoft.com/office/powerpoint/2010/main" val="4048481524"/>
              </p:ext>
            </p:extLst>
          </p:nvPr>
        </p:nvGraphicFramePr>
        <p:xfrm>
          <a:off x="1002320" y="1326905"/>
          <a:ext cx="10348548" cy="4010025"/>
        </p:xfrm>
        <a:graphic>
          <a:graphicData uri="http://schemas.openxmlformats.org/drawingml/2006/table">
            <a:tbl>
              <a:tblPr/>
              <a:tblGrid>
                <a:gridCol w="1824872"/>
                <a:gridCol w="2081496"/>
                <a:gridCol w="2081494"/>
                <a:gridCol w="2290596"/>
                <a:gridCol w="2070090"/>
              </a:tblGrid>
              <a:tr h="1777945">
                <a:tc>
                  <a:txBody>
                    <a:bodyPr/>
                    <a:lstStyle/>
                    <a:p>
                      <a:pPr marL="0" marR="0" lvl="0" indent="0" algn="ctr" defTabSz="914400" rtl="0" eaLnBrk="1" fontAlgn="base" latinLnBrk="0" hangingPunct="1">
                        <a:lnSpc>
                          <a:spcPct val="100000"/>
                        </a:lnSpc>
                        <a:spcBef>
                          <a:spcPct val="20000"/>
                        </a:spcBef>
                        <a:spcAft>
                          <a:spcPct val="0"/>
                        </a:spcAft>
                        <a:buClrTx/>
                        <a:buSzTx/>
                        <a:buFontTx/>
                        <a:buNone/>
                      </a:pPr>
                      <a:endParaRPr kumimoji="0" lang="zh-CN" altLang="zh-CN" sz="24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是否影响定罪</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是否影响量刑</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是否影响在刑法分则体系中的地位</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是否犯罪构成的共同要件</a:t>
                      </a: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865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dirty="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主要客体</a:t>
                      </a: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a:t>
                      </a: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a:t>
                      </a: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a:t>
                      </a: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a:t>
                      </a: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3047">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次要客体</a:t>
                      </a: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a:t>
                      </a: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a:t>
                      </a: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a:t>
                      </a: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03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400" b="1" i="0" u="none" strike="noStrike" cap="none" normalizeH="0" baseline="0" smtClean="0">
                          <a:ln>
                            <a:noFill/>
                          </a:ln>
                          <a:solidFill>
                            <a:schemeClr val="tx1"/>
                          </a:solidFill>
                          <a:effectLst>
                            <a:outerShdw blurRad="38100" dist="38100" dir="2700000" algn="tl">
                              <a:srgbClr val="C0C0C0"/>
                            </a:outerShdw>
                          </a:effectLst>
                          <a:latin typeface="Arial" panose="020B0604020202020204" pitchFamily="34" charset="0"/>
                          <a:ea typeface="宋体" panose="02010600030101010101" pitchFamily="2" charset="-122"/>
                        </a:rPr>
                        <a:t>随机客体 </a:t>
                      </a:r>
                    </a:p>
                  </a:txBody>
                  <a:tcPr marT="45707" marB="4570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chemeClr val="tx1"/>
                          </a:solidFill>
                          <a:effectLst/>
                          <a:latin typeface="宋体" panose="02010600030101010101" pitchFamily="2" charset="-122"/>
                          <a:ea typeface="宋体" panose="02010600030101010101" pitchFamily="2" charset="-122"/>
                        </a:rPr>
                        <a:t>√</a:t>
                      </a:r>
                      <a:endParaRPr kumimoji="0" lang="en-US" altLang="zh-CN" sz="24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a:t>
                      </a:r>
                    </a:p>
                  </a:txBody>
                  <a:tcPr marT="45707" marB="4570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4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a:t>
                      </a:r>
                    </a:p>
                  </a:txBody>
                  <a:tcPr marT="45707" marB="4570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3182598765"/>
      </p:ext>
    </p:extLst>
  </p:cSld>
  <p:clrMapOvr>
    <a:masterClrMapping/>
  </p:clrMapOvr>
  <p:transition>
    <p:comb/>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3482340" y="1845945"/>
            <a:ext cx="8092440" cy="3784600"/>
          </a:xfrm>
          <a:prstGeom prst="rect">
            <a:avLst/>
          </a:prstGeom>
          <a:noFill/>
        </p:spPr>
        <p:txBody>
          <a:bodyPr wrap="square" rtlCol="0">
            <a:spAutoFit/>
          </a:bodyPr>
          <a:lstStyle/>
          <a:p>
            <a:pPr indent="457200">
              <a:lnSpc>
                <a:spcPct val="150000"/>
              </a:lnSpc>
            </a:pPr>
            <a:r>
              <a:rPr sz="2000" b="1" dirty="0">
                <a:latin typeface="微软雅黑" panose="020B0503020204020204" charset="-122"/>
                <a:ea typeface="微软雅黑" panose="020B0503020204020204" charset="-122"/>
                <a:cs typeface="宋体" panose="02010600030101010101" pitchFamily="2" charset="-122"/>
                <a:sym typeface="+mn-ea"/>
              </a:rPr>
              <a:t>2.物质性犯罪客体与非物质性犯罪客体</a:t>
            </a: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侵害物质性犯罪客体的标志是产生物质性的损害或威胁，可能成为物质性犯罪客体的社会关系包括经济关系、财产关系以及人的生命、健康权利等。</a:t>
            </a: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侵害非物质性犯罪客体的标志是不具有直接的物质损害的形式，可能成为非物质性犯罪客体的社会关系包括政治制度、社会秩序、人格、名誉等。</a:t>
            </a:r>
          </a:p>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p:txBody>
      </p:sp>
      <p:sp>
        <p:nvSpPr>
          <p:cNvPr id="7" name="菱形 6"/>
          <p:cNvSpPr/>
          <p:nvPr/>
        </p:nvSpPr>
        <p:spPr>
          <a:xfrm>
            <a:off x="1489744" y="677015"/>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940055" y="66336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2982735" y="966179"/>
            <a:ext cx="2011680" cy="460375"/>
          </a:xfrm>
          <a:prstGeom prst="rect">
            <a:avLst/>
          </a:prstGeom>
        </p:spPr>
        <p:txBody>
          <a:bodyPr wrap="none">
            <a:spAutoFit/>
          </a:bodyPr>
          <a:lstStyle/>
          <a:p>
            <a:pPr algn="l"/>
            <a:r>
              <a:rPr lang="zh-CN" altLang="en-US" sz="2400" b="1" dirty="0">
                <a:latin typeface="微软雅黑" panose="020B0503020204020204" charset="-122"/>
                <a:ea typeface="微软雅黑" panose="020B0503020204020204" charset="-122"/>
                <a:cs typeface="宋体" panose="02010600030101010101" pitchFamily="2" charset="-122"/>
                <a:sym typeface="+mn-ea"/>
              </a:rPr>
              <a:t>三、直接客体</a:t>
            </a:r>
          </a:p>
        </p:txBody>
      </p:sp>
      <p:sp>
        <p:nvSpPr>
          <p:cNvPr id="5" name="L 形 4"/>
          <p:cNvSpPr/>
          <p:nvPr>
            <p:custDataLst>
              <p:tags r:id="rId2"/>
            </p:custDataLst>
          </p:nvPr>
        </p:nvSpPr>
        <p:spPr>
          <a:xfrm>
            <a:off x="530860" y="2990850"/>
            <a:ext cx="2725420" cy="1673860"/>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custDataLst>
              <p:tags r:id="rId3"/>
            </p:custDataLst>
          </p:nvPr>
        </p:nvSpPr>
        <p:spPr>
          <a:xfrm>
            <a:off x="530860" y="3184525"/>
            <a:ext cx="260921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（一）直接客体的概念及分类</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3389630" y="2538095"/>
            <a:ext cx="8092440" cy="1938992"/>
          </a:xfrm>
          <a:prstGeom prst="rect">
            <a:avLst/>
          </a:prstGeom>
          <a:noFill/>
        </p:spPr>
        <p:txBody>
          <a:bodyPr wrap="square" rtlCol="0">
            <a:spAutoFit/>
          </a:bodyPr>
          <a:lstStyle/>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我国《刑法》 总则关于犯罪直接客体的规定，集中体现于《刑法》第2条、第 13 </a:t>
            </a:r>
            <a:r>
              <a:rPr sz="2000" dirty="0" err="1">
                <a:latin typeface="微软雅黑" panose="020B0503020204020204" charset="-122"/>
                <a:ea typeface="微软雅黑" panose="020B0503020204020204" charset="-122"/>
                <a:cs typeface="宋体" panose="02010600030101010101" pitchFamily="2" charset="-122"/>
                <a:sym typeface="+mn-ea"/>
              </a:rPr>
              <a:t>条，而《刑法》</a:t>
            </a:r>
            <a:r>
              <a:rPr sz="2000" dirty="0" err="1" smtClean="0">
                <a:latin typeface="微软雅黑" panose="020B0503020204020204" charset="-122"/>
                <a:ea typeface="微软雅黑" panose="020B0503020204020204" charset="-122"/>
                <a:cs typeface="宋体" panose="02010600030101010101" pitchFamily="2" charset="-122"/>
                <a:sym typeface="+mn-ea"/>
              </a:rPr>
              <a:t>分则对于犯罪直接客体的规定采取了多种形式</a:t>
            </a:r>
            <a:r>
              <a:rPr lang="zh-CN" sz="2000" dirty="0" smtClean="0">
                <a:latin typeface="微软雅黑" panose="020B0503020204020204" charset="-122"/>
                <a:ea typeface="微软雅黑" panose="020B0503020204020204" charset="-122"/>
                <a:cs typeface="宋体" panose="02010600030101010101" pitchFamily="2" charset="-122"/>
                <a:sym typeface="+mn-ea"/>
              </a:rPr>
              <a:t>：</a:t>
            </a:r>
            <a:endParaRPr lang="zh-CN" sz="2000" dirty="0">
              <a:latin typeface="微软雅黑" panose="020B0503020204020204" charset="-122"/>
              <a:ea typeface="微软雅黑" panose="020B0503020204020204" charset="-122"/>
              <a:cs typeface="宋体" panose="02010600030101010101" pitchFamily="2" charset="-122"/>
              <a:sym typeface="+mn-ea"/>
            </a:endParaRPr>
          </a:p>
        </p:txBody>
      </p:sp>
      <p:sp>
        <p:nvSpPr>
          <p:cNvPr id="7" name="菱形 6"/>
          <p:cNvSpPr/>
          <p:nvPr/>
        </p:nvSpPr>
        <p:spPr>
          <a:xfrm>
            <a:off x="1489744" y="677015"/>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940055" y="66336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2983370" y="966179"/>
            <a:ext cx="2011680" cy="460375"/>
          </a:xfrm>
          <a:prstGeom prst="rect">
            <a:avLst/>
          </a:prstGeom>
        </p:spPr>
        <p:txBody>
          <a:bodyPr wrap="none">
            <a:spAutoFit/>
          </a:bodyPr>
          <a:lstStyle/>
          <a:p>
            <a:pPr algn="l"/>
            <a:r>
              <a:rPr lang="zh-CN" altLang="en-US" sz="2400" b="1" dirty="0">
                <a:latin typeface="微软雅黑" panose="020B0503020204020204" charset="-122"/>
                <a:ea typeface="微软雅黑" panose="020B0503020204020204" charset="-122"/>
                <a:cs typeface="宋体" panose="02010600030101010101" pitchFamily="2" charset="-122"/>
                <a:sym typeface="+mn-ea"/>
              </a:rPr>
              <a:t>三、直接客体</a:t>
            </a:r>
          </a:p>
        </p:txBody>
      </p:sp>
      <p:sp>
        <p:nvSpPr>
          <p:cNvPr id="5" name="L 形 4"/>
          <p:cNvSpPr/>
          <p:nvPr>
            <p:custDataLst>
              <p:tags r:id="rId2"/>
            </p:custDataLst>
          </p:nvPr>
        </p:nvSpPr>
        <p:spPr>
          <a:xfrm>
            <a:off x="530860" y="2990850"/>
            <a:ext cx="2725420" cy="1673860"/>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custDataLst>
              <p:tags r:id="rId3"/>
            </p:custDataLst>
          </p:nvPr>
        </p:nvSpPr>
        <p:spPr>
          <a:xfrm>
            <a:off x="530860" y="3184525"/>
            <a:ext cx="260921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（二）直接客体的立法形式</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3256280" y="1653540"/>
            <a:ext cx="8092440" cy="4168775"/>
          </a:xfrm>
          <a:prstGeom prst="rect">
            <a:avLst/>
          </a:prstGeom>
          <a:noFill/>
        </p:spPr>
        <p:txBody>
          <a:bodyPr wrap="square" rtlCol="0">
            <a:noAutofit/>
          </a:bodyPr>
          <a:lstStyle/>
          <a:p>
            <a:pPr indent="457200">
              <a:lnSpc>
                <a:spcPct val="150000"/>
              </a:lnSpc>
            </a:pPr>
            <a:r>
              <a:rPr sz="2000" b="1" dirty="0">
                <a:latin typeface="微软雅黑" panose="020B0503020204020204" charset="-122"/>
                <a:ea typeface="微软雅黑" panose="020B0503020204020204" charset="-122"/>
                <a:cs typeface="宋体" panose="02010600030101010101" pitchFamily="2" charset="-122"/>
                <a:sym typeface="+mn-ea"/>
              </a:rPr>
              <a:t>1.明确规定犯罪客体。</a:t>
            </a: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例如，《刑法》第 105 </a:t>
            </a:r>
            <a:r>
              <a:rPr sz="2000" dirty="0" err="1" smtClean="0">
                <a:latin typeface="微软雅黑" panose="020B0503020204020204" charset="-122"/>
                <a:ea typeface="微软雅黑" panose="020B0503020204020204" charset="-122"/>
                <a:cs typeface="宋体" panose="02010600030101010101" pitchFamily="2" charset="-122"/>
                <a:sym typeface="+mn-ea"/>
              </a:rPr>
              <a:t>条规定的</a:t>
            </a:r>
            <a:r>
              <a:rPr lang="zh-CN" altLang="en-US" sz="2000" dirty="0" smtClean="0">
                <a:latin typeface="微软雅黑" panose="020B0503020204020204" charset="-122"/>
                <a:ea typeface="微软雅黑" panose="020B0503020204020204" charset="-122"/>
                <a:cs typeface="宋体" panose="02010600030101010101" pitchFamily="2" charset="-122"/>
                <a:sym typeface="+mn-ea"/>
              </a:rPr>
              <a:t>颠</a:t>
            </a:r>
            <a:r>
              <a:rPr sz="2000" dirty="0" err="1" smtClean="0">
                <a:latin typeface="微软雅黑" panose="020B0503020204020204" charset="-122"/>
                <a:ea typeface="微软雅黑" panose="020B0503020204020204" charset="-122"/>
                <a:cs typeface="宋体" panose="02010600030101010101" pitchFamily="2" charset="-122"/>
                <a:sym typeface="+mn-ea"/>
              </a:rPr>
              <a:t>覆国家政权罪</a:t>
            </a:r>
            <a:r>
              <a:rPr sz="2000" dirty="0" err="1">
                <a:latin typeface="微软雅黑" panose="020B0503020204020204" charset="-122"/>
                <a:ea typeface="微软雅黑" panose="020B0503020204020204" charset="-122"/>
                <a:cs typeface="宋体" panose="02010600030101010101" pitchFamily="2" charset="-122"/>
                <a:sym typeface="+mn-ea"/>
              </a:rPr>
              <a:t>，条文揭示其犯罪客体是国家政权、社会主义制度。又如</a:t>
            </a:r>
            <a:r>
              <a:rPr sz="2000" dirty="0">
                <a:latin typeface="微软雅黑" panose="020B0503020204020204" charset="-122"/>
                <a:ea typeface="微软雅黑" panose="020B0503020204020204" charset="-122"/>
                <a:cs typeface="宋体" panose="02010600030101010101" pitchFamily="2" charset="-122"/>
                <a:sym typeface="+mn-ea"/>
              </a:rPr>
              <a:t>，《刑法》第 252 条规定的侵犯通信自由罪，条文揭示该罪的犯罪客体是公民通信自由权利。</a:t>
            </a:r>
          </a:p>
          <a:p>
            <a:pPr indent="457200">
              <a:lnSpc>
                <a:spcPct val="150000"/>
              </a:lnSpc>
            </a:pP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b="1" dirty="0">
                <a:latin typeface="微软雅黑" panose="020B0503020204020204" charset="-122"/>
                <a:ea typeface="微软雅黑" panose="020B0503020204020204" charset="-122"/>
                <a:cs typeface="宋体" panose="02010600030101010101" pitchFamily="2" charset="-122"/>
                <a:sym typeface="+mn-ea"/>
              </a:rPr>
              <a:t>2.通过规定犯罪客体的物质表现揭示犯罪客体。</a:t>
            </a: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例如，《刑法》第263 条规定的抢劫罪，条文通过犯罪客体的物质表现一一公私财物，揭示该罪侵犯的客体之一是公私财产所有权</a:t>
            </a:r>
            <a:r>
              <a:rPr lang="zh-CN" sz="2000" dirty="0">
                <a:latin typeface="微软雅黑" panose="020B0503020204020204" charset="-122"/>
                <a:ea typeface="微软雅黑" panose="020B0503020204020204" charset="-122"/>
                <a:cs typeface="宋体" panose="02010600030101010101" pitchFamily="2" charset="-122"/>
                <a:sym typeface="+mn-ea"/>
              </a:rPr>
              <a:t>。</a:t>
            </a:r>
          </a:p>
        </p:txBody>
      </p:sp>
      <p:sp>
        <p:nvSpPr>
          <p:cNvPr id="7" name="菱形 6"/>
          <p:cNvSpPr/>
          <p:nvPr/>
        </p:nvSpPr>
        <p:spPr>
          <a:xfrm>
            <a:off x="1489744" y="677015"/>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940055" y="66336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p:cNvSpPr/>
          <p:nvPr/>
        </p:nvSpPr>
        <p:spPr>
          <a:xfrm>
            <a:off x="2860815" y="966179"/>
            <a:ext cx="2011680" cy="460375"/>
          </a:xfrm>
          <a:prstGeom prst="rect">
            <a:avLst/>
          </a:prstGeom>
        </p:spPr>
        <p:txBody>
          <a:bodyPr wrap="none">
            <a:spAutoFit/>
          </a:bodyPr>
          <a:lstStyle/>
          <a:p>
            <a:pPr algn="l"/>
            <a:r>
              <a:rPr lang="zh-CN" altLang="en-US" sz="2400" b="1" dirty="0">
                <a:latin typeface="微软雅黑" panose="020B0503020204020204" charset="-122"/>
                <a:ea typeface="微软雅黑" panose="020B0503020204020204" charset="-122"/>
                <a:cs typeface="宋体" panose="02010600030101010101" pitchFamily="2" charset="-122"/>
                <a:sym typeface="+mn-ea"/>
              </a:rPr>
              <a:t>三、直接客体</a:t>
            </a:r>
          </a:p>
        </p:txBody>
      </p:sp>
      <p:sp>
        <p:nvSpPr>
          <p:cNvPr id="5" name="L 形 4"/>
          <p:cNvSpPr/>
          <p:nvPr>
            <p:custDataLst>
              <p:tags r:id="rId2"/>
            </p:custDataLst>
          </p:nvPr>
        </p:nvSpPr>
        <p:spPr>
          <a:xfrm>
            <a:off x="530860" y="2990850"/>
            <a:ext cx="2725420" cy="1673860"/>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custDataLst>
              <p:tags r:id="rId3"/>
            </p:custDataLst>
          </p:nvPr>
        </p:nvSpPr>
        <p:spPr>
          <a:xfrm>
            <a:off x="530860" y="3184525"/>
            <a:ext cx="260921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（二）直接客体的立法形式</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3256280" y="2564130"/>
            <a:ext cx="8092440" cy="2527300"/>
          </a:xfrm>
          <a:prstGeom prst="rect">
            <a:avLst/>
          </a:prstGeom>
          <a:noFill/>
        </p:spPr>
        <p:txBody>
          <a:bodyPr wrap="square" rtlCol="0">
            <a:noAutofit/>
          </a:bodyPr>
          <a:lstStyle/>
          <a:p>
            <a:pPr indent="457200">
              <a:lnSpc>
                <a:spcPct val="150000"/>
              </a:lnSpc>
            </a:pPr>
            <a:r>
              <a:rPr sz="2000" b="1" dirty="0">
                <a:latin typeface="微软雅黑" panose="020B0503020204020204" charset="-122"/>
                <a:ea typeface="微软雅黑" panose="020B0503020204020204" charset="-122"/>
                <a:cs typeface="宋体" panose="02010600030101010101" pitchFamily="2" charset="-122"/>
                <a:sym typeface="+mn-ea"/>
              </a:rPr>
              <a:t>3.通过规定犯罪违反的某项法规表明犯罪客体。</a:t>
            </a:r>
            <a:endParaRPr sz="2000" dirty="0">
              <a:latin typeface="微软雅黑" panose="020B0503020204020204" charset="-122"/>
              <a:ea typeface="微软雅黑" panose="020B0503020204020204" charset="-122"/>
              <a:cs typeface="宋体" panose="02010600030101010101" pitchFamily="2" charset="-122"/>
              <a:sym typeface="+mn-ea"/>
            </a:endParaRP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例如，《刑法》第 325 条规定的非法向外国人出售、赠送珍贵文物罪，条文以“违反文物保护法规”为要件，通过“文物保护法规”说明本罪的犯罪客体是国家对文物的管理秩序。</a:t>
            </a:r>
          </a:p>
        </p:txBody>
      </p:sp>
      <p:sp>
        <p:nvSpPr>
          <p:cNvPr id="7" name="菱形 6"/>
          <p:cNvSpPr/>
          <p:nvPr/>
        </p:nvSpPr>
        <p:spPr>
          <a:xfrm>
            <a:off x="1489744" y="677015"/>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940055" y="66336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L 形 4"/>
          <p:cNvSpPr/>
          <p:nvPr>
            <p:custDataLst>
              <p:tags r:id="rId2"/>
            </p:custDataLst>
          </p:nvPr>
        </p:nvSpPr>
        <p:spPr>
          <a:xfrm>
            <a:off x="530860" y="2990850"/>
            <a:ext cx="2725420" cy="1673860"/>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custDataLst>
              <p:tags r:id="rId3"/>
            </p:custDataLst>
          </p:nvPr>
        </p:nvSpPr>
        <p:spPr>
          <a:xfrm>
            <a:off x="530860" y="3184525"/>
            <a:ext cx="260921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（二）直接客体的立法形式</a:t>
            </a:r>
          </a:p>
        </p:txBody>
      </p:sp>
      <p:sp>
        <p:nvSpPr>
          <p:cNvPr id="9" name="矩形 8"/>
          <p:cNvSpPr/>
          <p:nvPr>
            <p:custDataLst>
              <p:tags r:id="rId4"/>
            </p:custDataLst>
          </p:nvPr>
        </p:nvSpPr>
        <p:spPr>
          <a:xfrm>
            <a:off x="2860815" y="966179"/>
            <a:ext cx="2011680" cy="460375"/>
          </a:xfrm>
          <a:prstGeom prst="rect">
            <a:avLst/>
          </a:prstGeom>
        </p:spPr>
        <p:txBody>
          <a:bodyPr wrap="none">
            <a:spAutoFit/>
          </a:bodyPr>
          <a:lstStyle/>
          <a:p>
            <a:pPr algn="l"/>
            <a:r>
              <a:rPr lang="zh-CN" altLang="en-US" sz="2400" b="1" dirty="0">
                <a:latin typeface="微软雅黑" panose="020B0503020204020204" charset="-122"/>
                <a:ea typeface="微软雅黑" panose="020B0503020204020204" charset="-122"/>
                <a:cs typeface="宋体" panose="02010600030101010101" pitchFamily="2" charset="-122"/>
                <a:sym typeface="+mn-ea"/>
              </a:rPr>
              <a:t>三、直接客体</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3256280" y="2540635"/>
            <a:ext cx="8092440" cy="2574290"/>
          </a:xfrm>
          <a:prstGeom prst="rect">
            <a:avLst/>
          </a:prstGeom>
          <a:noFill/>
        </p:spPr>
        <p:txBody>
          <a:bodyPr wrap="square" rtlCol="0">
            <a:noAutofit/>
          </a:bodyPr>
          <a:lstStyle/>
          <a:p>
            <a:pPr indent="457200">
              <a:lnSpc>
                <a:spcPct val="150000"/>
              </a:lnSpc>
            </a:pPr>
            <a:r>
              <a:rPr sz="2000" b="1" dirty="0">
                <a:latin typeface="微软雅黑" panose="020B0503020204020204" charset="-122"/>
                <a:ea typeface="微软雅黑" panose="020B0503020204020204" charset="-122"/>
                <a:cs typeface="宋体" panose="02010600030101010101" pitchFamily="2" charset="-122"/>
                <a:sym typeface="+mn-ea"/>
              </a:rPr>
              <a:t>4.通过规定犯罪侵害的被害人特征表明犯罪客体。</a:t>
            </a: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例如，《刑法》第260 </a:t>
            </a:r>
            <a:r>
              <a:rPr sz="2000" dirty="0" err="1">
                <a:latin typeface="微软雅黑" panose="020B0503020204020204" charset="-122"/>
                <a:ea typeface="微软雅黑" panose="020B0503020204020204" charset="-122"/>
                <a:cs typeface="宋体" panose="02010600030101010101" pitchFamily="2" charset="-122"/>
                <a:sym typeface="+mn-ea"/>
              </a:rPr>
              <a:t>条规定的虐待罪，其罪状规定为</a:t>
            </a:r>
            <a:r>
              <a:rPr sz="2000" dirty="0" smtClean="0">
                <a:latin typeface="微软雅黑" panose="020B0503020204020204" charset="-122"/>
                <a:ea typeface="微软雅黑" panose="020B0503020204020204" charset="-122"/>
                <a:cs typeface="宋体" panose="02010600030101010101" pitchFamily="2" charset="-122"/>
                <a:sym typeface="+mn-ea"/>
              </a:rPr>
              <a:t>“</a:t>
            </a:r>
            <a:r>
              <a:rPr lang="zh-CN" altLang="en-US" sz="2000" dirty="0" smtClean="0">
                <a:latin typeface="微软雅黑" panose="020B0503020204020204" charset="-122"/>
                <a:ea typeface="微软雅黑" panose="020B0503020204020204" charset="-122"/>
                <a:cs typeface="宋体" panose="02010600030101010101" pitchFamily="2" charset="-122"/>
                <a:sym typeface="+mn-ea"/>
              </a:rPr>
              <a:t>虐</a:t>
            </a:r>
            <a:r>
              <a:rPr sz="2000" dirty="0" err="1" smtClean="0">
                <a:latin typeface="微软雅黑" panose="020B0503020204020204" charset="-122"/>
                <a:ea typeface="微软雅黑" panose="020B0503020204020204" charset="-122"/>
                <a:cs typeface="宋体" panose="02010600030101010101" pitchFamily="2" charset="-122"/>
                <a:sym typeface="+mn-ea"/>
              </a:rPr>
              <a:t>待家庭成员</a:t>
            </a:r>
            <a:r>
              <a:rPr lang="zh-CN" altLang="en-US" sz="2000" dirty="0" smtClean="0">
                <a:latin typeface="微软雅黑" panose="020B0503020204020204" charset="-122"/>
                <a:ea typeface="微软雅黑" panose="020B0503020204020204" charset="-122"/>
                <a:cs typeface="宋体" panose="02010600030101010101" pitchFamily="2" charset="-122"/>
                <a:sym typeface="+mn-ea"/>
              </a:rPr>
              <a:t>，</a:t>
            </a:r>
            <a:r>
              <a:rPr sz="2000" dirty="0" err="1" smtClean="0">
                <a:latin typeface="微软雅黑" panose="020B0503020204020204" charset="-122"/>
                <a:ea typeface="微软雅黑" panose="020B0503020204020204" charset="-122"/>
                <a:cs typeface="宋体" panose="02010600030101010101" pitchFamily="2" charset="-122"/>
                <a:sym typeface="+mn-ea"/>
              </a:rPr>
              <a:t>情节恶劣的</a:t>
            </a:r>
            <a:r>
              <a:rPr sz="2000" dirty="0">
                <a:latin typeface="微软雅黑" panose="020B0503020204020204" charset="-122"/>
                <a:ea typeface="微软雅黑" panose="020B0503020204020204" charset="-122"/>
                <a:cs typeface="宋体" panose="02010600030101010101" pitchFamily="2" charset="-122"/>
                <a:sym typeface="+mn-ea"/>
              </a:rPr>
              <a:t>”，条文中的“家庭成员”表明本罪的犯罪客体是平等互助的家庭关系。</a:t>
            </a:r>
          </a:p>
        </p:txBody>
      </p:sp>
      <p:sp>
        <p:nvSpPr>
          <p:cNvPr id="7" name="菱形 6"/>
          <p:cNvSpPr/>
          <p:nvPr/>
        </p:nvSpPr>
        <p:spPr>
          <a:xfrm>
            <a:off x="1489744" y="677015"/>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940055" y="66336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L 形 4"/>
          <p:cNvSpPr/>
          <p:nvPr>
            <p:custDataLst>
              <p:tags r:id="rId2"/>
            </p:custDataLst>
          </p:nvPr>
        </p:nvSpPr>
        <p:spPr>
          <a:xfrm>
            <a:off x="530860" y="2990850"/>
            <a:ext cx="2725420" cy="1673860"/>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custDataLst>
              <p:tags r:id="rId3"/>
            </p:custDataLst>
          </p:nvPr>
        </p:nvSpPr>
        <p:spPr>
          <a:xfrm>
            <a:off x="530860" y="3184525"/>
            <a:ext cx="260921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（二）直接客体的立法形式</a:t>
            </a:r>
          </a:p>
        </p:txBody>
      </p:sp>
      <p:sp>
        <p:nvSpPr>
          <p:cNvPr id="2" name="矩形 1"/>
          <p:cNvSpPr/>
          <p:nvPr>
            <p:custDataLst>
              <p:tags r:id="rId4"/>
            </p:custDataLst>
          </p:nvPr>
        </p:nvSpPr>
        <p:spPr>
          <a:xfrm>
            <a:off x="2860815" y="966179"/>
            <a:ext cx="2011680" cy="460375"/>
          </a:xfrm>
          <a:prstGeom prst="rect">
            <a:avLst/>
          </a:prstGeom>
        </p:spPr>
        <p:txBody>
          <a:bodyPr wrap="none">
            <a:spAutoFit/>
          </a:bodyPr>
          <a:lstStyle/>
          <a:p>
            <a:pPr algn="l"/>
            <a:r>
              <a:rPr lang="zh-CN" altLang="en-US" sz="2400" b="1" dirty="0">
                <a:latin typeface="微软雅黑" panose="020B0503020204020204" charset="-122"/>
                <a:ea typeface="微软雅黑" panose="020B0503020204020204" charset="-122"/>
                <a:cs typeface="宋体" panose="02010600030101010101" pitchFamily="2" charset="-122"/>
                <a:sym typeface="+mn-ea"/>
              </a:rPr>
              <a:t>三、直接客体</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_文本框 3"/>
          <p:cNvSpPr txBox="1"/>
          <p:nvPr>
            <p:custDataLst>
              <p:tags r:id="rId1"/>
            </p:custDataLst>
          </p:nvPr>
        </p:nvSpPr>
        <p:spPr>
          <a:xfrm>
            <a:off x="3256280" y="2540635"/>
            <a:ext cx="8092440" cy="2574290"/>
          </a:xfrm>
          <a:prstGeom prst="rect">
            <a:avLst/>
          </a:prstGeom>
          <a:noFill/>
        </p:spPr>
        <p:txBody>
          <a:bodyPr wrap="square" rtlCol="0">
            <a:noAutofit/>
          </a:bodyPr>
          <a:lstStyle/>
          <a:p>
            <a:pPr indent="457200">
              <a:lnSpc>
                <a:spcPct val="150000"/>
              </a:lnSpc>
            </a:pPr>
            <a:r>
              <a:rPr sz="2000" b="1" dirty="0">
                <a:latin typeface="微软雅黑" panose="020B0503020204020204" charset="-122"/>
                <a:ea typeface="微软雅黑" panose="020B0503020204020204" charset="-122"/>
                <a:cs typeface="宋体" panose="02010600030101010101" pitchFamily="2" charset="-122"/>
                <a:sym typeface="+mn-ea"/>
              </a:rPr>
              <a:t>5.通过规定犯罪行为的方法表明犯罪客体。</a:t>
            </a:r>
          </a:p>
          <a:p>
            <a:pPr indent="457200">
              <a:lnSpc>
                <a:spcPct val="150000"/>
              </a:lnSpc>
            </a:pPr>
            <a:r>
              <a:rPr sz="2000" dirty="0">
                <a:latin typeface="微软雅黑" panose="020B0503020204020204" charset="-122"/>
                <a:ea typeface="微软雅黑" panose="020B0503020204020204" charset="-122"/>
                <a:cs typeface="宋体" panose="02010600030101010101" pitchFamily="2" charset="-122"/>
                <a:sym typeface="+mn-ea"/>
              </a:rPr>
              <a:t>例如，《刑法》第121</a:t>
            </a:r>
            <a:r>
              <a:rPr sz="2000" dirty="0" smtClean="0">
                <a:latin typeface="微软雅黑" panose="020B0503020204020204" charset="-122"/>
                <a:ea typeface="微软雅黑" panose="020B0503020204020204" charset="-122"/>
                <a:cs typeface="宋体" panose="02010600030101010101" pitchFamily="2" charset="-122"/>
                <a:sym typeface="+mn-ea"/>
              </a:rPr>
              <a:t>条规定的</a:t>
            </a:r>
            <a:r>
              <a:rPr lang="zh-CN" altLang="en-US" sz="2000" dirty="0" smtClean="0">
                <a:latin typeface="微软雅黑" panose="020B0503020204020204" charset="-122"/>
                <a:ea typeface="微软雅黑" panose="020B0503020204020204" charset="-122"/>
                <a:cs typeface="宋体" panose="02010600030101010101" pitchFamily="2" charset="-122"/>
                <a:sym typeface="+mn-ea"/>
              </a:rPr>
              <a:t>劫</a:t>
            </a:r>
            <a:r>
              <a:rPr sz="2000" dirty="0" err="1" smtClean="0">
                <a:latin typeface="微软雅黑" panose="020B0503020204020204" charset="-122"/>
                <a:ea typeface="微软雅黑" panose="020B0503020204020204" charset="-122"/>
                <a:cs typeface="宋体" panose="02010600030101010101" pitchFamily="2" charset="-122"/>
                <a:sym typeface="+mn-ea"/>
              </a:rPr>
              <a:t>持航空器罪</a:t>
            </a:r>
            <a:r>
              <a:rPr sz="2000" dirty="0" err="1">
                <a:latin typeface="微软雅黑" panose="020B0503020204020204" charset="-122"/>
                <a:ea typeface="微软雅黑" panose="020B0503020204020204" charset="-122"/>
                <a:cs typeface="宋体" panose="02010600030101010101" pitchFamily="2" charset="-122"/>
                <a:sym typeface="+mn-ea"/>
              </a:rPr>
              <a:t>，条文规定“以暴力</a:t>
            </a:r>
            <a:r>
              <a:rPr sz="2000" dirty="0" smtClean="0">
                <a:latin typeface="微软雅黑" panose="020B0503020204020204" charset="-122"/>
                <a:ea typeface="微软雅黑" panose="020B0503020204020204" charset="-122"/>
                <a:cs typeface="宋体" panose="02010600030101010101" pitchFamily="2" charset="-122"/>
                <a:sym typeface="+mn-ea"/>
              </a:rPr>
              <a:t>、</a:t>
            </a:r>
            <a:r>
              <a:rPr lang="zh-CN" altLang="en-US" sz="2000" dirty="0" smtClean="0">
                <a:latin typeface="微软雅黑" panose="020B0503020204020204" charset="-122"/>
                <a:ea typeface="微软雅黑" panose="020B0503020204020204" charset="-122"/>
                <a:cs typeface="宋体" panose="02010600030101010101" pitchFamily="2" charset="-122"/>
                <a:sym typeface="+mn-ea"/>
              </a:rPr>
              <a:t>威胁</a:t>
            </a:r>
            <a:r>
              <a:rPr sz="2000" dirty="0" err="1" smtClean="0">
                <a:latin typeface="微软雅黑" panose="020B0503020204020204" charset="-122"/>
                <a:ea typeface="微软雅黑" panose="020B0503020204020204" charset="-122"/>
                <a:cs typeface="宋体" panose="02010600030101010101" pitchFamily="2" charset="-122"/>
                <a:sym typeface="+mn-ea"/>
              </a:rPr>
              <a:t>或者其他方法持航空器的</a:t>
            </a:r>
            <a:r>
              <a:rPr sz="2000" dirty="0">
                <a:latin typeface="微软雅黑" panose="020B0503020204020204" charset="-122"/>
                <a:ea typeface="微软雅黑" panose="020B0503020204020204" charset="-122"/>
                <a:cs typeface="宋体" panose="02010600030101010101" pitchFamily="2" charset="-122"/>
                <a:sym typeface="+mn-ea"/>
              </a:rPr>
              <a:t>”，犯罪方法“暴力、胁迫”等，结合犯罪对象“航空器”，就清楚地表明该种犯罪的客体是航空器的飞行安全。</a:t>
            </a:r>
          </a:p>
        </p:txBody>
      </p:sp>
      <p:sp>
        <p:nvSpPr>
          <p:cNvPr id="7" name="菱形 6"/>
          <p:cNvSpPr/>
          <p:nvPr/>
        </p:nvSpPr>
        <p:spPr>
          <a:xfrm>
            <a:off x="1489744" y="677015"/>
            <a:ext cx="1039187" cy="1039187"/>
          </a:xfrm>
          <a:prstGeom prst="diamond">
            <a:avLst/>
          </a:prstGeom>
          <a:solidFill>
            <a:srgbClr val="D97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sp>
        <p:nvSpPr>
          <p:cNvPr id="8" name="菱形 7"/>
          <p:cNvSpPr/>
          <p:nvPr/>
        </p:nvSpPr>
        <p:spPr>
          <a:xfrm>
            <a:off x="940055" y="663365"/>
            <a:ext cx="1053326" cy="1053325"/>
          </a:xfrm>
          <a:prstGeom prst="diamond">
            <a:avLst/>
          </a:prstGeom>
          <a:noFill/>
          <a:ln>
            <a:solidFill>
              <a:srgbClr val="D9793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L 形 4"/>
          <p:cNvSpPr/>
          <p:nvPr>
            <p:custDataLst>
              <p:tags r:id="rId2"/>
            </p:custDataLst>
          </p:nvPr>
        </p:nvSpPr>
        <p:spPr>
          <a:xfrm>
            <a:off x="530860" y="2990850"/>
            <a:ext cx="2725420" cy="1673860"/>
          </a:xfrm>
          <a:prstGeom prst="corner">
            <a:avLst>
              <a:gd name="adj1" fmla="val 8139"/>
              <a:gd name="adj2" fmla="val 15993"/>
            </a:avLst>
          </a:prstGeom>
          <a:solidFill>
            <a:srgbClr val="BFBFBF">
              <a:alpha val="2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custDataLst>
              <p:tags r:id="rId3"/>
            </p:custDataLst>
          </p:nvPr>
        </p:nvSpPr>
        <p:spPr>
          <a:xfrm>
            <a:off x="530860" y="3184525"/>
            <a:ext cx="2609215" cy="1106805"/>
          </a:xfrm>
          <a:prstGeom prst="rect">
            <a:avLst/>
          </a:prstGeom>
        </p:spPr>
        <p:txBody>
          <a:bodyPr wrap="square">
            <a:spAutoFit/>
          </a:bodyPr>
          <a:lstStyle/>
          <a:p>
            <a:pPr indent="304800" algn="ctr">
              <a:lnSpc>
                <a:spcPct val="150000"/>
              </a:lnSpc>
            </a:pPr>
            <a:r>
              <a:rPr lang="zh-CN" altLang="en-US" sz="2200" b="1" dirty="0">
                <a:solidFill>
                  <a:srgbClr val="D9793F"/>
                </a:solidFill>
                <a:latin typeface="华文中宋" panose="02010600040101010101" pitchFamily="2" charset="-122"/>
                <a:ea typeface="华文中宋" panose="02010600040101010101" pitchFamily="2" charset="-122"/>
                <a:cs typeface="宋体" panose="02010600030101010101" pitchFamily="2" charset="-122"/>
              </a:rPr>
              <a:t>（二）直接客体的立法形式</a:t>
            </a:r>
          </a:p>
        </p:txBody>
      </p:sp>
      <p:sp>
        <p:nvSpPr>
          <p:cNvPr id="2" name="矩形 1"/>
          <p:cNvSpPr/>
          <p:nvPr>
            <p:custDataLst>
              <p:tags r:id="rId4"/>
            </p:custDataLst>
          </p:nvPr>
        </p:nvSpPr>
        <p:spPr>
          <a:xfrm>
            <a:off x="2860815" y="966179"/>
            <a:ext cx="2011680" cy="460375"/>
          </a:xfrm>
          <a:prstGeom prst="rect">
            <a:avLst/>
          </a:prstGeom>
        </p:spPr>
        <p:txBody>
          <a:bodyPr wrap="none">
            <a:spAutoFit/>
          </a:bodyPr>
          <a:lstStyle/>
          <a:p>
            <a:pPr algn="l"/>
            <a:r>
              <a:rPr lang="zh-CN" altLang="en-US" sz="2400" b="1" dirty="0">
                <a:latin typeface="微软雅黑" panose="020B0503020204020204" charset="-122"/>
                <a:ea typeface="微软雅黑" panose="020B0503020204020204" charset="-122"/>
                <a:cs typeface="宋体" panose="02010600030101010101" pitchFamily="2" charset="-122"/>
                <a:sym typeface="+mn-ea"/>
              </a:rPr>
              <a:t>三、直接客体</a:t>
            </a:r>
          </a:p>
        </p:txBody>
      </p:sp>
    </p:spTree>
  </p:cSld>
  <p:clrMapOvr>
    <a:masterClrMapping/>
  </p:clrMapOvr>
  <mc:AlternateContent xmlns:mc="http://schemas.openxmlformats.org/markup-compatibility/2006" xmlns:p14="http://schemas.microsoft.com/office/powerpoint/2010/main">
    <mc:Choice Requires="p14">
      <p:transition spd="slow" p14:dur="1600"/>
    </mc:Choice>
    <mc:Fallback xmlns="">
      <p:transition spd="slow"/>
    </mc:Fallback>
  </mc:AlternateContent>
  <p:timing>
    <p:tnLst>
      <p:par>
        <p:cTn id="1" dur="indefinite" restart="never" nodeType="tmRoot"/>
      </p:par>
    </p:tnLst>
    <p:bldLst>
      <p:bldP spid="4" grpId="0"/>
      <p:bldP spid="7" grpId="0" bldLvl="0" animBg="1"/>
      <p:bldP spid="8"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idea_301807"/>
          <p:cNvSpPr>
            <a:spLocks noChangeAspect="1"/>
          </p:cNvSpPr>
          <p:nvPr>
            <p:custDataLst>
              <p:tags r:id="rId1"/>
            </p:custDataLst>
          </p:nvPr>
        </p:nvSpPr>
        <p:spPr bwMode="auto">
          <a:xfrm>
            <a:off x="1077900" y="1081362"/>
            <a:ext cx="529201" cy="609685"/>
          </a:xfrm>
          <a:custGeom>
            <a:avLst/>
            <a:gdLst>
              <a:gd name="connsiteX0" fmla="*/ 139184 w 526630"/>
              <a:gd name="connsiteY0" fmla="*/ 367044 h 606722"/>
              <a:gd name="connsiteX1" fmla="*/ 90404 w 526630"/>
              <a:gd name="connsiteY1" fmla="*/ 401702 h 606722"/>
              <a:gd name="connsiteX2" fmla="*/ 65124 w 526630"/>
              <a:gd name="connsiteY2" fmla="*/ 472708 h 606722"/>
              <a:gd name="connsiteX3" fmla="*/ 65124 w 526630"/>
              <a:gd name="connsiteY3" fmla="*/ 570641 h 606722"/>
              <a:gd name="connsiteX4" fmla="*/ 159034 w 526630"/>
              <a:gd name="connsiteY4" fmla="*/ 570641 h 606722"/>
              <a:gd name="connsiteX5" fmla="*/ 155563 w 526630"/>
              <a:gd name="connsiteY5" fmla="*/ 551535 h 606722"/>
              <a:gd name="connsiteX6" fmla="*/ 159034 w 526630"/>
              <a:gd name="connsiteY6" fmla="*/ 532428 h 606722"/>
              <a:gd name="connsiteX7" fmla="*/ 107495 w 526630"/>
              <a:gd name="connsiteY7" fmla="*/ 532428 h 606722"/>
              <a:gd name="connsiteX8" fmla="*/ 107495 w 526630"/>
              <a:gd name="connsiteY8" fmla="*/ 462311 h 606722"/>
              <a:gd name="connsiteX9" fmla="*/ 143546 w 526630"/>
              <a:gd name="connsiteY9" fmla="*/ 462311 h 606722"/>
              <a:gd name="connsiteX10" fmla="*/ 143546 w 526630"/>
              <a:gd name="connsiteY10" fmla="*/ 496347 h 606722"/>
              <a:gd name="connsiteX11" fmla="*/ 210841 w 526630"/>
              <a:gd name="connsiteY11" fmla="*/ 496347 h 606722"/>
              <a:gd name="connsiteX12" fmla="*/ 383084 w 526630"/>
              <a:gd name="connsiteY12" fmla="*/ 496347 h 606722"/>
              <a:gd name="connsiteX13" fmla="*/ 383084 w 526630"/>
              <a:gd name="connsiteY13" fmla="*/ 462311 h 606722"/>
              <a:gd name="connsiteX14" fmla="*/ 419135 w 526630"/>
              <a:gd name="connsiteY14" fmla="*/ 462311 h 606722"/>
              <a:gd name="connsiteX15" fmla="*/ 419135 w 526630"/>
              <a:gd name="connsiteY15" fmla="*/ 532428 h 606722"/>
              <a:gd name="connsiteX16" fmla="*/ 210841 w 526630"/>
              <a:gd name="connsiteY16" fmla="*/ 532428 h 606722"/>
              <a:gd name="connsiteX17" fmla="*/ 191703 w 526630"/>
              <a:gd name="connsiteY17" fmla="*/ 551535 h 606722"/>
              <a:gd name="connsiteX18" fmla="*/ 210841 w 526630"/>
              <a:gd name="connsiteY18" fmla="*/ 570641 h 606722"/>
              <a:gd name="connsiteX19" fmla="*/ 461417 w 526630"/>
              <a:gd name="connsiteY19" fmla="*/ 570641 h 606722"/>
              <a:gd name="connsiteX20" fmla="*/ 461506 w 526630"/>
              <a:gd name="connsiteY20" fmla="*/ 570641 h 606722"/>
              <a:gd name="connsiteX21" fmla="*/ 461506 w 526630"/>
              <a:gd name="connsiteY21" fmla="*/ 472708 h 606722"/>
              <a:gd name="connsiteX22" fmla="*/ 436137 w 526630"/>
              <a:gd name="connsiteY22" fmla="*/ 401702 h 606722"/>
              <a:gd name="connsiteX23" fmla="*/ 387357 w 526630"/>
              <a:gd name="connsiteY23" fmla="*/ 367044 h 606722"/>
              <a:gd name="connsiteX24" fmla="*/ 294693 w 526630"/>
              <a:gd name="connsiteY24" fmla="*/ 441516 h 606722"/>
              <a:gd name="connsiteX25" fmla="*/ 294159 w 526630"/>
              <a:gd name="connsiteY25" fmla="*/ 441604 h 606722"/>
              <a:gd name="connsiteX26" fmla="*/ 291399 w 526630"/>
              <a:gd name="connsiteY26" fmla="*/ 442226 h 606722"/>
              <a:gd name="connsiteX27" fmla="*/ 289797 w 526630"/>
              <a:gd name="connsiteY27" fmla="*/ 442582 h 606722"/>
              <a:gd name="connsiteX28" fmla="*/ 286770 w 526630"/>
              <a:gd name="connsiteY28" fmla="*/ 443115 h 606722"/>
              <a:gd name="connsiteX29" fmla="*/ 283744 w 526630"/>
              <a:gd name="connsiteY29" fmla="*/ 443560 h 606722"/>
              <a:gd name="connsiteX30" fmla="*/ 282053 w 526630"/>
              <a:gd name="connsiteY30" fmla="*/ 443826 h 606722"/>
              <a:gd name="connsiteX31" fmla="*/ 279204 w 526630"/>
              <a:gd name="connsiteY31" fmla="*/ 444182 h 606722"/>
              <a:gd name="connsiteX32" fmla="*/ 277780 w 526630"/>
              <a:gd name="connsiteY32" fmla="*/ 444359 h 606722"/>
              <a:gd name="connsiteX33" fmla="*/ 273596 w 526630"/>
              <a:gd name="connsiteY33" fmla="*/ 444715 h 606722"/>
              <a:gd name="connsiteX34" fmla="*/ 272528 w 526630"/>
              <a:gd name="connsiteY34" fmla="*/ 444804 h 606722"/>
              <a:gd name="connsiteX35" fmla="*/ 269056 w 526630"/>
              <a:gd name="connsiteY35" fmla="*/ 444981 h 606722"/>
              <a:gd name="connsiteX36" fmla="*/ 267810 w 526630"/>
              <a:gd name="connsiteY36" fmla="*/ 445070 h 606722"/>
              <a:gd name="connsiteX37" fmla="*/ 263271 w 526630"/>
              <a:gd name="connsiteY37" fmla="*/ 445159 h 606722"/>
              <a:gd name="connsiteX38" fmla="*/ 258820 w 526630"/>
              <a:gd name="connsiteY38" fmla="*/ 445070 h 606722"/>
              <a:gd name="connsiteX39" fmla="*/ 257574 w 526630"/>
              <a:gd name="connsiteY39" fmla="*/ 444981 h 606722"/>
              <a:gd name="connsiteX40" fmla="*/ 254013 w 526630"/>
              <a:gd name="connsiteY40" fmla="*/ 444804 h 606722"/>
              <a:gd name="connsiteX41" fmla="*/ 253034 w 526630"/>
              <a:gd name="connsiteY41" fmla="*/ 444715 h 606722"/>
              <a:gd name="connsiteX42" fmla="*/ 248850 w 526630"/>
              <a:gd name="connsiteY42" fmla="*/ 444359 h 606722"/>
              <a:gd name="connsiteX43" fmla="*/ 247426 w 526630"/>
              <a:gd name="connsiteY43" fmla="*/ 444182 h 606722"/>
              <a:gd name="connsiteX44" fmla="*/ 244577 w 526630"/>
              <a:gd name="connsiteY44" fmla="*/ 443826 h 606722"/>
              <a:gd name="connsiteX45" fmla="*/ 242797 w 526630"/>
              <a:gd name="connsiteY45" fmla="*/ 443560 h 606722"/>
              <a:gd name="connsiteX46" fmla="*/ 239860 w 526630"/>
              <a:gd name="connsiteY46" fmla="*/ 443115 h 606722"/>
              <a:gd name="connsiteX47" fmla="*/ 236833 w 526630"/>
              <a:gd name="connsiteY47" fmla="*/ 442582 h 606722"/>
              <a:gd name="connsiteX48" fmla="*/ 235231 w 526630"/>
              <a:gd name="connsiteY48" fmla="*/ 442226 h 606722"/>
              <a:gd name="connsiteX49" fmla="*/ 232471 w 526630"/>
              <a:gd name="connsiteY49" fmla="*/ 441604 h 606722"/>
              <a:gd name="connsiteX50" fmla="*/ 231937 w 526630"/>
              <a:gd name="connsiteY50" fmla="*/ 441516 h 606722"/>
              <a:gd name="connsiteX51" fmla="*/ 139184 w 526630"/>
              <a:gd name="connsiteY51" fmla="*/ 367044 h 606722"/>
              <a:gd name="connsiteX52" fmla="*/ 439552 w 526630"/>
              <a:gd name="connsiteY52" fmla="*/ 244933 h 606722"/>
              <a:gd name="connsiteX53" fmla="*/ 526630 w 526630"/>
              <a:gd name="connsiteY53" fmla="*/ 244933 h 606722"/>
              <a:gd name="connsiteX54" fmla="*/ 526630 w 526630"/>
              <a:gd name="connsiteY54" fmla="*/ 280921 h 606722"/>
              <a:gd name="connsiteX55" fmla="*/ 439552 w 526630"/>
              <a:gd name="connsiteY55" fmla="*/ 280921 h 606722"/>
              <a:gd name="connsiteX56" fmla="*/ 0 w 526630"/>
              <a:gd name="connsiteY56" fmla="*/ 244933 h 606722"/>
              <a:gd name="connsiteX57" fmla="*/ 87007 w 526630"/>
              <a:gd name="connsiteY57" fmla="*/ 244933 h 606722"/>
              <a:gd name="connsiteX58" fmla="*/ 87007 w 526630"/>
              <a:gd name="connsiteY58" fmla="*/ 280921 h 606722"/>
              <a:gd name="connsiteX59" fmla="*/ 0 w 526630"/>
              <a:gd name="connsiteY59" fmla="*/ 280921 h 606722"/>
              <a:gd name="connsiteX60" fmla="*/ 170161 w 526630"/>
              <a:gd name="connsiteY60" fmla="*/ 223166 h 606722"/>
              <a:gd name="connsiteX61" fmla="*/ 161972 w 526630"/>
              <a:gd name="connsiteY61" fmla="*/ 262890 h 606722"/>
              <a:gd name="connsiteX62" fmla="*/ 161972 w 526630"/>
              <a:gd name="connsiteY62" fmla="*/ 307857 h 606722"/>
              <a:gd name="connsiteX63" fmla="*/ 237901 w 526630"/>
              <a:gd name="connsiteY63" fmla="*/ 405879 h 606722"/>
              <a:gd name="connsiteX64" fmla="*/ 238079 w 526630"/>
              <a:gd name="connsiteY64" fmla="*/ 405879 h 606722"/>
              <a:gd name="connsiteX65" fmla="*/ 247693 w 526630"/>
              <a:gd name="connsiteY65" fmla="*/ 407834 h 606722"/>
              <a:gd name="connsiteX66" fmla="*/ 248494 w 526630"/>
              <a:gd name="connsiteY66" fmla="*/ 408012 h 606722"/>
              <a:gd name="connsiteX67" fmla="*/ 252322 w 526630"/>
              <a:gd name="connsiteY67" fmla="*/ 408456 h 606722"/>
              <a:gd name="connsiteX68" fmla="*/ 253746 w 526630"/>
              <a:gd name="connsiteY68" fmla="*/ 408634 h 606722"/>
              <a:gd name="connsiteX69" fmla="*/ 257128 w 526630"/>
              <a:gd name="connsiteY69" fmla="*/ 408901 h 606722"/>
              <a:gd name="connsiteX70" fmla="*/ 258553 w 526630"/>
              <a:gd name="connsiteY70" fmla="*/ 408990 h 606722"/>
              <a:gd name="connsiteX71" fmla="*/ 263271 w 526630"/>
              <a:gd name="connsiteY71" fmla="*/ 409079 h 606722"/>
              <a:gd name="connsiteX72" fmla="*/ 268077 w 526630"/>
              <a:gd name="connsiteY72" fmla="*/ 408990 h 606722"/>
              <a:gd name="connsiteX73" fmla="*/ 269502 w 526630"/>
              <a:gd name="connsiteY73" fmla="*/ 408901 h 606722"/>
              <a:gd name="connsiteX74" fmla="*/ 272884 w 526630"/>
              <a:gd name="connsiteY74" fmla="*/ 408634 h 606722"/>
              <a:gd name="connsiteX75" fmla="*/ 274308 w 526630"/>
              <a:gd name="connsiteY75" fmla="*/ 408456 h 606722"/>
              <a:gd name="connsiteX76" fmla="*/ 278136 w 526630"/>
              <a:gd name="connsiteY76" fmla="*/ 408012 h 606722"/>
              <a:gd name="connsiteX77" fmla="*/ 278937 w 526630"/>
              <a:gd name="connsiteY77" fmla="*/ 407834 h 606722"/>
              <a:gd name="connsiteX78" fmla="*/ 288551 w 526630"/>
              <a:gd name="connsiteY78" fmla="*/ 405879 h 606722"/>
              <a:gd name="connsiteX79" fmla="*/ 288640 w 526630"/>
              <a:gd name="connsiteY79" fmla="*/ 405879 h 606722"/>
              <a:gd name="connsiteX80" fmla="*/ 364658 w 526630"/>
              <a:gd name="connsiteY80" fmla="*/ 307857 h 606722"/>
              <a:gd name="connsiteX81" fmla="*/ 364658 w 526630"/>
              <a:gd name="connsiteY81" fmla="*/ 262890 h 606722"/>
              <a:gd name="connsiteX82" fmla="*/ 356469 w 526630"/>
              <a:gd name="connsiteY82" fmla="*/ 223166 h 606722"/>
              <a:gd name="connsiteX83" fmla="*/ 263271 w 526630"/>
              <a:gd name="connsiteY83" fmla="*/ 258180 h 606722"/>
              <a:gd name="connsiteX84" fmla="*/ 170161 w 526630"/>
              <a:gd name="connsiteY84" fmla="*/ 223166 h 606722"/>
              <a:gd name="connsiteX85" fmla="*/ 263271 w 526630"/>
              <a:gd name="connsiteY85" fmla="*/ 161758 h 606722"/>
              <a:gd name="connsiteX86" fmla="*/ 190368 w 526630"/>
              <a:gd name="connsiteY86" fmla="*/ 192773 h 606722"/>
              <a:gd name="connsiteX87" fmla="*/ 263271 w 526630"/>
              <a:gd name="connsiteY87" fmla="*/ 222099 h 606722"/>
              <a:gd name="connsiteX88" fmla="*/ 336263 w 526630"/>
              <a:gd name="connsiteY88" fmla="*/ 192773 h 606722"/>
              <a:gd name="connsiteX89" fmla="*/ 263271 w 526630"/>
              <a:gd name="connsiteY89" fmla="*/ 161758 h 606722"/>
              <a:gd name="connsiteX90" fmla="*/ 263271 w 526630"/>
              <a:gd name="connsiteY90" fmla="*/ 125677 h 606722"/>
              <a:gd name="connsiteX91" fmla="*/ 400798 w 526630"/>
              <a:gd name="connsiteY91" fmla="*/ 262890 h 606722"/>
              <a:gd name="connsiteX92" fmla="*/ 400798 w 526630"/>
              <a:gd name="connsiteY92" fmla="*/ 307857 h 606722"/>
              <a:gd name="connsiteX93" fmla="*/ 398484 w 526630"/>
              <a:gd name="connsiteY93" fmla="*/ 332652 h 606722"/>
              <a:gd name="connsiteX94" fmla="*/ 464177 w 526630"/>
              <a:gd name="connsiteY94" fmla="*/ 378863 h 606722"/>
              <a:gd name="connsiteX95" fmla="*/ 497557 w 526630"/>
              <a:gd name="connsiteY95" fmla="*/ 472708 h 606722"/>
              <a:gd name="connsiteX96" fmla="*/ 497557 w 526630"/>
              <a:gd name="connsiteY96" fmla="*/ 606722 h 606722"/>
              <a:gd name="connsiteX97" fmla="*/ 29073 w 526630"/>
              <a:gd name="connsiteY97" fmla="*/ 606722 h 606722"/>
              <a:gd name="connsiteX98" fmla="*/ 29073 w 526630"/>
              <a:gd name="connsiteY98" fmla="*/ 472708 h 606722"/>
              <a:gd name="connsiteX99" fmla="*/ 62453 w 526630"/>
              <a:gd name="connsiteY99" fmla="*/ 378863 h 606722"/>
              <a:gd name="connsiteX100" fmla="*/ 128057 w 526630"/>
              <a:gd name="connsiteY100" fmla="*/ 332652 h 606722"/>
              <a:gd name="connsiteX101" fmla="*/ 125832 w 526630"/>
              <a:gd name="connsiteY101" fmla="*/ 307857 h 606722"/>
              <a:gd name="connsiteX102" fmla="*/ 125832 w 526630"/>
              <a:gd name="connsiteY102" fmla="*/ 262890 h 606722"/>
              <a:gd name="connsiteX103" fmla="*/ 263271 w 526630"/>
              <a:gd name="connsiteY103" fmla="*/ 125677 h 606722"/>
              <a:gd name="connsiteX104" fmla="*/ 436739 w 526630"/>
              <a:gd name="connsiteY104" fmla="*/ 64285 h 606722"/>
              <a:gd name="connsiteX105" fmla="*/ 462204 w 526630"/>
              <a:gd name="connsiteY105" fmla="*/ 89776 h 606722"/>
              <a:gd name="connsiteX106" fmla="*/ 400680 w 526630"/>
              <a:gd name="connsiteY106" fmla="*/ 151151 h 606722"/>
              <a:gd name="connsiteX107" fmla="*/ 375126 w 526630"/>
              <a:gd name="connsiteY107" fmla="*/ 125660 h 606722"/>
              <a:gd name="connsiteX108" fmla="*/ 89889 w 526630"/>
              <a:gd name="connsiteY108" fmla="*/ 64285 h 606722"/>
              <a:gd name="connsiteX109" fmla="*/ 151363 w 526630"/>
              <a:gd name="connsiteY109" fmla="*/ 125660 h 606722"/>
              <a:gd name="connsiteX110" fmla="*/ 125830 w 526630"/>
              <a:gd name="connsiteY110" fmla="*/ 151151 h 606722"/>
              <a:gd name="connsiteX111" fmla="*/ 64356 w 526630"/>
              <a:gd name="connsiteY111" fmla="*/ 89776 h 606722"/>
              <a:gd name="connsiteX112" fmla="*/ 245286 w 526630"/>
              <a:gd name="connsiteY112" fmla="*/ 0 h 606722"/>
              <a:gd name="connsiteX113" fmla="*/ 281345 w 526630"/>
              <a:gd name="connsiteY113" fmla="*/ 0 h 606722"/>
              <a:gd name="connsiteX114" fmla="*/ 281345 w 526630"/>
              <a:gd name="connsiteY114" fmla="*/ 86937 h 606722"/>
              <a:gd name="connsiteX115" fmla="*/ 245286 w 526630"/>
              <a:gd name="connsiteY115" fmla="*/ 86937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Lst>
            <a:rect l="l" t="t" r="r" b="b"/>
            <a:pathLst>
              <a:path w="526630" h="606722">
                <a:moveTo>
                  <a:pt x="139184" y="367044"/>
                </a:moveTo>
                <a:cubicBezTo>
                  <a:pt x="120313" y="373887"/>
                  <a:pt x="103311" y="385884"/>
                  <a:pt x="90404" y="401702"/>
                </a:cubicBezTo>
                <a:cubicBezTo>
                  <a:pt x="74114" y="421609"/>
                  <a:pt x="65124" y="446848"/>
                  <a:pt x="65124" y="472708"/>
                </a:cubicBezTo>
                <a:lnTo>
                  <a:pt x="65124" y="570641"/>
                </a:lnTo>
                <a:lnTo>
                  <a:pt x="159034" y="570641"/>
                </a:lnTo>
                <a:cubicBezTo>
                  <a:pt x="156809" y="564687"/>
                  <a:pt x="155563" y="558289"/>
                  <a:pt x="155563" y="551535"/>
                </a:cubicBezTo>
                <a:cubicBezTo>
                  <a:pt x="155563" y="544781"/>
                  <a:pt x="156809" y="538382"/>
                  <a:pt x="159034" y="532428"/>
                </a:cubicBezTo>
                <a:lnTo>
                  <a:pt x="107495" y="532428"/>
                </a:lnTo>
                <a:lnTo>
                  <a:pt x="107495" y="462311"/>
                </a:lnTo>
                <a:lnTo>
                  <a:pt x="143546" y="462311"/>
                </a:lnTo>
                <a:lnTo>
                  <a:pt x="143546" y="496347"/>
                </a:lnTo>
                <a:lnTo>
                  <a:pt x="210841" y="496347"/>
                </a:lnTo>
                <a:lnTo>
                  <a:pt x="383084" y="496347"/>
                </a:lnTo>
                <a:lnTo>
                  <a:pt x="383084" y="462311"/>
                </a:lnTo>
                <a:lnTo>
                  <a:pt x="419135" y="462311"/>
                </a:lnTo>
                <a:lnTo>
                  <a:pt x="419135" y="532428"/>
                </a:lnTo>
                <a:lnTo>
                  <a:pt x="210841" y="532428"/>
                </a:lnTo>
                <a:cubicBezTo>
                  <a:pt x="200248" y="532428"/>
                  <a:pt x="191703" y="540959"/>
                  <a:pt x="191703" y="551535"/>
                </a:cubicBezTo>
                <a:cubicBezTo>
                  <a:pt x="191703" y="562110"/>
                  <a:pt x="200248" y="570641"/>
                  <a:pt x="210841" y="570641"/>
                </a:cubicBezTo>
                <a:lnTo>
                  <a:pt x="461417" y="570641"/>
                </a:lnTo>
                <a:lnTo>
                  <a:pt x="461506" y="570641"/>
                </a:lnTo>
                <a:lnTo>
                  <a:pt x="461506" y="472708"/>
                </a:lnTo>
                <a:cubicBezTo>
                  <a:pt x="461506" y="446848"/>
                  <a:pt x="452516" y="421609"/>
                  <a:pt x="436137" y="401702"/>
                </a:cubicBezTo>
                <a:cubicBezTo>
                  <a:pt x="423319" y="385884"/>
                  <a:pt x="406317" y="373887"/>
                  <a:pt x="387357" y="367044"/>
                </a:cubicBezTo>
                <a:cubicBezTo>
                  <a:pt x="369376" y="404902"/>
                  <a:pt x="335105" y="432095"/>
                  <a:pt x="294693" y="441516"/>
                </a:cubicBezTo>
                <a:cubicBezTo>
                  <a:pt x="294515" y="441516"/>
                  <a:pt x="294337" y="441604"/>
                  <a:pt x="294159" y="441604"/>
                </a:cubicBezTo>
                <a:cubicBezTo>
                  <a:pt x="293268" y="441871"/>
                  <a:pt x="292289" y="442049"/>
                  <a:pt x="291399" y="442226"/>
                </a:cubicBezTo>
                <a:cubicBezTo>
                  <a:pt x="290865" y="442315"/>
                  <a:pt x="290331" y="442404"/>
                  <a:pt x="289797" y="442582"/>
                </a:cubicBezTo>
                <a:cubicBezTo>
                  <a:pt x="288818" y="442760"/>
                  <a:pt x="287839" y="442937"/>
                  <a:pt x="286770" y="443115"/>
                </a:cubicBezTo>
                <a:cubicBezTo>
                  <a:pt x="285791" y="443293"/>
                  <a:pt x="284812" y="443471"/>
                  <a:pt x="283744" y="443560"/>
                </a:cubicBezTo>
                <a:cubicBezTo>
                  <a:pt x="283210" y="443648"/>
                  <a:pt x="282676" y="443737"/>
                  <a:pt x="282053" y="443826"/>
                </a:cubicBezTo>
                <a:cubicBezTo>
                  <a:pt x="281073" y="444004"/>
                  <a:pt x="280183" y="444093"/>
                  <a:pt x="279204" y="444182"/>
                </a:cubicBezTo>
                <a:cubicBezTo>
                  <a:pt x="278670" y="444270"/>
                  <a:pt x="278225" y="444270"/>
                  <a:pt x="277780" y="444359"/>
                </a:cubicBezTo>
                <a:cubicBezTo>
                  <a:pt x="276356" y="444537"/>
                  <a:pt x="274931" y="444626"/>
                  <a:pt x="273596" y="444715"/>
                </a:cubicBezTo>
                <a:cubicBezTo>
                  <a:pt x="273240" y="444804"/>
                  <a:pt x="272884" y="444804"/>
                  <a:pt x="272528" y="444804"/>
                </a:cubicBezTo>
                <a:cubicBezTo>
                  <a:pt x="271371" y="444893"/>
                  <a:pt x="270214" y="444981"/>
                  <a:pt x="269056" y="444981"/>
                </a:cubicBezTo>
                <a:cubicBezTo>
                  <a:pt x="268611" y="444981"/>
                  <a:pt x="268166" y="445070"/>
                  <a:pt x="267810" y="445070"/>
                </a:cubicBezTo>
                <a:cubicBezTo>
                  <a:pt x="266297" y="445070"/>
                  <a:pt x="264784" y="445159"/>
                  <a:pt x="263271" y="445159"/>
                </a:cubicBezTo>
                <a:cubicBezTo>
                  <a:pt x="261846" y="445159"/>
                  <a:pt x="260333" y="445070"/>
                  <a:pt x="258820" y="445070"/>
                </a:cubicBezTo>
                <a:cubicBezTo>
                  <a:pt x="258464" y="444981"/>
                  <a:pt x="258019" y="444981"/>
                  <a:pt x="257574" y="444981"/>
                </a:cubicBezTo>
                <a:cubicBezTo>
                  <a:pt x="256416" y="444981"/>
                  <a:pt x="255259" y="444893"/>
                  <a:pt x="254013" y="444804"/>
                </a:cubicBezTo>
                <a:cubicBezTo>
                  <a:pt x="253746" y="444804"/>
                  <a:pt x="253390" y="444804"/>
                  <a:pt x="253034" y="444715"/>
                </a:cubicBezTo>
                <a:cubicBezTo>
                  <a:pt x="251610" y="444626"/>
                  <a:pt x="250274" y="444537"/>
                  <a:pt x="248850" y="444359"/>
                </a:cubicBezTo>
                <a:cubicBezTo>
                  <a:pt x="248405" y="444270"/>
                  <a:pt x="247871" y="444270"/>
                  <a:pt x="247426" y="444182"/>
                </a:cubicBezTo>
                <a:cubicBezTo>
                  <a:pt x="246447" y="444093"/>
                  <a:pt x="245468" y="444004"/>
                  <a:pt x="244577" y="443826"/>
                </a:cubicBezTo>
                <a:cubicBezTo>
                  <a:pt x="243954" y="443737"/>
                  <a:pt x="243420" y="443648"/>
                  <a:pt x="242797" y="443560"/>
                </a:cubicBezTo>
                <a:cubicBezTo>
                  <a:pt x="241818" y="443471"/>
                  <a:pt x="240839" y="443293"/>
                  <a:pt x="239860" y="443115"/>
                </a:cubicBezTo>
                <a:cubicBezTo>
                  <a:pt x="238791" y="442937"/>
                  <a:pt x="237812" y="442760"/>
                  <a:pt x="236833" y="442582"/>
                </a:cubicBezTo>
                <a:cubicBezTo>
                  <a:pt x="236299" y="442404"/>
                  <a:pt x="235765" y="442315"/>
                  <a:pt x="235231" y="442226"/>
                </a:cubicBezTo>
                <a:cubicBezTo>
                  <a:pt x="234252" y="442049"/>
                  <a:pt x="233362" y="441871"/>
                  <a:pt x="232471" y="441604"/>
                </a:cubicBezTo>
                <a:cubicBezTo>
                  <a:pt x="232293" y="441604"/>
                  <a:pt x="232115" y="441516"/>
                  <a:pt x="231937" y="441516"/>
                </a:cubicBezTo>
                <a:cubicBezTo>
                  <a:pt x="191525" y="432095"/>
                  <a:pt x="157254" y="404902"/>
                  <a:pt x="139184" y="367044"/>
                </a:cubicBezTo>
                <a:close/>
                <a:moveTo>
                  <a:pt x="439552" y="244933"/>
                </a:moveTo>
                <a:lnTo>
                  <a:pt x="526630" y="244933"/>
                </a:lnTo>
                <a:lnTo>
                  <a:pt x="526630" y="280921"/>
                </a:lnTo>
                <a:lnTo>
                  <a:pt x="439552" y="280921"/>
                </a:lnTo>
                <a:close/>
                <a:moveTo>
                  <a:pt x="0" y="244933"/>
                </a:moveTo>
                <a:lnTo>
                  <a:pt x="87007" y="244933"/>
                </a:lnTo>
                <a:lnTo>
                  <a:pt x="87007" y="280921"/>
                </a:lnTo>
                <a:lnTo>
                  <a:pt x="0" y="280921"/>
                </a:lnTo>
                <a:close/>
                <a:moveTo>
                  <a:pt x="170161" y="223166"/>
                </a:moveTo>
                <a:cubicBezTo>
                  <a:pt x="164909" y="235341"/>
                  <a:pt x="161972" y="248760"/>
                  <a:pt x="161972" y="262890"/>
                </a:cubicBezTo>
                <a:lnTo>
                  <a:pt x="161972" y="307857"/>
                </a:lnTo>
                <a:cubicBezTo>
                  <a:pt x="161972" y="354958"/>
                  <a:pt x="194284" y="394593"/>
                  <a:pt x="237901" y="405879"/>
                </a:cubicBezTo>
                <a:cubicBezTo>
                  <a:pt x="237990" y="405879"/>
                  <a:pt x="237990" y="405879"/>
                  <a:pt x="238079" y="405879"/>
                </a:cubicBezTo>
                <a:cubicBezTo>
                  <a:pt x="241195" y="406679"/>
                  <a:pt x="244399" y="407390"/>
                  <a:pt x="247693" y="407834"/>
                </a:cubicBezTo>
                <a:cubicBezTo>
                  <a:pt x="247960" y="407923"/>
                  <a:pt x="248227" y="407923"/>
                  <a:pt x="248494" y="408012"/>
                </a:cubicBezTo>
                <a:cubicBezTo>
                  <a:pt x="249740" y="408190"/>
                  <a:pt x="250986" y="408368"/>
                  <a:pt x="252322" y="408456"/>
                </a:cubicBezTo>
                <a:cubicBezTo>
                  <a:pt x="252767" y="408545"/>
                  <a:pt x="253212" y="408545"/>
                  <a:pt x="253746" y="408634"/>
                </a:cubicBezTo>
                <a:cubicBezTo>
                  <a:pt x="254903" y="408723"/>
                  <a:pt x="255971" y="408812"/>
                  <a:pt x="257128" y="408901"/>
                </a:cubicBezTo>
                <a:cubicBezTo>
                  <a:pt x="257574" y="408901"/>
                  <a:pt x="258108" y="408901"/>
                  <a:pt x="258553" y="408990"/>
                </a:cubicBezTo>
                <a:cubicBezTo>
                  <a:pt x="260155" y="408990"/>
                  <a:pt x="261668" y="409079"/>
                  <a:pt x="263271" y="409079"/>
                </a:cubicBezTo>
                <a:cubicBezTo>
                  <a:pt x="264873" y="409079"/>
                  <a:pt x="266475" y="408990"/>
                  <a:pt x="268077" y="408990"/>
                </a:cubicBezTo>
                <a:cubicBezTo>
                  <a:pt x="268522" y="408901"/>
                  <a:pt x="268967" y="408901"/>
                  <a:pt x="269502" y="408901"/>
                </a:cubicBezTo>
                <a:cubicBezTo>
                  <a:pt x="270570" y="408812"/>
                  <a:pt x="271727" y="408723"/>
                  <a:pt x="272884" y="408634"/>
                </a:cubicBezTo>
                <a:cubicBezTo>
                  <a:pt x="273329" y="408545"/>
                  <a:pt x="273863" y="408545"/>
                  <a:pt x="274308" y="408456"/>
                </a:cubicBezTo>
                <a:cubicBezTo>
                  <a:pt x="275555" y="408368"/>
                  <a:pt x="276890" y="408190"/>
                  <a:pt x="278136" y="408012"/>
                </a:cubicBezTo>
                <a:cubicBezTo>
                  <a:pt x="278403" y="407923"/>
                  <a:pt x="278670" y="407923"/>
                  <a:pt x="278937" y="407834"/>
                </a:cubicBezTo>
                <a:cubicBezTo>
                  <a:pt x="282142" y="407390"/>
                  <a:pt x="285435" y="406679"/>
                  <a:pt x="288551" y="405879"/>
                </a:cubicBezTo>
                <a:cubicBezTo>
                  <a:pt x="288551" y="405879"/>
                  <a:pt x="288640" y="405879"/>
                  <a:pt x="288640" y="405879"/>
                </a:cubicBezTo>
                <a:cubicBezTo>
                  <a:pt x="332346" y="394593"/>
                  <a:pt x="364658" y="354958"/>
                  <a:pt x="364658" y="307857"/>
                </a:cubicBezTo>
                <a:lnTo>
                  <a:pt x="364658" y="262890"/>
                </a:lnTo>
                <a:cubicBezTo>
                  <a:pt x="364658" y="248760"/>
                  <a:pt x="361721" y="235341"/>
                  <a:pt x="356469" y="223166"/>
                </a:cubicBezTo>
                <a:cubicBezTo>
                  <a:pt x="330922" y="245649"/>
                  <a:pt x="298075" y="258180"/>
                  <a:pt x="263271" y="258180"/>
                </a:cubicBezTo>
                <a:cubicBezTo>
                  <a:pt x="228466" y="258180"/>
                  <a:pt x="195708" y="245649"/>
                  <a:pt x="170161" y="223166"/>
                </a:cubicBezTo>
                <a:close/>
                <a:moveTo>
                  <a:pt x="263271" y="161758"/>
                </a:moveTo>
                <a:cubicBezTo>
                  <a:pt x="234697" y="161758"/>
                  <a:pt x="208794" y="173666"/>
                  <a:pt x="190368" y="192773"/>
                </a:cubicBezTo>
                <a:cubicBezTo>
                  <a:pt x="209862" y="211524"/>
                  <a:pt x="235765" y="222099"/>
                  <a:pt x="263271" y="222099"/>
                </a:cubicBezTo>
                <a:cubicBezTo>
                  <a:pt x="290865" y="222099"/>
                  <a:pt x="316768" y="211524"/>
                  <a:pt x="336263" y="192773"/>
                </a:cubicBezTo>
                <a:cubicBezTo>
                  <a:pt x="317747" y="173666"/>
                  <a:pt x="291933" y="161758"/>
                  <a:pt x="263271" y="161758"/>
                </a:cubicBezTo>
                <a:close/>
                <a:moveTo>
                  <a:pt x="263271" y="125677"/>
                </a:moveTo>
                <a:cubicBezTo>
                  <a:pt x="339111" y="125677"/>
                  <a:pt x="400798" y="187263"/>
                  <a:pt x="400798" y="262890"/>
                </a:cubicBezTo>
                <a:lnTo>
                  <a:pt x="400798" y="307857"/>
                </a:lnTo>
                <a:cubicBezTo>
                  <a:pt x="400798" y="316389"/>
                  <a:pt x="399997" y="324654"/>
                  <a:pt x="398484" y="332652"/>
                </a:cubicBezTo>
                <a:cubicBezTo>
                  <a:pt x="424031" y="341716"/>
                  <a:pt x="446908" y="357713"/>
                  <a:pt x="464177" y="378863"/>
                </a:cubicBezTo>
                <a:cubicBezTo>
                  <a:pt x="485718" y="405257"/>
                  <a:pt x="497557" y="438583"/>
                  <a:pt x="497557" y="472708"/>
                </a:cubicBezTo>
                <a:lnTo>
                  <a:pt x="497557" y="606722"/>
                </a:lnTo>
                <a:lnTo>
                  <a:pt x="29073" y="606722"/>
                </a:lnTo>
                <a:lnTo>
                  <a:pt x="29073" y="472708"/>
                </a:lnTo>
                <a:cubicBezTo>
                  <a:pt x="29073" y="438583"/>
                  <a:pt x="40912" y="405257"/>
                  <a:pt x="62453" y="378863"/>
                </a:cubicBezTo>
                <a:cubicBezTo>
                  <a:pt x="79722" y="357713"/>
                  <a:pt x="102599" y="341716"/>
                  <a:pt x="128057" y="332652"/>
                </a:cubicBezTo>
                <a:cubicBezTo>
                  <a:pt x="126633" y="324654"/>
                  <a:pt x="125832" y="316389"/>
                  <a:pt x="125832" y="307857"/>
                </a:cubicBezTo>
                <a:lnTo>
                  <a:pt x="125832" y="262890"/>
                </a:lnTo>
                <a:cubicBezTo>
                  <a:pt x="125832" y="187263"/>
                  <a:pt x="187519" y="125677"/>
                  <a:pt x="263271" y="125677"/>
                </a:cubicBezTo>
                <a:close/>
                <a:moveTo>
                  <a:pt x="436739" y="64285"/>
                </a:moveTo>
                <a:lnTo>
                  <a:pt x="462204" y="89776"/>
                </a:lnTo>
                <a:lnTo>
                  <a:pt x="400680" y="151151"/>
                </a:lnTo>
                <a:lnTo>
                  <a:pt x="375126" y="125660"/>
                </a:lnTo>
                <a:close/>
                <a:moveTo>
                  <a:pt x="89889" y="64285"/>
                </a:moveTo>
                <a:lnTo>
                  <a:pt x="151363" y="125660"/>
                </a:lnTo>
                <a:lnTo>
                  <a:pt x="125830" y="151151"/>
                </a:lnTo>
                <a:lnTo>
                  <a:pt x="64356" y="89776"/>
                </a:lnTo>
                <a:close/>
                <a:moveTo>
                  <a:pt x="245286" y="0"/>
                </a:moveTo>
                <a:lnTo>
                  <a:pt x="281345" y="0"/>
                </a:lnTo>
                <a:lnTo>
                  <a:pt x="281345" y="86937"/>
                </a:lnTo>
                <a:lnTo>
                  <a:pt x="245286" y="86937"/>
                </a:lnTo>
                <a:close/>
              </a:path>
            </a:pathLst>
          </a:custGeom>
          <a:solidFill>
            <a:srgbClr val="D9793F"/>
          </a:solidFill>
          <a:ln>
            <a:noFill/>
          </a:ln>
        </p:spPr>
      </p:sp>
      <p:sp>
        <p:nvSpPr>
          <p:cNvPr id="3" name="文本框 2"/>
          <p:cNvSpPr txBox="1"/>
          <p:nvPr/>
        </p:nvSpPr>
        <p:spPr>
          <a:xfrm>
            <a:off x="2383790" y="2211705"/>
            <a:ext cx="7285355" cy="2572385"/>
          </a:xfrm>
          <a:prstGeom prst="rect">
            <a:avLst/>
          </a:prstGeom>
          <a:noFill/>
        </p:spPr>
        <p:txBody>
          <a:bodyPr wrap="square" rtlCol="0" anchor="t">
            <a:noAutofit/>
          </a:bodyPr>
          <a:lstStyle/>
          <a:p>
            <a:pPr indent="0" fontAlgn="auto">
              <a:lnSpc>
                <a:spcPct val="150000"/>
              </a:lnSpc>
            </a:pPr>
            <a:r>
              <a:rPr sz="2000" dirty="0">
                <a:latin typeface="微软雅黑" panose="020B0503020204020204" charset="-122"/>
                <a:ea typeface="微软雅黑" panose="020B0503020204020204" charset="-122"/>
                <a:cs typeface="微软雅黑" panose="020B0503020204020204" charset="-122"/>
              </a:rPr>
              <a:t>1.</a:t>
            </a:r>
            <a:r>
              <a:rPr lang="en-US" sz="2000" dirty="0">
                <a:latin typeface="微软雅黑" panose="020B0503020204020204" charset="-122"/>
                <a:ea typeface="微软雅黑" panose="020B0503020204020204" charset="-122"/>
                <a:cs typeface="微软雅黑" panose="020B0503020204020204" charset="-122"/>
              </a:rPr>
              <a:t> </a:t>
            </a:r>
            <a:r>
              <a:rPr sz="2000" dirty="0">
                <a:latin typeface="微软雅黑" panose="020B0503020204020204" charset="-122"/>
                <a:ea typeface="微软雅黑" panose="020B0503020204020204" charset="-122"/>
                <a:cs typeface="微软雅黑" panose="020B0503020204020204" charset="-122"/>
              </a:rPr>
              <a:t>如何理解犯罪客体在犯罪构成中的地位和作用?</a:t>
            </a:r>
          </a:p>
          <a:p>
            <a:pPr indent="0" fontAlgn="auto">
              <a:lnSpc>
                <a:spcPct val="150000"/>
              </a:lnSpc>
            </a:pPr>
            <a:r>
              <a:rPr sz="2000" dirty="0">
                <a:latin typeface="微软雅黑" panose="020B0503020204020204" charset="-122"/>
                <a:ea typeface="微软雅黑" panose="020B0503020204020204" charset="-122"/>
                <a:cs typeface="微软雅黑" panose="020B0503020204020204" charset="-122"/>
              </a:rPr>
              <a:t>2.</a:t>
            </a:r>
            <a:r>
              <a:rPr lang="en-US" sz="2000" dirty="0">
                <a:latin typeface="微软雅黑" panose="020B0503020204020204" charset="-122"/>
                <a:ea typeface="微软雅黑" panose="020B0503020204020204" charset="-122"/>
                <a:cs typeface="微软雅黑" panose="020B0503020204020204" charset="-122"/>
              </a:rPr>
              <a:t> </a:t>
            </a:r>
            <a:r>
              <a:rPr sz="2000" dirty="0">
                <a:latin typeface="微软雅黑" panose="020B0503020204020204" charset="-122"/>
                <a:ea typeface="微软雅黑" panose="020B0503020204020204" charset="-122"/>
                <a:cs typeface="微软雅黑" panose="020B0503020204020204" charset="-122"/>
              </a:rPr>
              <a:t>犯罪对象与犯罪客体的关系是什么?</a:t>
            </a:r>
          </a:p>
          <a:p>
            <a:pPr indent="0" fontAlgn="auto">
              <a:lnSpc>
                <a:spcPct val="150000"/>
              </a:lnSpc>
            </a:pPr>
            <a:r>
              <a:rPr sz="2000" dirty="0">
                <a:latin typeface="微软雅黑" panose="020B0503020204020204" charset="-122"/>
                <a:ea typeface="微软雅黑" panose="020B0503020204020204" charset="-122"/>
                <a:cs typeface="微软雅黑" panose="020B0503020204020204" charset="-122"/>
              </a:rPr>
              <a:t>3.</a:t>
            </a:r>
            <a:r>
              <a:rPr lang="en-US" sz="2000" dirty="0">
                <a:latin typeface="微软雅黑" panose="020B0503020204020204" charset="-122"/>
                <a:ea typeface="微软雅黑" panose="020B0503020204020204" charset="-122"/>
                <a:cs typeface="微软雅黑" panose="020B0503020204020204" charset="-122"/>
              </a:rPr>
              <a:t> </a:t>
            </a:r>
            <a:r>
              <a:rPr sz="2000" dirty="0">
                <a:latin typeface="微软雅黑" panose="020B0503020204020204" charset="-122"/>
                <a:ea typeface="微软雅黑" panose="020B0503020204020204" charset="-122"/>
                <a:cs typeface="微软雅黑" panose="020B0503020204020204" charset="-122"/>
              </a:rPr>
              <a:t>我国刑法分则的罪名是按照什么标准进行分类的?</a:t>
            </a:r>
          </a:p>
        </p:txBody>
      </p:sp>
      <p:sp>
        <p:nvSpPr>
          <p:cNvPr id="4" name="文本框 3"/>
          <p:cNvSpPr txBox="1"/>
          <p:nvPr/>
        </p:nvSpPr>
        <p:spPr>
          <a:xfrm>
            <a:off x="1926590" y="1230630"/>
            <a:ext cx="1208405" cy="460375"/>
          </a:xfrm>
          <a:prstGeom prst="rect">
            <a:avLst/>
          </a:prstGeom>
          <a:noFill/>
        </p:spPr>
        <p:txBody>
          <a:bodyPr wrap="square" rtlCol="0">
            <a:spAutoFit/>
          </a:bodyPr>
          <a:lstStyle/>
          <a:p>
            <a:r>
              <a:rPr lang="zh-CN" altLang="en-US" sz="2400" b="1" dirty="0">
                <a:latin typeface="微软雅黑" panose="020B0503020204020204" charset="-122"/>
                <a:ea typeface="微软雅黑" panose="020B0503020204020204" charset="-122"/>
                <a:cs typeface="宋体" panose="02010600030101010101" pitchFamily="2" charset="-122"/>
              </a:rPr>
              <a:t>思考题</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mE4YWE2NWM2NjkyMzUxOGRkNDNkNjJlMmYxYjJlZDk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PA" val="v3.2.0"/>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PA" val="v3.2.0"/>
</p:tagLst>
</file>

<file path=ppt/tags/tag11.xml><?xml version="1.0" encoding="utf-8"?>
<p:tagLst xmlns:a="http://schemas.openxmlformats.org/drawingml/2006/main" xmlns:r="http://schemas.openxmlformats.org/officeDocument/2006/relationships" xmlns:p="http://schemas.openxmlformats.org/presentationml/2006/main">
  <p:tag name="PA" val="v3.2.0"/>
</p:tagLst>
</file>

<file path=ppt/tags/tag12.xml><?xml version="1.0" encoding="utf-8"?>
<p:tagLst xmlns:a="http://schemas.openxmlformats.org/drawingml/2006/main" xmlns:r="http://schemas.openxmlformats.org/officeDocument/2006/relationships" xmlns:p="http://schemas.openxmlformats.org/presentationml/2006/main">
  <p:tag name="PA" val="v3.2.0"/>
</p:tagLst>
</file>

<file path=ppt/tags/tag13.xml><?xml version="1.0" encoding="utf-8"?>
<p:tagLst xmlns:a="http://schemas.openxmlformats.org/drawingml/2006/main" xmlns:r="http://schemas.openxmlformats.org/officeDocument/2006/relationships" xmlns:p="http://schemas.openxmlformats.org/presentationml/2006/main">
  <p:tag name="PA" val="v3.2.0"/>
</p:tagLst>
</file>

<file path=ppt/tags/tag14.xml><?xml version="1.0" encoding="utf-8"?>
<p:tagLst xmlns:a="http://schemas.openxmlformats.org/drawingml/2006/main" xmlns:r="http://schemas.openxmlformats.org/officeDocument/2006/relationships" xmlns:p="http://schemas.openxmlformats.org/presentationml/2006/main">
  <p:tag name="PA" val="v3.2.0"/>
</p:tagLst>
</file>

<file path=ppt/tags/tag15.xml><?xml version="1.0" encoding="utf-8"?>
<p:tagLst xmlns:a="http://schemas.openxmlformats.org/drawingml/2006/main" xmlns:r="http://schemas.openxmlformats.org/officeDocument/2006/relationships" xmlns:p="http://schemas.openxmlformats.org/presentationml/2006/main">
  <p:tag name="PA" val="v3.2.0"/>
</p:tagLst>
</file>

<file path=ppt/tags/tag16.xml><?xml version="1.0" encoding="utf-8"?>
<p:tagLst xmlns:a="http://schemas.openxmlformats.org/drawingml/2006/main" xmlns:r="http://schemas.openxmlformats.org/officeDocument/2006/relationships" xmlns:p="http://schemas.openxmlformats.org/presentationml/2006/main">
  <p:tag name="PA" val="v3.2.0"/>
</p:tagLst>
</file>

<file path=ppt/tags/tag17.xml><?xml version="1.0" encoding="utf-8"?>
<p:tagLst xmlns:a="http://schemas.openxmlformats.org/drawingml/2006/main" xmlns:r="http://schemas.openxmlformats.org/officeDocument/2006/relationships" xmlns:p="http://schemas.openxmlformats.org/presentationml/2006/main">
  <p:tag name="PA" val="v3.2.0"/>
</p:tagLst>
</file>

<file path=ppt/tags/tag18.xml><?xml version="1.0" encoding="utf-8"?>
<p:tagLst xmlns:a="http://schemas.openxmlformats.org/drawingml/2006/main" xmlns:r="http://schemas.openxmlformats.org/officeDocument/2006/relationships" xmlns:p="http://schemas.openxmlformats.org/presentationml/2006/main">
  <p:tag name="PA" val="v3.2.0"/>
</p:tagLst>
</file>

<file path=ppt/tags/tag19.xml><?xml version="1.0" encoding="utf-8"?>
<p:tagLst xmlns:a="http://schemas.openxmlformats.org/drawingml/2006/main" xmlns:r="http://schemas.openxmlformats.org/officeDocument/2006/relationships" xmlns:p="http://schemas.openxmlformats.org/presentationml/2006/main">
  <p:tag name="PA" val="v3.2.0"/>
</p:tagLst>
</file>

<file path=ppt/tags/tag20.xml><?xml version="1.0" encoding="utf-8"?>
<p:tagLst xmlns:a="http://schemas.openxmlformats.org/drawingml/2006/main" xmlns:r="http://schemas.openxmlformats.org/officeDocument/2006/relationships" xmlns:p="http://schemas.openxmlformats.org/presentationml/2006/main">
  <p:tag name="PA" val="v3.2.0"/>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PA" val="v3.2.0"/>
</p:tagLst>
</file>

<file path=ppt/tags/tag23.xml><?xml version="1.0" encoding="utf-8"?>
<p:tagLst xmlns:a="http://schemas.openxmlformats.org/drawingml/2006/main" xmlns:r="http://schemas.openxmlformats.org/officeDocument/2006/relationships" xmlns:p="http://schemas.openxmlformats.org/presentationml/2006/main">
  <p:tag name="PA" val="v3.2.0"/>
</p:tagLst>
</file>

<file path=ppt/tags/tag24.xml><?xml version="1.0" encoding="utf-8"?>
<p:tagLst xmlns:a="http://schemas.openxmlformats.org/drawingml/2006/main" xmlns:r="http://schemas.openxmlformats.org/officeDocument/2006/relationships" xmlns:p="http://schemas.openxmlformats.org/presentationml/2006/main">
  <p:tag name="PA" val="v3.2.0"/>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PA" val="v3.2.0"/>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PA" val="v3.2.0"/>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PA" val="v3.2.0"/>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PA" val="v3.2.0"/>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PA" val="v3.2.0"/>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PA" val="v3.2.0"/>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PA" val="v3.2.0"/>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WPS">
  <a:themeElements>
    <a:clrScheme name="WPS">
      <a:dk1>
        <a:srgbClr val="000000"/>
      </a:dk1>
      <a:lt1>
        <a:srgbClr val="FFFFFF"/>
      </a:lt1>
      <a:dk2>
        <a:srgbClr val="0F1423"/>
      </a:dk2>
      <a:lt2>
        <a:srgbClr val="FFFFFF"/>
      </a:lt2>
      <a:accent1>
        <a:srgbClr val="4874CB"/>
      </a:accent1>
      <a:accent2>
        <a:srgbClr val="E6724B"/>
      </a:accent2>
      <a:accent3>
        <a:srgbClr val="EFBB1F"/>
      </a:accent3>
      <a:accent4>
        <a:srgbClr val="75BD42"/>
      </a:accent4>
      <a:accent5>
        <a:srgbClr val="30C0B4"/>
      </a:accent5>
      <a:accent6>
        <a:srgbClr val="E05269"/>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963</Words>
  <Application>Microsoft Office PowerPoint</Application>
  <PresentationFormat>宽屏</PresentationFormat>
  <Paragraphs>144</Paragraphs>
  <Slides>27</Slides>
  <Notes>0</Notes>
  <HiddenSlides>0</HiddenSlides>
  <MMClips>1</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27</vt:i4>
      </vt:variant>
    </vt:vector>
  </HeadingPairs>
  <TitlesOfParts>
    <vt:vector size="37" baseType="lpstr">
      <vt:lpstr>Roboto</vt:lpstr>
      <vt:lpstr>黑体</vt:lpstr>
      <vt:lpstr>华文新魏</vt:lpstr>
      <vt:lpstr>华文中宋</vt:lpstr>
      <vt:lpstr>宋体</vt:lpstr>
      <vt:lpstr>微软雅黑</vt:lpstr>
      <vt:lpstr>Arial</vt:lpstr>
      <vt:lpstr>Calibri</vt:lpstr>
      <vt:lpstr>Impact</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LGY</cp:lastModifiedBy>
  <cp:revision>74</cp:revision>
  <dcterms:created xsi:type="dcterms:W3CDTF">2023-08-16T07:12:00Z</dcterms:created>
  <dcterms:modified xsi:type="dcterms:W3CDTF">2025-03-04T03:09:04Z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8383DDCCF30042A584CFA260C3A6334A_12</vt:lpwstr>
  </property>
  <property fmtid="{D5CDD505-2E9C-101B-9397-08002B2CF9AE}" pid="3" name="KSOProductBuildVer">
    <vt:lpwstr>2052-12.1.0.15120</vt:lpwstr>
  </property>
</Properties>
</file>