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67"/>
  </p:handoutMasterIdLst>
  <p:sldIdLst>
    <p:sldId id="260" r:id="rId2"/>
    <p:sldId id="486" r:id="rId3"/>
    <p:sldId id="487" r:id="rId4"/>
    <p:sldId id="488" r:id="rId5"/>
    <p:sldId id="489" r:id="rId6"/>
    <p:sldId id="303" r:id="rId7"/>
    <p:sldId id="302" r:id="rId8"/>
    <p:sldId id="284" r:id="rId9"/>
    <p:sldId id="300" r:id="rId10"/>
    <p:sldId id="343" r:id="rId11"/>
    <p:sldId id="347" r:id="rId12"/>
    <p:sldId id="344" r:id="rId13"/>
    <p:sldId id="345" r:id="rId14"/>
    <p:sldId id="346" r:id="rId15"/>
    <p:sldId id="348" r:id="rId16"/>
    <p:sldId id="349" r:id="rId17"/>
    <p:sldId id="342" r:id="rId18"/>
    <p:sldId id="350" r:id="rId19"/>
    <p:sldId id="351" r:id="rId20"/>
    <p:sldId id="352" r:id="rId21"/>
    <p:sldId id="353" r:id="rId22"/>
    <p:sldId id="354" r:id="rId23"/>
    <p:sldId id="355" r:id="rId24"/>
    <p:sldId id="296" r:id="rId25"/>
    <p:sldId id="357" r:id="rId26"/>
    <p:sldId id="358" r:id="rId27"/>
    <p:sldId id="482" r:id="rId28"/>
    <p:sldId id="359" r:id="rId29"/>
    <p:sldId id="483" r:id="rId30"/>
    <p:sldId id="360" r:id="rId31"/>
    <p:sldId id="361" r:id="rId32"/>
    <p:sldId id="382" r:id="rId33"/>
    <p:sldId id="383" r:id="rId34"/>
    <p:sldId id="389" r:id="rId35"/>
    <p:sldId id="390" r:id="rId36"/>
    <p:sldId id="391" r:id="rId37"/>
    <p:sldId id="392" r:id="rId38"/>
    <p:sldId id="393" r:id="rId39"/>
    <p:sldId id="394" r:id="rId40"/>
    <p:sldId id="395" r:id="rId41"/>
    <p:sldId id="485" r:id="rId42"/>
    <p:sldId id="396" r:id="rId43"/>
    <p:sldId id="415" r:id="rId44"/>
    <p:sldId id="416" r:id="rId45"/>
    <p:sldId id="418" r:id="rId46"/>
    <p:sldId id="419" r:id="rId47"/>
    <p:sldId id="421" r:id="rId48"/>
    <p:sldId id="422" r:id="rId49"/>
    <p:sldId id="423" r:id="rId50"/>
    <p:sldId id="441" r:id="rId51"/>
    <p:sldId id="443" r:id="rId52"/>
    <p:sldId id="444" r:id="rId53"/>
    <p:sldId id="446" r:id="rId54"/>
    <p:sldId id="469" r:id="rId55"/>
    <p:sldId id="470" r:id="rId56"/>
    <p:sldId id="471" r:id="rId57"/>
    <p:sldId id="472" r:id="rId58"/>
    <p:sldId id="473" r:id="rId59"/>
    <p:sldId id="474" r:id="rId60"/>
    <p:sldId id="475" r:id="rId61"/>
    <p:sldId id="476" r:id="rId62"/>
    <p:sldId id="477" r:id="rId63"/>
    <p:sldId id="478" r:id="rId64"/>
    <p:sldId id="480" r:id="rId65"/>
    <p:sldId id="397" r:id="rId66"/>
  </p:sldIdLst>
  <p:sldSz cx="12192000" cy="6858000"/>
  <p:notesSz cx="6858000" cy="9144000"/>
  <p:custDataLst>
    <p:tags r:id="rId6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D9793F"/>
    <a:srgbClr val="000000"/>
    <a:srgbClr val="FFFFFF"/>
    <a:srgbClr val="BFBFBF"/>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23" autoAdjust="0"/>
    <p:restoredTop sz="94225" autoAdjust="0"/>
  </p:normalViewPr>
  <p:slideViewPr>
    <p:cSldViewPr snapToGrid="0">
      <p:cViewPr varScale="1">
        <p:scale>
          <a:sx n="91" d="100"/>
          <a:sy n="91" d="100"/>
        </p:scale>
        <p:origin x="72" y="57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2025/2/18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353864657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576428"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314139" y="6384030"/>
              <a:ext cx="627380"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绪论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8.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9.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5.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image" Target="../media/image8.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0.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1.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image" Target="../media/image8.jpe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5.xml"/><Relationship Id="rId1" Type="http://schemas.openxmlformats.org/officeDocument/2006/relationships/tags" Target="../tags/tag54.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7.xml"/><Relationship Id="rId1" Type="http://schemas.openxmlformats.org/officeDocument/2006/relationships/tags" Target="../tags/tag56.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1.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3.xml"/><Relationship Id="rId1" Type="http://schemas.openxmlformats.org/officeDocument/2006/relationships/tags" Target="../tags/tag6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5.xml"/><Relationship Id="rId1" Type="http://schemas.openxmlformats.org/officeDocument/2006/relationships/tags" Target="../tags/tag64.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7.xml"/><Relationship Id="rId1" Type="http://schemas.openxmlformats.org/officeDocument/2006/relationships/tags" Target="../tags/tag66.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9.xml"/><Relationship Id="rId1" Type="http://schemas.openxmlformats.org/officeDocument/2006/relationships/tags" Target="../tags/tag68.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21913" y="2269865"/>
            <a:ext cx="5225207" cy="19553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马克思主义理论研究</a:t>
            </a:r>
            <a:endParaRPr kumimoji="0" lang="en-US" altLang="zh-CN"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835865" y="2997039"/>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smtClean="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9" name="文本框 8"/>
          <p:cNvSpPr txBox="1"/>
          <p:nvPr/>
        </p:nvSpPr>
        <p:spPr>
          <a:xfrm>
            <a:off x="2012846" y="5462404"/>
            <a:ext cx="2811139" cy="338554"/>
          </a:xfrm>
          <a:prstGeom prst="rect">
            <a:avLst/>
          </a:prstGeom>
          <a:noFill/>
        </p:spPr>
        <p:txBody>
          <a:bodyPr wrap="square" rtlCol="0">
            <a:spAutoFit/>
          </a:bodyPr>
          <a:lstStyle/>
          <a:p>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刑法学</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编写组</a:t>
            </a:r>
            <a:endParaRPr lang="zh-CN" altLang="en-US" sz="16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547957" y="2589022"/>
            <a:ext cx="2522220" cy="1309370"/>
          </a:xfrm>
          <a:prstGeom prst="rect">
            <a:avLst/>
          </a:prstGeom>
        </p:spPr>
        <p:txBody>
          <a:bodyPr wrap="none">
            <a:spAutoFit/>
          </a:bodyPr>
          <a:lstStyle/>
          <a:p>
            <a:pPr>
              <a:lnSpc>
                <a:spcPct val="120000"/>
              </a:lnSpc>
            </a:pPr>
            <a:r>
              <a:rPr lang="zh-CN" altLang="en-US" sz="6600" b="1" dirty="0">
                <a:solidFill>
                  <a:srgbClr val="D9793F"/>
                </a:solidFill>
                <a:latin typeface="华文新魏" panose="02010800040101010101" charset="-122"/>
                <a:ea typeface="华文新魏" panose="02010800040101010101" charset="-122"/>
                <a:sym typeface="+mn-ea"/>
              </a:rPr>
              <a:t>绪</a:t>
            </a:r>
            <a:r>
              <a:rPr lang="en-US" altLang="zh-CN" sz="6600" b="1" dirty="0">
                <a:solidFill>
                  <a:srgbClr val="D9793F"/>
                </a:solidFill>
                <a:latin typeface="华文新魏" panose="02010800040101010101" charset="-122"/>
                <a:ea typeface="华文新魏" panose="02010800040101010101" charset="-122"/>
                <a:sym typeface="+mn-ea"/>
              </a:rPr>
              <a:t>  </a:t>
            </a:r>
            <a:r>
              <a:rPr lang="zh-CN" altLang="en-US" sz="6600" b="1" dirty="0">
                <a:solidFill>
                  <a:srgbClr val="D9793F"/>
                </a:solidFill>
                <a:latin typeface="华文新魏" panose="02010800040101010101" charset="-122"/>
                <a:ea typeface="华文新魏" panose="02010800040101010101" charset="-122"/>
                <a:sym typeface="+mn-ea"/>
              </a:rPr>
              <a:t>论</a:t>
            </a:r>
            <a:r>
              <a:rPr lang="zh-CN" altLang="en-US" sz="4000" b="1" dirty="0">
                <a:solidFill>
                  <a:srgbClr val="D9793F"/>
                </a:solidFill>
                <a:latin typeface="华文新魏" panose="02010800040101010101" charset="-122"/>
                <a:ea typeface="华文新魏" panose="02010800040101010101" charset="-122"/>
                <a:sym typeface="+mn-ea"/>
              </a:rPr>
              <a:t>  </a:t>
            </a:r>
          </a:p>
        </p:txBody>
      </p:sp>
      <p:sp>
        <p:nvSpPr>
          <p:cNvPr id="18" name="文本框 17"/>
          <p:cNvSpPr txBox="1"/>
          <p:nvPr/>
        </p:nvSpPr>
        <p:spPr>
          <a:xfrm>
            <a:off x="2227786" y="4286612"/>
            <a:ext cx="1958732" cy="707886"/>
          </a:xfrm>
          <a:prstGeom prst="rect">
            <a:avLst/>
          </a:prstGeom>
          <a:noFill/>
        </p:spPr>
        <p:txBody>
          <a:bodyPr wrap="square" rtlCol="0">
            <a:spAutoFit/>
          </a:bodyPr>
          <a:lstStyle/>
          <a:p>
            <a:r>
              <a:rPr lang="zh-CN" altLang="en-US" sz="2000" dirty="0" smtClean="0">
                <a:solidFill>
                  <a:srgbClr val="D9793F"/>
                </a:solidFill>
                <a:latin typeface="黑体" panose="02010609060101010101" pitchFamily="49" charset="-122"/>
                <a:ea typeface="黑体" panose="02010609060101010101" pitchFamily="49" charset="-122"/>
              </a:rPr>
              <a:t>（上册</a:t>
            </a:r>
            <a:r>
              <a:rPr lang="en-US" altLang="zh-CN" sz="2000" dirty="0" smtClean="0">
                <a:solidFill>
                  <a:srgbClr val="D9793F"/>
                </a:solidFill>
                <a:latin typeface="黑体" panose="02010609060101010101" pitchFamily="49" charset="-122"/>
                <a:ea typeface="黑体" panose="02010609060101010101" pitchFamily="49" charset="-122"/>
              </a:rPr>
              <a:t>·</a:t>
            </a:r>
            <a:r>
              <a:rPr lang="zh-CN" altLang="en-US" sz="2000" dirty="0" smtClean="0">
                <a:solidFill>
                  <a:srgbClr val="D9793F"/>
                </a:solidFill>
                <a:latin typeface="黑体" panose="02010609060101010101" pitchFamily="49" charset="-122"/>
                <a:ea typeface="黑体" panose="02010609060101010101" pitchFamily="49" charset="-122"/>
              </a:rPr>
              <a:t>总论）</a:t>
            </a:r>
            <a:endParaRPr lang="en-US" altLang="zh-CN" sz="2000" dirty="0" smtClean="0">
              <a:solidFill>
                <a:srgbClr val="D9793F"/>
              </a:solidFill>
              <a:latin typeface="黑体" panose="02010609060101010101" pitchFamily="49" charset="-122"/>
              <a:ea typeface="黑体" panose="02010609060101010101" pitchFamily="49" charset="-122"/>
            </a:endParaRPr>
          </a:p>
          <a:p>
            <a:pPr algn="ctr"/>
            <a:r>
              <a:rPr lang="zh-CN" altLang="en-US" sz="2000" dirty="0" smtClean="0">
                <a:solidFill>
                  <a:srgbClr val="D9793F"/>
                </a:solidFill>
                <a:latin typeface="黑体" panose="02010609060101010101" pitchFamily="49" charset="-122"/>
                <a:ea typeface="黑体" panose="02010609060101010101" pitchFamily="49" charset="-122"/>
              </a:rPr>
              <a:t>（第二版）</a:t>
            </a:r>
            <a:endParaRPr lang="zh-CN" altLang="en-US" sz="2000" dirty="0">
              <a:solidFill>
                <a:srgbClr val="D9793F"/>
              </a:solidFill>
              <a:latin typeface="黑体" panose="02010609060101010101" pitchFamily="49" charset="-122"/>
              <a:ea typeface="黑体" panose="02010609060101010101" pitchFamily="49" charset="-122"/>
            </a:endParaRPr>
          </a:p>
        </p:txBody>
      </p:sp>
      <p:sp>
        <p:nvSpPr>
          <p:cNvPr id="23" name="文本框 22"/>
          <p:cNvSpPr txBox="1"/>
          <p:nvPr/>
        </p:nvSpPr>
        <p:spPr>
          <a:xfrm>
            <a:off x="7250010" y="5462404"/>
            <a:ext cx="3599419" cy="338554"/>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刑法总论</a:t>
            </a:r>
            <a:r>
              <a:rPr lang="en-US" altLang="zh-CN" sz="1600" dirty="0" smtClean="0">
                <a:latin typeface="微软雅黑" panose="020B0503020204020204" pitchFamily="34" charset="-122"/>
                <a:ea typeface="微软雅黑" panose="020B0503020204020204" pitchFamily="34" charset="-122"/>
              </a:rPr>
              <a:t>QQ</a:t>
            </a:r>
            <a:r>
              <a:rPr lang="zh-CN" altLang="en-US" sz="1600" dirty="0" smtClean="0">
                <a:latin typeface="微软雅黑" panose="020B0503020204020204" pitchFamily="34" charset="-122"/>
                <a:ea typeface="微软雅黑" panose="020B0503020204020204" pitchFamily="34" charset="-122"/>
              </a:rPr>
              <a:t>学习群：</a:t>
            </a:r>
            <a:r>
              <a:rPr lang="en-US" altLang="zh-CN" sz="1600" b="1" dirty="0" smtClean="0">
                <a:latin typeface="微软雅黑" panose="020B0503020204020204" pitchFamily="34" charset="-122"/>
                <a:ea typeface="微软雅黑" panose="020B0503020204020204" pitchFamily="34" charset="-122"/>
              </a:rPr>
              <a:t>1019764381</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3750"/>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4599"/>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par>
                          <p:cTn id="37" fill="hold">
                            <p:stCondLst>
                              <p:cond delay="5099"/>
                            </p:stCondLst>
                            <p:childTnLst>
                              <p:par>
                                <p:cTn id="38" presetID="10" presetClass="entr" presetSubtype="0" fill="hold" grpId="0" nodeType="afterEffect">
                                  <p:stCondLst>
                                    <p:cond delay="0"/>
                                  </p:stCondLst>
                                  <p:iterate type="wd">
                                    <p:tmPct val="10000"/>
                                  </p:iterate>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par>
                          <p:cTn id="41" fill="hold">
                            <p:stCondLst>
                              <p:cond delay="5999"/>
                            </p:stCondLst>
                            <p:childTnLst>
                              <p:par>
                                <p:cTn id="42" presetID="10" presetClass="entr" presetSubtype="0" fill="hold" grpId="0" nodeType="afterEffect">
                                  <p:stCondLst>
                                    <p:cond delay="0"/>
                                  </p:stCondLst>
                                  <p:iterate type="wd">
                                    <p:tmPct val="10000"/>
                                  </p:iterate>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45"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P spid="18" grpId="0"/>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60494" y="385234"/>
            <a:ext cx="11071013" cy="695062"/>
          </a:xfrm>
          <a:prstGeom prst="rect">
            <a:avLst/>
          </a:prstGeom>
          <a:noFill/>
        </p:spPr>
        <p:txBody>
          <a:bodyPr wrap="square" rtlCol="0">
            <a:spAutoFit/>
          </a:bodyPr>
          <a:lstStyle/>
          <a:p>
            <a:pPr>
              <a:lnSpc>
                <a:spcPts val="4667"/>
              </a:lnSpc>
            </a:pPr>
            <a:r>
              <a:rPr lang="zh-CN" altLang="en-US" sz="4267" b="1" dirty="0"/>
              <a:t>指定教材</a:t>
            </a:r>
            <a:endParaRPr lang="zh-CN" altLang="en-US" sz="4267" b="1" dirty="0">
              <a:effectLst>
                <a:outerShdw blurRad="38100" dist="19050" dir="2700000" algn="tl" rotWithShape="0">
                  <a:schemeClr val="dk1">
                    <a:alpha val="40000"/>
                  </a:schemeClr>
                </a:outerShdw>
              </a:effectLst>
              <a:latin typeface="+mj-ea"/>
              <a:ea typeface="+mj-ea"/>
              <a:sym typeface="+mn-ea"/>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0097" y="1453232"/>
            <a:ext cx="4146196" cy="5280729"/>
          </a:xfrm>
          <a:prstGeom prst="rect">
            <a:avLst/>
          </a:prstGeom>
        </p:spPr>
      </p:pic>
      <p:pic>
        <p:nvPicPr>
          <p:cNvPr id="4" name="图片 3"/>
          <p:cNvPicPr>
            <a:picLocks noChangeAspect="1"/>
          </p:cNvPicPr>
          <p:nvPr/>
        </p:nvPicPr>
        <p:blipFill>
          <a:blip r:embed="rId3"/>
          <a:stretch>
            <a:fillRect/>
          </a:stretch>
        </p:blipFill>
        <p:spPr>
          <a:xfrm>
            <a:off x="957488" y="1453231"/>
            <a:ext cx="4187245" cy="5280729"/>
          </a:xfrm>
          <a:prstGeom prst="rect">
            <a:avLst/>
          </a:prstGeom>
        </p:spPr>
      </p:pic>
    </p:spTree>
    <p:extLst>
      <p:ext uri="{BB962C8B-B14F-4D97-AF65-F5344CB8AC3E}">
        <p14:creationId xmlns:p14="http://schemas.microsoft.com/office/powerpoint/2010/main" val="3757946906"/>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right)">
                                      <p:cBhvr>
                                        <p:cTn id="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560494" y="385234"/>
            <a:ext cx="11071013" cy="695062"/>
          </a:xfrm>
          <a:prstGeom prst="rect">
            <a:avLst/>
          </a:prstGeom>
          <a:noFill/>
        </p:spPr>
        <p:txBody>
          <a:bodyPr wrap="square" rtlCol="0">
            <a:spAutoFit/>
          </a:bodyPr>
          <a:lstStyle/>
          <a:p>
            <a:pPr>
              <a:lnSpc>
                <a:spcPts val="4667"/>
              </a:lnSpc>
            </a:pPr>
            <a:r>
              <a:rPr lang="zh-CN" altLang="en-US" sz="4267" b="1" dirty="0"/>
              <a:t>参考书目</a:t>
            </a:r>
            <a:endParaRPr lang="zh-CN" altLang="en-US" sz="4267" b="1" dirty="0">
              <a:effectLst>
                <a:outerShdw blurRad="38100" dist="19050" dir="2700000" algn="tl" rotWithShape="0">
                  <a:schemeClr val="dk1">
                    <a:alpha val="40000"/>
                  </a:schemeClr>
                </a:outerShdw>
              </a:effectLst>
              <a:latin typeface="+mj-ea"/>
              <a:ea typeface="+mj-ea"/>
              <a:sym typeface="+mn-ea"/>
            </a:endParaRPr>
          </a:p>
        </p:txBody>
      </p:sp>
      <p:sp>
        <p:nvSpPr>
          <p:cNvPr id="2" name="矩形 1"/>
          <p:cNvSpPr/>
          <p:nvPr/>
        </p:nvSpPr>
        <p:spPr>
          <a:xfrm>
            <a:off x="560493" y="1508787"/>
            <a:ext cx="6096000" cy="2390141"/>
          </a:xfrm>
          <a:prstGeom prst="rect">
            <a:avLst/>
          </a:prstGeom>
        </p:spPr>
        <p:txBody>
          <a:bodyPr>
            <a:spAutoFit/>
          </a:bodyPr>
          <a:lstStyle/>
          <a:p>
            <a:r>
              <a:rPr lang="en-US" altLang="zh-CN" sz="3733" b="1" dirty="0">
                <a:latin typeface="Times New Roman" panose="02020603050405020304" pitchFamily="18" charset="0"/>
                <a:cs typeface="Times New Roman" panose="02020603050405020304" pitchFamily="18" charset="0"/>
              </a:rPr>
              <a:t>    1.</a:t>
            </a:r>
            <a:r>
              <a:rPr lang="zh-CN" altLang="en-US" sz="3733" b="1" dirty="0"/>
              <a:t>李立众编：</a:t>
            </a:r>
            <a:r>
              <a:rPr lang="en-US" altLang="zh-CN" sz="3733" b="1" dirty="0"/>
              <a:t>《</a:t>
            </a:r>
            <a:r>
              <a:rPr lang="zh-CN" altLang="en-US" sz="3733" b="1" dirty="0"/>
              <a:t>刑法一本通：中华人民共和国刑法总成</a:t>
            </a:r>
            <a:r>
              <a:rPr lang="en-US" altLang="zh-CN" sz="3733" b="1" dirty="0"/>
              <a:t>》</a:t>
            </a:r>
            <a:r>
              <a:rPr lang="zh-CN" altLang="en-US" sz="3733" b="1" dirty="0"/>
              <a:t>（</a:t>
            </a:r>
            <a:r>
              <a:rPr lang="zh-CN" altLang="en-US" sz="3733" b="1" dirty="0" smtClean="0"/>
              <a:t>第十七版</a:t>
            </a:r>
            <a:r>
              <a:rPr lang="zh-CN" altLang="en-US" sz="3733" b="1" dirty="0"/>
              <a:t>），法律出版社</a:t>
            </a:r>
            <a:r>
              <a:rPr lang="en-US" altLang="zh-CN" sz="3733" b="1" dirty="0" smtClean="0">
                <a:latin typeface="Times New Roman" panose="02020603050405020304" pitchFamily="18" charset="0"/>
                <a:cs typeface="Times New Roman" panose="02020603050405020304" pitchFamily="18" charset="0"/>
              </a:rPr>
              <a:t>2024</a:t>
            </a:r>
            <a:r>
              <a:rPr lang="zh-CN" altLang="en-US" sz="3733" b="1" dirty="0" smtClean="0"/>
              <a:t>年</a:t>
            </a:r>
            <a:r>
              <a:rPr lang="zh-CN" altLang="en-US" sz="3733" b="1" dirty="0"/>
              <a:t>版。</a:t>
            </a:r>
          </a:p>
        </p:txBody>
      </p:sp>
      <p:pic>
        <p:nvPicPr>
          <p:cNvPr id="3" name="图片 2"/>
          <p:cNvPicPr>
            <a:picLocks noChangeAspect="1"/>
          </p:cNvPicPr>
          <p:nvPr/>
        </p:nvPicPr>
        <p:blipFill>
          <a:blip r:embed="rId2"/>
          <a:stretch>
            <a:fillRect/>
          </a:stretch>
        </p:blipFill>
        <p:spPr>
          <a:xfrm>
            <a:off x="7459209" y="936172"/>
            <a:ext cx="4172298" cy="5609772"/>
          </a:xfrm>
          <a:prstGeom prst="rect">
            <a:avLst/>
          </a:prstGeom>
        </p:spPr>
      </p:pic>
    </p:spTree>
    <p:extLst>
      <p:ext uri="{BB962C8B-B14F-4D97-AF65-F5344CB8AC3E}">
        <p14:creationId xmlns:p14="http://schemas.microsoft.com/office/powerpoint/2010/main" val="118569117"/>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ppt_x</p:attrName>
                                        </p:attrNameLst>
                                      </p:cBhvr>
                                      <p:tavLst>
                                        <p:tav tm="0">
                                          <p:val>
                                            <p:strVal val="#ppt_x-#ppt_w*1.125000"/>
                                          </p:val>
                                        </p:tav>
                                        <p:tav tm="100000">
                                          <p:val>
                                            <p:strVal val="#ppt_x"/>
                                          </p:val>
                                        </p:tav>
                                      </p:tavLst>
                                    </p:anim>
                                    <p:animEffect transition="in" filter="wipe(right)">
                                      <p:cBhvr>
                                        <p:cTn id="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7382" y="356660"/>
            <a:ext cx="11104125" cy="6411307"/>
          </a:xfrm>
          <a:prstGeom prst="rect">
            <a:avLst/>
          </a:prstGeom>
        </p:spPr>
        <p:txBody>
          <a:bodyPr wrap="square">
            <a:spAutoFit/>
          </a:bodyPr>
          <a:lstStyle/>
          <a:p>
            <a:r>
              <a:rPr lang="en-US" altLang="zh-CN" sz="3733" b="1" dirty="0">
                <a:solidFill>
                  <a:srgbClr val="00B0F0"/>
                </a:solidFill>
              </a:rPr>
              <a:t>    </a:t>
            </a:r>
            <a:r>
              <a:rPr lang="en-US" altLang="zh-CN" sz="3733" b="1" dirty="0">
                <a:solidFill>
                  <a:srgbClr val="0070C0"/>
                </a:solidFill>
                <a:latin typeface="Times New Roman" panose="02020603050405020304" pitchFamily="18" charset="0"/>
                <a:cs typeface="Times New Roman" panose="02020603050405020304" pitchFamily="18" charset="0"/>
              </a:rPr>
              <a:t>2.</a:t>
            </a:r>
            <a:r>
              <a:rPr lang="zh-CN" altLang="en-US" sz="3733" b="1" dirty="0">
                <a:solidFill>
                  <a:srgbClr val="0070C0"/>
                </a:solidFill>
              </a:rPr>
              <a:t>张明楷：</a:t>
            </a:r>
            <a:r>
              <a:rPr lang="en-US" altLang="zh-CN" sz="3733" b="1" dirty="0">
                <a:solidFill>
                  <a:srgbClr val="0070C0"/>
                </a:solidFill>
              </a:rPr>
              <a:t>《</a:t>
            </a:r>
            <a:r>
              <a:rPr lang="zh-CN" altLang="en-US" sz="3733" b="1" dirty="0">
                <a:solidFill>
                  <a:srgbClr val="0070C0"/>
                </a:solidFill>
              </a:rPr>
              <a:t>刑法学</a:t>
            </a:r>
            <a:r>
              <a:rPr lang="en-US" altLang="zh-CN" sz="3733" b="1" dirty="0">
                <a:solidFill>
                  <a:srgbClr val="0070C0"/>
                </a:solidFill>
              </a:rPr>
              <a:t>》</a:t>
            </a:r>
            <a:r>
              <a:rPr lang="zh-CN" altLang="en-US" sz="3733" b="1" dirty="0" smtClean="0">
                <a:solidFill>
                  <a:srgbClr val="0070C0"/>
                </a:solidFill>
              </a:rPr>
              <a:t>（上  </a:t>
            </a:r>
            <a:r>
              <a:rPr lang="zh-CN" altLang="en-US" sz="3733" b="1" dirty="0">
                <a:solidFill>
                  <a:srgbClr val="0070C0"/>
                </a:solidFill>
              </a:rPr>
              <a:t>第六版），法律出版社</a:t>
            </a:r>
            <a:r>
              <a:rPr lang="en-US" altLang="zh-CN" sz="3733" b="1" dirty="0">
                <a:solidFill>
                  <a:srgbClr val="0070C0"/>
                </a:solidFill>
                <a:latin typeface="Times New Roman" panose="02020603050405020304" pitchFamily="18" charset="0"/>
                <a:cs typeface="Times New Roman" panose="02020603050405020304" pitchFamily="18" charset="0"/>
              </a:rPr>
              <a:t>2021</a:t>
            </a:r>
            <a:r>
              <a:rPr lang="zh-CN" altLang="en-US" sz="3733" b="1" dirty="0">
                <a:solidFill>
                  <a:srgbClr val="0070C0"/>
                </a:solidFill>
              </a:rPr>
              <a:t>年版。</a:t>
            </a:r>
          </a:p>
          <a:p>
            <a:r>
              <a:rPr lang="en-US" altLang="zh-CN" sz="3733" b="1" dirty="0">
                <a:solidFill>
                  <a:srgbClr val="000000"/>
                </a:solidFill>
              </a:rPr>
              <a:t>    </a:t>
            </a:r>
            <a:r>
              <a:rPr lang="en-US" altLang="zh-CN" sz="3733" b="1" dirty="0">
                <a:solidFill>
                  <a:srgbClr val="000000"/>
                </a:solidFill>
                <a:latin typeface="Times New Roman" panose="02020603050405020304" pitchFamily="18" charset="0"/>
                <a:cs typeface="Times New Roman" panose="02020603050405020304" pitchFamily="18" charset="0"/>
              </a:rPr>
              <a:t>3.</a:t>
            </a:r>
            <a:r>
              <a:rPr lang="zh-CN" altLang="en-US" sz="3733" b="1" dirty="0">
                <a:solidFill>
                  <a:srgbClr val="000000"/>
                </a:solidFill>
              </a:rPr>
              <a:t>周光权：</a:t>
            </a:r>
            <a:r>
              <a:rPr lang="en-US" altLang="zh-CN" sz="3733" b="1" dirty="0">
                <a:solidFill>
                  <a:srgbClr val="000000"/>
                </a:solidFill>
              </a:rPr>
              <a:t>《</a:t>
            </a:r>
            <a:r>
              <a:rPr lang="zh-CN" altLang="en-US" sz="3733" b="1" dirty="0" smtClean="0">
                <a:solidFill>
                  <a:srgbClr val="000000"/>
                </a:solidFill>
              </a:rPr>
              <a:t>刑法总论</a:t>
            </a:r>
            <a:r>
              <a:rPr lang="en-US" altLang="zh-CN" sz="3733" b="1" dirty="0">
                <a:solidFill>
                  <a:srgbClr val="000000"/>
                </a:solidFill>
              </a:rPr>
              <a:t>》</a:t>
            </a:r>
            <a:r>
              <a:rPr lang="zh-CN" altLang="en-US" sz="3733" b="1" dirty="0">
                <a:solidFill>
                  <a:srgbClr val="000000"/>
                </a:solidFill>
              </a:rPr>
              <a:t>（第四版），中国人民大学出版社</a:t>
            </a:r>
            <a:r>
              <a:rPr lang="en-US" altLang="zh-CN" sz="3733" b="1" dirty="0">
                <a:solidFill>
                  <a:srgbClr val="000000"/>
                </a:solidFill>
                <a:latin typeface="Times New Roman" panose="02020603050405020304" pitchFamily="18" charset="0"/>
                <a:cs typeface="Times New Roman" panose="02020603050405020304" pitchFamily="18" charset="0"/>
              </a:rPr>
              <a:t>2021</a:t>
            </a:r>
            <a:r>
              <a:rPr lang="zh-CN" altLang="en-US" sz="3733" b="1" dirty="0">
                <a:solidFill>
                  <a:srgbClr val="000000"/>
                </a:solidFill>
              </a:rPr>
              <a:t>年版。</a:t>
            </a:r>
            <a:endParaRPr lang="en-US" altLang="zh-CN" sz="3733" b="1" dirty="0">
              <a:solidFill>
                <a:srgbClr val="000000"/>
              </a:solidFill>
            </a:endParaRPr>
          </a:p>
          <a:p>
            <a:r>
              <a:rPr lang="en-US" altLang="zh-CN" sz="3733" b="1" dirty="0">
                <a:solidFill>
                  <a:srgbClr val="000000"/>
                </a:solidFill>
              </a:rPr>
              <a:t>    </a:t>
            </a:r>
            <a:r>
              <a:rPr lang="en-US" altLang="zh-CN" sz="3733" b="1" dirty="0">
                <a:solidFill>
                  <a:srgbClr val="000000"/>
                </a:solidFill>
                <a:latin typeface="Times New Roman" panose="02020603050405020304" pitchFamily="18" charset="0"/>
                <a:cs typeface="Times New Roman" panose="02020603050405020304" pitchFamily="18" charset="0"/>
              </a:rPr>
              <a:t>4</a:t>
            </a:r>
            <a:r>
              <a:rPr lang="en-US" altLang="zh-CN" sz="3733" b="1" dirty="0" smtClean="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rPr>
              <a:t>韩玉胜主编：</a:t>
            </a:r>
            <a:r>
              <a:rPr lang="en-US" altLang="zh-CN" sz="3733" b="1" dirty="0">
                <a:solidFill>
                  <a:srgbClr val="000000"/>
                </a:solidFill>
              </a:rPr>
              <a:t>《</a:t>
            </a:r>
            <a:r>
              <a:rPr lang="zh-CN" altLang="en-US" sz="3733" b="1" dirty="0">
                <a:solidFill>
                  <a:srgbClr val="000000"/>
                </a:solidFill>
              </a:rPr>
              <a:t>刑法学原理与案例教程</a:t>
            </a:r>
            <a:r>
              <a:rPr lang="en-US" altLang="zh-CN" sz="3733" b="1" dirty="0">
                <a:solidFill>
                  <a:srgbClr val="000000"/>
                </a:solidFill>
              </a:rPr>
              <a:t>》</a:t>
            </a:r>
            <a:r>
              <a:rPr lang="zh-CN" altLang="en-US" sz="3733" b="1" dirty="0">
                <a:solidFill>
                  <a:srgbClr val="000000"/>
                </a:solidFill>
              </a:rPr>
              <a:t>（第四版），中国人民大学出版社</a:t>
            </a:r>
            <a:r>
              <a:rPr lang="en-US" altLang="zh-CN" sz="3733" b="1" dirty="0">
                <a:solidFill>
                  <a:srgbClr val="000000"/>
                </a:solidFill>
                <a:latin typeface="Times New Roman" panose="02020603050405020304" pitchFamily="18" charset="0"/>
                <a:cs typeface="Times New Roman" panose="02020603050405020304" pitchFamily="18" charset="0"/>
              </a:rPr>
              <a:t>2018</a:t>
            </a:r>
            <a:r>
              <a:rPr lang="zh-CN" altLang="en-US" sz="3733" b="1" dirty="0">
                <a:solidFill>
                  <a:srgbClr val="000000"/>
                </a:solidFill>
              </a:rPr>
              <a:t>年版</a:t>
            </a:r>
            <a:r>
              <a:rPr lang="zh-CN" altLang="en-US" sz="3733" b="1" dirty="0" smtClean="0">
                <a:solidFill>
                  <a:srgbClr val="000000"/>
                </a:solidFill>
              </a:rPr>
              <a:t>。</a:t>
            </a:r>
            <a:endParaRPr lang="en-US" altLang="zh-CN" sz="3733" b="1" dirty="0" smtClean="0">
              <a:solidFill>
                <a:srgbClr val="000000"/>
              </a:solidFill>
              <a:latin typeface="Times New Roman" panose="02020603050405020304" pitchFamily="18" charset="0"/>
              <a:cs typeface="Times New Roman" panose="02020603050405020304" pitchFamily="18" charset="0"/>
            </a:endParaRPr>
          </a:p>
          <a:p>
            <a:r>
              <a:rPr lang="en-US" altLang="zh-CN" sz="3733" b="1" dirty="0">
                <a:solidFill>
                  <a:srgbClr val="000000"/>
                </a:solidFill>
                <a:latin typeface="Times New Roman" panose="02020603050405020304" pitchFamily="18" charset="0"/>
                <a:cs typeface="Times New Roman" panose="02020603050405020304" pitchFamily="18" charset="0"/>
              </a:rPr>
              <a:t> </a:t>
            </a:r>
            <a:r>
              <a:rPr lang="en-US" altLang="zh-CN" sz="3733" b="1" dirty="0" smtClean="0">
                <a:solidFill>
                  <a:srgbClr val="000000"/>
                </a:solidFill>
                <a:latin typeface="Times New Roman" panose="02020603050405020304" pitchFamily="18" charset="0"/>
                <a:cs typeface="Times New Roman" panose="02020603050405020304" pitchFamily="18" charset="0"/>
              </a:rPr>
              <a:t>  </a:t>
            </a:r>
            <a:r>
              <a:rPr lang="en-US" altLang="zh-CN" sz="3733" b="1" dirty="0" smtClean="0">
                <a:solidFill>
                  <a:srgbClr val="000000"/>
                </a:solidFill>
              </a:rPr>
              <a:t> </a:t>
            </a:r>
            <a:r>
              <a:rPr lang="en-US" altLang="zh-CN" sz="3733" b="1" dirty="0">
                <a:solidFill>
                  <a:srgbClr val="000000"/>
                </a:solidFill>
                <a:latin typeface="Times New Roman" panose="02020603050405020304" pitchFamily="18" charset="0"/>
                <a:cs typeface="Times New Roman" panose="02020603050405020304" pitchFamily="18" charset="0"/>
              </a:rPr>
              <a:t>5</a:t>
            </a:r>
            <a:r>
              <a:rPr lang="en-US" altLang="zh-CN" sz="3733" b="1" dirty="0" smtClean="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rPr>
              <a:t>陈兴良、张军、胡云腾主编：</a:t>
            </a:r>
            <a:r>
              <a:rPr lang="en-US" altLang="zh-CN" sz="3733" b="1" dirty="0">
                <a:solidFill>
                  <a:srgbClr val="000000"/>
                </a:solidFill>
              </a:rPr>
              <a:t>《</a:t>
            </a:r>
            <a:r>
              <a:rPr lang="zh-CN" altLang="en-US" sz="3733" b="1" dirty="0">
                <a:solidFill>
                  <a:srgbClr val="000000"/>
                </a:solidFill>
              </a:rPr>
              <a:t>人民法院刑事指导案例裁判要旨通纂</a:t>
            </a:r>
            <a:r>
              <a:rPr lang="en-US" altLang="zh-CN" sz="3733" b="1" dirty="0">
                <a:solidFill>
                  <a:srgbClr val="000000"/>
                </a:solidFill>
              </a:rPr>
              <a:t>》</a:t>
            </a:r>
            <a:r>
              <a:rPr lang="zh-CN" altLang="en-US" sz="3733" b="1" dirty="0">
                <a:solidFill>
                  <a:srgbClr val="000000"/>
                </a:solidFill>
              </a:rPr>
              <a:t>（</a:t>
            </a:r>
            <a:r>
              <a:rPr lang="zh-CN" altLang="en-US" sz="3733" b="1" dirty="0" smtClean="0">
                <a:solidFill>
                  <a:srgbClr val="000000"/>
                </a:solidFill>
              </a:rPr>
              <a:t>第三版</a:t>
            </a:r>
            <a:r>
              <a:rPr lang="zh-CN" altLang="en-US" sz="3733" b="1" dirty="0">
                <a:solidFill>
                  <a:srgbClr val="000000"/>
                </a:solidFill>
              </a:rPr>
              <a:t>），北京大学出版社</a:t>
            </a:r>
            <a:r>
              <a:rPr lang="en-US" altLang="zh-CN" sz="3733" b="1" dirty="0" smtClean="0">
                <a:solidFill>
                  <a:srgbClr val="000000"/>
                </a:solidFill>
                <a:latin typeface="Times New Roman" panose="02020603050405020304" pitchFamily="18" charset="0"/>
                <a:cs typeface="Times New Roman" panose="02020603050405020304" pitchFamily="18" charset="0"/>
              </a:rPr>
              <a:t>2024</a:t>
            </a:r>
            <a:r>
              <a:rPr lang="zh-CN" altLang="en-US" sz="3733" b="1" dirty="0" smtClean="0">
                <a:solidFill>
                  <a:srgbClr val="000000"/>
                </a:solidFill>
              </a:rPr>
              <a:t>年</a:t>
            </a:r>
            <a:r>
              <a:rPr lang="zh-CN" altLang="en-US" sz="3733" b="1" dirty="0">
                <a:solidFill>
                  <a:srgbClr val="000000"/>
                </a:solidFill>
              </a:rPr>
              <a:t>版</a:t>
            </a:r>
            <a:r>
              <a:rPr lang="zh-CN" altLang="en-US" sz="3733" b="1" dirty="0" smtClean="0">
                <a:solidFill>
                  <a:srgbClr val="000000"/>
                </a:solidFill>
              </a:rPr>
              <a:t>。</a:t>
            </a:r>
            <a:endParaRPr lang="en-US" altLang="zh-CN" sz="3733" b="1" dirty="0" smtClean="0">
              <a:solidFill>
                <a:srgbClr val="000000"/>
              </a:solidFill>
              <a:latin typeface="Times New Roman" panose="02020603050405020304" pitchFamily="18" charset="0"/>
              <a:cs typeface="Times New Roman" panose="02020603050405020304" pitchFamily="18" charset="0"/>
            </a:endParaRPr>
          </a:p>
          <a:p>
            <a:r>
              <a:rPr lang="en-US" altLang="zh-CN" sz="3733" b="1" dirty="0">
                <a:solidFill>
                  <a:srgbClr val="000000"/>
                </a:solidFill>
                <a:latin typeface="Times New Roman" panose="02020603050405020304" pitchFamily="18" charset="0"/>
                <a:cs typeface="Times New Roman" panose="02020603050405020304" pitchFamily="18" charset="0"/>
              </a:rPr>
              <a:t> </a:t>
            </a:r>
            <a:r>
              <a:rPr lang="en-US" altLang="zh-CN" sz="3733" b="1" dirty="0" smtClean="0">
                <a:solidFill>
                  <a:srgbClr val="000000"/>
                </a:solidFill>
                <a:latin typeface="Times New Roman" panose="02020603050405020304" pitchFamily="18" charset="0"/>
                <a:cs typeface="Times New Roman" panose="02020603050405020304" pitchFamily="18" charset="0"/>
              </a:rPr>
              <a:t>   6.</a:t>
            </a:r>
            <a:r>
              <a:rPr lang="zh-CN" altLang="en-US" sz="3733" b="1" dirty="0">
                <a:solidFill>
                  <a:srgbClr val="000000"/>
                </a:solidFill>
                <a:latin typeface="Times New Roman" panose="02020603050405020304" pitchFamily="18" charset="0"/>
                <a:cs typeface="Times New Roman" panose="02020603050405020304" pitchFamily="18" charset="0"/>
              </a:rPr>
              <a:t>周光权：</a:t>
            </a:r>
            <a:r>
              <a:rPr lang="en-US" altLang="zh-CN" sz="3733" b="1" dirty="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latin typeface="Times New Roman" panose="02020603050405020304" pitchFamily="18" charset="0"/>
                <a:cs typeface="Times New Roman" panose="02020603050405020304" pitchFamily="18" charset="0"/>
              </a:rPr>
              <a:t>刑法公开课</a:t>
            </a:r>
            <a:r>
              <a:rPr lang="en-US" altLang="zh-CN" sz="3733" b="1" dirty="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latin typeface="Times New Roman" panose="02020603050405020304" pitchFamily="18" charset="0"/>
                <a:cs typeface="Times New Roman" panose="02020603050405020304" pitchFamily="18" charset="0"/>
              </a:rPr>
              <a:t>（第一卷），北京大学出版社</a:t>
            </a:r>
            <a:r>
              <a:rPr lang="en-US" altLang="zh-CN" sz="3733" b="1" dirty="0">
                <a:solidFill>
                  <a:srgbClr val="000000"/>
                </a:solidFill>
                <a:latin typeface="Times New Roman" panose="02020603050405020304" pitchFamily="18" charset="0"/>
                <a:cs typeface="Times New Roman" panose="02020603050405020304" pitchFamily="18" charset="0"/>
              </a:rPr>
              <a:t>2019</a:t>
            </a:r>
            <a:r>
              <a:rPr lang="zh-CN" altLang="en-US" sz="3733" b="1" dirty="0">
                <a:solidFill>
                  <a:srgbClr val="000000"/>
                </a:solidFill>
                <a:latin typeface="Times New Roman" panose="02020603050405020304" pitchFamily="18" charset="0"/>
                <a:cs typeface="Times New Roman" panose="02020603050405020304" pitchFamily="18" charset="0"/>
              </a:rPr>
              <a:t>年版</a:t>
            </a:r>
            <a:r>
              <a:rPr lang="zh-CN" altLang="en-US" sz="3733" b="1" dirty="0" smtClean="0">
                <a:solidFill>
                  <a:srgbClr val="000000"/>
                </a:solidFill>
                <a:latin typeface="Times New Roman" panose="02020603050405020304" pitchFamily="18" charset="0"/>
                <a:cs typeface="Times New Roman" panose="02020603050405020304" pitchFamily="18" charset="0"/>
              </a:rPr>
              <a:t>。</a:t>
            </a:r>
            <a:endParaRPr lang="zh-CN" altLang="en-US" sz="3733"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2985320"/>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27381" y="644691"/>
            <a:ext cx="11200136" cy="5836854"/>
          </a:xfrm>
          <a:prstGeom prst="rect">
            <a:avLst/>
          </a:prstGeom>
        </p:spPr>
        <p:txBody>
          <a:bodyPr wrap="square">
            <a:spAutoFit/>
          </a:bodyPr>
          <a:lstStyle/>
          <a:p>
            <a:r>
              <a:rPr lang="en-US" altLang="zh-CN" sz="3733" b="1" dirty="0" smtClean="0">
                <a:solidFill>
                  <a:srgbClr val="000000"/>
                </a:solidFill>
                <a:latin typeface="Times New Roman" panose="02020603050405020304" pitchFamily="18" charset="0"/>
                <a:cs typeface="Times New Roman" panose="02020603050405020304" pitchFamily="18" charset="0"/>
              </a:rPr>
              <a:t>    7.</a:t>
            </a:r>
            <a:r>
              <a:rPr lang="zh-CN" altLang="en-US" sz="3733" b="1" dirty="0">
                <a:solidFill>
                  <a:srgbClr val="000000"/>
                </a:solidFill>
                <a:latin typeface="Times New Roman" panose="02020603050405020304" pitchFamily="18" charset="0"/>
                <a:cs typeface="Times New Roman" panose="02020603050405020304" pitchFamily="18" charset="0"/>
              </a:rPr>
              <a:t>周光权：</a:t>
            </a:r>
            <a:r>
              <a:rPr lang="en-US" altLang="zh-CN" sz="3733" b="1" dirty="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latin typeface="Times New Roman" panose="02020603050405020304" pitchFamily="18" charset="0"/>
                <a:cs typeface="Times New Roman" panose="02020603050405020304" pitchFamily="18" charset="0"/>
              </a:rPr>
              <a:t>刑法公开课</a:t>
            </a:r>
            <a:r>
              <a:rPr lang="en-US" altLang="zh-CN" sz="3733" b="1" dirty="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latin typeface="Times New Roman" panose="02020603050405020304" pitchFamily="18" charset="0"/>
                <a:cs typeface="Times New Roman" panose="02020603050405020304" pitchFamily="18" charset="0"/>
              </a:rPr>
              <a:t>（第二卷），北京大学出版社</a:t>
            </a:r>
            <a:r>
              <a:rPr lang="en-US" altLang="zh-CN" sz="3733" b="1" dirty="0">
                <a:solidFill>
                  <a:srgbClr val="000000"/>
                </a:solidFill>
                <a:latin typeface="Times New Roman" panose="02020603050405020304" pitchFamily="18" charset="0"/>
                <a:cs typeface="Times New Roman" panose="02020603050405020304" pitchFamily="18" charset="0"/>
              </a:rPr>
              <a:t>2020</a:t>
            </a:r>
            <a:r>
              <a:rPr lang="zh-CN" altLang="en-US" sz="3733" b="1" dirty="0">
                <a:solidFill>
                  <a:srgbClr val="000000"/>
                </a:solidFill>
                <a:latin typeface="Times New Roman" panose="02020603050405020304" pitchFamily="18" charset="0"/>
                <a:cs typeface="Times New Roman" panose="02020603050405020304" pitchFamily="18" charset="0"/>
              </a:rPr>
              <a:t>年版。</a:t>
            </a:r>
            <a:endParaRPr lang="en-US" altLang="zh-CN" sz="3733" b="1" dirty="0">
              <a:solidFill>
                <a:srgbClr val="000000"/>
              </a:solidFill>
              <a:latin typeface="Times New Roman" panose="02020603050405020304" pitchFamily="18" charset="0"/>
              <a:cs typeface="Times New Roman" panose="02020603050405020304" pitchFamily="18" charset="0"/>
            </a:endParaRPr>
          </a:p>
          <a:p>
            <a:r>
              <a:rPr lang="en-US" altLang="zh-CN" sz="3733" b="1" dirty="0">
                <a:solidFill>
                  <a:srgbClr val="000000"/>
                </a:solidFill>
                <a:latin typeface="Times New Roman" panose="02020603050405020304" pitchFamily="18" charset="0"/>
                <a:cs typeface="Times New Roman" panose="02020603050405020304" pitchFamily="18" charset="0"/>
              </a:rPr>
              <a:t>    8</a:t>
            </a:r>
            <a:r>
              <a:rPr lang="en-US" altLang="zh-CN" sz="3733" b="1" dirty="0" smtClean="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latin typeface="Times New Roman" panose="02020603050405020304" pitchFamily="18" charset="0"/>
                <a:cs typeface="Times New Roman" panose="02020603050405020304" pitchFamily="18" charset="0"/>
              </a:rPr>
              <a:t>何荣功：</a:t>
            </a:r>
            <a:r>
              <a:rPr lang="en-US" altLang="zh-CN" sz="3733" b="1" dirty="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latin typeface="Times New Roman" panose="02020603050405020304" pitchFamily="18" charset="0"/>
                <a:cs typeface="Times New Roman" panose="02020603050405020304" pitchFamily="18" charset="0"/>
              </a:rPr>
              <a:t>刑法适用方法论</a:t>
            </a:r>
            <a:r>
              <a:rPr lang="en-US" altLang="zh-CN" sz="3733" b="1" dirty="0">
                <a:solidFill>
                  <a:srgbClr val="000000"/>
                </a:solidFill>
                <a:latin typeface="Times New Roman" panose="02020603050405020304" pitchFamily="18" charset="0"/>
                <a:cs typeface="Times New Roman" panose="02020603050405020304" pitchFamily="18" charset="0"/>
              </a:rPr>
              <a:t>》</a:t>
            </a:r>
            <a:r>
              <a:rPr lang="zh-CN" altLang="en-US" sz="3733" b="1" dirty="0">
                <a:solidFill>
                  <a:srgbClr val="000000"/>
                </a:solidFill>
                <a:latin typeface="Times New Roman" panose="02020603050405020304" pitchFamily="18" charset="0"/>
                <a:cs typeface="Times New Roman" panose="02020603050405020304" pitchFamily="18" charset="0"/>
              </a:rPr>
              <a:t>，北京大学出版社</a:t>
            </a:r>
            <a:r>
              <a:rPr lang="en-US" altLang="zh-CN" sz="3733" b="1" dirty="0">
                <a:solidFill>
                  <a:srgbClr val="000000"/>
                </a:solidFill>
                <a:latin typeface="Times New Roman" panose="02020603050405020304" pitchFamily="18" charset="0"/>
                <a:cs typeface="Times New Roman" panose="02020603050405020304" pitchFamily="18" charset="0"/>
              </a:rPr>
              <a:t>2021</a:t>
            </a:r>
            <a:r>
              <a:rPr lang="zh-CN" altLang="en-US" sz="3733" b="1" dirty="0">
                <a:solidFill>
                  <a:srgbClr val="000000"/>
                </a:solidFill>
                <a:latin typeface="Times New Roman" panose="02020603050405020304" pitchFamily="18" charset="0"/>
                <a:cs typeface="Times New Roman" panose="02020603050405020304" pitchFamily="18" charset="0"/>
              </a:rPr>
              <a:t>年版。</a:t>
            </a:r>
            <a:endParaRPr lang="en-US" altLang="zh-CN" sz="3733" b="1" dirty="0">
              <a:solidFill>
                <a:srgbClr val="000000"/>
              </a:solidFill>
              <a:latin typeface="Times New Roman" panose="02020603050405020304" pitchFamily="18" charset="0"/>
              <a:cs typeface="Times New Roman" panose="02020603050405020304" pitchFamily="18" charset="0"/>
            </a:endParaRPr>
          </a:p>
          <a:p>
            <a:endParaRPr lang="en-US" altLang="zh-CN" sz="3733" b="1" dirty="0" smtClean="0">
              <a:solidFill>
                <a:srgbClr val="000000"/>
              </a:solidFill>
              <a:latin typeface="Times New Roman" panose="02020603050405020304" pitchFamily="18" charset="0"/>
              <a:cs typeface="Times New Roman" panose="02020603050405020304" pitchFamily="18" charset="0"/>
            </a:endParaRPr>
          </a:p>
          <a:p>
            <a:endParaRPr lang="en-US" altLang="zh-CN" sz="3733" b="1" dirty="0">
              <a:solidFill>
                <a:srgbClr val="000000"/>
              </a:solidFill>
              <a:latin typeface="Times New Roman" panose="02020603050405020304" pitchFamily="18" charset="0"/>
              <a:cs typeface="Times New Roman" panose="02020603050405020304" pitchFamily="18" charset="0"/>
            </a:endParaRPr>
          </a:p>
          <a:p>
            <a:endParaRPr lang="en-US" altLang="zh-CN" sz="3733" b="1" dirty="0" smtClean="0">
              <a:solidFill>
                <a:srgbClr val="000000"/>
              </a:solidFill>
              <a:latin typeface="Times New Roman" panose="02020603050405020304" pitchFamily="18" charset="0"/>
              <a:cs typeface="Times New Roman" panose="02020603050405020304" pitchFamily="18" charset="0"/>
            </a:endParaRPr>
          </a:p>
          <a:p>
            <a:endParaRPr lang="en-US" altLang="zh-CN" sz="3733" b="1" dirty="0">
              <a:solidFill>
                <a:srgbClr val="000000"/>
              </a:solidFill>
              <a:latin typeface="Times New Roman" panose="02020603050405020304" pitchFamily="18" charset="0"/>
              <a:cs typeface="Times New Roman" panose="02020603050405020304" pitchFamily="18" charset="0"/>
            </a:endParaRPr>
          </a:p>
          <a:p>
            <a:endParaRPr lang="en-US" altLang="zh-CN" sz="3733" b="1" dirty="0" smtClean="0">
              <a:solidFill>
                <a:srgbClr val="000000"/>
              </a:solidFill>
              <a:latin typeface="Times New Roman" panose="02020603050405020304" pitchFamily="18" charset="0"/>
              <a:cs typeface="Times New Roman" panose="02020603050405020304" pitchFamily="18" charset="0"/>
            </a:endParaRPr>
          </a:p>
          <a:p>
            <a:endParaRPr lang="en-US" altLang="zh-CN" sz="3733"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6577380"/>
      </p:ext>
    </p:extLst>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8250143" y="775078"/>
            <a:ext cx="2273300" cy="1309370"/>
          </a:xfrm>
          <a:prstGeom prst="rect">
            <a:avLst/>
          </a:prstGeom>
        </p:spPr>
        <p:txBody>
          <a:bodyPr wrap="none">
            <a:spAutoFit/>
          </a:bodyPr>
          <a:lstStyle/>
          <a:p>
            <a:pPr>
              <a:lnSpc>
                <a:spcPct val="120000"/>
              </a:lnSpc>
            </a:pPr>
            <a:r>
              <a:rPr lang="zh-CN" altLang="en-US" sz="6600" b="1" dirty="0">
                <a:solidFill>
                  <a:srgbClr val="D9793F"/>
                </a:solidFill>
                <a:latin typeface="华文新魏" panose="02010800040101010101" charset="-122"/>
                <a:ea typeface="华文新魏" panose="02010800040101010101" charset="-122"/>
                <a:sym typeface="+mn-ea"/>
              </a:rPr>
              <a:t>绪</a:t>
            </a:r>
            <a:r>
              <a:rPr lang="en-US" altLang="zh-CN" sz="6600" b="1" dirty="0">
                <a:solidFill>
                  <a:srgbClr val="D9793F"/>
                </a:solidFill>
                <a:latin typeface="华文新魏" panose="02010800040101010101" charset="-122"/>
                <a:ea typeface="华文新魏" panose="02010800040101010101" charset="-122"/>
                <a:sym typeface="+mn-ea"/>
              </a:rPr>
              <a:t>  </a:t>
            </a:r>
            <a:r>
              <a:rPr lang="zh-CN" altLang="en-US" sz="6600" b="1" dirty="0">
                <a:solidFill>
                  <a:srgbClr val="D9793F"/>
                </a:solidFill>
                <a:latin typeface="华文新魏" panose="02010800040101010101" charset="-122"/>
                <a:ea typeface="华文新魏" panose="02010800040101010101" charset="-122"/>
                <a:sym typeface="+mn-ea"/>
              </a:rPr>
              <a:t>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660400" y="1391446"/>
            <a:ext cx="108585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7" name="ïşlîḑe"/>
          <p:cNvSpPr txBox="1"/>
          <p:nvPr/>
        </p:nvSpPr>
        <p:spPr>
          <a:xfrm>
            <a:off x="5195900" y="1135067"/>
            <a:ext cx="1800200" cy="512758"/>
          </a:xfrm>
          <a:prstGeom prst="roundRect">
            <a:avLst>
              <a:gd name="adj" fmla="val 50000"/>
            </a:avLst>
          </a:prstGeom>
          <a:solidFill>
            <a:srgbClr val="D9793F"/>
          </a:solidFill>
        </p:spPr>
        <p:txBody>
          <a:bodyPr wrap="square" lIns="91440" tIns="45720" rIns="91440" bIns="45720" anchor="ctr">
            <a:normAutofit lnSpcReduction="10000"/>
          </a:bodyPr>
          <a:lstStyle/>
          <a:p>
            <a:pPr algn="ctr"/>
            <a:r>
              <a:rPr lang="zh-CN" altLang="en-US" b="1" dirty="0">
                <a:solidFill>
                  <a:schemeClr val="bg1"/>
                </a:solidFill>
              </a:rPr>
              <a:t>目录</a:t>
            </a:r>
            <a:endParaRPr lang="en-US" altLang="zh-CN" b="1" dirty="0">
              <a:solidFill>
                <a:schemeClr val="bg1"/>
              </a:solidFill>
            </a:endParaRPr>
          </a:p>
        </p:txBody>
      </p:sp>
      <p:sp>
        <p:nvSpPr>
          <p:cNvPr id="8" name="îṧļïdè"/>
          <p:cNvSpPr txBox="1"/>
          <p:nvPr/>
        </p:nvSpPr>
        <p:spPr>
          <a:xfrm>
            <a:off x="1818781" y="2586113"/>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01</a:t>
            </a:r>
          </a:p>
        </p:txBody>
      </p:sp>
      <p:sp>
        <p:nvSpPr>
          <p:cNvPr id="9" name="íṧļïdé"/>
          <p:cNvSpPr txBox="1"/>
          <p:nvPr/>
        </p:nvSpPr>
        <p:spPr>
          <a:xfrm>
            <a:off x="2754884" y="2460232"/>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第一节</a:t>
            </a:r>
            <a:endParaRPr lang="zh-CN" altLang="en-US" b="1" dirty="0">
              <a:solidFill>
                <a:srgbClr val="D9793F"/>
              </a:solidFill>
            </a:endParaRPr>
          </a:p>
        </p:txBody>
      </p:sp>
      <p:sp>
        <p:nvSpPr>
          <p:cNvPr id="10" name="ïśḷíďè"/>
          <p:cNvSpPr txBox="1"/>
          <p:nvPr/>
        </p:nvSpPr>
        <p:spPr>
          <a:xfrm>
            <a:off x="2754884" y="282897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刑法学概述</a:t>
            </a:r>
          </a:p>
        </p:txBody>
      </p:sp>
      <p:cxnSp>
        <p:nvCxnSpPr>
          <p:cNvPr id="11" name="直接连接符 10"/>
          <p:cNvCxnSpPr/>
          <p:nvPr/>
        </p:nvCxnSpPr>
        <p:spPr>
          <a:xfrm>
            <a:off x="2673781" y="258611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îṩļïḑè"/>
          <p:cNvSpPr txBox="1"/>
          <p:nvPr/>
        </p:nvSpPr>
        <p:spPr>
          <a:xfrm>
            <a:off x="6593223" y="2586113"/>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02</a:t>
            </a:r>
          </a:p>
        </p:txBody>
      </p:sp>
      <p:sp>
        <p:nvSpPr>
          <p:cNvPr id="13" name="ïṧḷïḓé"/>
          <p:cNvSpPr txBox="1"/>
          <p:nvPr/>
        </p:nvSpPr>
        <p:spPr>
          <a:xfrm>
            <a:off x="7529326" y="2460232"/>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第二节</a:t>
            </a:r>
            <a:endParaRPr lang="zh-CN" altLang="en-US" b="1" dirty="0">
              <a:solidFill>
                <a:srgbClr val="D9793F"/>
              </a:solidFill>
            </a:endParaRPr>
          </a:p>
        </p:txBody>
      </p:sp>
      <p:sp>
        <p:nvSpPr>
          <p:cNvPr id="14" name="íṩļíḋê"/>
          <p:cNvSpPr txBox="1"/>
          <p:nvPr/>
        </p:nvSpPr>
        <p:spPr>
          <a:xfrm>
            <a:off x="7529326" y="282897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刑法学的沿革与发展</a:t>
            </a:r>
          </a:p>
        </p:txBody>
      </p:sp>
      <p:cxnSp>
        <p:nvCxnSpPr>
          <p:cNvPr id="15" name="直接连接符 14"/>
          <p:cNvCxnSpPr/>
          <p:nvPr/>
        </p:nvCxnSpPr>
        <p:spPr>
          <a:xfrm>
            <a:off x="7448223" y="258611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6" name="ïs1íḋè"/>
          <p:cNvSpPr txBox="1"/>
          <p:nvPr/>
        </p:nvSpPr>
        <p:spPr>
          <a:xfrm>
            <a:off x="1818781" y="3973171"/>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03</a:t>
            </a:r>
          </a:p>
        </p:txBody>
      </p:sp>
      <p:sp>
        <p:nvSpPr>
          <p:cNvPr id="17" name="ísļîḑé"/>
          <p:cNvSpPr txBox="1"/>
          <p:nvPr/>
        </p:nvSpPr>
        <p:spPr>
          <a:xfrm>
            <a:off x="2754884" y="3847290"/>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第三节</a:t>
            </a:r>
            <a:endParaRPr lang="zh-CN" altLang="en-US" b="1" dirty="0">
              <a:solidFill>
                <a:srgbClr val="D9793F"/>
              </a:solidFill>
            </a:endParaRPr>
          </a:p>
        </p:txBody>
      </p:sp>
      <p:sp>
        <p:nvSpPr>
          <p:cNvPr id="18" name="ïṩ1ïďe"/>
          <p:cNvSpPr txBox="1"/>
          <p:nvPr/>
        </p:nvSpPr>
        <p:spPr>
          <a:xfrm>
            <a:off x="2754884" y="4216034"/>
            <a:ext cx="2843893" cy="588133"/>
          </a:xfrm>
          <a:prstGeom prst="rect">
            <a:avLst/>
          </a:prstGeom>
        </p:spPr>
        <p:txBody>
          <a:bodyPr vert="horz" wrap="square" lIns="91440" tIns="45720" rIns="91440" bIns="45720" anchor="t" anchorCtr="0">
            <a:noAutofit/>
          </a:bodyPr>
          <a:lstStyle/>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习近平法治思想引领新时代中国特色社会主义刑法学发展</a:t>
            </a:r>
          </a:p>
        </p:txBody>
      </p:sp>
      <p:cxnSp>
        <p:nvCxnSpPr>
          <p:cNvPr id="19" name="直接连接符 18"/>
          <p:cNvCxnSpPr/>
          <p:nvPr/>
        </p:nvCxnSpPr>
        <p:spPr>
          <a:xfrm>
            <a:off x="2673781" y="3973171"/>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îŝlídè"/>
          <p:cNvSpPr txBox="1"/>
          <p:nvPr/>
        </p:nvSpPr>
        <p:spPr>
          <a:xfrm>
            <a:off x="6593223" y="3973171"/>
            <a:ext cx="748923" cy="830997"/>
          </a:xfrm>
          <a:prstGeom prst="rect">
            <a:avLst/>
          </a:prstGeom>
          <a:noFill/>
        </p:spPr>
        <p:txBody>
          <a:bodyPr wrap="square" lIns="91440" tIns="45720" rIns="91440" bIns="45720" anchor="ctr">
            <a:normAutofit/>
          </a:bodyPr>
          <a:lstStyle/>
          <a:p>
            <a:pPr algn="ctr"/>
            <a:r>
              <a:rPr lang="en-US" altLang="zh-CN" sz="4000" dirty="0">
                <a:solidFill>
                  <a:schemeClr val="bg1">
                    <a:lumMod val="75000"/>
                  </a:schemeClr>
                </a:solidFill>
                <a:latin typeface="Impact" panose="020B0806030902050204" pitchFamily="34" charset="0"/>
              </a:rPr>
              <a:t>04</a:t>
            </a:r>
          </a:p>
        </p:txBody>
      </p:sp>
      <p:sp>
        <p:nvSpPr>
          <p:cNvPr id="21" name="îṥ1ïḑé"/>
          <p:cNvSpPr txBox="1"/>
          <p:nvPr/>
        </p:nvSpPr>
        <p:spPr>
          <a:xfrm>
            <a:off x="7529326" y="3847290"/>
            <a:ext cx="2843893" cy="368746"/>
          </a:xfrm>
          <a:prstGeom prst="rect">
            <a:avLst/>
          </a:prstGeom>
          <a:noFill/>
        </p:spPr>
        <p:txBody>
          <a:bodyPr wrap="square" lIns="91440" tIns="45720" rIns="91440" bIns="45720" anchor="b" anchorCtr="0">
            <a:normAutofit/>
          </a:bodyPr>
          <a:lstStyle/>
          <a:p>
            <a:r>
              <a:rPr lang="zh-CN" altLang="en-US" b="1" dirty="0" smtClean="0">
                <a:solidFill>
                  <a:srgbClr val="D9793F"/>
                </a:solidFill>
              </a:rPr>
              <a:t>第四节</a:t>
            </a:r>
            <a:endParaRPr lang="zh-CN" altLang="en-US" b="1" dirty="0">
              <a:solidFill>
                <a:srgbClr val="D9793F"/>
              </a:solidFill>
            </a:endParaRPr>
          </a:p>
        </p:txBody>
      </p:sp>
      <p:sp>
        <p:nvSpPr>
          <p:cNvPr id="22" name="iṥḻïḍé"/>
          <p:cNvSpPr txBox="1"/>
          <p:nvPr/>
        </p:nvSpPr>
        <p:spPr>
          <a:xfrm>
            <a:off x="7529326" y="4216034"/>
            <a:ext cx="3042641" cy="588133"/>
          </a:xfrm>
          <a:prstGeom prst="rect">
            <a:avLst/>
          </a:prstGeom>
        </p:spPr>
        <p:txBody>
          <a:bodyPr vert="horz" wrap="square" lIns="91440" tIns="45720" rIns="91440" bIns="45720" anchor="t" anchorCtr="0">
            <a:noAutofit/>
          </a:bodyPr>
          <a:lstStyle/>
          <a:p>
            <a:pPr algn="just" eaLnBrk="0" fontAlgn="base" hangingPunct="0">
              <a:lnSpc>
                <a:spcPct val="120000"/>
              </a:lnSpc>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刑法学的研究与学习方法</a:t>
            </a:r>
          </a:p>
        </p:txBody>
      </p:sp>
      <p:cxnSp>
        <p:nvCxnSpPr>
          <p:cNvPr id="23" name="直接连接符 22"/>
          <p:cNvCxnSpPr/>
          <p:nvPr/>
        </p:nvCxnSpPr>
        <p:spPr>
          <a:xfrm>
            <a:off x="7448223" y="3973171"/>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par>
                          <p:cTn id="20" fill="hold">
                            <p:stCondLst>
                              <p:cond delay="1500"/>
                            </p:stCondLst>
                            <p:childTnLst>
                              <p:par>
                                <p:cTn id="21" presetID="16" presetClass="entr" presetSubtype="42"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arn(outHorizontal)">
                                      <p:cBhvr>
                                        <p:cTn id="23" dur="500"/>
                                        <p:tgtEl>
                                          <p:spTgt spid="11"/>
                                        </p:tgtEl>
                                      </p:cBhvr>
                                    </p:animEffect>
                                  </p:childTnLst>
                                </p:cTn>
                              </p:par>
                            </p:childTnLst>
                          </p:cTn>
                        </p:par>
                        <p:par>
                          <p:cTn id="24" fill="hold">
                            <p:stCondLst>
                              <p:cond delay="2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2599"/>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3299"/>
                            </p:stCondLst>
                            <p:childTnLst>
                              <p:par>
                                <p:cTn id="33" presetID="53" presetClass="entr" presetSubtype="16"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par>
                          <p:cTn id="38" fill="hold">
                            <p:stCondLst>
                              <p:cond delay="3799"/>
                            </p:stCondLst>
                            <p:childTnLst>
                              <p:par>
                                <p:cTn id="39" presetID="16" presetClass="entr" presetSubtype="42" fill="hold"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arn(outHorizontal)">
                                      <p:cBhvr>
                                        <p:cTn id="41" dur="500"/>
                                        <p:tgtEl>
                                          <p:spTgt spid="15"/>
                                        </p:tgtEl>
                                      </p:cBhvr>
                                    </p:animEffect>
                                  </p:childTnLst>
                                </p:cTn>
                              </p:par>
                            </p:childTnLst>
                          </p:cTn>
                        </p:par>
                        <p:par>
                          <p:cTn id="42" fill="hold">
                            <p:stCondLst>
                              <p:cond delay="4299"/>
                            </p:stCondLst>
                            <p:childTnLst>
                              <p:par>
                                <p:cTn id="43" presetID="10" presetClass="entr" presetSubtype="0" fill="hold" grpId="0" nodeType="afterEffect">
                                  <p:stCondLst>
                                    <p:cond delay="0"/>
                                  </p:stCondLst>
                                  <p:iterate type="wd">
                                    <p:tmPct val="10000"/>
                                  </p:iterate>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childTnLst>
                                </p:cTn>
                              </p:par>
                            </p:childTnLst>
                          </p:cTn>
                        </p:par>
                        <p:par>
                          <p:cTn id="46" fill="hold">
                            <p:stCondLst>
                              <p:cond delay="4900"/>
                            </p:stCondLst>
                            <p:childTnLst>
                              <p:par>
                                <p:cTn id="47" presetID="10" presetClass="entr" presetSubtype="0" fill="hold" grpId="0" nodeType="afterEffect">
                                  <p:stCondLst>
                                    <p:cond delay="0"/>
                                  </p:stCondLst>
                                  <p:iterate type="wd">
                                    <p:tmPct val="10000"/>
                                  </p:iterate>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par>
                          <p:cTn id="50" fill="hold">
                            <p:stCondLst>
                              <p:cond delay="5800"/>
                            </p:stCondLst>
                            <p:childTnLst>
                              <p:par>
                                <p:cTn id="51" presetID="53" presetClass="entr" presetSubtype="16"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p:cTn id="53" dur="500" fill="hold"/>
                                        <p:tgtEl>
                                          <p:spTgt spid="16"/>
                                        </p:tgtEl>
                                        <p:attrNameLst>
                                          <p:attrName>ppt_w</p:attrName>
                                        </p:attrNameLst>
                                      </p:cBhvr>
                                      <p:tavLst>
                                        <p:tav tm="0">
                                          <p:val>
                                            <p:fltVal val="0"/>
                                          </p:val>
                                        </p:tav>
                                        <p:tav tm="100000">
                                          <p:val>
                                            <p:strVal val="#ppt_w"/>
                                          </p:val>
                                        </p:tav>
                                      </p:tavLst>
                                    </p:anim>
                                    <p:anim calcmode="lin" valueType="num">
                                      <p:cBhvr>
                                        <p:cTn id="54" dur="500" fill="hold"/>
                                        <p:tgtEl>
                                          <p:spTgt spid="16"/>
                                        </p:tgtEl>
                                        <p:attrNameLst>
                                          <p:attrName>ppt_h</p:attrName>
                                        </p:attrNameLst>
                                      </p:cBhvr>
                                      <p:tavLst>
                                        <p:tav tm="0">
                                          <p:val>
                                            <p:fltVal val="0"/>
                                          </p:val>
                                        </p:tav>
                                        <p:tav tm="100000">
                                          <p:val>
                                            <p:strVal val="#ppt_h"/>
                                          </p:val>
                                        </p:tav>
                                      </p:tavLst>
                                    </p:anim>
                                    <p:animEffect transition="in" filter="fade">
                                      <p:cBhvr>
                                        <p:cTn id="55" dur="500"/>
                                        <p:tgtEl>
                                          <p:spTgt spid="16"/>
                                        </p:tgtEl>
                                      </p:cBhvr>
                                    </p:animEffect>
                                  </p:childTnLst>
                                </p:cTn>
                              </p:par>
                            </p:childTnLst>
                          </p:cTn>
                        </p:par>
                        <p:par>
                          <p:cTn id="56" fill="hold">
                            <p:stCondLst>
                              <p:cond delay="6300"/>
                            </p:stCondLst>
                            <p:childTnLst>
                              <p:par>
                                <p:cTn id="57" presetID="16" presetClass="entr" presetSubtype="42"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barn(outHorizontal)">
                                      <p:cBhvr>
                                        <p:cTn id="59" dur="500"/>
                                        <p:tgtEl>
                                          <p:spTgt spid="19"/>
                                        </p:tgtEl>
                                      </p:cBhvr>
                                    </p:animEffect>
                                  </p:childTnLst>
                                </p:cTn>
                              </p:par>
                            </p:childTnLst>
                          </p:cTn>
                        </p:par>
                        <p:par>
                          <p:cTn id="60" fill="hold">
                            <p:stCondLst>
                              <p:cond delay="6800"/>
                            </p:stCondLst>
                            <p:childTnLst>
                              <p:par>
                                <p:cTn id="61" presetID="10" presetClass="entr" presetSubtype="0" fill="hold" grpId="0" nodeType="afterEffect">
                                  <p:stCondLst>
                                    <p:cond delay="0"/>
                                  </p:stCondLst>
                                  <p:iterate type="wd">
                                    <p:tmPct val="10000"/>
                                  </p:iterate>
                                  <p:childTnLst>
                                    <p:set>
                                      <p:cBhvr>
                                        <p:cTn id="62" dur="1" fill="hold">
                                          <p:stCondLst>
                                            <p:cond delay="0"/>
                                          </p:stCondLst>
                                        </p:cTn>
                                        <p:tgtEl>
                                          <p:spTgt spid="17"/>
                                        </p:tgtEl>
                                        <p:attrNameLst>
                                          <p:attrName>style.visibility</p:attrName>
                                        </p:attrNameLst>
                                      </p:cBhvr>
                                      <p:to>
                                        <p:strVal val="visible"/>
                                      </p:to>
                                    </p:set>
                                    <p:animEffect transition="in" filter="fade">
                                      <p:cBhvr>
                                        <p:cTn id="63" dur="500"/>
                                        <p:tgtEl>
                                          <p:spTgt spid="17"/>
                                        </p:tgtEl>
                                      </p:cBhvr>
                                    </p:animEffect>
                                  </p:childTnLst>
                                </p:cTn>
                              </p:par>
                            </p:childTnLst>
                          </p:cTn>
                        </p:par>
                        <p:par>
                          <p:cTn id="64" fill="hold">
                            <p:stCondLst>
                              <p:cond delay="7399"/>
                            </p:stCondLst>
                            <p:childTnLst>
                              <p:par>
                                <p:cTn id="65" presetID="10" presetClass="entr" presetSubtype="0" fill="hold" grpId="0" nodeType="afterEffect">
                                  <p:stCondLst>
                                    <p:cond delay="0"/>
                                  </p:stCondLst>
                                  <p:iterate type="wd">
                                    <p:tmPct val="10000"/>
                                  </p:iterate>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par>
                          <p:cTn id="68" fill="hold">
                            <p:stCondLst>
                              <p:cond delay="9100"/>
                            </p:stCondLst>
                            <p:childTnLst>
                              <p:par>
                                <p:cTn id="69" presetID="53" presetClass="entr" presetSubtype="16" fill="hold" grpId="0"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p:cTn id="71" dur="500" fill="hold"/>
                                        <p:tgtEl>
                                          <p:spTgt spid="20"/>
                                        </p:tgtEl>
                                        <p:attrNameLst>
                                          <p:attrName>ppt_w</p:attrName>
                                        </p:attrNameLst>
                                      </p:cBhvr>
                                      <p:tavLst>
                                        <p:tav tm="0">
                                          <p:val>
                                            <p:fltVal val="0"/>
                                          </p:val>
                                        </p:tav>
                                        <p:tav tm="100000">
                                          <p:val>
                                            <p:strVal val="#ppt_w"/>
                                          </p:val>
                                        </p:tav>
                                      </p:tavLst>
                                    </p:anim>
                                    <p:anim calcmode="lin" valueType="num">
                                      <p:cBhvr>
                                        <p:cTn id="72" dur="500" fill="hold"/>
                                        <p:tgtEl>
                                          <p:spTgt spid="20"/>
                                        </p:tgtEl>
                                        <p:attrNameLst>
                                          <p:attrName>ppt_h</p:attrName>
                                        </p:attrNameLst>
                                      </p:cBhvr>
                                      <p:tavLst>
                                        <p:tav tm="0">
                                          <p:val>
                                            <p:fltVal val="0"/>
                                          </p:val>
                                        </p:tav>
                                        <p:tav tm="100000">
                                          <p:val>
                                            <p:strVal val="#ppt_h"/>
                                          </p:val>
                                        </p:tav>
                                      </p:tavLst>
                                    </p:anim>
                                    <p:animEffect transition="in" filter="fade">
                                      <p:cBhvr>
                                        <p:cTn id="73" dur="500"/>
                                        <p:tgtEl>
                                          <p:spTgt spid="20"/>
                                        </p:tgtEl>
                                      </p:cBhvr>
                                    </p:animEffect>
                                  </p:childTnLst>
                                </p:cTn>
                              </p:par>
                            </p:childTnLst>
                          </p:cTn>
                        </p:par>
                        <p:par>
                          <p:cTn id="74" fill="hold">
                            <p:stCondLst>
                              <p:cond delay="9600"/>
                            </p:stCondLst>
                            <p:childTnLst>
                              <p:par>
                                <p:cTn id="75" presetID="16" presetClass="entr" presetSubtype="42" fill="hold" nodeType="after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barn(outHorizontal)">
                                      <p:cBhvr>
                                        <p:cTn id="77" dur="500"/>
                                        <p:tgtEl>
                                          <p:spTgt spid="23"/>
                                        </p:tgtEl>
                                      </p:cBhvr>
                                    </p:animEffect>
                                  </p:childTnLst>
                                </p:cTn>
                              </p:par>
                            </p:childTnLst>
                          </p:cTn>
                        </p:par>
                        <p:par>
                          <p:cTn id="78" fill="hold">
                            <p:stCondLst>
                              <p:cond delay="10100"/>
                            </p:stCondLst>
                            <p:childTnLst>
                              <p:par>
                                <p:cTn id="79" presetID="10" presetClass="entr" presetSubtype="0" fill="hold" grpId="0" nodeType="afterEffect">
                                  <p:stCondLst>
                                    <p:cond delay="0"/>
                                  </p:stCondLst>
                                  <p:iterate type="wd">
                                    <p:tmPct val="10000"/>
                                  </p:iterate>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childTnLst>
                                </p:cTn>
                              </p:par>
                            </p:childTnLst>
                          </p:cTn>
                        </p:par>
                        <p:par>
                          <p:cTn id="82" fill="hold">
                            <p:stCondLst>
                              <p:cond delay="10700"/>
                            </p:stCondLst>
                            <p:childTnLst>
                              <p:par>
                                <p:cTn id="83" presetID="10" presetClass="entr" presetSubtype="0" fill="hold" grpId="0" nodeType="afterEffect">
                                  <p:stCondLst>
                                    <p:cond delay="0"/>
                                  </p:stCondLst>
                                  <p:iterate type="wd">
                                    <p:tmPct val="10000"/>
                                  </p:iterate>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2" grpId="0"/>
      <p:bldP spid="13" grpId="0"/>
      <p:bldP spid="14" grpId="0"/>
      <p:bldP spid="16" grpId="0"/>
      <p:bldP spid="17" grpId="0"/>
      <p:bldP spid="18" grpId="0"/>
      <p:bldP spid="20" grpId="0"/>
      <p:bldP spid="2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783972"/>
            <a:ext cx="5574158" cy="2861310"/>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一、刑法学的概念和研究对象</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二、刑法学的地位和作用</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三、刑法学的分类</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四、刑法学与相近学科的关系</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五、刑法学体系</a:t>
            </a:r>
          </a:p>
        </p:txBody>
      </p:sp>
      <p:sp>
        <p:nvSpPr>
          <p:cNvPr id="23" name="矩形 22"/>
          <p:cNvSpPr/>
          <p:nvPr/>
        </p:nvSpPr>
        <p:spPr>
          <a:xfrm>
            <a:off x="4930781" y="775078"/>
            <a:ext cx="474980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第一节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刑法学概述</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1932840"/>
            <a:ext cx="7248512" cy="4246245"/>
          </a:xfrm>
          <a:prstGeom prst="rect">
            <a:avLst/>
          </a:prstGeom>
          <a:noFill/>
        </p:spPr>
        <p:txBody>
          <a:bodyPr wrap="square" rtlCol="0">
            <a:sp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）广义刑法学</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 又称刑事法学。研究范围十分广泛，涉及与犯罪及其治理相关的所有问题，</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rPr>
              <a:t>包括实体刑法规范、刑事诉讼程序、刑罚执行、犯罪原因与对策等。</a:t>
            </a:r>
            <a:endPar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0">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）狭义刑法学</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 又称规范刑法学或解释</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刑法学，专</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以一国现行实体刑法规范为研究对象。</a:t>
            </a:r>
          </a:p>
          <a:p>
            <a:pPr>
              <a:lnSpc>
                <a:spcPct val="150000"/>
              </a:lnSpc>
            </a:pP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917985" y="3095936"/>
              <a:ext cx="3007995"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（一）刑法学的概念</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一、刑法学的概念和研究对象</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257960"/>
            <a:ext cx="7248512" cy="3785652"/>
          </a:xfrm>
          <a:prstGeom prst="rect">
            <a:avLst/>
          </a:prstGeom>
          <a:noFill/>
        </p:spPr>
        <p:txBody>
          <a:bodyPr wrap="square" rtlCol="0">
            <a:spAutoFit/>
          </a:bodyPr>
          <a:lstStyle/>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刑法学的基本理论</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 犯罪构成理论、刑事责任理论、刑罚理论是刑法学理论的核心部分</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0">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实体刑法</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 现行刑法体系由刑法典、单行</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刑法</a:t>
            </a:r>
            <a:r>
              <a:rPr lang="en-US" altLang="zh-CN" sz="1100" b="1" dirty="0">
                <a:solidFill>
                  <a:srgbClr val="0288DD"/>
                </a:solidFill>
                <a:latin typeface="微软雅黑" panose="020B0503020204020204" pitchFamily="34" charset="-122"/>
                <a:ea typeface="微软雅黑" panose="020B0503020204020204" pitchFamily="34" charset="-122"/>
                <a:sym typeface="+mn-ea"/>
              </a:rPr>
              <a:t>《</a:t>
            </a:r>
            <a:r>
              <a:rPr lang="zh-CN" altLang="en-US" sz="1100" b="1" dirty="0">
                <a:solidFill>
                  <a:srgbClr val="0288DD"/>
                </a:solidFill>
                <a:latin typeface="微软雅黑" panose="020B0503020204020204" pitchFamily="34" charset="-122"/>
                <a:ea typeface="微软雅黑" panose="020B0503020204020204" pitchFamily="34" charset="-122"/>
                <a:sym typeface="+mn-ea"/>
              </a:rPr>
              <a:t>关于惩治骗购外汇、逃汇和非法买卖外汇犯罪的决定</a:t>
            </a:r>
            <a:r>
              <a:rPr lang="en-US" altLang="zh-CN" sz="1100" b="1" dirty="0">
                <a:solidFill>
                  <a:srgbClr val="0288DD"/>
                </a:solidFill>
                <a:latin typeface="微软雅黑" panose="020B0503020204020204" pitchFamily="34" charset="-122"/>
                <a:ea typeface="微软雅黑" panose="020B0503020204020204" pitchFamily="34" charset="-122"/>
                <a:sym typeface="+mn-ea"/>
              </a:rPr>
              <a:t>》</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附属刑法以及刑事政策、刑法立法解释、司法解释等组成。</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37951" y="3095936"/>
            <a:ext cx="3568065" cy="1813324"/>
            <a:chOff x="637951" y="3095936"/>
            <a:chExt cx="356806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37951" y="3095936"/>
              <a:ext cx="3568065"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（二）刑法学的研究对象</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一、刑法学的概念和研究对象</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257960"/>
            <a:ext cx="7248512" cy="4246245"/>
          </a:xfrm>
          <a:prstGeom prst="rect">
            <a:avLst/>
          </a:prstGeom>
          <a:noFill/>
        </p:spPr>
        <p:txBody>
          <a:bodyPr wrap="square" rtlCol="0">
            <a:spAutoFit/>
          </a:bodyPr>
          <a:lstStyle/>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刑事司法实践</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 刑事司法实践中遇到的实体问题、刑事司法解释、典型刑事案例等值得关注</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0">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4.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刑事政策和刑事立法</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 高质量的刑事立法是良好的刑事司法的前提。</a:t>
            </a:r>
          </a:p>
          <a:p>
            <a:pPr>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sym typeface="+mn-ea"/>
              </a:rPr>
              <a:t>★ 我国刑事政策是党和国家对犯罪治理历史经验的科学总结，是立法的先导、法律的灵魂、司法的指引，包括刑事立法政策、司法政策和社会政策。</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37951" y="3095936"/>
            <a:ext cx="3568065" cy="1813324"/>
            <a:chOff x="637951" y="3095936"/>
            <a:chExt cx="356806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37951" y="3095936"/>
              <a:ext cx="3568065"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（二）刑法学的研究对象</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一、刑法学的概念和研究对象</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1750" y="2303680"/>
            <a:ext cx="7248512" cy="2399665"/>
          </a:xfrm>
          <a:prstGeom prst="rect">
            <a:avLst/>
          </a:prstGeom>
          <a:noFill/>
        </p:spPr>
        <p:txBody>
          <a:bodyPr wrap="square" rtlCol="0">
            <a:spAutoFit/>
          </a:bodyPr>
          <a:lstStyle/>
          <a:p>
            <a:pPr lvl="0" indent="0"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刑法学是一门十分重要的部门法学</a:t>
            </a:r>
          </a:p>
          <a:p>
            <a:pPr lvl="0"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0" indent="0"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刑法学是法学教育的基础课程、核心课程之一</a:t>
            </a:r>
          </a:p>
          <a:p>
            <a:pPr lvl="0"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lvl="0" indent="0"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0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刑法学在法学体系中扮演着极为重要的角色</a:t>
            </a: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917985" y="3095936"/>
              <a:ext cx="3007995"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（一）刑法学的地位</a:t>
              </a:r>
            </a:p>
          </p:txBody>
        </p:sp>
      </p:grpSp>
      <p:sp>
        <p:nvSpPr>
          <p:cNvPr id="3" name="矩形 2"/>
          <p:cNvSpPr/>
          <p:nvPr/>
        </p:nvSpPr>
        <p:spPr>
          <a:xfrm>
            <a:off x="4121925" y="1232244"/>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二、刑法学的地位和作用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603715" y="2605940"/>
            <a:ext cx="7248512" cy="2399665"/>
          </a:xfrm>
          <a:prstGeom prst="rect">
            <a:avLst/>
          </a:prstGeom>
          <a:noFill/>
        </p:spPr>
        <p:txBody>
          <a:bodyPr wrap="square" rtlCol="0">
            <a:spAutoFit/>
          </a:bodyPr>
          <a:lstStyle/>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支持刑事立法</a:t>
            </a: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指导刑事司法</a:t>
            </a: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促进社会治理</a:t>
            </a: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4.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促进法学繁荣</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917987" y="3095936"/>
              <a:ext cx="3007995"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（二）刑法学的作用</a:t>
              </a:r>
            </a:p>
          </p:txBody>
        </p:sp>
      </p:grpSp>
      <p:sp>
        <p:nvSpPr>
          <p:cNvPr id="3" name="矩形 2"/>
          <p:cNvSpPr/>
          <p:nvPr/>
        </p:nvSpPr>
        <p:spPr>
          <a:xfrm>
            <a:off x="4121925" y="1232244"/>
            <a:ext cx="35356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二、刑法学的地位和作用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0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851365" y="2872640"/>
            <a:ext cx="7248512" cy="1938020"/>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国内刑法学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外国刑法学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国际刑法学</a:t>
            </a:r>
            <a:endPar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37962" y="3095936"/>
            <a:ext cx="3568065" cy="1813324"/>
            <a:chOff x="637962" y="3095936"/>
            <a:chExt cx="356806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37962" y="3095936"/>
              <a:ext cx="3568065"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（一）从刑法所属的国别</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及适用的地域范围出发</a:t>
              </a:r>
            </a:p>
          </p:txBody>
        </p:sp>
      </p:grpSp>
      <p:sp>
        <p:nvSpPr>
          <p:cNvPr id="3" name="矩形 2"/>
          <p:cNvSpPr/>
          <p:nvPr/>
        </p:nvSpPr>
        <p:spPr>
          <a:xfrm>
            <a:off x="4121925" y="1232244"/>
            <a:ext cx="2621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三、刑法学的分类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8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603715" y="2509420"/>
            <a:ext cx="7248512" cy="2399665"/>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刑法哲学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注释刑法学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刑法史学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比较刑法学</a:t>
            </a:r>
            <a:endPar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05553" cy="1813324"/>
            <a:chOff x="760461" y="3095936"/>
            <a:chExt cx="330555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77984" y="3095936"/>
              <a:ext cx="328803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（二）从研究方法出发</a:t>
              </a:r>
            </a:p>
          </p:txBody>
        </p:sp>
      </p:grpSp>
      <p:sp>
        <p:nvSpPr>
          <p:cNvPr id="3" name="矩形 2"/>
          <p:cNvSpPr/>
          <p:nvPr/>
        </p:nvSpPr>
        <p:spPr>
          <a:xfrm>
            <a:off x="4121925" y="1232244"/>
            <a:ext cx="2621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三、刑法学的分类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8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603715" y="2285900"/>
            <a:ext cx="7248512" cy="2861310"/>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军事刑法学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经济刑法学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行政刑法学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环境刑法学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医事刑法学</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网络刑法学</a:t>
            </a: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05555" cy="1813324"/>
            <a:chOff x="760461" y="3095936"/>
            <a:chExt cx="330555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77986" y="3095936"/>
              <a:ext cx="3288030"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（三）从所研究的犯罪</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特定种类出发</a:t>
              </a:r>
            </a:p>
          </p:txBody>
        </p:sp>
      </p:grpSp>
      <p:sp>
        <p:nvSpPr>
          <p:cNvPr id="3" name="矩形 2"/>
          <p:cNvSpPr/>
          <p:nvPr/>
        </p:nvSpPr>
        <p:spPr>
          <a:xfrm>
            <a:off x="4121925" y="1232244"/>
            <a:ext cx="2621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三、刑法学的分类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8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8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710080"/>
            <a:ext cx="7248512" cy="2399665"/>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刑法学系规制犯罪的实体法</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刑事诉讼法学系规制犯罪的程序法</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二者相互依存，关系极为密切</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必须同等重视刑法学与刑事诉讼法学，实现同步发展</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177303" cy="1813324"/>
            <a:chOff x="760461" y="3095936"/>
            <a:chExt cx="3177303"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8022" y="3095936"/>
              <a:ext cx="2447925" cy="1106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（一）刑法学与</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刑事诉讼法学</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四、刑法学与相近学科的关系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710080"/>
            <a:ext cx="7248512" cy="2399665"/>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二者都以犯罪为研究对象，但研究的侧重点不同</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犯罪学主要是一门“事实学”</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刑法学主要是一门“规范学”</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犯罪学研究的深入，有助于促进刑法学的科学化和合理化</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61055" cy="1813324"/>
            <a:chOff x="760461" y="3095936"/>
            <a:chExt cx="336105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095936"/>
              <a:ext cx="292354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（二）刑法学与</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犯罪学</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四、刑法学与相近学科的关系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710080"/>
            <a:ext cx="7248512" cy="3323987"/>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刑法学研究的重点是如何认定和处理犯罪</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刑事侦查学主要研究如何发现和揭露犯罪</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刑事侦查活动以刑法规定为前提和依据</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只有通过刑事侦查活动，才能查明犯罪事实，进而追究犯罪人的刑事责任</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★了解一定的刑事侦查学知识，对于准确把握各类犯罪的特点、规律，从而准确定罪量刑具有积极意义</a:t>
            </a: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61055" cy="1813324"/>
            <a:chOff x="760461" y="3095936"/>
            <a:chExt cx="336105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095936"/>
              <a:ext cx="292354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（三）刑法学与</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刑事侦查学</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四、刑法学与相近学科的关系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710080"/>
            <a:ext cx="7248512" cy="2400657"/>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刑事执行法学主要研究刑罚执行和罪犯矫正问题</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刑法学研究的重要内容之一是刑罚的设置和裁量</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二者从不同的角度和环节研究刑罚问题，具有紧密联系</a:t>
            </a: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刑事执行法学对于刑法学具有一定的依存性</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执行法学对于</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刑法学具有促进作用</a:t>
            </a: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61055" cy="1813324"/>
            <a:chOff x="760461" y="3095936"/>
            <a:chExt cx="336105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095936"/>
              <a:ext cx="292354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（四）刑法学与</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刑事执行法学</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四、刑法学与相近学科的关系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760880"/>
            <a:ext cx="7248512" cy="2400657"/>
          </a:xfrm>
          <a:prstGeom prst="rect">
            <a:avLst/>
          </a:prstGeom>
          <a:noFill/>
        </p:spPr>
        <p:txBody>
          <a:bodyPr wrap="square" rtlCol="0">
            <a:spAutoFit/>
          </a:bodyPr>
          <a:lstStyle/>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刑事政策是刑法的灵魂</a:t>
            </a: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刑法是刑事政策的定型化</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（不能用刑事政策代替刑事立法、司法、执法）</a:t>
            </a:r>
            <a:endParaRPr lang="zh-CN" altLang="en-US" sz="1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l">
              <a:lnSpc>
                <a:spcPct val="150000"/>
              </a:lnSpc>
              <a:buClrTx/>
              <a:buSzTx/>
              <a:buNone/>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刑事政策学研究的不断深入，有利于提升刑法的立法质量、优化刑法的运作机制，也有利于促进刑法学的繁荣、发展</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lvl="0" algn="ctr">
              <a:lnSpc>
                <a:spcPct val="150000"/>
              </a:lnSpc>
            </a:pPr>
            <a:endParaRPr lang="en-US" altLang="zh-CN" sz="2000" dirty="0">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095936"/>
            <a:ext cx="3361055" cy="1813324"/>
            <a:chOff x="760461" y="3095936"/>
            <a:chExt cx="3361055" cy="1813324"/>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095936"/>
              <a:ext cx="292354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（五）刑法学与</a:t>
              </a:r>
            </a:p>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刑事政策学</a:t>
              </a:r>
            </a:p>
          </p:txBody>
        </p:sp>
      </p:grpSp>
      <p:sp>
        <p:nvSpPr>
          <p:cNvPr id="3" name="矩形 2"/>
          <p:cNvSpPr/>
          <p:nvPr/>
        </p:nvSpPr>
        <p:spPr>
          <a:xfrm>
            <a:off x="4121925" y="1232244"/>
            <a:ext cx="4145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四、刑法学与相近学科的关系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0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0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209648" y="1802847"/>
            <a:ext cx="7248512" cy="4708981"/>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本书分为总论与各论两册。</a:t>
            </a:r>
            <a:endPar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1.</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总论</a:t>
            </a:r>
          </a:p>
          <a:p>
            <a:pPr>
              <a:lnSpc>
                <a:spcPct val="150000"/>
              </a:lnSpc>
            </a:pP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sym typeface="+mn-ea"/>
              </a:rPr>
              <a:t>绪论、刑法概说、刑法的基本原则、刑法的效力、犯罪概念与犯罪构成、</a:t>
            </a:r>
            <a:r>
              <a:rPr lang="en-US" altLang="zh-CN" sz="2000" dirty="0" err="1">
                <a:solidFill>
                  <a:srgbClr val="0288DD"/>
                </a:solidFill>
                <a:latin typeface="微软雅黑" panose="020B0503020204020204" pitchFamily="34" charset="-122"/>
                <a:ea typeface="微软雅黑" panose="020B0503020204020204" pitchFamily="34" charset="-122"/>
                <a:sym typeface="+mn-ea"/>
              </a:rPr>
              <a:t>犯罪客体、犯罪客观方面、犯罪主体、犯罪主观方面、</a:t>
            </a:r>
            <a:r>
              <a:rPr lang="en-US" altLang="zh-CN" sz="2000" dirty="0" err="1" smtClean="0">
                <a:solidFill>
                  <a:srgbClr val="0288DD"/>
                </a:solidFill>
                <a:latin typeface="微软雅黑" panose="020B0503020204020204" pitchFamily="34" charset="-122"/>
                <a:ea typeface="微软雅黑" panose="020B0503020204020204" pitchFamily="34" charset="-122"/>
                <a:sym typeface="+mn-ea"/>
              </a:rPr>
              <a:t>正当行为</a:t>
            </a:r>
            <a:r>
              <a:rPr lang="zh-CN" altLang="en-US" sz="1400" b="1" dirty="0">
                <a:solidFill>
                  <a:srgbClr val="0288DD"/>
                </a:solidFill>
                <a:latin typeface="微软雅黑" panose="020B0503020204020204" pitchFamily="34" charset="-122"/>
                <a:ea typeface="微软雅黑" panose="020B0503020204020204" pitchFamily="34" charset="-122"/>
                <a:sym typeface="+mn-ea"/>
              </a:rPr>
              <a:t>（犯罪成立理论）</a:t>
            </a:r>
            <a:r>
              <a:rPr lang="en-US" altLang="zh-CN" sz="2000" dirty="0" smtClean="0">
                <a:solidFill>
                  <a:srgbClr val="0288DD"/>
                </a:solidFill>
                <a:latin typeface="微软雅黑" panose="020B0503020204020204" pitchFamily="34" charset="-122"/>
                <a:ea typeface="微软雅黑" panose="020B0503020204020204" pitchFamily="34" charset="-122"/>
                <a:sym typeface="+mn-ea"/>
              </a:rPr>
              <a:t>、</a:t>
            </a:r>
            <a:r>
              <a:rPr lang="en-US" altLang="zh-CN" sz="2000" dirty="0" err="1" smtClean="0">
                <a:solidFill>
                  <a:srgbClr val="0288DD"/>
                </a:solidFill>
                <a:latin typeface="微软雅黑" panose="020B0503020204020204" pitchFamily="34" charset="-122"/>
                <a:ea typeface="微软雅黑" panose="020B0503020204020204" pitchFamily="34" charset="-122"/>
                <a:sym typeface="+mn-ea"/>
              </a:rPr>
              <a:t>故意犯罪的停止形态</a:t>
            </a:r>
            <a:r>
              <a:rPr lang="en-US" altLang="zh-CN" sz="2000" dirty="0" err="1">
                <a:solidFill>
                  <a:srgbClr val="0288DD"/>
                </a:solidFill>
                <a:latin typeface="微软雅黑" panose="020B0503020204020204" pitchFamily="34" charset="-122"/>
                <a:ea typeface="微软雅黑" panose="020B0503020204020204" pitchFamily="34" charset="-122"/>
                <a:sym typeface="+mn-ea"/>
              </a:rPr>
              <a:t>、共同犯罪、</a:t>
            </a:r>
            <a:r>
              <a:rPr lang="en-US" altLang="zh-CN" sz="2000" dirty="0" err="1" smtClean="0">
                <a:solidFill>
                  <a:srgbClr val="0288DD"/>
                </a:solidFill>
                <a:latin typeface="微软雅黑" panose="020B0503020204020204" pitchFamily="34" charset="-122"/>
                <a:ea typeface="微软雅黑" panose="020B0503020204020204" pitchFamily="34" charset="-122"/>
                <a:sym typeface="+mn-ea"/>
              </a:rPr>
              <a:t>罪数</a:t>
            </a:r>
            <a:r>
              <a:rPr lang="zh-CN" altLang="en-US" sz="2000" b="1" dirty="0">
                <a:solidFill>
                  <a:srgbClr val="0288DD"/>
                </a:solidFill>
                <a:latin typeface="微软雅黑" panose="020B0503020204020204" pitchFamily="34" charset="-122"/>
                <a:ea typeface="微软雅黑" panose="020B0503020204020204" pitchFamily="34" charset="-122"/>
                <a:sym typeface="+mn-ea"/>
              </a:rPr>
              <a:t> </a:t>
            </a:r>
            <a:r>
              <a:rPr lang="zh-CN" altLang="en-US" sz="1400" b="1" dirty="0">
                <a:solidFill>
                  <a:srgbClr val="0288DD"/>
                </a:solidFill>
                <a:latin typeface="微软雅黑" panose="020B0503020204020204" pitchFamily="34" charset="-122"/>
                <a:ea typeface="微软雅黑" panose="020B0503020204020204" pitchFamily="34" charset="-122"/>
                <a:sym typeface="+mn-ea"/>
              </a:rPr>
              <a:t>（</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犯罪</a:t>
            </a:r>
            <a:r>
              <a:rPr lang="zh-CN" altLang="en-US" sz="1400" b="1" dirty="0">
                <a:solidFill>
                  <a:srgbClr val="0288DD"/>
                </a:solidFill>
                <a:latin typeface="微软雅黑" panose="020B0503020204020204" pitchFamily="34" charset="-122"/>
                <a:ea typeface="微软雅黑" panose="020B0503020204020204" pitchFamily="34" charset="-122"/>
                <a:sym typeface="+mn-ea"/>
              </a:rPr>
              <a:t>形态</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理论</a:t>
            </a:r>
            <a:r>
              <a:rPr lang="zh-CN" altLang="en-US" sz="1400" b="1" dirty="0">
                <a:solidFill>
                  <a:srgbClr val="0288DD"/>
                </a:solidFill>
                <a:latin typeface="微软雅黑" panose="020B0503020204020204" pitchFamily="34" charset="-122"/>
                <a:ea typeface="微软雅黑" panose="020B0503020204020204" pitchFamily="34" charset="-122"/>
                <a:sym typeface="+mn-ea"/>
              </a:rPr>
              <a:t>） </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a:t>
            </a:r>
            <a:r>
              <a:rPr lang="en-US" altLang="zh-CN" sz="2000" dirty="0" err="1">
                <a:solidFill>
                  <a:schemeClr val="tx1">
                    <a:lumMod val="65000"/>
                    <a:lumOff val="35000"/>
                  </a:schemeClr>
                </a:solidFill>
                <a:latin typeface="微软雅黑" panose="020B0503020204020204" pitchFamily="34" charset="-122"/>
                <a:ea typeface="微软雅黑" panose="020B0503020204020204" pitchFamily="34" charset="-122"/>
                <a:sym typeface="+mn-ea"/>
              </a:rPr>
              <a:t>刑事责任、</a:t>
            </a:r>
            <a:r>
              <a:rPr lang="en-US" altLang="zh-CN" sz="2000" dirty="0" err="1"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刑罚及其种类</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（制刑论）</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a:t>
            </a:r>
            <a:r>
              <a:rPr lang="en-US" altLang="zh-CN" sz="2000" dirty="0" err="1"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刑罚制度</a:t>
            </a:r>
            <a:r>
              <a:rPr lang="zh-CN" altLang="en-US" sz="1400" b="1" dirty="0" smtClean="0">
                <a:solidFill>
                  <a:srgbClr val="0288DD"/>
                </a:solidFill>
                <a:latin typeface="微软雅黑" panose="020B0503020204020204" pitchFamily="34" charset="-122"/>
                <a:ea typeface="微软雅黑" panose="020B0503020204020204" pitchFamily="34" charset="-122"/>
                <a:sym typeface="+mn-ea"/>
              </a:rPr>
              <a:t>（量刑论、行刑论）</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2. 各论</a:t>
            </a:r>
          </a:p>
          <a:p>
            <a:pPr>
              <a:lnSpc>
                <a:spcPct val="150000"/>
              </a:lnSpc>
            </a:pP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除了概述外，另设</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章，分别论述我国刑法分则所规定的</a:t>
            </a: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10</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类犯罪</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943341" y="3095936"/>
            <a:ext cx="3178175" cy="2199404"/>
            <a:chOff x="943341" y="3095936"/>
            <a:chExt cx="3178175" cy="2199404"/>
          </a:xfrm>
        </p:grpSpPr>
        <p:sp>
          <p:nvSpPr>
            <p:cNvPr id="20" name="L 形 19"/>
            <p:cNvSpPr/>
            <p:nvPr/>
          </p:nvSpPr>
          <p:spPr>
            <a:xfrm>
              <a:off x="943341" y="362120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095936"/>
              <a:ext cx="2923540" cy="2122805"/>
            </a:xfrm>
            <a:prstGeom prst="rect">
              <a:avLst/>
            </a:prstGeom>
          </p:spPr>
          <p:txBody>
            <a:bodyPr wrap="square">
              <a:spAutoFit/>
            </a:bodyPr>
            <a:lstStyle/>
            <a:p>
              <a:pPr indent="304800" algn="just">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刑法学体系是指根据一定的原理、原则和内在逻辑建立的刑法学知识理论框架。</a:t>
              </a:r>
              <a:endParaRPr lang="en-US" altLang="zh-CN"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23164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五、刑法学体系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1799"/>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2799"/>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4140" y="2712085"/>
            <a:ext cx="6079490" cy="230695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一、中华法系刑事法治发展简史</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二、西方刑法学发展简史</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三、马克思主义刑法思想指引下新中国刑法学的演进</a:t>
            </a:r>
          </a:p>
        </p:txBody>
      </p:sp>
      <p:sp>
        <p:nvSpPr>
          <p:cNvPr id="23" name="矩形 22"/>
          <p:cNvSpPr/>
          <p:nvPr/>
        </p:nvSpPr>
        <p:spPr>
          <a:xfrm>
            <a:off x="4295781" y="775078"/>
            <a:ext cx="6784340" cy="829945"/>
          </a:xfrm>
          <a:prstGeom prst="rect">
            <a:avLst/>
          </a:prstGeom>
        </p:spPr>
        <p:txBody>
          <a:bodyPr wrap="none">
            <a:spAutoFit/>
          </a:bodyPr>
          <a:lstStyle/>
          <a:p>
            <a:pP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第二节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刑法学的沿革与发展</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689985" y="1993900"/>
            <a:ext cx="7775575" cy="3322955"/>
          </a:xfrm>
          <a:prstGeom prst="rect">
            <a:avLst/>
          </a:prstGeom>
          <a:noFill/>
        </p:spPr>
        <p:txBody>
          <a:bodyPr wrap="square" rtlCol="0">
            <a:spAutoFit/>
          </a:bodyPr>
          <a:lstStyle/>
          <a:p>
            <a:pPr lvl="0"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我国奴隶制刑法的几个特征：</a:t>
            </a:r>
          </a:p>
          <a:p>
            <a:pPr lvl="0"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1. 本质上是阶级压迫的工具，旨在保护奴隶主贵族的特权，有着明显的血缘特征。</a:t>
            </a:r>
          </a:p>
          <a:p>
            <a:pPr lvl="0"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2. 尚未脱离“兵刑合一”的影响，广泛适用肉刑和死刑等残酷刑罚。</a:t>
            </a:r>
          </a:p>
          <a:p>
            <a:pPr lvl="0"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3. 多不成文，藏于官府，不向社会公布，实行“临时议罪”“议事以制”，以期收到“令不测其浅深，常畏威而惧罪也“的威慑效果。</a:t>
            </a:r>
          </a:p>
          <a:p>
            <a:pPr lvl="0">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一、中华法系刑事法治发展简史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（一）我国奴隶社会时期的刑法实践与探索</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5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0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5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6" grpId="0"/>
      <p:bldP spid="2"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830955" y="1993900"/>
            <a:ext cx="7401560" cy="3322955"/>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春秋战国时期，《法经》是我国历史上第一步较为系统</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完整的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封建法典。</a:t>
            </a:r>
          </a:p>
          <a:p>
            <a:pPr lvl="0"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秦律以法条冗繁、刑罚严苛闻名于世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。秦朝的刑罚多达80种，其中死刑19种、肉刑15种、役刑32种、财产刑9种、自由刑5种。</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汉朝，儒家思想成为中国封建社会法制指导思想，“德主刑辅”“出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礼入刑</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”等刑事法治原则对汉朝以及后世的刑法实践产生了深远影响。</a:t>
            </a:r>
          </a:p>
        </p:txBody>
      </p:sp>
      <p:sp>
        <p:nvSpPr>
          <p:cNvPr id="2" name="矩形 1"/>
          <p:cNvSpPr/>
          <p:nvPr/>
        </p:nvSpPr>
        <p:spPr>
          <a:xfrm>
            <a:off x="2610318" y="684820"/>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一、中华法系刑事法治发展简史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（二）我国封建社会时期的刑法实践与探索</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5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0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5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052565" y="2460049"/>
            <a:ext cx="7151870" cy="1938020"/>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三国两晋南北朝时期，礼律结合的刑事立法思想得以巩固，律典体例趋于完备，条文规定简约明晰，封建制五刑(答、杖、徒、流、死) 逐步定型。</a:t>
            </a:r>
          </a:p>
          <a:p>
            <a:pPr lvl="0">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2610318" y="684820"/>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一、中华法系刑事法治发展简史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（二）我国封建社会时期的刑法实践与探索</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5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0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5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094289"/>
            <a:ext cx="7151870" cy="3784600"/>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◎唐律的主要特点在于：</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贯彻了“德主刑辅”“礼法合一，一准乎礼”等指导思想，标志着中国封建刑法儒家化的完成。</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(2) 疏、议合一。</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(3) 各种刑法制度均已定型，对罪名的设置、刑罚种类与适用原则以及刑罚执行等都有相当完备的规定，成为封建刑法中各种制度的集大成者。</a:t>
            </a:r>
          </a:p>
          <a:p>
            <a:pPr lvl="0">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2610318" y="684820"/>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一、中华法系刑事法治发展简史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（二）我国封建社会时期的刑法实践与探索</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5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0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5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219384"/>
            <a:ext cx="7151870" cy="2861310"/>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1840年鸦片战争后，</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中国逐步</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成</a:t>
            </a:r>
            <a:r>
              <a:rPr lang="en-US" altLang="zh-CN" sz="2000" dirty="0" err="1" smtClean="0">
                <a:latin typeface="微软雅黑" panose="020B0503020204020204" pitchFamily="34" charset="-122"/>
                <a:ea typeface="微软雅黑" panose="020B0503020204020204" pitchFamily="34" charset="-122"/>
                <a:cs typeface="微软雅黑" panose="020B0503020204020204" pitchFamily="34" charset="-122"/>
              </a:rPr>
              <a:t>为半殖民地半封建社会</a:t>
            </a:r>
            <a:r>
              <a:rPr lang="en-US" altLang="zh-CN" sz="2000" dirty="0" err="1">
                <a:latin typeface="微软雅黑" panose="020B0503020204020204" pitchFamily="34" charset="-122"/>
                <a:ea typeface="微软雅黑" panose="020B0503020204020204" pitchFamily="34" charset="-122"/>
                <a:cs typeface="微软雅黑" panose="020B0503020204020204" pitchFamily="34" charset="-122"/>
              </a:rPr>
              <a:t>。晚清时期</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中国先后制定了《大清现行刑律》和《大清新刑律》两部刑法典。《大清新刑律》颁布于1911 年，是中国历史上第一部近代意义的专门刑法典，在法制史上具有重大的开创性与奠基性意义。</a:t>
            </a:r>
          </a:p>
          <a:p>
            <a:pPr lvl="0">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2610318" y="684820"/>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一、中华法系刑事法治发展简史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（三）我国半殖民地半封建社会时期的刑法实践与探索</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79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29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79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555934"/>
            <a:ext cx="7151870" cy="2399665"/>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民国时期是我国刑法学发展的一个重要时期。刑法学研究</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进入了</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一个繁荣期，多数学者重在引进、介绍、评介大陆法系的刑法制度和刑法学说，中国现代刑法学体系得以初步形成，并在一些基本理论问题的研究上取得了相当成就。</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不过，民国时期的刑法学呈现为典型的移植刑法学。</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2610318" y="684820"/>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一、中华法系刑事法治发展简史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（三）我国半殖民地半封建社会时期的刑法实践与探索</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79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29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79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51056" y="1994140"/>
            <a:ext cx="7478395" cy="3785652"/>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◎中华法系刑事法治的发展</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历程彰</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显了中华民族的伟大创造力和中华法制文明的深厚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底蕴</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◎在长期的国家治理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实践</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中，形成了一系列与中华民族智慧和精神相契合的刑事法治思想，对中国特色社会主义法治思想、</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法治</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观念、法治原则的形成与发展具有深刻的启迪和借鉴意义</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◎历史和现实证明，只有立足中国基本</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国情</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，充分传承借鉴中华优秀传统法治文化，方能形成与中国式现代化目标相</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契合的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刑法治理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模式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2610318" y="684820"/>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一、中华法系刑事法治发展简史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（四）中华法系刑法思想演进简析</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3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8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3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1843464"/>
            <a:ext cx="7151870" cy="3784600"/>
          </a:xfrm>
          <a:prstGeom prst="rect">
            <a:avLst/>
          </a:prstGeom>
          <a:noFill/>
        </p:spPr>
        <p:txBody>
          <a:bodyPr wrap="square" rtlCol="0">
            <a:spAutoFit/>
          </a:bodyPr>
          <a:lstStyle/>
          <a:p>
            <a:pPr lvl="0">
              <a:lnSpc>
                <a:spcPct val="150000"/>
              </a:lnSpc>
            </a:pP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乌尔第三王朝统治时期(前2113 年一前2006 年)，制定了迄今所知的人类历史上第一部成文</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法典</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《乌尔纳姆法典》</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lvl="0">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公元前 18 世纪，巴比伦国第六代国王汉穆拉比制定了著名的《汉穆拉比法典》，这是世界上迄今完整保存下来的最早的一部古代法典。</a:t>
            </a:r>
          </a:p>
          <a:p>
            <a:pPr lvl="0">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（一）古代西方的刑法思想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449889"/>
            <a:ext cx="7151870" cy="2399665"/>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古希腊、古罗马的法律制度是西方法律制度的直接渊源。</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亚里士多德：</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）犯罪的根源在于“人类的罪恶本性”；</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）犯罪的原因，包括贫穷、放纵情欲及追求权势等</a:t>
            </a: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）刑罚的性质是以恶制恶，而惩恶的目的在于消除恶性。</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（一）古代西方的刑法思想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449889"/>
            <a:ext cx="7151870" cy="2399665"/>
          </a:xfrm>
          <a:prstGeom prst="rect">
            <a:avLst/>
          </a:prstGeom>
          <a:noFill/>
        </p:spPr>
        <p:txBody>
          <a:bodyPr wrap="square" rtlCol="0">
            <a:spAutoFit/>
          </a:bodyPr>
          <a:lstStyle/>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古罗马</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《十二铜表法》、《国法大全》</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历代罗马皇帝的“敕令”</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古罗马刑法开始区分犯罪的故意和过失，开始考虑刑事责任年龄与刑事责任能力，开始划分犯罪阶段、区分既遂与未遂，开始划分共犯责任。</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（一）古代西方的刑法思想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324794"/>
            <a:ext cx="7151870" cy="2861310"/>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刑事古典学派</a:t>
            </a:r>
          </a:p>
          <a:p>
            <a:pPr lvl="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刑事古典学派又分为前期古典学派和后期古典学派。</a:t>
            </a:r>
          </a:p>
          <a:p>
            <a:pPr lvl="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前期古典学派最具代表性的人物是意大利的贝卡里亚，德国的费尔巴哈、英国的边沁等。</a:t>
            </a:r>
          </a:p>
          <a:p>
            <a:pPr lvl="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后期古典学派的代表人物主要是德国学者宾丁、毕克迈尔、贝林格等人。</a:t>
            </a: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（二）近代西方的刑法思想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324794"/>
            <a:ext cx="7151870" cy="2861310"/>
          </a:xfrm>
          <a:prstGeom prst="rect">
            <a:avLst/>
          </a:prstGeom>
          <a:noFill/>
        </p:spPr>
        <p:txBody>
          <a:bodyPr wrap="square" rtlCol="0">
            <a:spAutoFit/>
          </a:bodyPr>
          <a:lstStyle/>
          <a:p>
            <a:pPr lvl="0" algn="l">
              <a:lnSpc>
                <a:spcPct val="150000"/>
              </a:lnSpc>
              <a:buClrTx/>
              <a:buSzTx/>
              <a:buFontTx/>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刑事古典学派的主要观点：</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第一，提出作为近现代刑法基石的三大原则</a:t>
            </a:r>
            <a:r>
              <a:rPr lang="zh-CN" sz="2000" dirty="0">
                <a:latin typeface="微软雅黑" panose="020B0503020204020204" pitchFamily="34" charset="-122"/>
                <a:ea typeface="微软雅黑" panose="020B0503020204020204" pitchFamily="34" charset="-122"/>
                <a:cs typeface="微软雅黑" panose="020B0503020204020204" pitchFamily="34" charset="-122"/>
              </a:rPr>
              <a:t>：</a:t>
            </a:r>
            <a:r>
              <a:rPr sz="2000" dirty="0">
                <a:latin typeface="微软雅黑" panose="020B0503020204020204" pitchFamily="34" charset="-122"/>
                <a:ea typeface="微软雅黑" panose="020B0503020204020204" pitchFamily="34" charset="-122"/>
                <a:cs typeface="微软雅黑" panose="020B0503020204020204" pitchFamily="34" charset="-122"/>
              </a:rPr>
              <a:t>罪刑法定原则、罪刑相适应原则及刑罚人道原则。</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第二，奉行客观主义的犯罪论。</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第三，坚持以自由意志为基础的道义责任论。</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第四，主张报应主义的刑罚论。</a:t>
            </a: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（二）近代西方的刑法思想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081145" y="1843405"/>
            <a:ext cx="7267575" cy="2862322"/>
          </a:xfrm>
          <a:prstGeom prst="rect">
            <a:avLst/>
          </a:prstGeom>
          <a:noFill/>
        </p:spPr>
        <p:txBody>
          <a:bodyPr wrap="square" rtlCol="0">
            <a:spAutoFit/>
          </a:bodyPr>
          <a:lstStyle/>
          <a:p>
            <a:pPr lvl="0" algn="l">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刑事近代学派</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algn="l">
              <a:lnSpc>
                <a:spcPct val="150000"/>
              </a:lnSpc>
              <a:buClrTx/>
              <a:buSzTx/>
              <a:buFontTx/>
            </a:pPr>
            <a:r>
              <a:rPr sz="2000" dirty="0" err="1" smtClean="0">
                <a:latin typeface="微软雅黑" panose="020B0503020204020204" pitchFamily="34" charset="-122"/>
                <a:ea typeface="微软雅黑" panose="020B0503020204020204" pitchFamily="34" charset="-122"/>
                <a:cs typeface="微软雅黑" panose="020B0503020204020204" pitchFamily="34" charset="-122"/>
                <a:sym typeface="+mn-ea"/>
              </a:rPr>
              <a:t>近代学派有刑事人类学派和刑事社会学派之分</a:t>
            </a:r>
            <a:r>
              <a:rPr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50000"/>
              </a:lnSpc>
              <a:buClrTx/>
              <a:buSzTx/>
              <a:buFontTx/>
            </a:pPr>
            <a:r>
              <a:rPr sz="2000" dirty="0" err="1" smtClean="0">
                <a:latin typeface="微软雅黑" panose="020B0503020204020204" pitchFamily="34" charset="-122"/>
                <a:ea typeface="微软雅黑" panose="020B0503020204020204" pitchFamily="34" charset="-122"/>
                <a:cs typeface="微软雅黑" panose="020B0503020204020204" pitchFamily="34" charset="-122"/>
              </a:rPr>
              <a:t>刑事人类学派注重犯罪的生物学研究</a:t>
            </a:r>
            <a:r>
              <a:rPr sz="2000" dirty="0" err="1">
                <a:latin typeface="微软雅黑" panose="020B0503020204020204" pitchFamily="34" charset="-122"/>
                <a:ea typeface="微软雅黑" panose="020B0503020204020204" pitchFamily="34" charset="-122"/>
                <a:cs typeface="微软雅黑" panose="020B0503020204020204" pitchFamily="34" charset="-122"/>
              </a:rPr>
              <a:t>，强调犯罪的个体原因</a:t>
            </a:r>
            <a:r>
              <a:rPr sz="20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algn="l">
              <a:lnSpc>
                <a:spcPct val="150000"/>
              </a:lnSpc>
              <a:buClrTx/>
              <a:buSzTx/>
              <a:buFontTx/>
            </a:pPr>
            <a:r>
              <a:rPr sz="2000" dirty="0" err="1" smtClean="0">
                <a:latin typeface="微软雅黑" panose="020B0503020204020204" pitchFamily="34" charset="-122"/>
                <a:ea typeface="微软雅黑" panose="020B0503020204020204" pitchFamily="34" charset="-122"/>
                <a:cs typeface="微软雅黑" panose="020B0503020204020204" pitchFamily="34" charset="-122"/>
              </a:rPr>
              <a:t>刑事社会学派注重犯罪的社会学研究</a:t>
            </a:r>
            <a:r>
              <a:rPr sz="2000" dirty="0" err="1">
                <a:latin typeface="微软雅黑" panose="020B0503020204020204" pitchFamily="34" charset="-122"/>
                <a:ea typeface="微软雅黑" panose="020B0503020204020204" pitchFamily="34" charset="-122"/>
                <a:cs typeface="微软雅黑" panose="020B0503020204020204" pitchFamily="34" charset="-122"/>
              </a:rPr>
              <a:t>，强调犯罪的社会原因，主张用社会学的方法研究犯罪，认为犯罪的原因不在于个人而在于社会</a:t>
            </a:r>
            <a:r>
              <a:rPr sz="20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（二）近代西方的刑法思想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1843464"/>
            <a:ext cx="7151870" cy="3322955"/>
          </a:xfrm>
          <a:prstGeom prst="rect">
            <a:avLst/>
          </a:prstGeom>
          <a:noFill/>
        </p:spPr>
        <p:txBody>
          <a:bodyPr wrap="square" rtlCol="0">
            <a:spAutoFit/>
          </a:bodyPr>
          <a:lstStyle/>
          <a:p>
            <a:pPr lvl="0" algn="l">
              <a:lnSpc>
                <a:spcPct val="150000"/>
              </a:lnSpc>
              <a:buClrTx/>
              <a:buSzTx/>
              <a:buFontTx/>
            </a:pPr>
            <a:r>
              <a:rPr lang="zh-CN" altLang="en-US" sz="2000"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刑事近代学派的主要观点：</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第一，犯罪原因论。</a:t>
            </a:r>
          </a:p>
          <a:p>
            <a:pPr lvl="0" indent="457200">
              <a:lnSpc>
                <a:spcPct val="150000"/>
              </a:lnSpc>
            </a:pPr>
            <a:r>
              <a:rPr lang="en-US" sz="2000" dirty="0" err="1">
                <a:latin typeface="微软雅黑" panose="020B0503020204020204" pitchFamily="34" charset="-122"/>
                <a:ea typeface="微软雅黑" panose="020B0503020204020204" pitchFamily="34" charset="-122"/>
                <a:cs typeface="微软雅黑" panose="020B0503020204020204" pitchFamily="34" charset="-122"/>
              </a:rPr>
              <a:t>第二，</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意思必至论或决定论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主张犯罪产生的必然性</a:t>
            </a:r>
            <a:r>
              <a:rPr 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第三，主观主义的犯罪论。</a:t>
            </a:r>
          </a:p>
          <a:p>
            <a:pPr lvl="0" indent="457200">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第四，社会责任论。</a:t>
            </a:r>
          </a:p>
          <a:p>
            <a:pPr lvl="0" indent="457200">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第五，目的论的刑罚理论。</a:t>
            </a:r>
          </a:p>
          <a:p>
            <a:pPr lvl="0" indent="457200">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第六，保安处分论。</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（二）近代西方的刑法思想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250499"/>
            <a:ext cx="7151870" cy="1938020"/>
          </a:xfrm>
          <a:prstGeom prst="rect">
            <a:avLst/>
          </a:prstGeom>
          <a:noFill/>
        </p:spPr>
        <p:txBody>
          <a:bodyPr wrap="square" rtlCol="0">
            <a:spAutoFit/>
          </a:bodyPr>
          <a:lstStyle/>
          <a:p>
            <a:pPr lvl="0" algn="l">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新旧两大学派走向折中和融合</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古典学派和近代学派的理论对峙，是近代以来西方刑法学发展的一条主线。第二次世界大战后，两大学派彼此吸收、借鉴，逐步走向折中、融合。</a:t>
            </a: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（三）现代西方的刑法思想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1843464"/>
            <a:ext cx="7151870" cy="2861310"/>
          </a:xfrm>
          <a:prstGeom prst="rect">
            <a:avLst/>
          </a:prstGeom>
          <a:noFill/>
        </p:spPr>
        <p:txBody>
          <a:bodyPr wrap="square" rtlCol="0">
            <a:spAutoFit/>
          </a:bodyPr>
          <a:lstStyle/>
          <a:p>
            <a:pPr lvl="0" algn="l">
              <a:lnSpc>
                <a:spcPct val="150000"/>
              </a:lnSpc>
              <a:buClrTx/>
              <a:buSzTx/>
              <a:buFontTx/>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新社会防卫论崛起</a:t>
            </a: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新社会防卫论是法国学者安塞尔针对格拉马蒂卡的社会防卫论提出的观点。</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新社会防卫论实质上也属于一种综合主义刑法理论，该理论对欧洲大陆、拉丁美洲许多国家产生了比较大的影响。</a:t>
            </a:r>
          </a:p>
          <a:p>
            <a:pPr lvl="0">
              <a:lnSpc>
                <a:spcPct val="150000"/>
              </a:lnSpc>
            </a:pP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（三）现代西方的刑法思想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1843464"/>
            <a:ext cx="7151870" cy="2861310"/>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刑法的刑事政策化</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刑事政策是人类理性在刑事领域觉醒的产物。第二次世界大战后，刑事政策得到长足发展，人们对罪刑现象的认识更趋理性，刑法万能主义和绝对工具主义刑法观受到批判，合理地组织对犯罪的反应成为学界的共识。</a:t>
            </a:r>
          </a:p>
          <a:p>
            <a:pPr lvl="0">
              <a:lnSpc>
                <a:spcPct val="150000"/>
              </a:lnSpc>
            </a:pP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（三）现代西方的刑法思想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41465" y="2263834"/>
            <a:ext cx="7151870" cy="2954655"/>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刑罚的研究与发展更受关注</a:t>
            </a: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第二次世界大战后，刑罚的轻缓化成为各国刑罚制度的总体走向。其主要表现有</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一是对死刑的适用日趋严格</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（废除非暴力性财产犯罪、经济犯罪死刑）</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二是近代以来居刑罚体系中心地位的监禁刑地位受到动摇</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（积极开展社区矫正）</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sz="2000" dirty="0">
                <a:latin typeface="微软雅黑" panose="020B0503020204020204" pitchFamily="34" charset="-122"/>
                <a:ea typeface="微软雅黑" panose="020B0503020204020204" pitchFamily="34" charset="-122"/>
                <a:cs typeface="微软雅黑" panose="020B0503020204020204" pitchFamily="34" charset="-122"/>
              </a:rPr>
              <a:t>三是刑罚执行成为理论与实务的焦点。</a:t>
            </a: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（三）现代西方的刑法思想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4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4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1843464"/>
            <a:ext cx="7151870" cy="4247317"/>
          </a:xfrm>
          <a:prstGeom prst="rect">
            <a:avLst/>
          </a:prstGeom>
          <a:noFill/>
        </p:spPr>
        <p:txBody>
          <a:bodyPr wrap="square" rtlCol="0">
            <a:spAutoFit/>
          </a:bodyPr>
          <a:lstStyle/>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西方刑法思想与刑法制度的发展，经历了一个漫长的演变过程。对不同时期的刑法思想与制度进行分析与评价，必须将其放在特定的历史背景之下。</a:t>
            </a:r>
          </a:p>
          <a:p>
            <a:pPr lvl="0" indent="457200">
              <a:lnSpc>
                <a:spcPct val="150000"/>
              </a:lnSpc>
            </a:pPr>
            <a:r>
              <a:rPr lang="en-US" sz="2000" dirty="0" err="1">
                <a:latin typeface="微软雅黑" panose="020B0503020204020204" pitchFamily="34" charset="-122"/>
                <a:ea typeface="微软雅黑" panose="020B0503020204020204" pitchFamily="34" charset="-122"/>
                <a:cs typeface="微软雅黑" panose="020B0503020204020204" pitchFamily="34" charset="-122"/>
              </a:rPr>
              <a:t>启蒙运动后逐渐形成的一些刑法思想与制度，</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虽然直接服务于当时资产阶级的利益和需要</a:t>
            </a:r>
            <a:r>
              <a:rPr lang="en-US" sz="2000" dirty="0" err="1">
                <a:latin typeface="微软雅黑" panose="020B0503020204020204" pitchFamily="34" charset="-122"/>
                <a:ea typeface="微软雅黑" panose="020B0503020204020204" pitchFamily="34" charset="-122"/>
                <a:cs typeface="微软雅黑" panose="020B0503020204020204" pitchFamily="34" charset="-122"/>
              </a:rPr>
              <a:t>，</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但在客观上顺应了时代发展规律</a:t>
            </a:r>
            <a:r>
              <a:rPr 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p>
          <a:p>
            <a:pPr lvl="0" indent="45720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中华法系灿烂的法律文化和悠久的刑法</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制度</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（我国的犯罪构成规定、管制、死缓制度）</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也在不同历史</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时期影响</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到西方乃至世界的刑法思想，互为借鉴，融合发展。</a:t>
            </a: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35356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二、西方刑法学发展简史</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（四）西方刑法思想发展简评</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099"/>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2599"/>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09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2219384"/>
            <a:ext cx="7151870" cy="2400657"/>
          </a:xfrm>
          <a:prstGeom prst="rect">
            <a:avLst/>
          </a:prstGeom>
          <a:noFill/>
        </p:spPr>
        <p:txBody>
          <a:bodyPr wrap="square" rtlCol="0">
            <a:spAutoFit/>
          </a:bodyPr>
          <a:lstStyle/>
          <a:p>
            <a:pPr lvl="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sz="2000"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新中国刑法学的根本理论基础是马克思主义刑法思想</a:t>
            </a:r>
            <a:r>
              <a:rPr 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lvl="0" indent="457200">
              <a:lnSpc>
                <a:spcPct val="150000"/>
              </a:lnSpc>
            </a:pPr>
            <a:r>
              <a:rPr lang="en-US" sz="2000" dirty="0" err="1">
                <a:latin typeface="微软雅黑" panose="020B0503020204020204" pitchFamily="34" charset="-122"/>
                <a:ea typeface="微软雅黑" panose="020B0503020204020204" pitchFamily="34" charset="-122"/>
                <a:cs typeface="微软雅黑" panose="020B0503020204020204" pitchFamily="34" charset="-122"/>
              </a:rPr>
              <a:t>后来经毛泽东、</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邓小平等进一步发展</a:t>
            </a:r>
            <a:r>
              <a:rPr lang="en-US" sz="2000" dirty="0" err="1">
                <a:latin typeface="微软雅黑" panose="020B0503020204020204" pitchFamily="34" charset="-122"/>
                <a:ea typeface="微软雅黑" panose="020B0503020204020204" pitchFamily="34" charset="-122"/>
                <a:cs typeface="微软雅黑" panose="020B0503020204020204" pitchFamily="34" charset="-122"/>
              </a:rPr>
              <a:t>，通过学习借鉴苏联刑法学，并结合中国实际，马克思主义刑法思想在社会主义中国亦形成了自身的特色</a:t>
            </a:r>
            <a:r>
              <a:rPr 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lvl="0">
              <a:lnSpc>
                <a:spcPct val="150000"/>
              </a:lnSpc>
            </a:pPr>
            <a:endParaRPr 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2610318" y="684820"/>
            <a:ext cx="7193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三、马克思主义刑法思想指引下新中国刑法学的演进</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（一）马克思主义刑法思想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6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65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15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6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4196710" y="1843464"/>
            <a:ext cx="7151870" cy="3784600"/>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1. 马克思主义刑法思想的主要内容</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 (1) 关于刑法基本原则的思想</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第一，关于罪刑法定。马克思主义经典作家在许多著作中都强调罪刑法定反对罪刑擅断。</a:t>
            </a:r>
          </a:p>
          <a:p>
            <a:pPr lvl="0" indent="457200">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第二，关于法律面前人人平等。</a:t>
            </a:r>
          </a:p>
          <a:p>
            <a:pPr lvl="0" indent="457200">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第三，关于罪刑相适应。马克思将罪刑相适应称为“分别治罪的方法”，认为犯罪现象复杂。为了达致罪刑相适应，就必须从“形式”和“内容”上区分各种犯罪。</a:t>
            </a:r>
          </a:p>
        </p:txBody>
      </p:sp>
      <p:sp>
        <p:nvSpPr>
          <p:cNvPr id="2" name="矩形 1"/>
          <p:cNvSpPr/>
          <p:nvPr/>
        </p:nvSpPr>
        <p:spPr>
          <a:xfrm>
            <a:off x="2610318" y="684820"/>
            <a:ext cx="7193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三、马克思主义刑法思想指引下新中国刑法学的演进</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（一）马克思主义刑法思想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6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65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15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6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99506" y="1843464"/>
            <a:ext cx="7349074" cy="3785652"/>
          </a:xfrm>
          <a:prstGeom prst="rect">
            <a:avLst/>
          </a:prstGeom>
          <a:noFill/>
        </p:spPr>
        <p:txBody>
          <a:bodyPr wrap="square" rtlCol="0">
            <a:spAutoFit/>
          </a:bodyPr>
          <a:lstStyle/>
          <a:p>
            <a:pPr lvl="0">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1. 马克思主义刑法思想的主要内容</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 (2) 关于</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犯罪论</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的思想</a:t>
            </a:r>
            <a:endParaRPr 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indent="457200">
              <a:lnSpc>
                <a:spcPct val="150000"/>
              </a:lnSpc>
            </a:pP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马克思主义犯罪论主要体现在犯罪的概念和犯罪构成方面</a:t>
            </a:r>
            <a:r>
              <a:rPr lang="en-US" sz="2000" dirty="0" err="1">
                <a:latin typeface="微软雅黑" panose="020B0503020204020204" pitchFamily="34" charset="-122"/>
                <a:ea typeface="微软雅黑" panose="020B0503020204020204" pitchFamily="34" charset="-122"/>
                <a:cs typeface="微软雅黑" panose="020B0503020204020204" pitchFamily="34" charset="-122"/>
              </a:rPr>
              <a:t>。尤其是犯罪的概念，</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是马克思</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主义经典作家</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论述得较为详细完整的一个问题</a:t>
            </a:r>
            <a:r>
              <a:rPr 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lvl="0" indent="457200">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关于刑罚论的思想</a:t>
            </a:r>
          </a:p>
          <a:p>
            <a:pPr lvl="0" indent="457200">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马克思认为，国家对犯罪行为适用的刑罚，是“法对侵犯法的行为的胜利”，是“法的恢复”。</a:t>
            </a:r>
          </a:p>
        </p:txBody>
      </p:sp>
      <p:sp>
        <p:nvSpPr>
          <p:cNvPr id="2" name="矩形 1"/>
          <p:cNvSpPr/>
          <p:nvPr/>
        </p:nvSpPr>
        <p:spPr>
          <a:xfrm>
            <a:off x="2610318" y="684820"/>
            <a:ext cx="6609080" cy="429895"/>
          </a:xfrm>
          <a:prstGeom prst="rect">
            <a:avLst/>
          </a:prstGeom>
        </p:spPr>
        <p:txBody>
          <a:bodyPr wrap="none">
            <a:spAutoFit/>
          </a:bodyPr>
          <a:lstStyle/>
          <a:p>
            <a:r>
              <a:rPr lang="zh-CN" altLang="en-US" sz="2200" b="1" dirty="0">
                <a:latin typeface="微软雅黑" panose="020B0503020204020204" pitchFamily="34" charset="-122"/>
                <a:ea typeface="微软雅黑" panose="020B0503020204020204" pitchFamily="34" charset="-122"/>
                <a:cs typeface="宋体" panose="02010600030101010101" pitchFamily="2" charset="-122"/>
                <a:sym typeface="+mn-ea"/>
              </a:rPr>
              <a:t>三、马克思主义刑法思想指引下新中国刑法学的演进</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（一）马克思主义刑法思想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6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65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15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6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979272" y="2341248"/>
            <a:ext cx="7151870" cy="2399665"/>
          </a:xfrm>
          <a:prstGeom prst="rect">
            <a:avLst/>
          </a:prstGeom>
          <a:noFill/>
        </p:spPr>
        <p:txBody>
          <a:bodyPr wrap="square" rtlCol="0">
            <a:spAutoFit/>
          </a:bodyPr>
          <a:lstStyle/>
          <a:p>
            <a:pPr lvl="0">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 马克思主义刑法思想的基本特征</a:t>
            </a:r>
          </a:p>
          <a:p>
            <a:pPr lvl="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一方面，马克思主义刑法思想作为马克思主义法治思想的具体化，具有基本法治理念所蕴含的共性特征</a:t>
            </a:r>
            <a:r>
              <a:rPr lang="zh-CN" sz="2000" dirty="0">
                <a:latin typeface="微软雅黑" panose="020B0503020204020204" pitchFamily="34" charset="-122"/>
                <a:ea typeface="微软雅黑" panose="020B0503020204020204" pitchFamily="34" charset="-122"/>
                <a:cs typeface="微软雅黑" panose="020B0503020204020204" pitchFamily="34" charset="-122"/>
              </a:rPr>
              <a:t>。</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lvl="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另一方面，由于马克思主义刑法思想是马克思主义法治思想在刑法领域的具体化，故而也有一些独有的特征</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
        <p:nvSpPr>
          <p:cNvPr id="2" name="矩形 1"/>
          <p:cNvSpPr/>
          <p:nvPr/>
        </p:nvSpPr>
        <p:spPr>
          <a:xfrm>
            <a:off x="2610318" y="684820"/>
            <a:ext cx="7193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三、马克思主义刑法思想指引下新中国刑法学的演进</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（一）马克思主义刑法思想</a:t>
            </a:r>
            <a:endParaRPr lang="zh-CN" altLang="en-US" sz="2200" dirty="0">
              <a:solidFill>
                <a:srgbClr val="D9793F"/>
              </a:solidFill>
              <a:latin typeface="华文中宋" panose="02010600040101010101" pitchFamily="2" charset="-122"/>
              <a:ea typeface="华文中宋"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6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65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15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6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96660" y="1843464"/>
            <a:ext cx="7151870" cy="3276600"/>
          </a:xfrm>
          <a:prstGeom prst="rect">
            <a:avLst/>
          </a:prstGeom>
          <a:noFill/>
        </p:spPr>
        <p:txBody>
          <a:bodyPr wrap="square" rtlCol="0">
            <a:spAutoFit/>
          </a:bodyPr>
          <a:lstStyle/>
          <a:p>
            <a:pPr lvl="0">
              <a:lnSpc>
                <a:spcPct val="150000"/>
              </a:lnSpc>
            </a:pPr>
            <a:r>
              <a:rPr lang="en-US" dirty="0">
                <a:latin typeface="宋体" panose="02010600030101010101" pitchFamily="2" charset="-122"/>
                <a:ea typeface="宋体" panose="02010600030101010101" pitchFamily="2" charset="-122"/>
              </a:rPr>
              <a:t>   </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新民主主义革命时期刑法学的发展，是中国共产党人创造性地将马克思主义法律思想与新民主主义革命法制实践相结合所形成的伟大成果。</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新民主主义刑法体系为夺取新民主主义革命的胜利提供了重要的法制保障，也为之后我国刑法体系的构建提供了重要的历史参照。</a:t>
            </a:r>
          </a:p>
        </p:txBody>
      </p:sp>
      <p:sp>
        <p:nvSpPr>
          <p:cNvPr id="2" name="矩形 1"/>
          <p:cNvSpPr/>
          <p:nvPr/>
        </p:nvSpPr>
        <p:spPr>
          <a:xfrm>
            <a:off x="2610318" y="684820"/>
            <a:ext cx="7193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三、马克思主义刑法思想指引下新中国刑法学的演进</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（二）新民主主义革命时期中国刑法学萌芽</a:t>
            </a:r>
            <a:endPar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6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40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96660" y="1843464"/>
            <a:ext cx="7151870" cy="3276600"/>
          </a:xfrm>
          <a:prstGeom prst="rect">
            <a:avLst/>
          </a:prstGeom>
          <a:noFill/>
        </p:spPr>
        <p:txBody>
          <a:bodyPr wrap="square" rtlCol="0">
            <a:spAutoFit/>
          </a:bodyPr>
          <a:lstStyle/>
          <a:p>
            <a:pPr lvl="0">
              <a:lnSpc>
                <a:spcPct val="150000"/>
              </a:lnSpc>
            </a:pPr>
            <a:r>
              <a:rPr lang="en-US" dirty="0">
                <a:latin typeface="宋体" panose="02010600030101010101" pitchFamily="2" charset="-122"/>
                <a:ea typeface="宋体" panose="02010600030101010101" pitchFamily="2" charset="-122"/>
              </a:rPr>
              <a:t>    </a:t>
            </a:r>
          </a:p>
          <a:p>
            <a:pPr lvl="0" indent="457200">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新中国成立后至改革开放前，在马克思主义刑法思想指导下，结合与犯罪斗争的具体实践，逐步形成了我国社会主义刑法学。这一时期，新中国刑法学的发展不是一帆风顺的，经历了一个曲折发展的过程。</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“文化大革命”结束后，社会主义法治事业逐渐恢复，我国刑法学研究也开始复苏。</a:t>
            </a:r>
          </a:p>
        </p:txBody>
      </p:sp>
      <p:sp>
        <p:nvSpPr>
          <p:cNvPr id="2" name="矩形 1"/>
          <p:cNvSpPr/>
          <p:nvPr/>
        </p:nvSpPr>
        <p:spPr>
          <a:xfrm>
            <a:off x="2610318" y="684820"/>
            <a:ext cx="7193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三、马克思主义刑法思想指引下新中国刑法学的演进</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（二）新中国成立后至改革开放前刑法学初步发展与挫折</a:t>
            </a:r>
            <a:endPar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6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33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8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43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96660" y="2221924"/>
            <a:ext cx="7151870" cy="2400657"/>
          </a:xfrm>
          <a:prstGeom prst="rect">
            <a:avLst/>
          </a:prstGeom>
          <a:noFill/>
        </p:spPr>
        <p:txBody>
          <a:bodyPr wrap="square" rtlCol="0">
            <a:spAutoFit/>
          </a:bodyPr>
          <a:lstStyle/>
          <a:p>
            <a:pPr lvl="0">
              <a:lnSpc>
                <a:spcPct val="150000"/>
              </a:lnSpc>
            </a:pPr>
            <a:r>
              <a:rPr lang="en-US" dirty="0">
                <a:latin typeface="宋体" panose="02010600030101010101" pitchFamily="2" charset="-122"/>
                <a:ea typeface="宋体" panose="02010600030101010101" pitchFamily="2" charset="-122"/>
              </a:rPr>
              <a:t>   </a:t>
            </a:r>
            <a:r>
              <a:rPr lang="en-US" sz="2000" dirty="0" smtClean="0">
                <a:latin typeface="微软雅黑" panose="020B0503020204020204" pitchFamily="34" charset="-122"/>
                <a:ea typeface="微软雅黑" panose="020B0503020204020204" pitchFamily="34" charset="-122"/>
                <a:cs typeface="微软雅黑" panose="020B0503020204020204" pitchFamily="34" charset="-122"/>
              </a:rPr>
              <a:t>1979 </a:t>
            </a:r>
            <a:r>
              <a:rPr lang="en-US" sz="2000" dirty="0">
                <a:latin typeface="微软雅黑" panose="020B0503020204020204" pitchFamily="34" charset="-122"/>
                <a:ea typeface="微软雅黑" panose="020B0503020204020204" pitchFamily="34" charset="-122"/>
                <a:cs typeface="微软雅黑" panose="020B0503020204020204" pitchFamily="34" charset="-122"/>
              </a:rPr>
              <a:t>年新中国第一部刑法典的诞生，是我国法治建设中具有里程碑意义的事件，也是我国刑法学研究走向繁荣的重要标志。</a:t>
            </a:r>
          </a:p>
          <a:p>
            <a:pPr lvl="0" indent="457200">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rPr>
              <a:t>随着 1997 年《刑法》的正式出台，中国刑法学发展进入了崭新的阶段。我国刑法学研究进一步走向成熟和繁荣。</a:t>
            </a:r>
          </a:p>
        </p:txBody>
      </p:sp>
      <p:sp>
        <p:nvSpPr>
          <p:cNvPr id="2" name="矩形 1"/>
          <p:cNvSpPr/>
          <p:nvPr/>
        </p:nvSpPr>
        <p:spPr>
          <a:xfrm>
            <a:off x="2610318" y="684820"/>
            <a:ext cx="71932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三、马克思主义刑法思想指引下新中国刑法学的演进</a:t>
            </a:r>
          </a:p>
        </p:txBody>
      </p:sp>
      <p:sp>
        <p:nvSpPr>
          <p:cNvPr id="3" name="矩形 2"/>
          <p:cNvSpPr/>
          <p:nvPr/>
        </p:nvSpPr>
        <p:spPr>
          <a:xfrm>
            <a:off x="2991722" y="1354720"/>
            <a:ext cx="813942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（三）改革开放以来刑法学的全面发展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600"/>
                            </p:stCondLst>
                            <p:childTnLst>
                              <p:par>
                                <p:cTn id="9" presetID="10" presetClass="entr" presetSubtype="0" fill="hold" grpId="0" nodeType="afterEffect">
                                  <p:stCondLst>
                                    <p:cond delay="0"/>
                                  </p:stCondLst>
                                  <p:iterate type="wd">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2900"/>
                            </p:stCondLst>
                            <p:childTnLst>
                              <p:par>
                                <p:cTn id="13" presetID="22" presetClass="entr" presetSubtype="8"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3400"/>
                            </p:stCondLst>
                            <p:childTnLst>
                              <p:par>
                                <p:cTn id="17" presetID="2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39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75323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rPr>
              <a:t>一、习近平法治思想的核心要义</a:t>
            </a: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二、</a:t>
            </a:r>
            <a:r>
              <a:rPr lang="zh-CN" altLang="en-US" sz="2400" dirty="0" smtClean="0">
                <a:solidFill>
                  <a:schemeClr val="tx1">
                    <a:lumMod val="95000"/>
                    <a:lumOff val="5000"/>
                  </a:schemeClr>
                </a:solidFill>
                <a:latin typeface="微软雅黑" panose="020B0503020204020204" pitchFamily="34" charset="-122"/>
                <a:ea typeface="微软雅黑" panose="020B0503020204020204" pitchFamily="34" charset="-122"/>
                <a:sym typeface="+mn-ea"/>
              </a:rPr>
              <a:t>习近平法治思想的重大意义</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三、习近平法治思想的指导作用</a:t>
            </a:r>
          </a:p>
        </p:txBody>
      </p:sp>
      <p:sp>
        <p:nvSpPr>
          <p:cNvPr id="23" name="矩形 22"/>
          <p:cNvSpPr/>
          <p:nvPr/>
        </p:nvSpPr>
        <p:spPr>
          <a:xfrm>
            <a:off x="1346841" y="669033"/>
            <a:ext cx="10220325" cy="1568450"/>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第三节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习近平法治思想引领新时代中国特色</a:t>
            </a:r>
          </a:p>
          <a:p>
            <a:pPr algn="ctr">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 </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社会主义刑法学发展</a:t>
            </a:r>
            <a:endParaRPr lang="zh-CN" altLang="en-US" sz="4000" b="1" dirty="0">
              <a:solidFill>
                <a:srgbClr val="D9793F"/>
              </a:solidFill>
              <a:latin typeface="华文新魏" panose="02010800040101010101" charset="-122"/>
              <a:ea typeface="华文新魏" panose="02010800040101010101" charset="-122"/>
              <a:sym typeface="+mn-ea"/>
            </a:endParaRP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156995"/>
            <a:ext cx="7248512" cy="3784600"/>
          </a:xfrm>
          <a:prstGeom prst="rect">
            <a:avLst/>
          </a:prstGeom>
          <a:noFill/>
        </p:spPr>
        <p:txBody>
          <a:bodyPr wrap="square" rtlCol="0">
            <a:spAutoFit/>
          </a:bodyPr>
          <a:lstStyle/>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坚持党对全面依法治国的领导</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坚持以人民为中心</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坚持中国特色社会主义法治道路</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坚持依宪治国、依宪执政</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坚持在法治轨道上推进国家治理体系和治理能力现代化</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坚持建设中国特色社会主义法治体系</a:t>
            </a:r>
          </a:p>
          <a:p>
            <a:pPr marL="342900" indent="-342900">
              <a:lnSpc>
                <a:spcPct val="150000"/>
              </a:lnSpc>
              <a:buFont typeface="Wingdings" panose="05000000000000000000" charset="0"/>
              <a:buChar char="Ø"/>
            </a:pPr>
            <a:r>
              <a:rPr lang="en-US" altLang="zh-CN" sz="2000" dirty="0" err="1" smtClean="0">
                <a:latin typeface="微软雅黑" panose="020B0503020204020204" pitchFamily="34" charset="-122"/>
                <a:ea typeface="微软雅黑" panose="020B0503020204020204" pitchFamily="34" charset="-122"/>
                <a:cs typeface="宋体" panose="02010600030101010101" pitchFamily="2" charset="-122"/>
              </a:rPr>
              <a:t>坚持依法治国、依法执政、依法行政共同推进</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a:t>
            </a:r>
            <a:r>
              <a:rPr lang="en-US" altLang="zh-CN" sz="2000" dirty="0" err="1" smtClean="0">
                <a:latin typeface="微软雅黑" panose="020B0503020204020204" pitchFamily="34" charset="-122"/>
                <a:ea typeface="微软雅黑" panose="020B0503020204020204" pitchFamily="34" charset="-122"/>
                <a:cs typeface="宋体" panose="02010600030101010101" pitchFamily="2" charset="-122"/>
              </a:rPr>
              <a:t>法治国家、法治政府、法治社会一体建设</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943341" y="3621208"/>
            <a:ext cx="3178175" cy="1674132"/>
            <a:chOff x="943341" y="3621208"/>
            <a:chExt cx="3178175" cy="1674132"/>
          </a:xfrm>
        </p:grpSpPr>
        <p:sp>
          <p:nvSpPr>
            <p:cNvPr id="20" name="L 形 19"/>
            <p:cNvSpPr/>
            <p:nvPr/>
          </p:nvSpPr>
          <p:spPr>
            <a:xfrm>
              <a:off x="943341" y="362120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727126"/>
              <a:ext cx="292354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“十一个坚持”</a:t>
              </a:r>
            </a:p>
          </p:txBody>
        </p:sp>
      </p:grpSp>
      <p:sp>
        <p:nvSpPr>
          <p:cNvPr id="3" name="矩形 2"/>
          <p:cNvSpPr/>
          <p:nvPr/>
        </p:nvSpPr>
        <p:spPr>
          <a:xfrm>
            <a:off x="4121925" y="1232244"/>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一、习近平法治思想的核心要义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156995"/>
            <a:ext cx="7248512" cy="1938992"/>
          </a:xfrm>
          <a:prstGeom prst="rect">
            <a:avLst/>
          </a:prstGeom>
          <a:noFill/>
        </p:spPr>
        <p:txBody>
          <a:bodyPr wrap="square" rtlCol="0">
            <a:spAutoFit/>
          </a:bodyPr>
          <a:lstStyle/>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坚持全面推进科学立法、严格执法、公正司法、全民守法。</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坚持统筹推进国内法治和涉外法治。</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坚持建设德才兼备的高素质法治工作队伍。</a:t>
            </a:r>
          </a:p>
          <a:p>
            <a:pPr marL="342900" indent="-342900">
              <a:lnSpc>
                <a:spcPct val="150000"/>
              </a:lnSpc>
              <a:buFont typeface="Wingdings" panose="05000000000000000000" charset="0"/>
              <a:buChar char="Ø"/>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rPr>
              <a:t>坚持抓住领导干部这个“关键少数”</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943341" y="3621208"/>
            <a:ext cx="3178175" cy="1674132"/>
            <a:chOff x="943341" y="3621208"/>
            <a:chExt cx="3178175" cy="1674132"/>
          </a:xfrm>
        </p:grpSpPr>
        <p:sp>
          <p:nvSpPr>
            <p:cNvPr id="20" name="L 形 19"/>
            <p:cNvSpPr/>
            <p:nvPr/>
          </p:nvSpPr>
          <p:spPr>
            <a:xfrm>
              <a:off x="943341" y="362120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727126"/>
              <a:ext cx="2923540"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“十一个坚持”</a:t>
              </a:r>
            </a:p>
          </p:txBody>
        </p:sp>
      </p:grpSp>
      <p:sp>
        <p:nvSpPr>
          <p:cNvPr id="3" name="矩形 2"/>
          <p:cNvSpPr/>
          <p:nvPr/>
        </p:nvSpPr>
        <p:spPr>
          <a:xfrm>
            <a:off x="4121925" y="1232244"/>
            <a:ext cx="4450080" cy="46037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一、习近平法治思想的核心要义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72364" y="2123803"/>
            <a:ext cx="7151870" cy="1938020"/>
          </a:xfrm>
          <a:prstGeom prst="rect">
            <a:avLst/>
          </a:prstGeom>
          <a:noFill/>
        </p:spPr>
        <p:txBody>
          <a:bodyPr wrap="square" rtlCol="0">
            <a:spAutoFit/>
          </a:bodyPr>
          <a:lstStyle/>
          <a:p>
            <a:pPr marL="285750" lvl="0" indent="-285750">
              <a:lnSpc>
                <a:spcPct val="150000"/>
              </a:lnSpc>
              <a:buFont typeface="Wingdings" panose="05000000000000000000" charset="0"/>
              <a:buChar char="Ø"/>
            </a:pPr>
            <a:r>
              <a:rPr sz="2000" dirty="0">
                <a:latin typeface="微软雅黑" panose="020B0503020204020204" pitchFamily="34" charset="-122"/>
                <a:ea typeface="微软雅黑" panose="020B0503020204020204" pitchFamily="34" charset="-122"/>
              </a:rPr>
              <a:t>习近平法治思想具有重大的政治意义。</a:t>
            </a:r>
          </a:p>
          <a:p>
            <a:pPr marL="285750" lvl="0" indent="-285750">
              <a:lnSpc>
                <a:spcPct val="150000"/>
              </a:lnSpc>
              <a:buFont typeface="Wingdings" panose="05000000000000000000" charset="0"/>
              <a:buChar char="Ø"/>
            </a:pPr>
            <a:r>
              <a:rPr sz="2000" dirty="0">
                <a:latin typeface="微软雅黑" panose="020B0503020204020204" pitchFamily="34" charset="-122"/>
                <a:ea typeface="微软雅黑" panose="020B0503020204020204" pitchFamily="34" charset="-122"/>
                <a:sym typeface="+mn-ea"/>
              </a:rPr>
              <a:t>习近平法治思想具有重大的理论意义。</a:t>
            </a:r>
          </a:p>
          <a:p>
            <a:pPr marL="285750" lvl="0" indent="-285750">
              <a:lnSpc>
                <a:spcPct val="150000"/>
              </a:lnSpc>
              <a:buFont typeface="Wingdings" panose="05000000000000000000" charset="0"/>
              <a:buChar char="Ø"/>
            </a:pPr>
            <a:r>
              <a:rPr sz="2000" dirty="0">
                <a:latin typeface="微软雅黑" panose="020B0503020204020204" pitchFamily="34" charset="-122"/>
                <a:ea typeface="微软雅黑" panose="020B0503020204020204" pitchFamily="34" charset="-122"/>
                <a:sym typeface="+mn-ea"/>
              </a:rPr>
              <a:t>习近平法治思想具有重大的实践意义。</a:t>
            </a:r>
          </a:p>
          <a:p>
            <a:pPr marL="285750" lvl="0" indent="-285750">
              <a:lnSpc>
                <a:spcPct val="150000"/>
              </a:lnSpc>
              <a:buFont typeface="Wingdings" panose="05000000000000000000" charset="0"/>
              <a:buChar char="Ø"/>
            </a:pPr>
            <a:r>
              <a:rPr sz="2000" dirty="0">
                <a:latin typeface="微软雅黑" panose="020B0503020204020204" pitchFamily="34" charset="-122"/>
                <a:ea typeface="微软雅黑" panose="020B0503020204020204" pitchFamily="34" charset="-122"/>
                <a:sym typeface="+mn-ea"/>
              </a:rPr>
              <a:t>习近平法治思想具有重大的世界意义。</a:t>
            </a:r>
          </a:p>
        </p:txBody>
      </p:sp>
      <p:sp>
        <p:nvSpPr>
          <p:cNvPr id="2" name="矩形 1"/>
          <p:cNvSpPr/>
          <p:nvPr/>
        </p:nvSpPr>
        <p:spPr>
          <a:xfrm>
            <a:off x="3294213" y="900085"/>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二、习近平法治思想的重大意义</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1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6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1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20644" y="2152384"/>
            <a:ext cx="7248512" cy="3322955"/>
          </a:xfrm>
          <a:prstGeom prst="rect">
            <a:avLst/>
          </a:prstGeom>
          <a:noFill/>
        </p:spPr>
        <p:txBody>
          <a:bodyPr wrap="square" rtlCol="0">
            <a:spAutoFit/>
          </a:bodyPr>
          <a:lstStyle/>
          <a:p>
            <a:pPr marL="342900" indent="-342900">
              <a:lnSpc>
                <a:spcPct val="150000"/>
              </a:lnSpc>
              <a:buFont typeface="Wingdings" panose="05000000000000000000" charset="0"/>
              <a:buChar char="Ø"/>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刑法学研究要始终坚持党的领导</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50000"/>
              </a:lnSpc>
              <a:buFont typeface="Wingdings" panose="05000000000000000000" charset="0"/>
              <a:buChar char="Ø"/>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刑法学研究要始终以人民为中心</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50000"/>
              </a:lnSpc>
              <a:buFont typeface="Wingdings" panose="05000000000000000000" charset="0"/>
              <a:buChar char="Ø"/>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刑法学研究要始终坚持中国特色社会主义法治道路</a:t>
            </a:r>
          </a:p>
          <a:p>
            <a:pPr marL="342900" indent="-342900">
              <a:lnSpc>
                <a:spcPct val="150000"/>
              </a:lnSpc>
              <a:buFont typeface="Wingdings" panose="05000000000000000000" charset="0"/>
              <a:buChar char="Ø"/>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刑法学研究要始终贯彻总体国家安全观</a:t>
            </a:r>
          </a:p>
          <a:p>
            <a:pPr marL="342900" indent="-342900">
              <a:lnSpc>
                <a:spcPct val="150000"/>
              </a:lnSpc>
              <a:buFont typeface="Wingdings" panose="05000000000000000000" charset="0"/>
              <a:buChar char="Ø"/>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rPr>
              <a:t>刑法学研究要始终坚持服务保障经济社会高质量发展</a:t>
            </a:r>
          </a:p>
          <a:p>
            <a:pPr marL="342900" indent="-342900">
              <a:lnSpc>
                <a:spcPct val="150000"/>
              </a:lnSpc>
              <a:buFont typeface="Wingdings" panose="05000000000000000000" charset="0"/>
              <a:buChar char="Ø"/>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刑法学研究要始终坚持促进社会治理</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a:p>
            <a:pPr marL="342900" indent="-342900">
              <a:lnSpc>
                <a:spcPct val="150000"/>
              </a:lnSpc>
              <a:buFont typeface="Wingdings" panose="05000000000000000000" charset="0"/>
              <a:buChar char="Ø"/>
            </a:pP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943341" y="3621208"/>
            <a:ext cx="3178175" cy="1674132"/>
            <a:chOff x="943341" y="3621208"/>
            <a:chExt cx="3178175" cy="1674132"/>
          </a:xfrm>
        </p:grpSpPr>
        <p:sp>
          <p:nvSpPr>
            <p:cNvPr id="20" name="L 形 19"/>
            <p:cNvSpPr/>
            <p:nvPr/>
          </p:nvSpPr>
          <p:spPr>
            <a:xfrm>
              <a:off x="943341" y="362120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727126"/>
              <a:ext cx="2923540"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全面依法治国的根本遵循和行动指南</a:t>
              </a:r>
            </a:p>
          </p:txBody>
        </p:sp>
      </p:grpSp>
      <p:sp>
        <p:nvSpPr>
          <p:cNvPr id="3" name="矩形 2"/>
          <p:cNvSpPr/>
          <p:nvPr/>
        </p:nvSpPr>
        <p:spPr>
          <a:xfrm>
            <a:off x="4121925" y="1232244"/>
            <a:ext cx="44500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三、习近平法治思想的指导作用</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1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1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61137"/>
            <a:ext cx="5574158" cy="1476375"/>
          </a:xfrm>
          <a:prstGeom prst="rect">
            <a:avLst/>
          </a:prstGeom>
          <a:noFill/>
        </p:spPr>
        <p:txBody>
          <a:bodyPr wrap="square" rtlCol="0">
            <a:spAutoFit/>
          </a:bodyPr>
          <a:lstStyle/>
          <a:p>
            <a:pPr>
              <a:lnSpc>
                <a:spcPct val="150000"/>
              </a:lnSpc>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一、</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sym typeface="+mn-ea"/>
              </a:rPr>
              <a:t>研究刑法学的根本方法</a:t>
            </a:r>
          </a:p>
          <a:p>
            <a:pPr>
              <a:lnSpc>
                <a:spcPct val="150000"/>
              </a:lnSpc>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二、</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sym typeface="+mn-ea"/>
              </a:rPr>
              <a:t>研究刑法学的具体方法</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三、</a:t>
            </a: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sym typeface="+mn-ea"/>
              </a:rPr>
              <a:t>学好刑法学应处理好的几个关系</a:t>
            </a:r>
            <a:endPar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3474091" y="981453"/>
            <a:ext cx="7677150" cy="829945"/>
          </a:xfrm>
          <a:prstGeom prst="rect">
            <a:avLst/>
          </a:prstGeom>
        </p:spPr>
        <p:txBody>
          <a:bodyPr wrap="non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第四节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刑法学的研究与学习方法</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75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63640" y="2335589"/>
            <a:ext cx="7151870" cy="3784600"/>
          </a:xfrm>
          <a:prstGeom prst="rect">
            <a:avLst/>
          </a:prstGeom>
          <a:noFill/>
        </p:spPr>
        <p:txBody>
          <a:bodyPr wrap="square" rtlCol="0">
            <a:spAutoFit/>
          </a:bodyPr>
          <a:lstStyle/>
          <a:p>
            <a:pPr lvl="0" indent="457200">
              <a:lnSpc>
                <a:spcPct val="150000"/>
              </a:lnSpc>
              <a:buFont typeface="Wingdings" panose="05000000000000000000" charset="0"/>
              <a:buNone/>
            </a:pPr>
            <a:r>
              <a:rPr sz="2000" dirty="0">
                <a:latin typeface="微软雅黑" panose="020B0503020204020204" pitchFamily="34" charset="-122"/>
                <a:ea typeface="微软雅黑" panose="020B0503020204020204" pitchFamily="34" charset="-122"/>
                <a:cs typeface="微软雅黑" panose="020B0503020204020204" pitchFamily="34" charset="-122"/>
              </a:rPr>
              <a:t>刑法既是理论法学，也是实践法学。丰富多彩的刑事法治实践，是刑法学不断发展的源泉和动力;同时，刑法学理论的创新发展也是刑事法治进步的推进器。研究刑法学过程中，必须注重理论与实践相结合。</a:t>
            </a:r>
          </a:p>
          <a:p>
            <a:pPr lvl="0" indent="0">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1. 立足中国国情研究刑法学</a:t>
            </a:r>
          </a:p>
          <a:p>
            <a:pPr lvl="0" indent="0">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2. 坚持理论研究与应用研究并重</a:t>
            </a:r>
          </a:p>
          <a:p>
            <a:pPr lvl="0" indent="0">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3. </a:t>
            </a:r>
            <a:r>
              <a:rPr lang="en-US" sz="2000" dirty="0" err="1" smtClean="0">
                <a:latin typeface="微软雅黑" panose="020B0503020204020204" pitchFamily="34" charset="-122"/>
                <a:ea typeface="微软雅黑" panose="020B0503020204020204" pitchFamily="34" charset="-122"/>
                <a:cs typeface="微软雅黑" panose="020B0503020204020204" pitchFamily="34" charset="-122"/>
              </a:rPr>
              <a:t>坚持问题导向</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rPr>
              <a:t>（重视公民个人信息的刑法保护）</a:t>
            </a:r>
            <a:endParaRPr lang="en-US" sz="1400" b="1" dirty="0">
              <a:solidFill>
                <a:srgbClr val="0288DD"/>
              </a:solidFill>
              <a:latin typeface="微软雅黑" panose="020B0503020204020204" pitchFamily="34" charset="-122"/>
              <a:ea typeface="微软雅黑" panose="020B0503020204020204" pitchFamily="34" charset="-122"/>
              <a:cs typeface="微软雅黑" panose="020B0503020204020204" pitchFamily="34" charset="-122"/>
            </a:endParaRPr>
          </a:p>
          <a:p>
            <a:pPr lvl="0" indent="0">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4. 善于总结提升</a:t>
            </a: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一、研究刑法学的根本方法</a:t>
            </a:r>
          </a:p>
        </p:txBody>
      </p:sp>
      <p:sp>
        <p:nvSpPr>
          <p:cNvPr id="5" name="矩形 4"/>
          <p:cNvSpPr/>
          <p:nvPr>
            <p:custDataLst>
              <p:tags r:id="rId2"/>
            </p:custDataLst>
          </p:nvPr>
        </p:nvSpPr>
        <p:spPr>
          <a:xfrm>
            <a:off x="3943985" y="1632585"/>
            <a:ext cx="4102100"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（一）强调理论联系实际</a:t>
            </a:r>
            <a:endPar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45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96660" y="2256214"/>
            <a:ext cx="7151870" cy="3322955"/>
          </a:xfrm>
          <a:prstGeom prst="rect">
            <a:avLst/>
          </a:prstGeom>
          <a:noFill/>
        </p:spPr>
        <p:txBody>
          <a:bodyPr wrap="square" rtlCol="0">
            <a:spAutoFit/>
          </a:bodyPr>
          <a:lstStyle/>
          <a:p>
            <a:pPr lvl="0" indent="457200" fontAlgn="auto">
              <a:lnSpc>
                <a:spcPct val="150000"/>
              </a:lnSpc>
              <a:buFont typeface="Wingdings" panose="05000000000000000000" charset="0"/>
              <a:buNone/>
            </a:pPr>
            <a:r>
              <a:rPr sz="2000" dirty="0">
                <a:latin typeface="微软雅黑" panose="020B0503020204020204" pitchFamily="34" charset="-122"/>
                <a:ea typeface="微软雅黑" panose="020B0503020204020204" pitchFamily="34" charset="-122"/>
                <a:cs typeface="微软雅黑" panose="020B0503020204020204" pitchFamily="34" charset="-122"/>
              </a:rPr>
              <a:t>中国特色社会主义法治体系日臻成熟，新时代刑法学研究要强调系统观念，跳出刑法看刑法，用普遍联系的观点，在整个法治体系乃至经济社会发展全局中思考问题、贡献智慧。</a:t>
            </a:r>
          </a:p>
          <a:p>
            <a:pPr lvl="0" indent="0" fontAlgn="auto">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1. </a:t>
            </a:r>
            <a:r>
              <a:rPr sz="2000" dirty="0">
                <a:latin typeface="微软雅黑" panose="020B0503020204020204" pitchFamily="34" charset="-122"/>
                <a:ea typeface="微软雅黑" panose="020B0503020204020204" pitchFamily="34" charset="-122"/>
                <a:cs typeface="微软雅黑" panose="020B0503020204020204" pitchFamily="34" charset="-122"/>
              </a:rPr>
              <a:t>要促进刑法学同其他刑事法学科的交流互动</a:t>
            </a:r>
          </a:p>
          <a:p>
            <a:pPr lvl="0" indent="0" fontAlgn="auto">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2. 要促进刑法学同相关法学学科的交流互动</a:t>
            </a:r>
          </a:p>
          <a:p>
            <a:pPr lvl="0" indent="0" fontAlgn="auto">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3. 要注意引进其他社会科学的研究方法</a:t>
            </a:r>
          </a:p>
          <a:p>
            <a:pPr lvl="0" indent="0" fontAlgn="auto">
              <a:lnSpc>
                <a:spcPct val="150000"/>
              </a:lnSpc>
              <a:buFont typeface="Wingdings" panose="05000000000000000000" charset="0"/>
              <a:buNone/>
            </a:pPr>
            <a:r>
              <a:rPr lang="en-US" sz="2000" dirty="0">
                <a:latin typeface="微软雅黑" panose="020B0503020204020204" pitchFamily="34" charset="-122"/>
                <a:ea typeface="微软雅黑" panose="020B0503020204020204" pitchFamily="34" charset="-122"/>
                <a:cs typeface="微软雅黑" panose="020B0503020204020204" pitchFamily="34" charset="-122"/>
              </a:rPr>
              <a:t>    4. 在一定范围内还可以引进现代自然科学的研究方法</a:t>
            </a: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一、研究刑法学的根本方法</a:t>
            </a:r>
          </a:p>
        </p:txBody>
      </p:sp>
      <p:sp>
        <p:nvSpPr>
          <p:cNvPr id="5" name="矩形 4"/>
          <p:cNvSpPr/>
          <p:nvPr>
            <p:custDataLst>
              <p:tags r:id="rId2"/>
            </p:custDataLst>
          </p:nvPr>
        </p:nvSpPr>
        <p:spPr>
          <a:xfrm>
            <a:off x="3756025" y="1508760"/>
            <a:ext cx="4987925"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（二）推动刑事一体化与学科融合发展</a:t>
            </a:r>
            <a:endPar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115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847626" y="2248539"/>
            <a:ext cx="7151870" cy="3739485"/>
          </a:xfrm>
          <a:prstGeom prst="rect">
            <a:avLst/>
          </a:prstGeom>
          <a:noFill/>
        </p:spPr>
        <p:txBody>
          <a:bodyPr wrap="square" rtlCol="0">
            <a:spAutoFit/>
          </a:bodyPr>
          <a:lstStyle/>
          <a:p>
            <a:pPr lvl="0" indent="0">
              <a:lnSpc>
                <a:spcPct val="150000"/>
              </a:lnSpc>
              <a:buFont typeface="Wingdings" panose="05000000000000000000" charset="0"/>
              <a:buNone/>
            </a:pPr>
            <a:r>
              <a:rPr sz="2000" dirty="0">
                <a:latin typeface="微软雅黑" panose="020B0503020204020204" pitchFamily="34" charset="-122"/>
                <a:ea typeface="微软雅黑" panose="020B0503020204020204" pitchFamily="34" charset="-122"/>
                <a:cs typeface="微软雅黑" panose="020B0503020204020204" pitchFamily="34" charset="-122"/>
              </a:rPr>
              <a:t>  </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在刑法学研究中，要学会运用历史的、发展的观点。即观察某一刑法现象，要结合当时特定的历史条件与客观环境，</a:t>
            </a:r>
            <a:r>
              <a:rPr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不能简单套用现在的情势和标准加以评判</a:t>
            </a:r>
            <a:r>
              <a:rPr lang="zh-CN" altLang="en-US" sz="1400" b="1" dirty="0" smtClean="0">
                <a:solidFill>
                  <a:srgbClr val="0288DD"/>
                </a:solidFill>
                <a:latin typeface="微软雅黑" panose="020B0503020204020204" pitchFamily="34" charset="-122"/>
                <a:ea typeface="微软雅黑" panose="020B0503020204020204" pitchFamily="34" charset="-122"/>
                <a:cs typeface="微软雅黑" panose="020B0503020204020204" pitchFamily="34" charset="-122"/>
                <a:sym typeface="+mn-ea"/>
              </a:rPr>
              <a:t>（民营企业合法权益的刑法保护）</a:t>
            </a:r>
            <a:r>
              <a:rPr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nSpc>
                <a:spcPct val="150000"/>
              </a:lnSpc>
              <a:buFont typeface="Wingdings" panose="05000000000000000000" charset="0"/>
              <a:buNone/>
            </a:pP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cs typeface="微软雅黑" panose="020B0503020204020204" pitchFamily="34" charset="-122"/>
                <a:sym typeface="+mn-ea"/>
              </a:rPr>
              <a:t>要看到事物的可变性，注意考察其演变情况与发展趋势，这样才能保持刑事立法与司法的适应性，满足社会对公平正义的需求。</a:t>
            </a:r>
          </a:p>
          <a:p>
            <a:pPr lvl="0" indent="0">
              <a:lnSpc>
                <a:spcPct val="150000"/>
              </a:lnSpc>
              <a:buFont typeface="Wingdings" panose="05000000000000000000" charset="0"/>
              <a:buNone/>
            </a:pPr>
            <a:r>
              <a:rPr lang="en-US" dirty="0">
                <a:latin typeface="宋体" panose="02010600030101010101" pitchFamily="2" charset="-122"/>
                <a:ea typeface="宋体" panose="02010600030101010101" pitchFamily="2" charset="-122"/>
              </a:rPr>
              <a:t>    </a:t>
            </a: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一、研究刑法学的根本方法</a:t>
            </a:r>
          </a:p>
        </p:txBody>
      </p:sp>
      <p:sp>
        <p:nvSpPr>
          <p:cNvPr id="5" name="矩形 4"/>
          <p:cNvSpPr/>
          <p:nvPr>
            <p:custDataLst>
              <p:tags r:id="rId2"/>
            </p:custDataLst>
          </p:nvPr>
        </p:nvSpPr>
        <p:spPr>
          <a:xfrm>
            <a:off x="3752215" y="1548130"/>
            <a:ext cx="6367145"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（三）注重用历史的、发展的观点观察刑法现象</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40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876173" y="2279145"/>
            <a:ext cx="7151870" cy="1476375"/>
          </a:xfrm>
          <a:prstGeom prst="rect">
            <a:avLst/>
          </a:prstGeom>
          <a:noFill/>
        </p:spPr>
        <p:txBody>
          <a:bodyPr wrap="square" rtlCol="0">
            <a:spAutoFit/>
          </a:bodyPr>
          <a:lstStyle/>
          <a:p>
            <a:pPr lvl="0" indent="508000" algn="l" fontAlgn="auto">
              <a:lnSpc>
                <a:spcPct val="150000"/>
              </a:lnSpc>
              <a:buClrTx/>
              <a:buSzTx/>
              <a:buFont typeface="Wingdings" panose="05000000000000000000" charset="0"/>
              <a:buNone/>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cs typeface="微软雅黑" panose="020B0503020204020204" pitchFamily="34" charset="-122"/>
              </a:rPr>
              <a:t>规范分析方法，是指通过语义分析、逻辑分析等手段，对刑法规范的含义进行阐明的研究方法。规范分析方法是最古老也是最基本的刑法学研究方法。</a:t>
            </a: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二、研究刑法学的具体方法</a:t>
            </a:r>
          </a:p>
        </p:txBody>
      </p:sp>
      <p:sp>
        <p:nvSpPr>
          <p:cNvPr id="5" name="矩形 4"/>
          <p:cNvSpPr/>
          <p:nvPr>
            <p:custDataLst>
              <p:tags r:id="rId2"/>
            </p:custDataLst>
          </p:nvPr>
        </p:nvSpPr>
        <p:spPr>
          <a:xfrm>
            <a:off x="3752215" y="1548130"/>
            <a:ext cx="6367145"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（一）规范分析方法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58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52215" y="2214538"/>
            <a:ext cx="7151870" cy="1938020"/>
          </a:xfrm>
          <a:prstGeom prst="rect">
            <a:avLst/>
          </a:prstGeom>
          <a:noFill/>
        </p:spPr>
        <p:txBody>
          <a:bodyPr wrap="square" rtlCol="0">
            <a:spAutoFit/>
          </a:bodyPr>
          <a:lstStyle/>
          <a:p>
            <a:pPr lvl="0" indent="508000" fontAlgn="auto">
              <a:lnSpc>
                <a:spcPct val="150000"/>
              </a:lnSpc>
              <a:buFont typeface="Wingdings" panose="05000000000000000000" charset="0"/>
              <a:buNone/>
              <a:extLst>
                <a:ext uri="{35155182-B16C-46BC-9424-99874614C6A1}">
                  <wpsdc:indentchars xmlns:wpsdc="http://www.wps.cn/officeDocument/2017/drawingmlCustomData" xmlns="" val="200" checksum="282533468"/>
                </a:ext>
              </a:extLst>
            </a:pPr>
            <a:r>
              <a:rPr sz="2000" dirty="0">
                <a:latin typeface="微软雅黑" panose="020B0503020204020204" pitchFamily="34" charset="-122"/>
                <a:ea typeface="微软雅黑" panose="020B0503020204020204" pitchFamily="34" charset="-122"/>
                <a:cs typeface="微软雅黑" panose="020B0503020204020204" pitchFamily="34" charset="-122"/>
              </a:rPr>
              <a:t>比较研究方法，是指对世界各国的刑法和不同时期的本国刑法进行比较，从而区别异同、鉴别优劣、辨明是非的一种研究方法。比较研究方法对于探求刑法发展规律，促进一国刑事法治的发展具有重要作用。</a:t>
            </a: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二、研究刑法学的具体方法</a:t>
            </a:r>
          </a:p>
        </p:txBody>
      </p:sp>
      <p:sp>
        <p:nvSpPr>
          <p:cNvPr id="5" name="矩形 4"/>
          <p:cNvSpPr/>
          <p:nvPr>
            <p:custDataLst>
              <p:tags r:id="rId2"/>
            </p:custDataLst>
          </p:nvPr>
        </p:nvSpPr>
        <p:spPr>
          <a:xfrm>
            <a:off x="3752215" y="1548130"/>
            <a:ext cx="6367145"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（二）比较研究法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705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820514" y="2165695"/>
            <a:ext cx="7151870" cy="2399665"/>
          </a:xfrm>
          <a:prstGeom prst="rect">
            <a:avLst/>
          </a:prstGeom>
          <a:noFill/>
        </p:spPr>
        <p:txBody>
          <a:bodyPr wrap="square" rtlCol="0">
            <a:spAutoFit/>
          </a:bodyPr>
          <a:lstStyle/>
          <a:p>
            <a:pPr lvl="0" indent="457200">
              <a:lnSpc>
                <a:spcPct val="150000"/>
              </a:lnSpc>
              <a:buFont typeface="Wingdings" panose="05000000000000000000" charset="0"/>
              <a:buNone/>
            </a:pPr>
            <a:r>
              <a:rPr sz="2000" dirty="0">
                <a:latin typeface="微软雅黑" panose="020B0503020204020204" pitchFamily="34" charset="-122"/>
                <a:ea typeface="微软雅黑" panose="020B0503020204020204" pitchFamily="34" charset="-122"/>
                <a:cs typeface="微软雅黑" panose="020B0503020204020204" pitchFamily="34" charset="-122"/>
              </a:rPr>
              <a:t>法社会学研究方法，是指运用包括社会学、人类学、经济学等多学科理论资源，经验性地研究法律现象的一种法学研究方法。这一方法关注刑法同其他社会现象的关系，重视对刑法现象的经验研究，即对刑法的运行过程、适用效果等问题进行观察与思考。</a:t>
            </a: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二、研究刑法学的具体方法</a:t>
            </a:r>
          </a:p>
        </p:txBody>
      </p:sp>
      <p:sp>
        <p:nvSpPr>
          <p:cNvPr id="5" name="矩形 4"/>
          <p:cNvSpPr/>
          <p:nvPr>
            <p:custDataLst>
              <p:tags r:id="rId2"/>
            </p:custDataLst>
          </p:nvPr>
        </p:nvSpPr>
        <p:spPr>
          <a:xfrm>
            <a:off x="3752215" y="1548130"/>
            <a:ext cx="6367145"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（三）法社会学研究方法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8100"/>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816626" y="2165695"/>
            <a:ext cx="7315200" cy="1938992"/>
          </a:xfrm>
          <a:prstGeom prst="rect">
            <a:avLst/>
          </a:prstGeom>
          <a:noFill/>
        </p:spPr>
        <p:txBody>
          <a:bodyPr wrap="square" rtlCol="0">
            <a:spAutoFit/>
          </a:bodyPr>
          <a:lstStyle/>
          <a:p>
            <a:pPr lvl="0" indent="457200" algn="l">
              <a:lnSpc>
                <a:spcPct val="150000"/>
              </a:lnSpc>
              <a:buClrTx/>
              <a:buSzTx/>
              <a:buFont typeface="Wingdings" panose="05000000000000000000" charset="0"/>
              <a:buNone/>
            </a:pPr>
            <a:r>
              <a:rPr sz="2000" dirty="0">
                <a:latin typeface="微软雅黑" panose="020B0503020204020204" pitchFamily="34" charset="-122"/>
                <a:ea typeface="微软雅黑" panose="020B0503020204020204" pitchFamily="34" charset="-122"/>
                <a:cs typeface="微软雅黑" panose="020B0503020204020204" pitchFamily="34" charset="-122"/>
              </a:rPr>
              <a:t>所谓思辨研究方法，是指从概念与观念出发，通过抽象推理、逻辑演绎来认识、揭示事物的属性。所谓实证研究方法，是从对现象的观察出发，通过对实际材料的收集、整理、分析，以经验事实为依据，探寻事物的发展规律。</a:t>
            </a: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二、研究刑法学的具体方法</a:t>
            </a:r>
          </a:p>
        </p:txBody>
      </p:sp>
      <p:sp>
        <p:nvSpPr>
          <p:cNvPr id="5" name="矩形 4"/>
          <p:cNvSpPr/>
          <p:nvPr>
            <p:custDataLst>
              <p:tags r:id="rId2"/>
            </p:custDataLst>
          </p:nvPr>
        </p:nvSpPr>
        <p:spPr>
          <a:xfrm>
            <a:off x="3752215" y="1548130"/>
            <a:ext cx="6367145"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（四）思辨研究方法与实证研究方法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744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菱形 11"/>
          <p:cNvSpPr/>
          <p:nvPr/>
        </p:nvSpPr>
        <p:spPr>
          <a:xfrm>
            <a:off x="1702500" y="2847702"/>
            <a:ext cx="1815637" cy="1815637"/>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菱形 12"/>
          <p:cNvSpPr/>
          <p:nvPr/>
        </p:nvSpPr>
        <p:spPr>
          <a:xfrm>
            <a:off x="1070974" y="3018151"/>
            <a:ext cx="1263052" cy="1263052"/>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PA_文本框 3"/>
          <p:cNvSpPr txBox="1"/>
          <p:nvPr>
            <p:custDataLst>
              <p:tags r:id="rId1"/>
            </p:custDataLst>
          </p:nvPr>
        </p:nvSpPr>
        <p:spPr>
          <a:xfrm>
            <a:off x="3752215" y="2289976"/>
            <a:ext cx="7186155" cy="2862322"/>
          </a:xfrm>
          <a:prstGeom prst="rect">
            <a:avLst/>
          </a:prstGeom>
          <a:noFill/>
        </p:spPr>
        <p:txBody>
          <a:bodyPr wrap="square" rtlCol="0">
            <a:spAutoFit/>
          </a:bodyPr>
          <a:lstStyle/>
          <a:p>
            <a:pPr lvl="0" indent="457200">
              <a:lnSpc>
                <a:spcPct val="150000"/>
              </a:lnSpc>
              <a:buFont typeface="Wingdings" panose="05000000000000000000" charset="0"/>
              <a:buNone/>
            </a:pPr>
            <a:r>
              <a:rPr sz="2000" dirty="0" err="1" smtClean="0">
                <a:latin typeface="微软雅黑" panose="020B0503020204020204" pitchFamily="34" charset="-122"/>
                <a:ea typeface="微软雅黑" panose="020B0503020204020204" pitchFamily="34" charset="-122"/>
                <a:cs typeface="微软雅黑" panose="020B0503020204020204" pitchFamily="34" charset="-122"/>
              </a:rPr>
              <a:t>定性研究方法</a:t>
            </a:r>
            <a:r>
              <a:rPr sz="2000" dirty="0" err="1">
                <a:latin typeface="微软雅黑" panose="020B0503020204020204" pitchFamily="34" charset="-122"/>
                <a:ea typeface="微软雅黑" panose="020B0503020204020204" pitchFamily="34" charset="-122"/>
                <a:cs typeface="微软雅黑" panose="020B0503020204020204" pitchFamily="34" charset="-122"/>
              </a:rPr>
              <a:t>，是指从质的方面分析事物，确定事物的性质，揭示其内部的规律性。定性研究方法是思辨研究的主要路径</a:t>
            </a:r>
            <a:r>
              <a:rPr sz="20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indent="457200">
              <a:lnSpc>
                <a:spcPct val="150000"/>
              </a:lnSpc>
              <a:buFont typeface="Wingdings" panose="05000000000000000000" charset="0"/>
              <a:buNone/>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定量研究方法，是指从量的方面分析事物，揭示其量的规律性，以检验和证实定性分析的结论。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定性研究方法</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是实证研究方法的重要表现。</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3294213" y="900085"/>
            <a:ext cx="38404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二、研究刑法学的具体方法</a:t>
            </a:r>
          </a:p>
        </p:txBody>
      </p:sp>
      <p:sp>
        <p:nvSpPr>
          <p:cNvPr id="5" name="矩形 4"/>
          <p:cNvSpPr/>
          <p:nvPr>
            <p:custDataLst>
              <p:tags r:id="rId2"/>
            </p:custDataLst>
          </p:nvPr>
        </p:nvSpPr>
        <p:spPr>
          <a:xfrm>
            <a:off x="3752215" y="1548130"/>
            <a:ext cx="6367145" cy="429895"/>
          </a:xfrm>
          <a:prstGeom prst="rect">
            <a:avLst/>
          </a:prstGeom>
        </p:spPr>
        <p:txBody>
          <a:bodyPr wrap="square">
            <a:spAutoFit/>
          </a:bodyPr>
          <a:lstStyle/>
          <a:p>
            <a:pPr algn="l"/>
            <a:r>
              <a:rPr lang="zh-CN" altLang="en-US" sz="2200" dirty="0">
                <a:solidFill>
                  <a:srgbClr val="D9793F"/>
                </a:solidFill>
                <a:latin typeface="华文中宋" panose="02010600040101010101" pitchFamily="2" charset="-122"/>
                <a:ea typeface="华文中宋" panose="02010600040101010101" pitchFamily="2" charset="-122"/>
                <a:cs typeface="宋体" panose="02010600030101010101" pitchFamily="2" charset="-122"/>
                <a:sym typeface="+mn-ea"/>
              </a:rPr>
              <a:t>（五）定性研究方法与定量研究方法</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1049"/>
                            </p:stCondLst>
                            <p:childTnLst>
                              <p:par>
                                <p:cTn id="9" presetID="2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500"/>
                                        <p:tgtEl>
                                          <p:spTgt spid="13"/>
                                        </p:tgtEl>
                                      </p:cBhvr>
                                    </p:animEffect>
                                  </p:childTnLst>
                                </p:cTn>
                              </p:par>
                            </p:childTnLst>
                          </p:cTn>
                        </p:par>
                        <p:par>
                          <p:cTn id="12" fill="hold">
                            <p:stCondLst>
                              <p:cond delay="1549"/>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2049"/>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par>
                          <p:cTn id="20" fill="hold">
                            <p:stCondLst>
                              <p:cond delay="4899"/>
                            </p:stCondLst>
                            <p:childTnLst>
                              <p:par>
                                <p:cTn id="21" presetID="10" presetClass="entr" presetSubtype="0" fill="hold" grpId="0" nodeType="afterEffect">
                                  <p:stCondLst>
                                    <p:cond delay="0"/>
                                  </p:stCondLst>
                                  <p:iterate type="wd">
                                    <p:tmPct val="10000"/>
                                  </p:iterate>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16" grpId="0"/>
      <p:bldP spid="2" grpId="0"/>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779295"/>
            <a:ext cx="7248512" cy="1476375"/>
          </a:xfrm>
          <a:prstGeom prst="rect">
            <a:avLst/>
          </a:prstGeom>
          <a:noFill/>
        </p:spPr>
        <p:txBody>
          <a:bodyPr wrap="square" rtlCol="0">
            <a:spAutoFit/>
          </a:bodyPr>
          <a:lstStyle/>
          <a:p>
            <a:pPr algn="l">
              <a:lnSpc>
                <a:spcPct val="150000"/>
              </a:lnSpc>
              <a:buClrTx/>
              <a:buSzTx/>
              <a:buFont typeface="Wingdings" panose="05000000000000000000" charset="0"/>
              <a:buChar char="Ø"/>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处理好总论与分论的关系</a:t>
            </a:r>
          </a:p>
          <a:p>
            <a:pPr algn="l">
              <a:lnSpc>
                <a:spcPct val="150000"/>
              </a:lnSpc>
              <a:buClrTx/>
              <a:buSzTx/>
              <a:buFont typeface="Wingdings" panose="05000000000000000000" charset="0"/>
              <a:buChar char="Ø"/>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处理好法条和法理的关系</a:t>
            </a:r>
          </a:p>
          <a:p>
            <a:pPr algn="l">
              <a:lnSpc>
                <a:spcPct val="150000"/>
              </a:lnSpc>
              <a:buClrTx/>
              <a:buSzTx/>
              <a:buFont typeface="Wingdings" panose="05000000000000000000" charset="0"/>
              <a:buChar char="Ø"/>
            </a:pP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r>
              <a:rPr sz="2000" dirty="0">
                <a:latin typeface="微软雅黑" panose="020B0503020204020204" pitchFamily="34" charset="-122"/>
                <a:ea typeface="微软雅黑" panose="020B0503020204020204" pitchFamily="34" charset="-122"/>
                <a:cs typeface="微软雅黑" panose="020B0503020204020204" pitchFamily="34" charset="-122"/>
              </a:rPr>
              <a:t>处理好规范和案例的关系</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3788141" y="2925248"/>
            <a:ext cx="3178175" cy="1674132"/>
            <a:chOff x="943341" y="3621208"/>
            <a:chExt cx="3178175" cy="1674132"/>
          </a:xfrm>
        </p:grpSpPr>
        <p:sp>
          <p:nvSpPr>
            <p:cNvPr id="20" name="L 形 19"/>
            <p:cNvSpPr/>
            <p:nvPr/>
          </p:nvSpPr>
          <p:spPr>
            <a:xfrm>
              <a:off x="943341" y="362120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197976" y="3727126"/>
              <a:ext cx="2923540" cy="598805"/>
            </a:xfrm>
            <a:prstGeom prst="rect">
              <a:avLst/>
            </a:prstGeom>
          </p:spPr>
          <p:txBody>
            <a:bodyPr wrap="square">
              <a:spAutoFit/>
            </a:bodyPr>
            <a:lstStyle/>
            <a:p>
              <a:pPr indent="304800" algn="ctr">
                <a:lnSpc>
                  <a:spcPct val="150000"/>
                </a:lnSpc>
              </a:pPr>
              <a:endPar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5059680" cy="460375"/>
          </a:xfrm>
          <a:prstGeom prst="rect">
            <a:avLst/>
          </a:prstGeom>
        </p:spPr>
        <p:txBody>
          <a:bodyPr wrap="none">
            <a:spAutoFit/>
          </a:bodyPr>
          <a:lstStyle/>
          <a:p>
            <a:pPr algn="l"/>
            <a:r>
              <a:rPr lang="zh-CN" altLang="en-US" sz="2400" b="1" dirty="0">
                <a:latin typeface="微软雅黑" panose="020B0503020204020204" pitchFamily="34" charset="-122"/>
                <a:ea typeface="微软雅黑" panose="020B0503020204020204" pitchFamily="34" charset="-122"/>
                <a:cs typeface="宋体" panose="02010600030101010101" pitchFamily="2" charset="-122"/>
                <a:sym typeface="+mn-ea"/>
              </a:rPr>
              <a:t>三、学好刑法学应处理好的几个关系</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10" presetClass="entr" presetSubtype="0" fill="hold" grpId="0" nodeType="afterEffect">
                                  <p:stCondLst>
                                    <p:cond delay="0"/>
                                  </p:stCondLst>
                                  <p:iterate type="wd">
                                    <p:tmPct val="10000"/>
                                  </p:iterate>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250"/>
                            </p:stCondLst>
                            <p:childTnLst>
                              <p:par>
                                <p:cTn id="21" presetID="42"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1000"/>
                                        <p:tgtEl>
                                          <p:spTgt spid="5"/>
                                        </p:tgtEl>
                                      </p:cBhvr>
                                    </p:animEffect>
                                    <p:anim calcmode="lin" valueType="num">
                                      <p:cBhvr>
                                        <p:cTn id="24" dur="1000" fill="hold"/>
                                        <p:tgtEl>
                                          <p:spTgt spid="5"/>
                                        </p:tgtEl>
                                        <p:attrNameLst>
                                          <p:attrName>ppt_x</p:attrName>
                                        </p:attrNameLst>
                                      </p:cBhvr>
                                      <p:tavLst>
                                        <p:tav tm="0">
                                          <p:val>
                                            <p:strVal val="#ppt_x"/>
                                          </p:val>
                                        </p:tav>
                                        <p:tav tm="100000">
                                          <p:val>
                                            <p:strVal val="#ppt_x"/>
                                          </p:val>
                                        </p:tav>
                                      </p:tavLst>
                                    </p:anim>
                                    <p:anim calcmode="lin" valueType="num">
                                      <p:cBhvr>
                                        <p:cTn id="25" dur="1000" fill="hold"/>
                                        <p:tgtEl>
                                          <p:spTgt spid="5"/>
                                        </p:tgtEl>
                                        <p:attrNameLst>
                                          <p:attrName>ppt_y</p:attrName>
                                        </p:attrNameLst>
                                      </p:cBhvr>
                                      <p:tavLst>
                                        <p:tav tm="0">
                                          <p:val>
                                            <p:strVal val="#ppt_y+.1"/>
                                          </p:val>
                                        </p:tav>
                                        <p:tav tm="100000">
                                          <p:val>
                                            <p:strVal val="#ppt_y"/>
                                          </p:val>
                                        </p:tav>
                                      </p:tavLst>
                                    </p:anim>
                                  </p:childTnLst>
                                </p:cTn>
                              </p:par>
                            </p:childTnLst>
                          </p:cTn>
                        </p:par>
                        <p:par>
                          <p:cTn id="26" fill="hold">
                            <p:stCondLst>
                              <p:cond delay="3250"/>
                            </p:stCondLst>
                            <p:childTnLst>
                              <p:par>
                                <p:cTn id="27" presetID="10" presetClass="entr" presetSubtype="0" fill="hold" grpId="0" nodeType="afterEffect">
                                  <p:stCondLst>
                                    <p:cond delay="0"/>
                                  </p:stCondLst>
                                  <p:iterate type="wd">
                                    <p:tmPct val="10000"/>
                                  </p:iterate>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ldLvl="0" animBg="1"/>
      <p:bldP spid="8" grpId="0" bldLvl="0" animBg="1"/>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dea_301807"/>
          <p:cNvSpPr>
            <a:spLocks noChangeAspect="1"/>
          </p:cNvSpPr>
          <p:nvPr>
            <p:custDataLst>
              <p:tags r:id="rId1"/>
            </p:custDataLst>
          </p:nvPr>
        </p:nvSpPr>
        <p:spPr bwMode="auto">
          <a:xfrm>
            <a:off x="1077900" y="1081362"/>
            <a:ext cx="529201" cy="609685"/>
          </a:xfrm>
          <a:custGeom>
            <a:avLst/>
            <a:gdLst>
              <a:gd name="connsiteX0" fmla="*/ 139184 w 526630"/>
              <a:gd name="connsiteY0" fmla="*/ 367044 h 606722"/>
              <a:gd name="connsiteX1" fmla="*/ 90404 w 526630"/>
              <a:gd name="connsiteY1" fmla="*/ 401702 h 606722"/>
              <a:gd name="connsiteX2" fmla="*/ 65124 w 526630"/>
              <a:gd name="connsiteY2" fmla="*/ 472708 h 606722"/>
              <a:gd name="connsiteX3" fmla="*/ 65124 w 526630"/>
              <a:gd name="connsiteY3" fmla="*/ 570641 h 606722"/>
              <a:gd name="connsiteX4" fmla="*/ 159034 w 526630"/>
              <a:gd name="connsiteY4" fmla="*/ 570641 h 606722"/>
              <a:gd name="connsiteX5" fmla="*/ 155563 w 526630"/>
              <a:gd name="connsiteY5" fmla="*/ 551535 h 606722"/>
              <a:gd name="connsiteX6" fmla="*/ 159034 w 526630"/>
              <a:gd name="connsiteY6" fmla="*/ 532428 h 606722"/>
              <a:gd name="connsiteX7" fmla="*/ 107495 w 526630"/>
              <a:gd name="connsiteY7" fmla="*/ 532428 h 606722"/>
              <a:gd name="connsiteX8" fmla="*/ 107495 w 526630"/>
              <a:gd name="connsiteY8" fmla="*/ 462311 h 606722"/>
              <a:gd name="connsiteX9" fmla="*/ 143546 w 526630"/>
              <a:gd name="connsiteY9" fmla="*/ 462311 h 606722"/>
              <a:gd name="connsiteX10" fmla="*/ 143546 w 526630"/>
              <a:gd name="connsiteY10" fmla="*/ 496347 h 606722"/>
              <a:gd name="connsiteX11" fmla="*/ 210841 w 526630"/>
              <a:gd name="connsiteY11" fmla="*/ 496347 h 606722"/>
              <a:gd name="connsiteX12" fmla="*/ 383084 w 526630"/>
              <a:gd name="connsiteY12" fmla="*/ 496347 h 606722"/>
              <a:gd name="connsiteX13" fmla="*/ 383084 w 526630"/>
              <a:gd name="connsiteY13" fmla="*/ 462311 h 606722"/>
              <a:gd name="connsiteX14" fmla="*/ 419135 w 526630"/>
              <a:gd name="connsiteY14" fmla="*/ 462311 h 606722"/>
              <a:gd name="connsiteX15" fmla="*/ 419135 w 526630"/>
              <a:gd name="connsiteY15" fmla="*/ 532428 h 606722"/>
              <a:gd name="connsiteX16" fmla="*/ 210841 w 526630"/>
              <a:gd name="connsiteY16" fmla="*/ 532428 h 606722"/>
              <a:gd name="connsiteX17" fmla="*/ 191703 w 526630"/>
              <a:gd name="connsiteY17" fmla="*/ 551535 h 606722"/>
              <a:gd name="connsiteX18" fmla="*/ 210841 w 526630"/>
              <a:gd name="connsiteY18" fmla="*/ 570641 h 606722"/>
              <a:gd name="connsiteX19" fmla="*/ 461417 w 526630"/>
              <a:gd name="connsiteY19" fmla="*/ 570641 h 606722"/>
              <a:gd name="connsiteX20" fmla="*/ 461506 w 526630"/>
              <a:gd name="connsiteY20" fmla="*/ 570641 h 606722"/>
              <a:gd name="connsiteX21" fmla="*/ 461506 w 526630"/>
              <a:gd name="connsiteY21" fmla="*/ 472708 h 606722"/>
              <a:gd name="connsiteX22" fmla="*/ 436137 w 526630"/>
              <a:gd name="connsiteY22" fmla="*/ 401702 h 606722"/>
              <a:gd name="connsiteX23" fmla="*/ 387357 w 526630"/>
              <a:gd name="connsiteY23" fmla="*/ 367044 h 606722"/>
              <a:gd name="connsiteX24" fmla="*/ 294693 w 526630"/>
              <a:gd name="connsiteY24" fmla="*/ 441516 h 606722"/>
              <a:gd name="connsiteX25" fmla="*/ 294159 w 526630"/>
              <a:gd name="connsiteY25" fmla="*/ 441604 h 606722"/>
              <a:gd name="connsiteX26" fmla="*/ 291399 w 526630"/>
              <a:gd name="connsiteY26" fmla="*/ 442226 h 606722"/>
              <a:gd name="connsiteX27" fmla="*/ 289797 w 526630"/>
              <a:gd name="connsiteY27" fmla="*/ 442582 h 606722"/>
              <a:gd name="connsiteX28" fmla="*/ 286770 w 526630"/>
              <a:gd name="connsiteY28" fmla="*/ 443115 h 606722"/>
              <a:gd name="connsiteX29" fmla="*/ 283744 w 526630"/>
              <a:gd name="connsiteY29" fmla="*/ 443560 h 606722"/>
              <a:gd name="connsiteX30" fmla="*/ 282053 w 526630"/>
              <a:gd name="connsiteY30" fmla="*/ 443826 h 606722"/>
              <a:gd name="connsiteX31" fmla="*/ 279204 w 526630"/>
              <a:gd name="connsiteY31" fmla="*/ 444182 h 606722"/>
              <a:gd name="connsiteX32" fmla="*/ 277780 w 526630"/>
              <a:gd name="connsiteY32" fmla="*/ 444359 h 606722"/>
              <a:gd name="connsiteX33" fmla="*/ 273596 w 526630"/>
              <a:gd name="connsiteY33" fmla="*/ 444715 h 606722"/>
              <a:gd name="connsiteX34" fmla="*/ 272528 w 526630"/>
              <a:gd name="connsiteY34" fmla="*/ 444804 h 606722"/>
              <a:gd name="connsiteX35" fmla="*/ 269056 w 526630"/>
              <a:gd name="connsiteY35" fmla="*/ 444981 h 606722"/>
              <a:gd name="connsiteX36" fmla="*/ 267810 w 526630"/>
              <a:gd name="connsiteY36" fmla="*/ 445070 h 606722"/>
              <a:gd name="connsiteX37" fmla="*/ 263271 w 526630"/>
              <a:gd name="connsiteY37" fmla="*/ 445159 h 606722"/>
              <a:gd name="connsiteX38" fmla="*/ 258820 w 526630"/>
              <a:gd name="connsiteY38" fmla="*/ 445070 h 606722"/>
              <a:gd name="connsiteX39" fmla="*/ 257574 w 526630"/>
              <a:gd name="connsiteY39" fmla="*/ 444981 h 606722"/>
              <a:gd name="connsiteX40" fmla="*/ 254013 w 526630"/>
              <a:gd name="connsiteY40" fmla="*/ 444804 h 606722"/>
              <a:gd name="connsiteX41" fmla="*/ 253034 w 526630"/>
              <a:gd name="connsiteY41" fmla="*/ 444715 h 606722"/>
              <a:gd name="connsiteX42" fmla="*/ 248850 w 526630"/>
              <a:gd name="connsiteY42" fmla="*/ 444359 h 606722"/>
              <a:gd name="connsiteX43" fmla="*/ 247426 w 526630"/>
              <a:gd name="connsiteY43" fmla="*/ 444182 h 606722"/>
              <a:gd name="connsiteX44" fmla="*/ 244577 w 526630"/>
              <a:gd name="connsiteY44" fmla="*/ 443826 h 606722"/>
              <a:gd name="connsiteX45" fmla="*/ 242797 w 526630"/>
              <a:gd name="connsiteY45" fmla="*/ 443560 h 606722"/>
              <a:gd name="connsiteX46" fmla="*/ 239860 w 526630"/>
              <a:gd name="connsiteY46" fmla="*/ 443115 h 606722"/>
              <a:gd name="connsiteX47" fmla="*/ 236833 w 526630"/>
              <a:gd name="connsiteY47" fmla="*/ 442582 h 606722"/>
              <a:gd name="connsiteX48" fmla="*/ 235231 w 526630"/>
              <a:gd name="connsiteY48" fmla="*/ 442226 h 606722"/>
              <a:gd name="connsiteX49" fmla="*/ 232471 w 526630"/>
              <a:gd name="connsiteY49" fmla="*/ 441604 h 606722"/>
              <a:gd name="connsiteX50" fmla="*/ 231937 w 526630"/>
              <a:gd name="connsiteY50" fmla="*/ 441516 h 606722"/>
              <a:gd name="connsiteX51" fmla="*/ 139184 w 526630"/>
              <a:gd name="connsiteY51" fmla="*/ 367044 h 606722"/>
              <a:gd name="connsiteX52" fmla="*/ 439552 w 526630"/>
              <a:gd name="connsiteY52" fmla="*/ 244933 h 606722"/>
              <a:gd name="connsiteX53" fmla="*/ 526630 w 526630"/>
              <a:gd name="connsiteY53" fmla="*/ 244933 h 606722"/>
              <a:gd name="connsiteX54" fmla="*/ 526630 w 526630"/>
              <a:gd name="connsiteY54" fmla="*/ 280921 h 606722"/>
              <a:gd name="connsiteX55" fmla="*/ 439552 w 526630"/>
              <a:gd name="connsiteY55" fmla="*/ 280921 h 606722"/>
              <a:gd name="connsiteX56" fmla="*/ 0 w 526630"/>
              <a:gd name="connsiteY56" fmla="*/ 244933 h 606722"/>
              <a:gd name="connsiteX57" fmla="*/ 87007 w 526630"/>
              <a:gd name="connsiteY57" fmla="*/ 244933 h 606722"/>
              <a:gd name="connsiteX58" fmla="*/ 87007 w 526630"/>
              <a:gd name="connsiteY58" fmla="*/ 280921 h 606722"/>
              <a:gd name="connsiteX59" fmla="*/ 0 w 526630"/>
              <a:gd name="connsiteY59" fmla="*/ 280921 h 606722"/>
              <a:gd name="connsiteX60" fmla="*/ 170161 w 526630"/>
              <a:gd name="connsiteY60" fmla="*/ 223166 h 606722"/>
              <a:gd name="connsiteX61" fmla="*/ 161972 w 526630"/>
              <a:gd name="connsiteY61" fmla="*/ 262890 h 606722"/>
              <a:gd name="connsiteX62" fmla="*/ 161972 w 526630"/>
              <a:gd name="connsiteY62" fmla="*/ 307857 h 606722"/>
              <a:gd name="connsiteX63" fmla="*/ 237901 w 526630"/>
              <a:gd name="connsiteY63" fmla="*/ 405879 h 606722"/>
              <a:gd name="connsiteX64" fmla="*/ 238079 w 526630"/>
              <a:gd name="connsiteY64" fmla="*/ 405879 h 606722"/>
              <a:gd name="connsiteX65" fmla="*/ 247693 w 526630"/>
              <a:gd name="connsiteY65" fmla="*/ 407834 h 606722"/>
              <a:gd name="connsiteX66" fmla="*/ 248494 w 526630"/>
              <a:gd name="connsiteY66" fmla="*/ 408012 h 606722"/>
              <a:gd name="connsiteX67" fmla="*/ 252322 w 526630"/>
              <a:gd name="connsiteY67" fmla="*/ 408456 h 606722"/>
              <a:gd name="connsiteX68" fmla="*/ 253746 w 526630"/>
              <a:gd name="connsiteY68" fmla="*/ 408634 h 606722"/>
              <a:gd name="connsiteX69" fmla="*/ 257128 w 526630"/>
              <a:gd name="connsiteY69" fmla="*/ 408901 h 606722"/>
              <a:gd name="connsiteX70" fmla="*/ 258553 w 526630"/>
              <a:gd name="connsiteY70" fmla="*/ 408990 h 606722"/>
              <a:gd name="connsiteX71" fmla="*/ 263271 w 526630"/>
              <a:gd name="connsiteY71" fmla="*/ 409079 h 606722"/>
              <a:gd name="connsiteX72" fmla="*/ 268077 w 526630"/>
              <a:gd name="connsiteY72" fmla="*/ 408990 h 606722"/>
              <a:gd name="connsiteX73" fmla="*/ 269502 w 526630"/>
              <a:gd name="connsiteY73" fmla="*/ 408901 h 606722"/>
              <a:gd name="connsiteX74" fmla="*/ 272884 w 526630"/>
              <a:gd name="connsiteY74" fmla="*/ 408634 h 606722"/>
              <a:gd name="connsiteX75" fmla="*/ 274308 w 526630"/>
              <a:gd name="connsiteY75" fmla="*/ 408456 h 606722"/>
              <a:gd name="connsiteX76" fmla="*/ 278136 w 526630"/>
              <a:gd name="connsiteY76" fmla="*/ 408012 h 606722"/>
              <a:gd name="connsiteX77" fmla="*/ 278937 w 526630"/>
              <a:gd name="connsiteY77" fmla="*/ 407834 h 606722"/>
              <a:gd name="connsiteX78" fmla="*/ 288551 w 526630"/>
              <a:gd name="connsiteY78" fmla="*/ 405879 h 606722"/>
              <a:gd name="connsiteX79" fmla="*/ 288640 w 526630"/>
              <a:gd name="connsiteY79" fmla="*/ 405879 h 606722"/>
              <a:gd name="connsiteX80" fmla="*/ 364658 w 526630"/>
              <a:gd name="connsiteY80" fmla="*/ 307857 h 606722"/>
              <a:gd name="connsiteX81" fmla="*/ 364658 w 526630"/>
              <a:gd name="connsiteY81" fmla="*/ 262890 h 606722"/>
              <a:gd name="connsiteX82" fmla="*/ 356469 w 526630"/>
              <a:gd name="connsiteY82" fmla="*/ 223166 h 606722"/>
              <a:gd name="connsiteX83" fmla="*/ 263271 w 526630"/>
              <a:gd name="connsiteY83" fmla="*/ 258180 h 606722"/>
              <a:gd name="connsiteX84" fmla="*/ 170161 w 526630"/>
              <a:gd name="connsiteY84" fmla="*/ 223166 h 606722"/>
              <a:gd name="connsiteX85" fmla="*/ 263271 w 526630"/>
              <a:gd name="connsiteY85" fmla="*/ 161758 h 606722"/>
              <a:gd name="connsiteX86" fmla="*/ 190368 w 526630"/>
              <a:gd name="connsiteY86" fmla="*/ 192773 h 606722"/>
              <a:gd name="connsiteX87" fmla="*/ 263271 w 526630"/>
              <a:gd name="connsiteY87" fmla="*/ 222099 h 606722"/>
              <a:gd name="connsiteX88" fmla="*/ 336263 w 526630"/>
              <a:gd name="connsiteY88" fmla="*/ 192773 h 606722"/>
              <a:gd name="connsiteX89" fmla="*/ 263271 w 526630"/>
              <a:gd name="connsiteY89" fmla="*/ 161758 h 606722"/>
              <a:gd name="connsiteX90" fmla="*/ 263271 w 526630"/>
              <a:gd name="connsiteY90" fmla="*/ 125677 h 606722"/>
              <a:gd name="connsiteX91" fmla="*/ 400798 w 526630"/>
              <a:gd name="connsiteY91" fmla="*/ 262890 h 606722"/>
              <a:gd name="connsiteX92" fmla="*/ 400798 w 526630"/>
              <a:gd name="connsiteY92" fmla="*/ 307857 h 606722"/>
              <a:gd name="connsiteX93" fmla="*/ 398484 w 526630"/>
              <a:gd name="connsiteY93" fmla="*/ 332652 h 606722"/>
              <a:gd name="connsiteX94" fmla="*/ 464177 w 526630"/>
              <a:gd name="connsiteY94" fmla="*/ 378863 h 606722"/>
              <a:gd name="connsiteX95" fmla="*/ 497557 w 526630"/>
              <a:gd name="connsiteY95" fmla="*/ 472708 h 606722"/>
              <a:gd name="connsiteX96" fmla="*/ 497557 w 526630"/>
              <a:gd name="connsiteY96" fmla="*/ 606722 h 606722"/>
              <a:gd name="connsiteX97" fmla="*/ 29073 w 526630"/>
              <a:gd name="connsiteY97" fmla="*/ 606722 h 606722"/>
              <a:gd name="connsiteX98" fmla="*/ 29073 w 526630"/>
              <a:gd name="connsiteY98" fmla="*/ 472708 h 606722"/>
              <a:gd name="connsiteX99" fmla="*/ 62453 w 526630"/>
              <a:gd name="connsiteY99" fmla="*/ 378863 h 606722"/>
              <a:gd name="connsiteX100" fmla="*/ 128057 w 526630"/>
              <a:gd name="connsiteY100" fmla="*/ 332652 h 606722"/>
              <a:gd name="connsiteX101" fmla="*/ 125832 w 526630"/>
              <a:gd name="connsiteY101" fmla="*/ 307857 h 606722"/>
              <a:gd name="connsiteX102" fmla="*/ 125832 w 526630"/>
              <a:gd name="connsiteY102" fmla="*/ 262890 h 606722"/>
              <a:gd name="connsiteX103" fmla="*/ 263271 w 526630"/>
              <a:gd name="connsiteY103" fmla="*/ 125677 h 606722"/>
              <a:gd name="connsiteX104" fmla="*/ 436739 w 526630"/>
              <a:gd name="connsiteY104" fmla="*/ 64285 h 606722"/>
              <a:gd name="connsiteX105" fmla="*/ 462204 w 526630"/>
              <a:gd name="connsiteY105" fmla="*/ 89776 h 606722"/>
              <a:gd name="connsiteX106" fmla="*/ 400680 w 526630"/>
              <a:gd name="connsiteY106" fmla="*/ 151151 h 606722"/>
              <a:gd name="connsiteX107" fmla="*/ 375126 w 526630"/>
              <a:gd name="connsiteY107" fmla="*/ 125660 h 606722"/>
              <a:gd name="connsiteX108" fmla="*/ 89889 w 526630"/>
              <a:gd name="connsiteY108" fmla="*/ 64285 h 606722"/>
              <a:gd name="connsiteX109" fmla="*/ 151363 w 526630"/>
              <a:gd name="connsiteY109" fmla="*/ 125660 h 606722"/>
              <a:gd name="connsiteX110" fmla="*/ 125830 w 526630"/>
              <a:gd name="connsiteY110" fmla="*/ 151151 h 606722"/>
              <a:gd name="connsiteX111" fmla="*/ 64356 w 526630"/>
              <a:gd name="connsiteY111" fmla="*/ 89776 h 606722"/>
              <a:gd name="connsiteX112" fmla="*/ 245286 w 526630"/>
              <a:gd name="connsiteY112" fmla="*/ 0 h 606722"/>
              <a:gd name="connsiteX113" fmla="*/ 281345 w 526630"/>
              <a:gd name="connsiteY113" fmla="*/ 0 h 606722"/>
              <a:gd name="connsiteX114" fmla="*/ 281345 w 526630"/>
              <a:gd name="connsiteY114" fmla="*/ 86937 h 606722"/>
              <a:gd name="connsiteX115" fmla="*/ 245286 w 526630"/>
              <a:gd name="connsiteY115" fmla="*/ 86937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26630" h="606722">
                <a:moveTo>
                  <a:pt x="139184" y="367044"/>
                </a:moveTo>
                <a:cubicBezTo>
                  <a:pt x="120313" y="373887"/>
                  <a:pt x="103311" y="385884"/>
                  <a:pt x="90404" y="401702"/>
                </a:cubicBezTo>
                <a:cubicBezTo>
                  <a:pt x="74114" y="421609"/>
                  <a:pt x="65124" y="446848"/>
                  <a:pt x="65124" y="472708"/>
                </a:cubicBezTo>
                <a:lnTo>
                  <a:pt x="65124" y="570641"/>
                </a:lnTo>
                <a:lnTo>
                  <a:pt x="159034" y="570641"/>
                </a:lnTo>
                <a:cubicBezTo>
                  <a:pt x="156809" y="564687"/>
                  <a:pt x="155563" y="558289"/>
                  <a:pt x="155563" y="551535"/>
                </a:cubicBezTo>
                <a:cubicBezTo>
                  <a:pt x="155563" y="544781"/>
                  <a:pt x="156809" y="538382"/>
                  <a:pt x="159034" y="532428"/>
                </a:cubicBezTo>
                <a:lnTo>
                  <a:pt x="107495" y="532428"/>
                </a:lnTo>
                <a:lnTo>
                  <a:pt x="107495" y="462311"/>
                </a:lnTo>
                <a:lnTo>
                  <a:pt x="143546" y="462311"/>
                </a:lnTo>
                <a:lnTo>
                  <a:pt x="143546" y="496347"/>
                </a:lnTo>
                <a:lnTo>
                  <a:pt x="210841" y="496347"/>
                </a:lnTo>
                <a:lnTo>
                  <a:pt x="383084" y="496347"/>
                </a:lnTo>
                <a:lnTo>
                  <a:pt x="383084" y="462311"/>
                </a:lnTo>
                <a:lnTo>
                  <a:pt x="419135" y="462311"/>
                </a:lnTo>
                <a:lnTo>
                  <a:pt x="419135" y="532428"/>
                </a:lnTo>
                <a:lnTo>
                  <a:pt x="210841" y="532428"/>
                </a:lnTo>
                <a:cubicBezTo>
                  <a:pt x="200248" y="532428"/>
                  <a:pt x="191703" y="540959"/>
                  <a:pt x="191703" y="551535"/>
                </a:cubicBezTo>
                <a:cubicBezTo>
                  <a:pt x="191703" y="562110"/>
                  <a:pt x="200248" y="570641"/>
                  <a:pt x="210841" y="570641"/>
                </a:cubicBezTo>
                <a:lnTo>
                  <a:pt x="461417" y="570641"/>
                </a:lnTo>
                <a:lnTo>
                  <a:pt x="461506" y="570641"/>
                </a:lnTo>
                <a:lnTo>
                  <a:pt x="461506" y="472708"/>
                </a:lnTo>
                <a:cubicBezTo>
                  <a:pt x="461506" y="446848"/>
                  <a:pt x="452516" y="421609"/>
                  <a:pt x="436137" y="401702"/>
                </a:cubicBezTo>
                <a:cubicBezTo>
                  <a:pt x="423319" y="385884"/>
                  <a:pt x="406317" y="373887"/>
                  <a:pt x="387357" y="367044"/>
                </a:cubicBezTo>
                <a:cubicBezTo>
                  <a:pt x="369376" y="404902"/>
                  <a:pt x="335105" y="432095"/>
                  <a:pt x="294693" y="441516"/>
                </a:cubicBezTo>
                <a:cubicBezTo>
                  <a:pt x="294515" y="441516"/>
                  <a:pt x="294337" y="441604"/>
                  <a:pt x="294159" y="441604"/>
                </a:cubicBezTo>
                <a:cubicBezTo>
                  <a:pt x="293268" y="441871"/>
                  <a:pt x="292289" y="442049"/>
                  <a:pt x="291399" y="442226"/>
                </a:cubicBezTo>
                <a:cubicBezTo>
                  <a:pt x="290865" y="442315"/>
                  <a:pt x="290331" y="442404"/>
                  <a:pt x="289797" y="442582"/>
                </a:cubicBezTo>
                <a:cubicBezTo>
                  <a:pt x="288818" y="442760"/>
                  <a:pt x="287839" y="442937"/>
                  <a:pt x="286770" y="443115"/>
                </a:cubicBezTo>
                <a:cubicBezTo>
                  <a:pt x="285791" y="443293"/>
                  <a:pt x="284812" y="443471"/>
                  <a:pt x="283744" y="443560"/>
                </a:cubicBezTo>
                <a:cubicBezTo>
                  <a:pt x="283210" y="443648"/>
                  <a:pt x="282676" y="443737"/>
                  <a:pt x="282053" y="443826"/>
                </a:cubicBezTo>
                <a:cubicBezTo>
                  <a:pt x="281073" y="444004"/>
                  <a:pt x="280183" y="444093"/>
                  <a:pt x="279204" y="444182"/>
                </a:cubicBezTo>
                <a:cubicBezTo>
                  <a:pt x="278670" y="444270"/>
                  <a:pt x="278225" y="444270"/>
                  <a:pt x="277780" y="444359"/>
                </a:cubicBezTo>
                <a:cubicBezTo>
                  <a:pt x="276356" y="444537"/>
                  <a:pt x="274931" y="444626"/>
                  <a:pt x="273596" y="444715"/>
                </a:cubicBezTo>
                <a:cubicBezTo>
                  <a:pt x="273240" y="444804"/>
                  <a:pt x="272884" y="444804"/>
                  <a:pt x="272528" y="444804"/>
                </a:cubicBezTo>
                <a:cubicBezTo>
                  <a:pt x="271371" y="444893"/>
                  <a:pt x="270214" y="444981"/>
                  <a:pt x="269056" y="444981"/>
                </a:cubicBezTo>
                <a:cubicBezTo>
                  <a:pt x="268611" y="444981"/>
                  <a:pt x="268166" y="445070"/>
                  <a:pt x="267810" y="445070"/>
                </a:cubicBezTo>
                <a:cubicBezTo>
                  <a:pt x="266297" y="445070"/>
                  <a:pt x="264784" y="445159"/>
                  <a:pt x="263271" y="445159"/>
                </a:cubicBezTo>
                <a:cubicBezTo>
                  <a:pt x="261846" y="445159"/>
                  <a:pt x="260333" y="445070"/>
                  <a:pt x="258820" y="445070"/>
                </a:cubicBezTo>
                <a:cubicBezTo>
                  <a:pt x="258464" y="444981"/>
                  <a:pt x="258019" y="444981"/>
                  <a:pt x="257574" y="444981"/>
                </a:cubicBezTo>
                <a:cubicBezTo>
                  <a:pt x="256416" y="444981"/>
                  <a:pt x="255259" y="444893"/>
                  <a:pt x="254013" y="444804"/>
                </a:cubicBezTo>
                <a:cubicBezTo>
                  <a:pt x="253746" y="444804"/>
                  <a:pt x="253390" y="444804"/>
                  <a:pt x="253034" y="444715"/>
                </a:cubicBezTo>
                <a:cubicBezTo>
                  <a:pt x="251610" y="444626"/>
                  <a:pt x="250274" y="444537"/>
                  <a:pt x="248850" y="444359"/>
                </a:cubicBezTo>
                <a:cubicBezTo>
                  <a:pt x="248405" y="444270"/>
                  <a:pt x="247871" y="444270"/>
                  <a:pt x="247426" y="444182"/>
                </a:cubicBezTo>
                <a:cubicBezTo>
                  <a:pt x="246447" y="444093"/>
                  <a:pt x="245468" y="444004"/>
                  <a:pt x="244577" y="443826"/>
                </a:cubicBezTo>
                <a:cubicBezTo>
                  <a:pt x="243954" y="443737"/>
                  <a:pt x="243420" y="443648"/>
                  <a:pt x="242797" y="443560"/>
                </a:cubicBezTo>
                <a:cubicBezTo>
                  <a:pt x="241818" y="443471"/>
                  <a:pt x="240839" y="443293"/>
                  <a:pt x="239860" y="443115"/>
                </a:cubicBezTo>
                <a:cubicBezTo>
                  <a:pt x="238791" y="442937"/>
                  <a:pt x="237812" y="442760"/>
                  <a:pt x="236833" y="442582"/>
                </a:cubicBezTo>
                <a:cubicBezTo>
                  <a:pt x="236299" y="442404"/>
                  <a:pt x="235765" y="442315"/>
                  <a:pt x="235231" y="442226"/>
                </a:cubicBezTo>
                <a:cubicBezTo>
                  <a:pt x="234252" y="442049"/>
                  <a:pt x="233362" y="441871"/>
                  <a:pt x="232471" y="441604"/>
                </a:cubicBezTo>
                <a:cubicBezTo>
                  <a:pt x="232293" y="441604"/>
                  <a:pt x="232115" y="441516"/>
                  <a:pt x="231937" y="441516"/>
                </a:cubicBezTo>
                <a:cubicBezTo>
                  <a:pt x="191525" y="432095"/>
                  <a:pt x="157254" y="404902"/>
                  <a:pt x="139184" y="367044"/>
                </a:cubicBezTo>
                <a:close/>
                <a:moveTo>
                  <a:pt x="439552" y="244933"/>
                </a:moveTo>
                <a:lnTo>
                  <a:pt x="526630" y="244933"/>
                </a:lnTo>
                <a:lnTo>
                  <a:pt x="526630" y="280921"/>
                </a:lnTo>
                <a:lnTo>
                  <a:pt x="439552" y="280921"/>
                </a:lnTo>
                <a:close/>
                <a:moveTo>
                  <a:pt x="0" y="244933"/>
                </a:moveTo>
                <a:lnTo>
                  <a:pt x="87007" y="244933"/>
                </a:lnTo>
                <a:lnTo>
                  <a:pt x="87007" y="280921"/>
                </a:lnTo>
                <a:lnTo>
                  <a:pt x="0" y="280921"/>
                </a:lnTo>
                <a:close/>
                <a:moveTo>
                  <a:pt x="170161" y="223166"/>
                </a:moveTo>
                <a:cubicBezTo>
                  <a:pt x="164909" y="235341"/>
                  <a:pt x="161972" y="248760"/>
                  <a:pt x="161972" y="262890"/>
                </a:cubicBezTo>
                <a:lnTo>
                  <a:pt x="161972" y="307857"/>
                </a:lnTo>
                <a:cubicBezTo>
                  <a:pt x="161972" y="354958"/>
                  <a:pt x="194284" y="394593"/>
                  <a:pt x="237901" y="405879"/>
                </a:cubicBezTo>
                <a:cubicBezTo>
                  <a:pt x="237990" y="405879"/>
                  <a:pt x="237990" y="405879"/>
                  <a:pt x="238079" y="405879"/>
                </a:cubicBezTo>
                <a:cubicBezTo>
                  <a:pt x="241195" y="406679"/>
                  <a:pt x="244399" y="407390"/>
                  <a:pt x="247693" y="407834"/>
                </a:cubicBezTo>
                <a:cubicBezTo>
                  <a:pt x="247960" y="407923"/>
                  <a:pt x="248227" y="407923"/>
                  <a:pt x="248494" y="408012"/>
                </a:cubicBezTo>
                <a:cubicBezTo>
                  <a:pt x="249740" y="408190"/>
                  <a:pt x="250986" y="408368"/>
                  <a:pt x="252322" y="408456"/>
                </a:cubicBezTo>
                <a:cubicBezTo>
                  <a:pt x="252767" y="408545"/>
                  <a:pt x="253212" y="408545"/>
                  <a:pt x="253746" y="408634"/>
                </a:cubicBezTo>
                <a:cubicBezTo>
                  <a:pt x="254903" y="408723"/>
                  <a:pt x="255971" y="408812"/>
                  <a:pt x="257128" y="408901"/>
                </a:cubicBezTo>
                <a:cubicBezTo>
                  <a:pt x="257574" y="408901"/>
                  <a:pt x="258108" y="408901"/>
                  <a:pt x="258553" y="408990"/>
                </a:cubicBezTo>
                <a:cubicBezTo>
                  <a:pt x="260155" y="408990"/>
                  <a:pt x="261668" y="409079"/>
                  <a:pt x="263271" y="409079"/>
                </a:cubicBezTo>
                <a:cubicBezTo>
                  <a:pt x="264873" y="409079"/>
                  <a:pt x="266475" y="408990"/>
                  <a:pt x="268077" y="408990"/>
                </a:cubicBezTo>
                <a:cubicBezTo>
                  <a:pt x="268522" y="408901"/>
                  <a:pt x="268967" y="408901"/>
                  <a:pt x="269502" y="408901"/>
                </a:cubicBezTo>
                <a:cubicBezTo>
                  <a:pt x="270570" y="408812"/>
                  <a:pt x="271727" y="408723"/>
                  <a:pt x="272884" y="408634"/>
                </a:cubicBezTo>
                <a:cubicBezTo>
                  <a:pt x="273329" y="408545"/>
                  <a:pt x="273863" y="408545"/>
                  <a:pt x="274308" y="408456"/>
                </a:cubicBezTo>
                <a:cubicBezTo>
                  <a:pt x="275555" y="408368"/>
                  <a:pt x="276890" y="408190"/>
                  <a:pt x="278136" y="408012"/>
                </a:cubicBezTo>
                <a:cubicBezTo>
                  <a:pt x="278403" y="407923"/>
                  <a:pt x="278670" y="407923"/>
                  <a:pt x="278937" y="407834"/>
                </a:cubicBezTo>
                <a:cubicBezTo>
                  <a:pt x="282142" y="407390"/>
                  <a:pt x="285435" y="406679"/>
                  <a:pt x="288551" y="405879"/>
                </a:cubicBezTo>
                <a:cubicBezTo>
                  <a:pt x="288551" y="405879"/>
                  <a:pt x="288640" y="405879"/>
                  <a:pt x="288640" y="405879"/>
                </a:cubicBezTo>
                <a:cubicBezTo>
                  <a:pt x="332346" y="394593"/>
                  <a:pt x="364658" y="354958"/>
                  <a:pt x="364658" y="307857"/>
                </a:cubicBezTo>
                <a:lnTo>
                  <a:pt x="364658" y="262890"/>
                </a:lnTo>
                <a:cubicBezTo>
                  <a:pt x="364658" y="248760"/>
                  <a:pt x="361721" y="235341"/>
                  <a:pt x="356469" y="223166"/>
                </a:cubicBezTo>
                <a:cubicBezTo>
                  <a:pt x="330922" y="245649"/>
                  <a:pt x="298075" y="258180"/>
                  <a:pt x="263271" y="258180"/>
                </a:cubicBezTo>
                <a:cubicBezTo>
                  <a:pt x="228466" y="258180"/>
                  <a:pt x="195708" y="245649"/>
                  <a:pt x="170161" y="223166"/>
                </a:cubicBezTo>
                <a:close/>
                <a:moveTo>
                  <a:pt x="263271" y="161758"/>
                </a:moveTo>
                <a:cubicBezTo>
                  <a:pt x="234697" y="161758"/>
                  <a:pt x="208794" y="173666"/>
                  <a:pt x="190368" y="192773"/>
                </a:cubicBezTo>
                <a:cubicBezTo>
                  <a:pt x="209862" y="211524"/>
                  <a:pt x="235765" y="222099"/>
                  <a:pt x="263271" y="222099"/>
                </a:cubicBezTo>
                <a:cubicBezTo>
                  <a:pt x="290865" y="222099"/>
                  <a:pt x="316768" y="211524"/>
                  <a:pt x="336263" y="192773"/>
                </a:cubicBezTo>
                <a:cubicBezTo>
                  <a:pt x="317747" y="173666"/>
                  <a:pt x="291933" y="161758"/>
                  <a:pt x="263271" y="161758"/>
                </a:cubicBezTo>
                <a:close/>
                <a:moveTo>
                  <a:pt x="263271" y="125677"/>
                </a:moveTo>
                <a:cubicBezTo>
                  <a:pt x="339111" y="125677"/>
                  <a:pt x="400798" y="187263"/>
                  <a:pt x="400798" y="262890"/>
                </a:cubicBezTo>
                <a:lnTo>
                  <a:pt x="400798" y="307857"/>
                </a:lnTo>
                <a:cubicBezTo>
                  <a:pt x="400798" y="316389"/>
                  <a:pt x="399997" y="324654"/>
                  <a:pt x="398484" y="332652"/>
                </a:cubicBezTo>
                <a:cubicBezTo>
                  <a:pt x="424031" y="341716"/>
                  <a:pt x="446908" y="357713"/>
                  <a:pt x="464177" y="378863"/>
                </a:cubicBezTo>
                <a:cubicBezTo>
                  <a:pt x="485718" y="405257"/>
                  <a:pt x="497557" y="438583"/>
                  <a:pt x="497557" y="472708"/>
                </a:cubicBezTo>
                <a:lnTo>
                  <a:pt x="497557" y="606722"/>
                </a:lnTo>
                <a:lnTo>
                  <a:pt x="29073" y="606722"/>
                </a:lnTo>
                <a:lnTo>
                  <a:pt x="29073" y="472708"/>
                </a:lnTo>
                <a:cubicBezTo>
                  <a:pt x="29073" y="438583"/>
                  <a:pt x="40912" y="405257"/>
                  <a:pt x="62453" y="378863"/>
                </a:cubicBezTo>
                <a:cubicBezTo>
                  <a:pt x="79722" y="357713"/>
                  <a:pt x="102599" y="341716"/>
                  <a:pt x="128057" y="332652"/>
                </a:cubicBezTo>
                <a:cubicBezTo>
                  <a:pt x="126633" y="324654"/>
                  <a:pt x="125832" y="316389"/>
                  <a:pt x="125832" y="307857"/>
                </a:cubicBezTo>
                <a:lnTo>
                  <a:pt x="125832" y="262890"/>
                </a:lnTo>
                <a:cubicBezTo>
                  <a:pt x="125832" y="187263"/>
                  <a:pt x="187519" y="125677"/>
                  <a:pt x="263271" y="125677"/>
                </a:cubicBezTo>
                <a:close/>
                <a:moveTo>
                  <a:pt x="436739" y="64285"/>
                </a:moveTo>
                <a:lnTo>
                  <a:pt x="462204" y="89776"/>
                </a:lnTo>
                <a:lnTo>
                  <a:pt x="400680" y="151151"/>
                </a:lnTo>
                <a:lnTo>
                  <a:pt x="375126" y="125660"/>
                </a:lnTo>
                <a:close/>
                <a:moveTo>
                  <a:pt x="89889" y="64285"/>
                </a:moveTo>
                <a:lnTo>
                  <a:pt x="151363" y="125660"/>
                </a:lnTo>
                <a:lnTo>
                  <a:pt x="125830" y="151151"/>
                </a:lnTo>
                <a:lnTo>
                  <a:pt x="64356" y="89776"/>
                </a:lnTo>
                <a:close/>
                <a:moveTo>
                  <a:pt x="245286" y="0"/>
                </a:moveTo>
                <a:lnTo>
                  <a:pt x="281345" y="0"/>
                </a:lnTo>
                <a:lnTo>
                  <a:pt x="281345" y="86937"/>
                </a:lnTo>
                <a:lnTo>
                  <a:pt x="245286" y="86937"/>
                </a:lnTo>
                <a:close/>
              </a:path>
            </a:pathLst>
          </a:custGeom>
          <a:solidFill>
            <a:srgbClr val="D9793F"/>
          </a:solidFill>
          <a:ln>
            <a:noFill/>
          </a:ln>
        </p:spPr>
      </p:sp>
      <p:sp>
        <p:nvSpPr>
          <p:cNvPr id="3" name="文本框 2"/>
          <p:cNvSpPr txBox="1"/>
          <p:nvPr/>
        </p:nvSpPr>
        <p:spPr>
          <a:xfrm>
            <a:off x="2383790" y="2211705"/>
            <a:ext cx="7767320" cy="3004820"/>
          </a:xfrm>
          <a:prstGeom prst="rect">
            <a:avLst/>
          </a:prstGeom>
          <a:noFill/>
        </p:spPr>
        <p:txBody>
          <a:bodyPr wrap="square" rtlCol="0" anchor="t">
            <a:noAutofit/>
          </a:bodyPr>
          <a:lstStyle/>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1.如何理解刑法学及其研究对象?</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2.西方刑法学派之争给我们什么启示?</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3.如何理解刑法学的地位和作用?</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4.如何以习近平法治思想引领新时代中国特色社会主义刑法学发展?</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5.研究刑法学的方法有哪些?</a:t>
            </a:r>
          </a:p>
          <a:p>
            <a:pPr indent="0"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6.如何学好刑法学?</a:t>
            </a:r>
          </a:p>
        </p:txBody>
      </p:sp>
      <p:sp>
        <p:nvSpPr>
          <p:cNvPr id="4" name="文本框 3"/>
          <p:cNvSpPr txBox="1"/>
          <p:nvPr/>
        </p:nvSpPr>
        <p:spPr>
          <a:xfrm>
            <a:off x="1926590" y="1230630"/>
            <a:ext cx="1208405"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宋体" panose="02010600030101010101" pitchFamily="2" charset="-122"/>
              </a:rPr>
              <a:t>思考题</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E4YWE2NWM2NjkyMzUxOGRkNDNkNjJlMmYxYjJlZDkifQ=="/>
</p:tagLst>
</file>

<file path=ppt/tags/tag2.xml><?xml version="1.0" encoding="utf-8"?>
<p:tagLst xmlns:a="http://schemas.openxmlformats.org/drawingml/2006/main" xmlns:r="http://schemas.openxmlformats.org/officeDocument/2006/relationships" xmlns:p="http://schemas.openxmlformats.org/presentationml/2006/main">
  <p:tag name="PA" val="v3.2.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PA" val="v3.2.0"/>
</p:tagLst>
</file>

<file path=ppt/tags/tag5.xml><?xml version="1.0" encoding="utf-8"?>
<p:tagLst xmlns:a="http://schemas.openxmlformats.org/drawingml/2006/main" xmlns:r="http://schemas.openxmlformats.org/officeDocument/2006/relationships" xmlns:p="http://schemas.openxmlformats.org/presentationml/2006/main">
  <p:tag name="PA" val="v3.2.0"/>
</p:tagLst>
</file>

<file path=ppt/tags/tag6.xml><?xml version="1.0" encoding="utf-8"?>
<p:tagLst xmlns:a="http://schemas.openxmlformats.org/drawingml/2006/main" xmlns:r="http://schemas.openxmlformats.org/officeDocument/2006/relationships" xmlns:p="http://schemas.openxmlformats.org/presentationml/2006/main">
  <p:tag name="PA" val="v3.2.0"/>
</p:tagLst>
</file>

<file path=ppt/tags/tag7.xml><?xml version="1.0" encoding="utf-8"?>
<p:tagLst xmlns:a="http://schemas.openxmlformats.org/drawingml/2006/main" xmlns:r="http://schemas.openxmlformats.org/officeDocument/2006/relationships" xmlns:p="http://schemas.openxmlformats.org/presentationml/2006/main">
  <p:tag name="PA" val="v3.2.0"/>
</p:tagLst>
</file>

<file path=ppt/tags/tag8.xml><?xml version="1.0" encoding="utf-8"?>
<p:tagLst xmlns:a="http://schemas.openxmlformats.org/drawingml/2006/main" xmlns:r="http://schemas.openxmlformats.org/officeDocument/2006/relationships" xmlns:p="http://schemas.openxmlformats.org/presentationml/2006/main">
  <p:tag name="PA" val="v3.2.0"/>
</p:tagLst>
</file>

<file path=ppt/tags/tag9.xml><?xml version="1.0" encoding="utf-8"?>
<p:tagLst xmlns:a="http://schemas.openxmlformats.org/drawingml/2006/main" xmlns:r="http://schemas.openxmlformats.org/officeDocument/2006/relationships" xmlns:p="http://schemas.openxmlformats.org/presentationml/2006/main">
  <p:tag name="PA" val="v3.2.0"/>
</p:tagLst>
</file>

<file path=ppt/tags/tag10.xml><?xml version="1.0" encoding="utf-8"?>
<p:tagLst xmlns:a="http://schemas.openxmlformats.org/drawingml/2006/main" xmlns:r="http://schemas.openxmlformats.org/officeDocument/2006/relationships" xmlns:p="http://schemas.openxmlformats.org/presentationml/2006/main">
  <p:tag name="PA" val="v3.2.0"/>
</p:tagLst>
</file>

<file path=ppt/tags/tag11.xml><?xml version="1.0" encoding="utf-8"?>
<p:tagLst xmlns:a="http://schemas.openxmlformats.org/drawingml/2006/main" xmlns:r="http://schemas.openxmlformats.org/officeDocument/2006/relationships" xmlns:p="http://schemas.openxmlformats.org/presentationml/2006/main">
  <p:tag name="PA" val="v3.2.0"/>
</p:tagLst>
</file>

<file path=ppt/tags/tag12.xml><?xml version="1.0" encoding="utf-8"?>
<p:tagLst xmlns:a="http://schemas.openxmlformats.org/drawingml/2006/main" xmlns:r="http://schemas.openxmlformats.org/officeDocument/2006/relationships" xmlns:p="http://schemas.openxmlformats.org/presentationml/2006/main">
  <p:tag name="PA" val="v3.2.0"/>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PA" val="v3.2.0"/>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PA" val="v3.2.0"/>
</p:tagLst>
</file>

<file path=ppt/tags/tag21.xml><?xml version="1.0" encoding="utf-8"?>
<p:tagLst xmlns:a="http://schemas.openxmlformats.org/drawingml/2006/main" xmlns:r="http://schemas.openxmlformats.org/officeDocument/2006/relationships" xmlns:p="http://schemas.openxmlformats.org/presentationml/2006/main">
  <p:tag name="PA" val="v3.2.0"/>
</p:tagLst>
</file>

<file path=ppt/tags/tag22.xml><?xml version="1.0" encoding="utf-8"?>
<p:tagLst xmlns:a="http://schemas.openxmlformats.org/drawingml/2006/main" xmlns:r="http://schemas.openxmlformats.org/officeDocument/2006/relationships" xmlns:p="http://schemas.openxmlformats.org/presentationml/2006/main">
  <p:tag name="PA" val="v3.2.0"/>
</p:tagLst>
</file>

<file path=ppt/tags/tag23.xml><?xml version="1.0" encoding="utf-8"?>
<p:tagLst xmlns:a="http://schemas.openxmlformats.org/drawingml/2006/main" xmlns:r="http://schemas.openxmlformats.org/officeDocument/2006/relationships" xmlns:p="http://schemas.openxmlformats.org/presentationml/2006/main">
  <p:tag name="PA" val="v3.2.0"/>
</p:tagLst>
</file>

<file path=ppt/tags/tag24.xml><?xml version="1.0" encoding="utf-8"?>
<p:tagLst xmlns:a="http://schemas.openxmlformats.org/drawingml/2006/main" xmlns:r="http://schemas.openxmlformats.org/officeDocument/2006/relationships" xmlns:p="http://schemas.openxmlformats.org/presentationml/2006/main">
  <p:tag name="PA" val="v3.2.0"/>
</p:tagLst>
</file>

<file path=ppt/tags/tag25.xml><?xml version="1.0" encoding="utf-8"?>
<p:tagLst xmlns:a="http://schemas.openxmlformats.org/drawingml/2006/main" xmlns:r="http://schemas.openxmlformats.org/officeDocument/2006/relationships" xmlns:p="http://schemas.openxmlformats.org/presentationml/2006/main">
  <p:tag name="PA" val="v3.2.0"/>
</p:tagLst>
</file>

<file path=ppt/tags/tag26.xml><?xml version="1.0" encoding="utf-8"?>
<p:tagLst xmlns:a="http://schemas.openxmlformats.org/drawingml/2006/main" xmlns:r="http://schemas.openxmlformats.org/officeDocument/2006/relationships" xmlns:p="http://schemas.openxmlformats.org/presentationml/2006/main">
  <p:tag name="PA" val="v3.2.0"/>
</p:tagLst>
</file>

<file path=ppt/tags/tag27.xml><?xml version="1.0" encoding="utf-8"?>
<p:tagLst xmlns:a="http://schemas.openxmlformats.org/drawingml/2006/main" xmlns:r="http://schemas.openxmlformats.org/officeDocument/2006/relationships" xmlns:p="http://schemas.openxmlformats.org/presentationml/2006/main">
  <p:tag name="PA" val="v3.2.0"/>
</p:tagLst>
</file>

<file path=ppt/tags/tag28.xml><?xml version="1.0" encoding="utf-8"?>
<p:tagLst xmlns:a="http://schemas.openxmlformats.org/drawingml/2006/main" xmlns:r="http://schemas.openxmlformats.org/officeDocument/2006/relationships" xmlns:p="http://schemas.openxmlformats.org/presentationml/2006/main">
  <p:tag name="PA" val="v3.2.0"/>
</p:tagLst>
</file>

<file path=ppt/tags/tag29.xml><?xml version="1.0" encoding="utf-8"?>
<p:tagLst xmlns:a="http://schemas.openxmlformats.org/drawingml/2006/main" xmlns:r="http://schemas.openxmlformats.org/officeDocument/2006/relationships" xmlns:p="http://schemas.openxmlformats.org/presentationml/2006/main">
  <p:tag name="PA" val="v3.2.0"/>
</p:tagLst>
</file>

<file path=ppt/tags/tag30.xml><?xml version="1.0" encoding="utf-8"?>
<p:tagLst xmlns:a="http://schemas.openxmlformats.org/drawingml/2006/main" xmlns:r="http://schemas.openxmlformats.org/officeDocument/2006/relationships" xmlns:p="http://schemas.openxmlformats.org/presentationml/2006/main">
  <p:tag name="PA" val="v3.2.0"/>
</p:tagLst>
</file>

<file path=ppt/tags/tag31.xml><?xml version="1.0" encoding="utf-8"?>
<p:tagLst xmlns:a="http://schemas.openxmlformats.org/drawingml/2006/main" xmlns:r="http://schemas.openxmlformats.org/officeDocument/2006/relationships" xmlns:p="http://schemas.openxmlformats.org/presentationml/2006/main">
  <p:tag name="PA" val="v3.2.0"/>
</p:tagLst>
</file>

<file path=ppt/tags/tag32.xml><?xml version="1.0" encoding="utf-8"?>
<p:tagLst xmlns:a="http://schemas.openxmlformats.org/drawingml/2006/main" xmlns:r="http://schemas.openxmlformats.org/officeDocument/2006/relationships" xmlns:p="http://schemas.openxmlformats.org/presentationml/2006/main">
  <p:tag name="PA" val="v3.2.0"/>
</p:tagLst>
</file>

<file path=ppt/tags/tag33.xml><?xml version="1.0" encoding="utf-8"?>
<p:tagLst xmlns:a="http://schemas.openxmlformats.org/drawingml/2006/main" xmlns:r="http://schemas.openxmlformats.org/officeDocument/2006/relationships" xmlns:p="http://schemas.openxmlformats.org/presentationml/2006/main">
  <p:tag name="PA" val="v3.2.0"/>
</p:tagLst>
</file>

<file path=ppt/tags/tag34.xml><?xml version="1.0" encoding="utf-8"?>
<p:tagLst xmlns:a="http://schemas.openxmlformats.org/drawingml/2006/main" xmlns:r="http://schemas.openxmlformats.org/officeDocument/2006/relationships" xmlns:p="http://schemas.openxmlformats.org/presentationml/2006/main">
  <p:tag name="PA" val="v3.2.0"/>
</p:tagLst>
</file>

<file path=ppt/tags/tag35.xml><?xml version="1.0" encoding="utf-8"?>
<p:tagLst xmlns:a="http://schemas.openxmlformats.org/drawingml/2006/main" xmlns:r="http://schemas.openxmlformats.org/officeDocument/2006/relationships" xmlns:p="http://schemas.openxmlformats.org/presentationml/2006/main">
  <p:tag name="PA" val="v3.2.0"/>
</p:tagLst>
</file>

<file path=ppt/tags/tag36.xml><?xml version="1.0" encoding="utf-8"?>
<p:tagLst xmlns:a="http://schemas.openxmlformats.org/drawingml/2006/main" xmlns:r="http://schemas.openxmlformats.org/officeDocument/2006/relationships" xmlns:p="http://schemas.openxmlformats.org/presentationml/2006/main">
  <p:tag name="PA" val="v3.2.0"/>
</p:tagLst>
</file>

<file path=ppt/tags/tag37.xml><?xml version="1.0" encoding="utf-8"?>
<p:tagLst xmlns:a="http://schemas.openxmlformats.org/drawingml/2006/main" xmlns:r="http://schemas.openxmlformats.org/officeDocument/2006/relationships" xmlns:p="http://schemas.openxmlformats.org/presentationml/2006/main">
  <p:tag name="PA" val="v3.2.0"/>
</p:tagLst>
</file>

<file path=ppt/tags/tag38.xml><?xml version="1.0" encoding="utf-8"?>
<p:tagLst xmlns:a="http://schemas.openxmlformats.org/drawingml/2006/main" xmlns:r="http://schemas.openxmlformats.org/officeDocument/2006/relationships" xmlns:p="http://schemas.openxmlformats.org/presentationml/2006/main">
  <p:tag name="PA" val="v3.2.0"/>
</p:tagLst>
</file>

<file path=ppt/tags/tag39.xml><?xml version="1.0" encoding="utf-8"?>
<p:tagLst xmlns:a="http://schemas.openxmlformats.org/drawingml/2006/main" xmlns:r="http://schemas.openxmlformats.org/officeDocument/2006/relationships" xmlns:p="http://schemas.openxmlformats.org/presentationml/2006/main">
  <p:tag name="PA" val="v3.2.0"/>
</p:tagLst>
</file>

<file path=ppt/tags/tag40.xml><?xml version="1.0" encoding="utf-8"?>
<p:tagLst xmlns:a="http://schemas.openxmlformats.org/drawingml/2006/main" xmlns:r="http://schemas.openxmlformats.org/officeDocument/2006/relationships" xmlns:p="http://schemas.openxmlformats.org/presentationml/2006/main">
  <p:tag name="PA" val="v3.2.0"/>
</p:tagLst>
</file>

<file path=ppt/tags/tag41.xml><?xml version="1.0" encoding="utf-8"?>
<p:tagLst xmlns:a="http://schemas.openxmlformats.org/drawingml/2006/main" xmlns:r="http://schemas.openxmlformats.org/officeDocument/2006/relationships" xmlns:p="http://schemas.openxmlformats.org/presentationml/2006/main">
  <p:tag name="PA" val="v3.2.0"/>
</p:tagLst>
</file>

<file path=ppt/tags/tag42.xml><?xml version="1.0" encoding="utf-8"?>
<p:tagLst xmlns:a="http://schemas.openxmlformats.org/drawingml/2006/main" xmlns:r="http://schemas.openxmlformats.org/officeDocument/2006/relationships" xmlns:p="http://schemas.openxmlformats.org/presentationml/2006/main">
  <p:tag name="PA" val="v3.2.0"/>
</p:tagLst>
</file>

<file path=ppt/tags/tag43.xml><?xml version="1.0" encoding="utf-8"?>
<p:tagLst xmlns:a="http://schemas.openxmlformats.org/drawingml/2006/main" xmlns:r="http://schemas.openxmlformats.org/officeDocument/2006/relationships" xmlns:p="http://schemas.openxmlformats.org/presentationml/2006/main">
  <p:tag name="PA" val="v3.2.0"/>
</p:tagLst>
</file>

<file path=ppt/tags/tag44.xml><?xml version="1.0" encoding="utf-8"?>
<p:tagLst xmlns:a="http://schemas.openxmlformats.org/drawingml/2006/main" xmlns:r="http://schemas.openxmlformats.org/officeDocument/2006/relationships" xmlns:p="http://schemas.openxmlformats.org/presentationml/2006/main">
  <p:tag name="PA" val="v3.2.0"/>
</p:tagLst>
</file>

<file path=ppt/tags/tag45.xml><?xml version="1.0" encoding="utf-8"?>
<p:tagLst xmlns:a="http://schemas.openxmlformats.org/drawingml/2006/main" xmlns:r="http://schemas.openxmlformats.org/officeDocument/2006/relationships" xmlns:p="http://schemas.openxmlformats.org/presentationml/2006/main">
  <p:tag name="PA" val="v3.2.0"/>
</p:tagLst>
</file>

<file path=ppt/tags/tag46.xml><?xml version="1.0" encoding="utf-8"?>
<p:tagLst xmlns:a="http://schemas.openxmlformats.org/drawingml/2006/main" xmlns:r="http://schemas.openxmlformats.org/officeDocument/2006/relationships" xmlns:p="http://schemas.openxmlformats.org/presentationml/2006/main">
  <p:tag name="PA" val="v3.2.0"/>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PA" val="v3.2.0"/>
</p:tagLst>
</file>

<file path=ppt/tags/tag49.xml><?xml version="1.0" encoding="utf-8"?>
<p:tagLst xmlns:a="http://schemas.openxmlformats.org/drawingml/2006/main" xmlns:r="http://schemas.openxmlformats.org/officeDocument/2006/relationships" xmlns:p="http://schemas.openxmlformats.org/presentationml/2006/main">
  <p:tag name="PA" val="v3.2.0"/>
</p:tagLst>
</file>

<file path=ppt/tags/tag50.xml><?xml version="1.0" encoding="utf-8"?>
<p:tagLst xmlns:a="http://schemas.openxmlformats.org/drawingml/2006/main" xmlns:r="http://schemas.openxmlformats.org/officeDocument/2006/relationships" xmlns:p="http://schemas.openxmlformats.org/presentationml/2006/main">
  <p:tag name="PA" val="v3.2.0"/>
</p:tagLst>
</file>

<file path=ppt/tags/tag51.xml><?xml version="1.0" encoding="utf-8"?>
<p:tagLst xmlns:a="http://schemas.openxmlformats.org/drawingml/2006/main" xmlns:r="http://schemas.openxmlformats.org/officeDocument/2006/relationships" xmlns:p="http://schemas.openxmlformats.org/presentationml/2006/main">
  <p:tag name="PA" val="v3.2.0"/>
</p:tagLst>
</file>

<file path=ppt/tags/tag52.xml><?xml version="1.0" encoding="utf-8"?>
<p:tagLst xmlns:a="http://schemas.openxmlformats.org/drawingml/2006/main" xmlns:r="http://schemas.openxmlformats.org/officeDocument/2006/relationships" xmlns:p="http://schemas.openxmlformats.org/presentationml/2006/main">
  <p:tag name="PA" val="v3.2.0"/>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PA" val="v3.2.0"/>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PA" val="v3.2.0"/>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PA" val="v3.2.0"/>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PA" val="v3.2.0"/>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PA" val="v3.2.0"/>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PA" val="v3.2.0"/>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PA" val="v3.2.0"/>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PA" val="v3.2.0"/>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PA" val="v3.2.0"/>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TotalTime>
  <Words>3371</Words>
  <Application>Microsoft Office PowerPoint</Application>
  <PresentationFormat>宽屏</PresentationFormat>
  <Paragraphs>364</Paragraphs>
  <Slides>65</Slides>
  <Notes>0</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65</vt:i4>
      </vt:variant>
    </vt:vector>
  </HeadingPairs>
  <TitlesOfParts>
    <vt:vector size="79" baseType="lpstr">
      <vt:lpstr>Roboto</vt:lpstr>
      <vt:lpstr>等线</vt:lpstr>
      <vt:lpstr>等线 Light</vt:lpstr>
      <vt:lpstr>黑体</vt:lpstr>
      <vt:lpstr>华文新魏</vt:lpstr>
      <vt:lpstr>华文中宋</vt:lpstr>
      <vt:lpstr>宋体</vt:lpstr>
      <vt:lpstr>微软雅黑</vt:lpstr>
      <vt:lpstr>Arial</vt:lpstr>
      <vt:lpstr>Calibri</vt:lpstr>
      <vt:lpstr>Impact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240</cp:revision>
  <dcterms:created xsi:type="dcterms:W3CDTF">2017-08-25T04:22:00Z</dcterms:created>
  <dcterms:modified xsi:type="dcterms:W3CDTF">2025-02-18T02:44:38Z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D74154BE32454ECF9D325B5E2B60F6A8_12</vt:lpwstr>
  </property>
  <property fmtid="{D5CDD505-2E9C-101B-9397-08002B2CF9AE}" pid="3" name="KSOProductBuildVer">
    <vt:lpwstr>2052-12.1.0.15120</vt:lpwstr>
  </property>
</Properties>
</file>