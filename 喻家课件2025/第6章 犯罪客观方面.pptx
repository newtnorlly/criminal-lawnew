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handoutMasterIdLst>
    <p:handoutMasterId r:id="rId59"/>
  </p:handoutMasterIdLst>
  <p:sldIdLst>
    <p:sldId id="260" r:id="rId2"/>
    <p:sldId id="302" r:id="rId3"/>
    <p:sldId id="284" r:id="rId4"/>
    <p:sldId id="300" r:id="rId5"/>
    <p:sldId id="441" r:id="rId6"/>
    <p:sldId id="494" r:id="rId7"/>
    <p:sldId id="443" r:id="rId8"/>
    <p:sldId id="445" r:id="rId9"/>
    <p:sldId id="344" r:id="rId10"/>
    <p:sldId id="492" r:id="rId11"/>
    <p:sldId id="446" r:id="rId12"/>
    <p:sldId id="449" r:id="rId13"/>
    <p:sldId id="450" r:id="rId14"/>
    <p:sldId id="451" r:id="rId15"/>
    <p:sldId id="452" r:id="rId16"/>
    <p:sldId id="454" r:id="rId17"/>
    <p:sldId id="455" r:id="rId18"/>
    <p:sldId id="493" r:id="rId19"/>
    <p:sldId id="457" r:id="rId20"/>
    <p:sldId id="458" r:id="rId21"/>
    <p:sldId id="496" r:id="rId22"/>
    <p:sldId id="459" r:id="rId23"/>
    <p:sldId id="460" r:id="rId24"/>
    <p:sldId id="463" r:id="rId25"/>
    <p:sldId id="464" r:id="rId26"/>
    <p:sldId id="465" r:id="rId27"/>
    <p:sldId id="466" r:id="rId28"/>
    <p:sldId id="467" r:id="rId29"/>
    <p:sldId id="497" r:id="rId30"/>
    <p:sldId id="469" r:id="rId31"/>
    <p:sldId id="470" r:id="rId32"/>
    <p:sldId id="471" r:id="rId33"/>
    <p:sldId id="472" r:id="rId34"/>
    <p:sldId id="473" r:id="rId35"/>
    <p:sldId id="474" r:id="rId36"/>
    <p:sldId id="476" r:id="rId37"/>
    <p:sldId id="477" r:id="rId38"/>
    <p:sldId id="478" r:id="rId39"/>
    <p:sldId id="479" r:id="rId40"/>
    <p:sldId id="480" r:id="rId41"/>
    <p:sldId id="481" r:id="rId42"/>
    <p:sldId id="498" r:id="rId43"/>
    <p:sldId id="499" r:id="rId44"/>
    <p:sldId id="501" r:id="rId45"/>
    <p:sldId id="504" r:id="rId46"/>
    <p:sldId id="508" r:id="rId47"/>
    <p:sldId id="509" r:id="rId48"/>
    <p:sldId id="483" r:id="rId49"/>
    <p:sldId id="475" r:id="rId50"/>
    <p:sldId id="484" r:id="rId51"/>
    <p:sldId id="505" r:id="rId52"/>
    <p:sldId id="396" r:id="rId53"/>
    <p:sldId id="506" r:id="rId54"/>
    <p:sldId id="485" r:id="rId55"/>
    <p:sldId id="507" r:id="rId56"/>
    <p:sldId id="490" r:id="rId57"/>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000000"/>
    <a:srgbClr val="D9793F"/>
    <a:srgbClr val="FFFFFF"/>
    <a:srgbClr val="BFBFBF"/>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p:cViewPr varScale="1">
        <p:scale>
          <a:sx n="94" d="100"/>
          <a:sy n="94" d="100"/>
        </p:scale>
        <p:origin x="82" y="82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2025/3/18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21578532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25374-B954-4B4E-9146-837584DDCE8C}" type="datetimeFigureOut">
              <a:rPr lang="zh-CN" altLang="en-US" smtClean="0"/>
              <a:t>2025/3/18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4876F9-9EA7-4C30-AF21-66CE09948A0C}" type="slidenum">
              <a:rPr lang="zh-CN" altLang="en-US" smtClean="0"/>
              <a:t>‹#›</a:t>
            </a:fld>
            <a:endParaRPr lang="zh-CN" altLang="en-US"/>
          </a:p>
        </p:txBody>
      </p:sp>
    </p:spTree>
    <p:extLst>
      <p:ext uri="{BB962C8B-B14F-4D97-AF65-F5344CB8AC3E}">
        <p14:creationId xmlns:p14="http://schemas.microsoft.com/office/powerpoint/2010/main" val="170111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1CFA3B84-042B-48F5-808E-7F52EDCB5339}" type="slidenum">
              <a:rPr lang="zh-CN" altLang="en-US"/>
              <a:pPr fontAlgn="base">
                <a:spcBef>
                  <a:spcPct val="0"/>
                </a:spcBef>
                <a:spcAft>
                  <a:spcPct val="0"/>
                </a:spcAft>
              </a:pPr>
              <a:t>46</a:t>
            </a:fld>
            <a:endParaRPr lang="zh-CN" altLang="en-US"/>
          </a:p>
        </p:txBody>
      </p:sp>
    </p:spTree>
    <p:extLst>
      <p:ext uri="{BB962C8B-B14F-4D97-AF65-F5344CB8AC3E}">
        <p14:creationId xmlns:p14="http://schemas.microsoft.com/office/powerpoint/2010/main" val="567274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1CFA3B84-042B-48F5-808E-7F52EDCB5339}" type="slidenum">
              <a:rPr lang="zh-CN" altLang="en-US"/>
              <a:pPr fontAlgn="base">
                <a:spcBef>
                  <a:spcPct val="0"/>
                </a:spcBef>
                <a:spcAft>
                  <a:spcPct val="0"/>
                </a:spcAft>
              </a:pPr>
              <a:t>47</a:t>
            </a:fld>
            <a:endParaRPr lang="zh-CN" altLang="en-US"/>
          </a:p>
        </p:txBody>
      </p:sp>
    </p:spTree>
    <p:extLst>
      <p:ext uri="{BB962C8B-B14F-4D97-AF65-F5344CB8AC3E}">
        <p14:creationId xmlns:p14="http://schemas.microsoft.com/office/powerpoint/2010/main" val="867816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第六章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0" y="6245225"/>
            <a:ext cx="2844800" cy="476250"/>
          </a:xfrm>
          <a:prstGeom prst="rect">
            <a:avLst/>
          </a:prstGeom>
        </p:spPr>
        <p:txBody>
          <a:bodyPr/>
          <a:lstStyle>
            <a:lvl1pPr>
              <a:defRPr/>
            </a:lvl1pPr>
          </a:lstStyle>
          <a:p>
            <a:pPr>
              <a:defRPr/>
            </a:pPr>
            <a:fld id="{3015E1C4-EA1E-4664-9E35-DB226F5F9B28}" type="slidenum">
              <a:rPr lang="en-US" altLang="zh-CN"/>
              <a:pPr>
                <a:defRPr/>
              </a:pPr>
              <a:t>‹#›</a:t>
            </a:fld>
            <a:endParaRPr lang="en-US" altLang="zh-CN"/>
          </a:p>
        </p:txBody>
      </p:sp>
    </p:spTree>
    <p:extLst>
      <p:ext uri="{BB962C8B-B14F-4D97-AF65-F5344CB8AC3E}">
        <p14:creationId xmlns:p14="http://schemas.microsoft.com/office/powerpoint/2010/main" val="108902702"/>
      </p:ext>
    </p:extLst>
  </p:cSld>
  <p:clrMapOvr>
    <a:masterClrMapping/>
  </p:clrMapOvr>
  <p:transition>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09600" y="1600200"/>
            <a:ext cx="10972800" cy="2185988"/>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609600" y="3938589"/>
            <a:ext cx="10972800" cy="2187575"/>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0" y="6245225"/>
            <a:ext cx="2844800" cy="476250"/>
          </a:xfrm>
          <a:prstGeom prst="rect">
            <a:avLst/>
          </a:prstGeom>
        </p:spPr>
        <p:txBody>
          <a:bodyPr/>
          <a:lstStyle>
            <a:lvl1pPr>
              <a:defRPr/>
            </a:lvl1pPr>
          </a:lstStyle>
          <a:p>
            <a:pPr>
              <a:defRPr/>
            </a:pPr>
            <a:fld id="{403E3813-54E1-4249-A95E-F650B3CBE52F}" type="slidenum">
              <a:rPr lang="en-US" altLang="zh-CN"/>
              <a:pPr>
                <a:defRPr/>
              </a:pPr>
              <a:t>‹#›</a:t>
            </a:fld>
            <a:endParaRPr lang="en-US" altLang="zh-CN"/>
          </a:p>
        </p:txBody>
      </p:sp>
    </p:spTree>
    <p:extLst>
      <p:ext uri="{BB962C8B-B14F-4D97-AF65-F5344CB8AC3E}">
        <p14:creationId xmlns:p14="http://schemas.microsoft.com/office/powerpoint/2010/main" val="2961648766"/>
      </p:ext>
    </p:extLst>
  </p:cSld>
  <p:clrMapOvr>
    <a:masterClrMapping/>
  </p:clrMapOvr>
  <p:transition>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OverTx">
  <p:cSld name="标题和两项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quarter" idx="1"/>
          </p:nvPr>
        </p:nvSpPr>
        <p:spPr>
          <a:xfrm>
            <a:off x="609600" y="1600200"/>
            <a:ext cx="5384800" cy="2185988"/>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6197600" y="1600200"/>
            <a:ext cx="5384800" cy="2185988"/>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half" idx="3"/>
          </p:nvPr>
        </p:nvSpPr>
        <p:spPr>
          <a:xfrm>
            <a:off x="609600" y="3938589"/>
            <a:ext cx="10972800" cy="2187575"/>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xfrm>
            <a:off x="8737600" y="6245225"/>
            <a:ext cx="2844800" cy="476250"/>
          </a:xfrm>
          <a:prstGeom prst="rect">
            <a:avLst/>
          </a:prstGeom>
        </p:spPr>
        <p:txBody>
          <a:bodyPr/>
          <a:lstStyle>
            <a:lvl1pPr>
              <a:defRPr/>
            </a:lvl1pPr>
          </a:lstStyle>
          <a:p>
            <a:pPr>
              <a:defRPr/>
            </a:pPr>
            <a:fld id="{9C9A0C60-7280-4158-9184-CB6ACB7B51BC}" type="slidenum">
              <a:rPr lang="en-US" altLang="zh-CN"/>
              <a:pPr>
                <a:defRPr/>
              </a:pPr>
              <a:t>‹#›</a:t>
            </a:fld>
            <a:endParaRPr lang="en-US" altLang="zh-CN"/>
          </a:p>
        </p:txBody>
      </p:sp>
    </p:spTree>
    <p:extLst>
      <p:ext uri="{BB962C8B-B14F-4D97-AF65-F5344CB8AC3E}">
        <p14:creationId xmlns:p14="http://schemas.microsoft.com/office/powerpoint/2010/main" val="805455641"/>
      </p:ext>
    </p:extLst>
  </p:cSld>
  <p:clrMapOvr>
    <a:masterClrMapping/>
  </p:clrMapOvr>
  <p:transition>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997B5FA-0921-464F-AAE1-844C04324D75}" type="datetimeFigureOut">
              <a:rPr lang="zh-CN" altLang="en-US" smtClean="0"/>
              <a:t>2025/3/18</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6078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ppt/slides/ppt/slides/ppt/slides/ppt/slides/ppt/media/media1.mp3" TargetMode="External"/><Relationship Id="rId1" Type="http://schemas.microsoft.com/office/2007/relationships/media" Target="ppt/slides/ppt/slides/ppt/slides/ppt/slides/ppt/media/media1.mp3" TargetMode="Externa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5.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5.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image" Target="../media/image5.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link="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700554" y="5889146"/>
            <a:ext cx="2657532" cy="337185"/>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471757" y="2328037"/>
            <a:ext cx="4117975" cy="1863725"/>
          </a:xfrm>
          <a:prstGeom prst="rect">
            <a:avLst/>
          </a:prstGeom>
        </p:spPr>
        <p:txBody>
          <a:bodyPr wrap="none">
            <a:spAutoFit/>
          </a:bodyPr>
          <a:lstStyle/>
          <a:p>
            <a:pPr>
              <a:lnSpc>
                <a:spcPct val="120000"/>
              </a:lnSpc>
            </a:pPr>
            <a:r>
              <a:rPr lang="zh-CN" altLang="en-US" sz="4800" b="1" dirty="0">
                <a:solidFill>
                  <a:srgbClr val="D9793F"/>
                </a:solidFill>
                <a:latin typeface="华文新魏" panose="02010800040101010101" charset="-122"/>
                <a:ea typeface="华文新魏" panose="02010800040101010101" charset="-122"/>
                <a:sym typeface="+mn-ea"/>
              </a:rPr>
              <a:t>第六章</a:t>
            </a:r>
            <a:r>
              <a:rPr lang="en-US" altLang="zh-CN" sz="4800" b="1" dirty="0">
                <a:solidFill>
                  <a:srgbClr val="D9793F"/>
                </a:solidFill>
                <a:latin typeface="华文新魏" panose="02010800040101010101" charset="-122"/>
                <a:ea typeface="华文新魏" panose="02010800040101010101" charset="-122"/>
                <a:sym typeface="+mn-ea"/>
              </a:rPr>
              <a:t>  </a:t>
            </a:r>
          </a:p>
          <a:p>
            <a:pPr>
              <a:lnSpc>
                <a:spcPct val="120000"/>
              </a:lnSpc>
            </a:pPr>
            <a:r>
              <a:rPr lang="zh-CN" altLang="en-US" sz="4800" b="1" dirty="0">
                <a:solidFill>
                  <a:srgbClr val="D9793F"/>
                </a:solidFill>
                <a:latin typeface="华文新魏" panose="02010800040101010101" charset="-122"/>
                <a:ea typeface="华文新魏" panose="02010800040101010101" charset="-122"/>
                <a:sym typeface="+mn-ea"/>
              </a:rPr>
              <a:t>犯罪客观方面 </a:t>
            </a:r>
            <a:r>
              <a:rPr lang="zh-CN" altLang="en-US" sz="4000" b="1" dirty="0">
                <a:solidFill>
                  <a:srgbClr val="D9793F"/>
                </a:solidFill>
                <a:latin typeface="华文新魏" panose="02010800040101010101" charset="-122"/>
                <a:ea typeface="华文新魏" panose="02010800040101010101" charset="-122"/>
                <a:sym typeface="+mn-ea"/>
              </a:rPr>
              <a:t> </a:t>
            </a:r>
          </a:p>
        </p:txBody>
      </p:sp>
      <p:sp>
        <p:nvSpPr>
          <p:cNvPr id="3" name="矩形 2"/>
          <p:cNvSpPr/>
          <p:nvPr/>
        </p:nvSpPr>
        <p:spPr>
          <a:xfrm>
            <a:off x="1816158" y="4293696"/>
            <a:ext cx="1735672"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0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494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1844816"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01</a:t>
            </a:r>
          </a:p>
        </p:txBody>
      </p:sp>
      <p:sp>
        <p:nvSpPr>
          <p:cNvPr id="9" name="íṧļïdé"/>
          <p:cNvSpPr txBox="1"/>
          <p:nvPr/>
        </p:nvSpPr>
        <p:spPr>
          <a:xfrm>
            <a:off x="2754884"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第一节</a:t>
            </a:r>
            <a:endParaRPr lang="zh-CN" altLang="en-US" b="1" dirty="0">
              <a:solidFill>
                <a:srgbClr val="D9793F"/>
              </a:solidFill>
            </a:endParaRPr>
          </a:p>
        </p:txBody>
      </p:sp>
      <p:sp>
        <p:nvSpPr>
          <p:cNvPr id="10" name="ïśḷíďè"/>
          <p:cNvSpPr txBox="1"/>
          <p:nvPr/>
        </p:nvSpPr>
        <p:spPr>
          <a:xfrm>
            <a:off x="2754884"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犯罪客观方面概述</a:t>
            </a:r>
          </a:p>
        </p:txBody>
      </p:sp>
      <p:cxnSp>
        <p:nvCxnSpPr>
          <p:cNvPr id="11" name="直接连接符 10"/>
          <p:cNvCxnSpPr/>
          <p:nvPr/>
        </p:nvCxnSpPr>
        <p:spPr>
          <a:xfrm>
            <a:off x="2673781"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593223"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02</a:t>
            </a:r>
          </a:p>
        </p:txBody>
      </p:sp>
      <p:sp>
        <p:nvSpPr>
          <p:cNvPr id="13" name="ïṧḷïḓé"/>
          <p:cNvSpPr txBox="1"/>
          <p:nvPr/>
        </p:nvSpPr>
        <p:spPr>
          <a:xfrm>
            <a:off x="7529326"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第二节</a:t>
            </a:r>
            <a:endParaRPr lang="zh-CN" altLang="en-US" b="1" dirty="0">
              <a:solidFill>
                <a:srgbClr val="D9793F"/>
              </a:solidFill>
            </a:endParaRPr>
          </a:p>
        </p:txBody>
      </p:sp>
      <p:sp>
        <p:nvSpPr>
          <p:cNvPr id="14" name="íṩļíḋê"/>
          <p:cNvSpPr txBox="1"/>
          <p:nvPr/>
        </p:nvSpPr>
        <p:spPr>
          <a:xfrm>
            <a:off x="7529326"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危害行为</a:t>
            </a:r>
          </a:p>
        </p:txBody>
      </p:sp>
      <p:cxnSp>
        <p:nvCxnSpPr>
          <p:cNvPr id="15" name="直接连接符 14"/>
          <p:cNvCxnSpPr/>
          <p:nvPr/>
        </p:nvCxnSpPr>
        <p:spPr>
          <a:xfrm>
            <a:off x="7448223"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 name="ïs1íḋè"/>
          <p:cNvSpPr txBox="1"/>
          <p:nvPr/>
        </p:nvSpPr>
        <p:spPr>
          <a:xfrm>
            <a:off x="1818781" y="3973171"/>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03</a:t>
            </a:r>
          </a:p>
        </p:txBody>
      </p:sp>
      <p:sp>
        <p:nvSpPr>
          <p:cNvPr id="17" name="ísļîḑé"/>
          <p:cNvSpPr txBox="1"/>
          <p:nvPr/>
        </p:nvSpPr>
        <p:spPr>
          <a:xfrm>
            <a:off x="2754884" y="384729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第三节</a:t>
            </a:r>
            <a:endParaRPr lang="zh-CN" altLang="en-US" b="1" dirty="0">
              <a:solidFill>
                <a:srgbClr val="D9793F"/>
              </a:solidFill>
            </a:endParaRPr>
          </a:p>
        </p:txBody>
      </p:sp>
      <p:sp>
        <p:nvSpPr>
          <p:cNvPr id="18" name="ïṩ1ïďe"/>
          <p:cNvSpPr txBox="1"/>
          <p:nvPr/>
        </p:nvSpPr>
        <p:spPr>
          <a:xfrm>
            <a:off x="2754884" y="4216034"/>
            <a:ext cx="2843893" cy="588133"/>
          </a:xfrm>
          <a:prstGeom prst="rect">
            <a:avLst/>
          </a:prstGeom>
        </p:spPr>
        <p:txBody>
          <a:bodyPr vert="horz" wrap="square" lIns="91440" tIns="45720" rIns="91440" bIns="45720" anchor="t" anchorCtr="0">
            <a:noAutofit/>
          </a:bodyPr>
          <a:lstStyle/>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危害结果</a:t>
            </a:r>
          </a:p>
        </p:txBody>
      </p:sp>
      <p:cxnSp>
        <p:nvCxnSpPr>
          <p:cNvPr id="19" name="直接连接符 18"/>
          <p:cNvCxnSpPr/>
          <p:nvPr/>
        </p:nvCxnSpPr>
        <p:spPr>
          <a:xfrm>
            <a:off x="2673781" y="3973171"/>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îŝlídè"/>
          <p:cNvSpPr txBox="1"/>
          <p:nvPr/>
        </p:nvSpPr>
        <p:spPr>
          <a:xfrm>
            <a:off x="6593223" y="3973171"/>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04</a:t>
            </a:r>
          </a:p>
        </p:txBody>
      </p:sp>
      <p:sp>
        <p:nvSpPr>
          <p:cNvPr id="21" name="îṥ1ïḑé"/>
          <p:cNvSpPr txBox="1"/>
          <p:nvPr/>
        </p:nvSpPr>
        <p:spPr>
          <a:xfrm>
            <a:off x="7529326" y="384729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第四节</a:t>
            </a:r>
            <a:endParaRPr lang="zh-CN" altLang="en-US" b="1" dirty="0">
              <a:solidFill>
                <a:srgbClr val="D9793F"/>
              </a:solidFill>
            </a:endParaRPr>
          </a:p>
        </p:txBody>
      </p:sp>
      <p:sp>
        <p:nvSpPr>
          <p:cNvPr id="22" name="iṥḻïḍé"/>
          <p:cNvSpPr txBox="1"/>
          <p:nvPr/>
        </p:nvSpPr>
        <p:spPr>
          <a:xfrm>
            <a:off x="7529326" y="4216034"/>
            <a:ext cx="3042641" cy="588133"/>
          </a:xfrm>
          <a:prstGeom prst="rect">
            <a:avLst/>
          </a:prstGeom>
        </p:spPr>
        <p:txBody>
          <a:bodyPr vert="horz" wrap="square" lIns="91440" tIns="45720" rIns="91440" bIns="45720" anchor="t" anchorCtr="0">
            <a:noAutofit/>
          </a:bodyPr>
          <a:lstStyle/>
          <a:p>
            <a:pPr algn="just" eaLnBrk="0" fontAlgn="base" hangingPunct="0">
              <a:lnSpc>
                <a:spcPct val="12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刑法上的因果关系</a:t>
            </a:r>
          </a:p>
        </p:txBody>
      </p:sp>
      <p:cxnSp>
        <p:nvCxnSpPr>
          <p:cNvPr id="23" name="直接连接符 22"/>
          <p:cNvCxnSpPr/>
          <p:nvPr/>
        </p:nvCxnSpPr>
        <p:spPr>
          <a:xfrm>
            <a:off x="2674293" y="5360646"/>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îŝlídè"/>
          <p:cNvSpPr txBox="1"/>
          <p:nvPr/>
        </p:nvSpPr>
        <p:spPr>
          <a:xfrm>
            <a:off x="1818658" y="5360646"/>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05</a:t>
            </a:r>
          </a:p>
        </p:txBody>
      </p:sp>
      <p:cxnSp>
        <p:nvCxnSpPr>
          <p:cNvPr id="4" name="直接连接符 3"/>
          <p:cNvCxnSpPr/>
          <p:nvPr/>
        </p:nvCxnSpPr>
        <p:spPr>
          <a:xfrm>
            <a:off x="7446318" y="3973171"/>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 name="îṥ1ïḑé"/>
          <p:cNvSpPr txBox="1"/>
          <p:nvPr/>
        </p:nvSpPr>
        <p:spPr>
          <a:xfrm>
            <a:off x="2761111" y="523413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第五节</a:t>
            </a:r>
            <a:endParaRPr lang="zh-CN" altLang="en-US" b="1" dirty="0">
              <a:solidFill>
                <a:srgbClr val="D9793F"/>
              </a:solidFill>
            </a:endParaRPr>
          </a:p>
        </p:txBody>
      </p:sp>
      <p:sp>
        <p:nvSpPr>
          <p:cNvPr id="24" name="iṥḻïḍé"/>
          <p:cNvSpPr txBox="1"/>
          <p:nvPr/>
        </p:nvSpPr>
        <p:spPr>
          <a:xfrm>
            <a:off x="2763016" y="5588904"/>
            <a:ext cx="3042641" cy="588133"/>
          </a:xfrm>
          <a:prstGeom prst="rect">
            <a:avLst/>
          </a:prstGeom>
        </p:spPr>
        <p:txBody>
          <a:bodyPr vert="horz" wrap="square" lIns="91440" tIns="45720" rIns="91440" bIns="45720" anchor="t" anchorCtr="0">
            <a:noAutofit/>
          </a:bodyPr>
          <a:lstStyle/>
          <a:p>
            <a:pPr algn="just" eaLnBrk="0" fontAlgn="base" hangingPunct="0">
              <a:lnSpc>
                <a:spcPct val="12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犯罪客观方面的其他要件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16" presetClass="entr" presetSubtype="4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outHorizontal)">
                                      <p:cBhvr>
                                        <p:cTn id="23" dur="500"/>
                                        <p:tgtEl>
                                          <p:spTgt spid="11"/>
                                        </p:tgtEl>
                                      </p:cBhvr>
                                    </p:animEffect>
                                  </p:childTnLst>
                                </p:cTn>
                              </p:par>
                            </p:childTnLst>
                          </p:cTn>
                        </p:par>
                        <p:par>
                          <p:cTn id="24" fill="hold">
                            <p:stCondLst>
                              <p:cond delay="2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25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450"/>
                            </p:stCondLst>
                            <p:childTnLst>
                              <p:par>
                                <p:cTn id="33" presetID="53" presetClass="entr" presetSubtype="16"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par>
                          <p:cTn id="38" fill="hold">
                            <p:stCondLst>
                              <p:cond delay="3950"/>
                            </p:stCondLst>
                            <p:childTnLst>
                              <p:par>
                                <p:cTn id="39" presetID="16" presetClass="entr" presetSubtype="42"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outHorizontal)">
                                      <p:cBhvr>
                                        <p:cTn id="41" dur="500"/>
                                        <p:tgtEl>
                                          <p:spTgt spid="15"/>
                                        </p:tgtEl>
                                      </p:cBhvr>
                                    </p:animEffect>
                                  </p:childTnLst>
                                </p:cTn>
                              </p:par>
                            </p:childTnLst>
                          </p:cTn>
                        </p:par>
                        <p:par>
                          <p:cTn id="42" fill="hold">
                            <p:stCondLst>
                              <p:cond delay="4450"/>
                            </p:stCondLst>
                            <p:childTnLst>
                              <p:par>
                                <p:cTn id="43" presetID="10" presetClass="entr" presetSubtype="0" fill="hold" grpId="0" nodeType="afterEffect">
                                  <p:stCondLst>
                                    <p:cond delay="0"/>
                                  </p:stCondLst>
                                  <p:iterate type="wd">
                                    <p:tmPct val="10000"/>
                                  </p:iterate>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par>
                          <p:cTn id="46" fill="hold">
                            <p:stCondLst>
                              <p:cond delay="5050"/>
                            </p:stCondLst>
                            <p:childTnLst>
                              <p:par>
                                <p:cTn id="47" presetID="10" presetClass="entr" presetSubtype="0" fill="hold" grpId="0" nodeType="afterEffect">
                                  <p:stCondLst>
                                    <p:cond delay="0"/>
                                  </p:stCondLst>
                                  <p:iterate type="wd">
                                    <p:tmPct val="10000"/>
                                  </p:iterate>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par>
                          <p:cTn id="50" fill="hold">
                            <p:stCondLst>
                              <p:cond delay="5699"/>
                            </p:stCondLst>
                            <p:childTnLst>
                              <p:par>
                                <p:cTn id="51" presetID="53" presetClass="entr" presetSubtype="16"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p:cTn id="53" dur="500" fill="hold"/>
                                        <p:tgtEl>
                                          <p:spTgt spid="16"/>
                                        </p:tgtEl>
                                        <p:attrNameLst>
                                          <p:attrName>ppt_w</p:attrName>
                                        </p:attrNameLst>
                                      </p:cBhvr>
                                      <p:tavLst>
                                        <p:tav tm="0">
                                          <p:val>
                                            <p:fltVal val="0"/>
                                          </p:val>
                                        </p:tav>
                                        <p:tav tm="100000">
                                          <p:val>
                                            <p:strVal val="#ppt_w"/>
                                          </p:val>
                                        </p:tav>
                                      </p:tavLst>
                                    </p:anim>
                                    <p:anim calcmode="lin" valueType="num">
                                      <p:cBhvr>
                                        <p:cTn id="54" dur="500" fill="hold"/>
                                        <p:tgtEl>
                                          <p:spTgt spid="16"/>
                                        </p:tgtEl>
                                        <p:attrNameLst>
                                          <p:attrName>ppt_h</p:attrName>
                                        </p:attrNameLst>
                                      </p:cBhvr>
                                      <p:tavLst>
                                        <p:tav tm="0">
                                          <p:val>
                                            <p:fltVal val="0"/>
                                          </p:val>
                                        </p:tav>
                                        <p:tav tm="100000">
                                          <p:val>
                                            <p:strVal val="#ppt_h"/>
                                          </p:val>
                                        </p:tav>
                                      </p:tavLst>
                                    </p:anim>
                                    <p:animEffect transition="in" filter="fade">
                                      <p:cBhvr>
                                        <p:cTn id="55" dur="500"/>
                                        <p:tgtEl>
                                          <p:spTgt spid="16"/>
                                        </p:tgtEl>
                                      </p:cBhvr>
                                    </p:animEffect>
                                  </p:childTnLst>
                                </p:cTn>
                              </p:par>
                            </p:childTnLst>
                          </p:cTn>
                        </p:par>
                        <p:par>
                          <p:cTn id="56" fill="hold">
                            <p:stCondLst>
                              <p:cond delay="6199"/>
                            </p:stCondLst>
                            <p:childTnLst>
                              <p:par>
                                <p:cTn id="57" presetID="16" presetClass="entr" presetSubtype="42"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barn(outHorizontal)">
                                      <p:cBhvr>
                                        <p:cTn id="59" dur="500"/>
                                        <p:tgtEl>
                                          <p:spTgt spid="19"/>
                                        </p:tgtEl>
                                      </p:cBhvr>
                                    </p:animEffect>
                                  </p:childTnLst>
                                </p:cTn>
                              </p:par>
                            </p:childTnLst>
                          </p:cTn>
                        </p:par>
                        <p:par>
                          <p:cTn id="60" fill="hold">
                            <p:stCondLst>
                              <p:cond delay="6699"/>
                            </p:stCondLst>
                            <p:childTnLst>
                              <p:par>
                                <p:cTn id="61" presetID="10" presetClass="entr" presetSubtype="0" fill="hold" grpId="0" nodeType="afterEffect">
                                  <p:stCondLst>
                                    <p:cond delay="0"/>
                                  </p:stCondLst>
                                  <p:iterate type="wd">
                                    <p:tmPct val="10000"/>
                                  </p:iterate>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par>
                          <p:cTn id="64" fill="hold">
                            <p:stCondLst>
                              <p:cond delay="7299"/>
                            </p:stCondLst>
                            <p:childTnLst>
                              <p:par>
                                <p:cTn id="65" presetID="10" presetClass="entr" presetSubtype="0" fill="hold" grpId="0" nodeType="afterEffect">
                                  <p:stCondLst>
                                    <p:cond delay="0"/>
                                  </p:stCondLst>
                                  <p:iterate type="wd">
                                    <p:tmPct val="10000"/>
                                  </p:iterate>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par>
                          <p:cTn id="68" fill="hold">
                            <p:stCondLst>
                              <p:cond delay="7949"/>
                            </p:stCondLst>
                            <p:childTnLst>
                              <p:par>
                                <p:cTn id="69" presetID="53" presetClass="entr" presetSubtype="16"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childTnLst>
                          </p:cTn>
                        </p:par>
                        <p:par>
                          <p:cTn id="74" fill="hold">
                            <p:stCondLst>
                              <p:cond delay="8449"/>
                            </p:stCondLst>
                            <p:childTnLst>
                              <p:par>
                                <p:cTn id="75" presetID="16" presetClass="entr" presetSubtype="42" fill="hold" nodeType="after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barn(outHorizontal)">
                                      <p:cBhvr>
                                        <p:cTn id="77" dur="500"/>
                                        <p:tgtEl>
                                          <p:spTgt spid="23"/>
                                        </p:tgtEl>
                                      </p:cBhvr>
                                    </p:animEffect>
                                  </p:childTnLst>
                                </p:cTn>
                              </p:par>
                            </p:childTnLst>
                          </p:cTn>
                        </p:par>
                        <p:par>
                          <p:cTn id="78" fill="hold">
                            <p:stCondLst>
                              <p:cond delay="8949"/>
                            </p:stCondLst>
                            <p:childTnLst>
                              <p:par>
                                <p:cTn id="79" presetID="10" presetClass="entr" presetSubtype="0" fill="hold" grpId="0" nodeType="afterEffect">
                                  <p:stCondLst>
                                    <p:cond delay="0"/>
                                  </p:stCondLst>
                                  <p:iterate type="wd">
                                    <p:tmPct val="10000"/>
                                  </p:iterate>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childTnLst>
                          </p:cTn>
                        </p:par>
                        <p:par>
                          <p:cTn id="82" fill="hold">
                            <p:stCondLst>
                              <p:cond delay="9549"/>
                            </p:stCondLst>
                            <p:childTnLst>
                              <p:par>
                                <p:cTn id="83" presetID="10" presetClass="entr" presetSubtype="0" fill="hold" grpId="0" nodeType="afterEffect">
                                  <p:stCondLst>
                                    <p:cond delay="0"/>
                                  </p:stCondLst>
                                  <p:iterate type="wd">
                                    <p:tmPct val="10000"/>
                                  </p:iterate>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childTnLst>
                          </p:cTn>
                        </p:par>
                        <p:par>
                          <p:cTn id="86" fill="hold">
                            <p:stCondLst>
                              <p:cond delay="10399"/>
                            </p:stCondLst>
                            <p:childTnLst>
                              <p:par>
                                <p:cTn id="87" presetID="53" presetClass="entr" presetSubtype="16" fill="hold" grpId="0" nodeType="afterEffect">
                                  <p:stCondLst>
                                    <p:cond delay="0"/>
                                  </p:stCondLst>
                                  <p:childTnLst>
                                    <p:set>
                                      <p:cBhvr>
                                        <p:cTn id="88" dur="1" fill="hold">
                                          <p:stCondLst>
                                            <p:cond delay="0"/>
                                          </p:stCondLst>
                                        </p:cTn>
                                        <p:tgtEl>
                                          <p:spTgt spid="2"/>
                                        </p:tgtEl>
                                        <p:attrNameLst>
                                          <p:attrName>style.visibility</p:attrName>
                                        </p:attrNameLst>
                                      </p:cBhvr>
                                      <p:to>
                                        <p:strVal val="visible"/>
                                      </p:to>
                                    </p:set>
                                    <p:anim calcmode="lin" valueType="num">
                                      <p:cBhvr>
                                        <p:cTn id="89" dur="500" fill="hold"/>
                                        <p:tgtEl>
                                          <p:spTgt spid="2"/>
                                        </p:tgtEl>
                                        <p:attrNameLst>
                                          <p:attrName>ppt_w</p:attrName>
                                        </p:attrNameLst>
                                      </p:cBhvr>
                                      <p:tavLst>
                                        <p:tav tm="0">
                                          <p:val>
                                            <p:fltVal val="0"/>
                                          </p:val>
                                        </p:tav>
                                        <p:tav tm="100000">
                                          <p:val>
                                            <p:strVal val="#ppt_w"/>
                                          </p:val>
                                        </p:tav>
                                      </p:tavLst>
                                    </p:anim>
                                    <p:anim calcmode="lin" valueType="num">
                                      <p:cBhvr>
                                        <p:cTn id="90" dur="500" fill="hold"/>
                                        <p:tgtEl>
                                          <p:spTgt spid="2"/>
                                        </p:tgtEl>
                                        <p:attrNameLst>
                                          <p:attrName>ppt_h</p:attrName>
                                        </p:attrNameLst>
                                      </p:cBhvr>
                                      <p:tavLst>
                                        <p:tav tm="0">
                                          <p:val>
                                            <p:fltVal val="0"/>
                                          </p:val>
                                        </p:tav>
                                        <p:tav tm="100000">
                                          <p:val>
                                            <p:strVal val="#ppt_h"/>
                                          </p:val>
                                        </p:tav>
                                      </p:tavLst>
                                    </p:anim>
                                    <p:animEffect transition="in" filter="fade">
                                      <p:cBhvr>
                                        <p:cTn id="91" dur="500"/>
                                        <p:tgtEl>
                                          <p:spTgt spid="2"/>
                                        </p:tgtEl>
                                      </p:cBhvr>
                                    </p:animEffect>
                                  </p:childTnLst>
                                </p:cTn>
                              </p:par>
                            </p:childTnLst>
                          </p:cTn>
                        </p:par>
                        <p:par>
                          <p:cTn id="92" fill="hold">
                            <p:stCondLst>
                              <p:cond delay="10899"/>
                            </p:stCondLst>
                            <p:childTnLst>
                              <p:par>
                                <p:cTn id="93" presetID="16" presetClass="entr" presetSubtype="42" fill="hold" nodeType="afterEffect">
                                  <p:stCondLst>
                                    <p:cond delay="0"/>
                                  </p:stCondLst>
                                  <p:childTnLst>
                                    <p:set>
                                      <p:cBhvr>
                                        <p:cTn id="94" dur="1" fill="hold">
                                          <p:stCondLst>
                                            <p:cond delay="0"/>
                                          </p:stCondLst>
                                        </p:cTn>
                                        <p:tgtEl>
                                          <p:spTgt spid="4"/>
                                        </p:tgtEl>
                                        <p:attrNameLst>
                                          <p:attrName>style.visibility</p:attrName>
                                        </p:attrNameLst>
                                      </p:cBhvr>
                                      <p:to>
                                        <p:strVal val="visible"/>
                                      </p:to>
                                    </p:set>
                                    <p:animEffect transition="in" filter="barn(outHorizontal)">
                                      <p:cBhvr>
                                        <p:cTn id="95" dur="500"/>
                                        <p:tgtEl>
                                          <p:spTgt spid="4"/>
                                        </p:tgtEl>
                                      </p:cBhvr>
                                    </p:animEffect>
                                  </p:childTnLst>
                                </p:cTn>
                              </p:par>
                            </p:childTnLst>
                          </p:cTn>
                        </p:par>
                        <p:par>
                          <p:cTn id="96" fill="hold">
                            <p:stCondLst>
                              <p:cond delay="11399"/>
                            </p:stCondLst>
                            <p:childTnLst>
                              <p:par>
                                <p:cTn id="97" presetID="10" presetClass="entr" presetSubtype="0" fill="hold" grpId="0" nodeType="afterEffect">
                                  <p:stCondLst>
                                    <p:cond delay="0"/>
                                  </p:stCondLst>
                                  <p:iterate type="wd">
                                    <p:tmPct val="10000"/>
                                  </p:iterate>
                                  <p:childTnLst>
                                    <p:set>
                                      <p:cBhvr>
                                        <p:cTn id="98" dur="1" fill="hold">
                                          <p:stCondLst>
                                            <p:cond delay="0"/>
                                          </p:stCondLst>
                                        </p:cTn>
                                        <p:tgtEl>
                                          <p:spTgt spid="5"/>
                                        </p:tgtEl>
                                        <p:attrNameLst>
                                          <p:attrName>style.visibility</p:attrName>
                                        </p:attrNameLst>
                                      </p:cBhvr>
                                      <p:to>
                                        <p:strVal val="visible"/>
                                      </p:to>
                                    </p:set>
                                    <p:animEffect transition="in" filter="fade">
                                      <p:cBhvr>
                                        <p:cTn id="99" dur="500"/>
                                        <p:tgtEl>
                                          <p:spTgt spid="5"/>
                                        </p:tgtEl>
                                      </p:cBhvr>
                                    </p:animEffect>
                                  </p:childTnLst>
                                </p:cTn>
                              </p:par>
                            </p:childTnLst>
                          </p:cTn>
                        </p:par>
                        <p:par>
                          <p:cTn id="100" fill="hold">
                            <p:stCondLst>
                              <p:cond delay="12000"/>
                            </p:stCondLst>
                            <p:childTnLst>
                              <p:par>
                                <p:cTn id="101" presetID="10" presetClass="entr" presetSubtype="0" fill="hold" grpId="0" nodeType="afterEffect">
                                  <p:stCondLst>
                                    <p:cond delay="0"/>
                                  </p:stCondLst>
                                  <p:iterate type="wd">
                                    <p:tmPct val="10000"/>
                                  </p:iterate>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2" grpId="0"/>
      <p:bldP spid="13" grpId="0"/>
      <p:bldP spid="14" grpId="0"/>
      <p:bldP spid="16" grpId="0"/>
      <p:bldP spid="17" grpId="0"/>
      <p:bldP spid="18" grpId="0"/>
      <p:bldP spid="20" grpId="0"/>
      <p:bldP spid="21" grpId="0"/>
      <p:bldP spid="22" grpId="0"/>
      <p:bldP spid="2" grpId="0"/>
      <p:bldP spid="5"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230695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一、犯罪客观方面的概念</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二、犯罪客观方面的特征</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三、犯罪客观方面的意义</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627888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犯罪客观方面概述</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254465" y="2393850"/>
            <a:ext cx="7248512" cy="42473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犯罪客观方面，是指刑法规定的，说明行为对刑法所保护的社会关系的侵犯性，行为成立犯罪所必须具备的客观事实特征</a:t>
            </a:r>
            <a:r>
              <a:rPr lang="zh-CN" altLang="en-US" sz="1400" b="1" dirty="0">
                <a:solidFill>
                  <a:srgbClr val="00B0F0"/>
                </a:solidFill>
                <a:latin typeface="微软雅黑" panose="020B0503020204020204" pitchFamily="34" charset="-122"/>
                <a:ea typeface="微软雅黑" panose="020B0503020204020204" pitchFamily="34" charset="-122"/>
              </a:rPr>
              <a:t>（刑法所规定的、说明行为对刑法所保护的社会关系造成损害的客观外在事实</a:t>
            </a:r>
            <a:r>
              <a:rPr lang="zh-CN" altLang="en-US" sz="1400" b="1" dirty="0" smtClean="0">
                <a:solidFill>
                  <a:srgbClr val="00B0F0"/>
                </a:solidFill>
                <a:latin typeface="微软雅黑" panose="020B0503020204020204" pitchFamily="34" charset="-122"/>
                <a:ea typeface="微软雅黑" panose="020B0503020204020204" pitchFamily="34" charset="-122"/>
              </a:rPr>
              <a:t>特征）</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en-US" altLang="zh-CN" sz="2000" dirty="0" err="1" smtClean="0">
                <a:latin typeface="微软雅黑" panose="020B0503020204020204" pitchFamily="34" charset="-122"/>
                <a:ea typeface="微软雅黑" panose="020B0503020204020204" pitchFamily="34" charset="-122"/>
              </a:rPr>
              <a:t>犯罪的客观方面包括危害行为</a:t>
            </a:r>
            <a:r>
              <a:rPr lang="en-US" altLang="zh-CN" sz="2000" dirty="0" err="1">
                <a:latin typeface="微软雅黑" panose="020B0503020204020204" pitchFamily="34" charset="-122"/>
                <a:ea typeface="微软雅黑" panose="020B0503020204020204" pitchFamily="34" charset="-122"/>
              </a:rPr>
              <a:t>、危害结果以及犯罪的时间、地点、方法等</a:t>
            </a:r>
            <a:r>
              <a:rPr lang="en-US" altLang="zh-CN" sz="2000" dirty="0">
                <a:latin typeface="微软雅黑" panose="020B0503020204020204" pitchFamily="34" charset="-122"/>
                <a:ea typeface="微软雅黑" panose="020B0503020204020204" pitchFamily="34" charset="-122"/>
              </a:rPr>
              <a:t>。</a:t>
            </a:r>
          </a:p>
          <a:p>
            <a:pPr marL="342900" indent="-342900">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在犯罪客观方面的要件中，危害行为是一切犯罪的构成要件；危害结果是大多数犯罪的构成要件；犯罪的时间、地点、方法是一部分犯罪的构成要件</a:t>
            </a:r>
            <a:r>
              <a:rPr lang="en-US" altLang="zh-CN" sz="2000" dirty="0" smtClean="0">
                <a:latin typeface="微软雅黑" panose="020B0503020204020204" pitchFamily="34" charset="-122"/>
                <a:ea typeface="微软雅黑" panose="020B0503020204020204" pitchFamily="34" charset="-122"/>
              </a:rPr>
              <a:t>。</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97943" y="3095936"/>
            <a:ext cx="3848100" cy="1813324"/>
            <a:chOff x="497943" y="3095936"/>
            <a:chExt cx="3848100"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97943" y="3095936"/>
              <a:ext cx="384810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（一）犯罪客观方面的概念</a:t>
              </a:r>
            </a:p>
          </p:txBody>
        </p:sp>
      </p:grpSp>
      <p:sp>
        <p:nvSpPr>
          <p:cNvPr id="3" name="矩形 2"/>
          <p:cNvSpPr/>
          <p:nvPr/>
        </p:nvSpPr>
        <p:spPr>
          <a:xfrm>
            <a:off x="4121925" y="1232244"/>
            <a:ext cx="3542665"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一、犯罪客观方面的概述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273550" y="2728595"/>
            <a:ext cx="7999095" cy="2399665"/>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犯罪客观方面是由刑法规定</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（法定性）</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nSpc>
                <a:spcPct val="150000"/>
              </a:lnSpc>
              <a:buFont typeface="Arial" panose="020B0604020202020204" pitchFamily="34" charset="0"/>
              <a:buNone/>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犯罪客观方面是行为对客体的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侵犯</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性</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a:lnSpc>
                <a:spcPct val="150000"/>
              </a:lnSpc>
              <a:buFont typeface="Arial" panose="020B0604020202020204" pitchFamily="34" charset="0"/>
              <a:buNone/>
            </a:pPr>
            <a:r>
              <a:rPr lang="en-US" altLang="zh-CN" sz="2000" dirty="0" smtClean="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3. </a:t>
            </a:r>
            <a:r>
              <a:rPr lang="en-US" altLang="zh-CN" sz="2000" dirty="0" err="1" smtClean="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犯罪客观方面是犯罪主观方面的客观外在表现</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客观</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性</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smtClean="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a:lnSpc>
                <a:spcPct val="150000"/>
              </a:lnSpc>
              <a:buFont typeface="Arial" panose="020B0604020202020204" pitchFamily="34" charset="0"/>
              <a:buNone/>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犯罪客观方面在犯罪构成的四个要件中居于关键</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地位</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必备</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性</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nSpc>
                <a:spcPct val="150000"/>
              </a:lnSpc>
              <a:buFont typeface="Arial" panose="020B0604020202020204" pitchFamily="34" charset="0"/>
              <a:buNone/>
            </a:pPr>
            <a:endParaRPr lang="en-US" altLang="zh-CN" sz="2000" dirty="0" smtClean="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25560" y="3235128"/>
            <a:ext cx="3848100" cy="1674132"/>
            <a:chOff x="425560" y="3235128"/>
            <a:chExt cx="3848100"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25560" y="3434391"/>
              <a:ext cx="384810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（二）犯罪客观方面的特征</a:t>
              </a:r>
            </a:p>
          </p:txBody>
        </p:sp>
      </p:grpSp>
      <p:sp>
        <p:nvSpPr>
          <p:cNvPr id="3" name="矩形 2"/>
          <p:cNvSpPr/>
          <p:nvPr/>
        </p:nvSpPr>
        <p:spPr>
          <a:xfrm>
            <a:off x="4121925" y="1232244"/>
            <a:ext cx="3542665"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一、犯罪客观方面的概述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41"/>
          <p:cNvGraphicFramePr>
            <a:graphicFrameLocks/>
          </p:cNvGraphicFramePr>
          <p:nvPr>
            <p:extLst>
              <p:ext uri="{D42A27DB-BD31-4B8C-83A1-F6EECF244321}">
                <p14:modId xmlns:p14="http://schemas.microsoft.com/office/powerpoint/2010/main" val="1754631414"/>
              </p:ext>
            </p:extLst>
          </p:nvPr>
        </p:nvGraphicFramePr>
        <p:xfrm>
          <a:off x="755650" y="955590"/>
          <a:ext cx="10785562" cy="4692736"/>
        </p:xfrm>
        <a:graphic>
          <a:graphicData uri="http://schemas.openxmlformats.org/drawingml/2006/table">
            <a:tbl>
              <a:tblPr/>
              <a:tblGrid>
                <a:gridCol w="3595942"/>
                <a:gridCol w="1797971"/>
                <a:gridCol w="5391649"/>
              </a:tblGrid>
              <a:tr h="1144653">
                <a:tc rowSpan="4">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犯罪客观方面</a:t>
                      </a: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的要件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必备要件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危害行为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91645">
                <a:tc vMerge="1">
                  <a:txBody>
                    <a:bodyPr/>
                    <a:lstStyle/>
                    <a:p>
                      <a:endParaRPr lang="zh-CN"/>
                    </a:p>
                  </a:txBody>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选择要件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危害结果</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64793">
                <a:tc vMerge="1">
                  <a:txBody>
                    <a:bodyPr/>
                    <a:lstStyle/>
                    <a:p>
                      <a:endParaRPr lang="zh-CN"/>
                    </a:p>
                  </a:txBody>
                  <a:tcPr/>
                </a:tc>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特定的时间、地点、方法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91645">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1" u="none" strike="noStrike" cap="none" normalizeH="0" baseline="0" dirty="0" smtClean="0">
                        <a:ln>
                          <a:noFill/>
                        </a:ln>
                        <a:solidFill>
                          <a:srgbClr val="0000FF"/>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1"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不是要件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刑法中的因果关系</a:t>
                      </a: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6156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411345" y="2557780"/>
            <a:ext cx="7780655" cy="1938992"/>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有助于区分罪与非罪</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2. </a:t>
            </a:r>
            <a:r>
              <a:rPr lang="en-US" sz="2000" dirty="0" err="1" smtClean="0">
                <a:solidFill>
                  <a:schemeClr val="tx1"/>
                </a:solidFill>
                <a:latin typeface="微软雅黑" panose="020B0503020204020204" pitchFamily="34" charset="-122"/>
                <a:ea typeface="微软雅黑" panose="020B0503020204020204" pitchFamily="34" charset="-122"/>
              </a:rPr>
              <a:t>有助于区分此罪与彼罪</a:t>
            </a:r>
            <a:r>
              <a:rPr lang="zh-CN" altLang="en-US" sz="1400" b="1" dirty="0">
                <a:solidFill>
                  <a:srgbClr val="00B0F0"/>
                </a:solidFill>
                <a:latin typeface="微软雅黑" panose="020B0503020204020204" pitchFamily="34" charset="-122"/>
                <a:ea typeface="微软雅黑" panose="020B0503020204020204" pitchFamily="34" charset="-122"/>
              </a:rPr>
              <a:t>（完成形态之罪与未完成形态之</a:t>
            </a:r>
            <a:r>
              <a:rPr lang="zh-CN" altLang="en-US" sz="1400" b="1" dirty="0" smtClean="0">
                <a:solidFill>
                  <a:srgbClr val="00B0F0"/>
                </a:solidFill>
                <a:latin typeface="微软雅黑" panose="020B0503020204020204" pitchFamily="34" charset="-122"/>
                <a:ea typeface="微软雅黑" panose="020B0503020204020204" pitchFamily="34" charset="-122"/>
              </a:rPr>
              <a:t>罪）</a:t>
            </a:r>
            <a:endParaRPr lang="en-US" sz="1400" b="1" dirty="0">
              <a:solidFill>
                <a:srgbClr val="00B0F0"/>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3. 有助于正确分析和认定犯罪的罪过</a:t>
            </a:r>
          </a:p>
          <a:p>
            <a:pPr indent="0">
              <a:lnSpc>
                <a:spcPct val="150000"/>
              </a:lnSpc>
              <a:buFont typeface="Arial" panose="020B0604020202020204" pitchFamily="34" charset="0"/>
              <a:buNone/>
            </a:pPr>
            <a:r>
              <a:rPr lang="en-US" sz="2000" dirty="0">
                <a:latin typeface="微软雅黑" panose="020B0503020204020204" pitchFamily="34" charset="-122"/>
                <a:ea typeface="微软雅黑" panose="020B0503020204020204" pitchFamily="34" charset="-122"/>
                <a:sym typeface="+mn-ea"/>
              </a:rPr>
              <a:t>4. 有助于正确量刑</a:t>
            </a:r>
            <a:endParaRPr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97954" y="3095936"/>
            <a:ext cx="3848100" cy="1813324"/>
            <a:chOff x="497954" y="3095936"/>
            <a:chExt cx="3848100"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97954" y="3095936"/>
              <a:ext cx="384810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（三）犯罪客观方面的意义</a:t>
              </a:r>
            </a:p>
          </p:txBody>
        </p:sp>
      </p:grpSp>
      <p:sp>
        <p:nvSpPr>
          <p:cNvPr id="3" name="矩形 2"/>
          <p:cNvSpPr/>
          <p:nvPr/>
        </p:nvSpPr>
        <p:spPr>
          <a:xfrm>
            <a:off x="4121925" y="1232244"/>
            <a:ext cx="3542665"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一、犯罪客观方面的概述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50342"/>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一、危害行为的概念</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二、危害行为的分类</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424688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危害行为</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179955"/>
            <a:ext cx="7658735"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sz="2000" dirty="0" err="1" smtClean="0">
                <a:solidFill>
                  <a:schemeClr val="tx1"/>
                </a:solidFill>
                <a:latin typeface="微软雅黑" panose="020B0503020204020204" pitchFamily="34" charset="-122"/>
                <a:ea typeface="微软雅黑" panose="020B0503020204020204" pitchFamily="34" charset="-122"/>
              </a:rPr>
              <a:t>无行为则无犯罪亦无刑罚</a:t>
            </a:r>
            <a:r>
              <a:rPr lang="en-US" sz="2000" dirty="0" err="1">
                <a:solidFill>
                  <a:schemeClr val="tx1"/>
                </a:solidFill>
                <a:latin typeface="微软雅黑" panose="020B0503020204020204" pitchFamily="34" charset="-122"/>
                <a:ea typeface="微软雅黑" panose="020B0503020204020204" pitchFamily="34" charset="-122"/>
              </a:rPr>
              <a:t>”已成为一种法律信念，</a:t>
            </a:r>
            <a:r>
              <a:rPr lang="en-US" sz="2000" dirty="0" err="1" smtClean="0">
                <a:solidFill>
                  <a:schemeClr val="tx1"/>
                </a:solidFill>
                <a:latin typeface="微软雅黑" panose="020B0503020204020204" pitchFamily="34" charset="-122"/>
                <a:ea typeface="微软雅黑" panose="020B0503020204020204" pitchFamily="34" charset="-122"/>
              </a:rPr>
              <a:t>是现代刑法的观念基础</a:t>
            </a:r>
            <a:r>
              <a:rPr lang="zh-CN" altLang="en-US" sz="1400" b="1" dirty="0" smtClean="0">
                <a:solidFill>
                  <a:srgbClr val="00B0F0"/>
                </a:solidFill>
                <a:latin typeface="微软雅黑" panose="020B0503020204020204" pitchFamily="34" charset="-122"/>
                <a:ea typeface="微软雅黑" panose="020B0503020204020204" pitchFamily="34" charset="-122"/>
              </a:rPr>
              <a:t>（客观主义、行为主义）</a:t>
            </a:r>
            <a:r>
              <a:rPr lang="en-US" sz="2000" dirty="0" smtClean="0">
                <a:solidFill>
                  <a:schemeClr val="tx1"/>
                </a:solidFill>
                <a:latin typeface="微软雅黑" panose="020B0503020204020204" pitchFamily="34" charset="-122"/>
                <a:ea typeface="微软雅黑" panose="020B0503020204020204" pitchFamily="34" charset="-122"/>
              </a:rPr>
              <a:t>。</a:t>
            </a:r>
            <a:endParaRPr lang="en-US"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solidFill>
                  <a:schemeClr val="tx1"/>
                </a:solidFill>
                <a:latin typeface="微软雅黑" panose="020B0503020204020204" pitchFamily="34" charset="-122"/>
                <a:ea typeface="微软雅黑" panose="020B0503020204020204" pitchFamily="34" charset="-122"/>
              </a:rPr>
              <a:t>行为</a:t>
            </a:r>
            <a:r>
              <a:rPr lang="en-US" altLang="zh-CN" sz="2000" dirty="0">
                <a:solidFill>
                  <a:schemeClr val="tx1"/>
                </a:solidFill>
                <a:latin typeface="微软雅黑" panose="020B0503020204020204" pitchFamily="34" charset="-122"/>
                <a:ea typeface="微软雅黑" panose="020B0503020204020204" pitchFamily="34" charset="-122"/>
              </a:rPr>
              <a:t> VS </a:t>
            </a:r>
            <a:r>
              <a:rPr lang="zh-CN" altLang="en-US" sz="2000" dirty="0">
                <a:solidFill>
                  <a:schemeClr val="tx1"/>
                </a:solidFill>
                <a:latin typeface="微软雅黑" panose="020B0503020204020204" pitchFamily="34" charset="-122"/>
                <a:ea typeface="微软雅黑" panose="020B0503020204020204" pitchFamily="34" charset="-122"/>
              </a:rPr>
              <a:t>危害行为</a:t>
            </a:r>
            <a:r>
              <a:rPr lang="en-US" altLang="zh-CN" sz="2000" dirty="0">
                <a:solidFill>
                  <a:schemeClr val="tx1"/>
                </a:solidFill>
                <a:latin typeface="微软雅黑" panose="020B0503020204020204" pitchFamily="34" charset="-122"/>
                <a:ea typeface="微软雅黑" panose="020B0503020204020204" pitchFamily="34" charset="-122"/>
              </a:rPr>
              <a:t> VS </a:t>
            </a:r>
            <a:r>
              <a:rPr lang="zh-CN" altLang="en-US" sz="2000" dirty="0">
                <a:solidFill>
                  <a:schemeClr val="tx1"/>
                </a:solidFill>
                <a:latin typeface="微软雅黑" panose="020B0503020204020204" pitchFamily="34" charset="-122"/>
                <a:ea typeface="微软雅黑" panose="020B0503020204020204" pitchFamily="34" charset="-122"/>
              </a:rPr>
              <a:t>犯罪行为</a:t>
            </a:r>
          </a:p>
          <a:p>
            <a:pPr marL="342900" indent="-342900">
              <a:lnSpc>
                <a:spcPct val="150000"/>
              </a:lnSpc>
              <a:buFont typeface="Arial" panose="020B0604020202020204" pitchFamily="34" charset="0"/>
              <a:buChar char="•"/>
            </a:pPr>
            <a:r>
              <a:rPr lang="en-US" sz="2000" dirty="0" err="1">
                <a:solidFill>
                  <a:schemeClr val="tx1"/>
                </a:solidFill>
                <a:latin typeface="微软雅黑" panose="020B0503020204020204" pitchFamily="34" charset="-122"/>
                <a:ea typeface="微软雅黑" panose="020B0503020204020204" pitchFamily="34" charset="-122"/>
              </a:rPr>
              <a:t>危害行为，又称危害社会的行为，是指表现人的意思自由、客观上危害社会并为刑法所禁止的身体动静</a:t>
            </a:r>
            <a:r>
              <a:rPr lang="en-US" sz="2000" dirty="0" smtClean="0">
                <a:solidFill>
                  <a:schemeClr val="tx1"/>
                </a:solidFill>
                <a:latin typeface="微软雅黑" panose="020B0503020204020204" pitchFamily="34" charset="-122"/>
                <a:ea typeface="微软雅黑" panose="020B0503020204020204" pitchFamily="34" charset="-122"/>
              </a:rPr>
              <a:t>。</a:t>
            </a:r>
            <a:endParaRPr 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37"/>
          <p:cNvGraphicFramePr>
            <a:graphicFrameLocks/>
          </p:cNvGraphicFramePr>
          <p:nvPr>
            <p:extLst>
              <p:ext uri="{D42A27DB-BD31-4B8C-83A1-F6EECF244321}">
                <p14:modId xmlns:p14="http://schemas.microsoft.com/office/powerpoint/2010/main" val="3453288516"/>
              </p:ext>
            </p:extLst>
          </p:nvPr>
        </p:nvGraphicFramePr>
        <p:xfrm>
          <a:off x="824256" y="1614618"/>
          <a:ext cx="10618101" cy="3286897"/>
        </p:xfrm>
        <a:graphic>
          <a:graphicData uri="http://schemas.openxmlformats.org/drawingml/2006/table">
            <a:tbl>
              <a:tblPr/>
              <a:tblGrid>
                <a:gridCol w="2384629"/>
                <a:gridCol w="2445328"/>
                <a:gridCol w="5788144"/>
              </a:tblGrid>
              <a:tr h="105941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最广义的行为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泛指一切行为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刑法</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第</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12</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条、第</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16</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943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广义的行为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指向犯罪行为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刑法</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第</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条、第</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13</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3314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狭义的行为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仅指危害行为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刑法</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第</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14</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条、第</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30</a:t>
                      </a: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380443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2954655" cy="461665"/>
          </a:xfrm>
          <a:prstGeom prst="rect">
            <a:avLst/>
          </a:prstGeom>
        </p:spPr>
        <p:txBody>
          <a:bodyPr wrap="none">
            <a:spAutoFit/>
          </a:bodyPr>
          <a:lstStyle/>
          <a:p>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229485"/>
            <a:ext cx="7658735" cy="2862322"/>
          </a:xfrm>
          <a:prstGeom prst="rect">
            <a:avLst/>
          </a:prstGeom>
          <a:noFill/>
        </p:spPr>
        <p:txBody>
          <a:bodyPr wrap="square" rtlCol="0">
            <a:spAutoFit/>
          </a:bodyPr>
          <a:lstStyle/>
          <a:p>
            <a:pPr indent="0">
              <a:lnSpc>
                <a:spcPct val="150000"/>
              </a:lnSpc>
              <a:buFont typeface="Arial" panose="020B0604020202020204" pitchFamily="34" charset="0"/>
              <a:buNone/>
            </a:pPr>
            <a:r>
              <a:rPr lang="zh-CN" altLang="en-US" sz="2000" dirty="0" smtClean="0">
                <a:solidFill>
                  <a:schemeClr val="tx1"/>
                </a:solidFill>
                <a:latin typeface="微软雅黑" panose="020B0503020204020204" pitchFamily="34" charset="-122"/>
                <a:ea typeface="微软雅黑" panose="020B0503020204020204" pitchFamily="34" charset="-122"/>
              </a:rPr>
              <a:t>（一）客观上是人的危害社会的行为</a:t>
            </a:r>
            <a:r>
              <a:rPr lang="zh-CN" altLang="en-US" sz="1400" b="1" dirty="0" smtClean="0">
                <a:solidFill>
                  <a:srgbClr val="00B0F0"/>
                </a:solidFill>
                <a:latin typeface="微软雅黑" panose="020B0503020204020204" pitchFamily="34" charset="-122"/>
                <a:ea typeface="微软雅黑" panose="020B0503020204020204" pitchFamily="34" charset="-122"/>
              </a:rPr>
              <a:t>（有体性）</a:t>
            </a:r>
            <a:endParaRPr lang="en-US" altLang="zh-CN" sz="1400" b="1" dirty="0" smtClean="0">
              <a:solidFill>
                <a:srgbClr val="00B0F0"/>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2000" dirty="0" smtClean="0">
                <a:latin typeface="微软雅黑" panose="020B0503020204020204" pitchFamily="34" charset="-122"/>
                <a:ea typeface="微软雅黑" panose="020B0503020204020204" pitchFamily="34" charset="-122"/>
              </a:rPr>
              <a:t>（二）主观上是表现人的意志或意识的行为</a:t>
            </a:r>
            <a:r>
              <a:rPr lang="zh-CN" altLang="en-US" sz="1400" b="1" dirty="0" smtClean="0">
                <a:solidFill>
                  <a:srgbClr val="00B0F0"/>
                </a:solidFill>
                <a:latin typeface="微软雅黑" panose="020B0503020204020204" pitchFamily="34" charset="-122"/>
                <a:ea typeface="微软雅黑" panose="020B0503020204020204" pitchFamily="34" charset="-122"/>
              </a:rPr>
              <a:t>（有意性）</a:t>
            </a:r>
            <a:endParaRPr lang="en-US" altLang="zh-CN" sz="1400" b="1" dirty="0" smtClean="0">
              <a:solidFill>
                <a:srgbClr val="00B0F0"/>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2000" dirty="0" smtClean="0">
                <a:solidFill>
                  <a:schemeClr val="tx1"/>
                </a:solidFill>
                <a:latin typeface="微软雅黑" panose="020B0503020204020204" pitchFamily="34" charset="-122"/>
                <a:ea typeface="微软雅黑" panose="020B0503020204020204" pitchFamily="34" charset="-122"/>
              </a:rPr>
              <a:t>无意识和无意志的行为主要有：</a:t>
            </a:r>
          </a:p>
          <a:p>
            <a:pPr indent="0">
              <a:lnSpc>
                <a:spcPct val="150000"/>
              </a:lnSpc>
              <a:buFont typeface="Arial" panose="020B0604020202020204" pitchFamily="34" charset="0"/>
              <a:buNone/>
            </a:pPr>
            <a:r>
              <a:rPr lang="en-US" altLang="zh-CN" sz="2000" dirty="0" smtClean="0">
                <a:solidFill>
                  <a:schemeClr val="tx1"/>
                </a:solidFill>
                <a:latin typeface="微软雅黑" panose="020B0503020204020204" pitchFamily="34" charset="-122"/>
                <a:ea typeface="微软雅黑" panose="020B0503020204020204" pitchFamily="34" charset="-122"/>
              </a:rPr>
              <a:t>1</a:t>
            </a:r>
            <a:r>
              <a:rPr lang="en-US" altLang="zh-CN" sz="2000" dirty="0">
                <a:solidFill>
                  <a:schemeClr val="tx1"/>
                </a:solidFill>
                <a:latin typeface="微软雅黑" panose="020B0503020204020204" pitchFamily="34" charset="-122"/>
                <a:ea typeface="微软雅黑" panose="020B0503020204020204" pitchFamily="34" charset="-122"/>
              </a:rPr>
              <a:t>. 人在睡梦或催眠状态下的举动</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人在不可抗力作用下的举动</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3. </a:t>
            </a:r>
            <a:r>
              <a:rPr lang="en-US" altLang="zh-CN" sz="2000" dirty="0" err="1" smtClean="0">
                <a:solidFill>
                  <a:schemeClr val="tx1"/>
                </a:solidFill>
                <a:latin typeface="微软雅黑" panose="020B0503020204020204" pitchFamily="34" charset="-122"/>
                <a:ea typeface="微软雅黑" panose="020B0503020204020204" pitchFamily="34" charset="-122"/>
              </a:rPr>
              <a:t>人在身体受到绝对强制下的举动</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777968" y="3095936"/>
            <a:ext cx="3288030" cy="600164"/>
          </a:xfrm>
          <a:prstGeom prst="rect">
            <a:avLst/>
          </a:prstGeom>
        </p:spPr>
        <p:txBody>
          <a:bodyPr wrap="squar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危害</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行为</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的特征</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078355"/>
            <a:ext cx="7658735" cy="3323987"/>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dirty="0" err="1" smtClean="0">
                <a:solidFill>
                  <a:schemeClr val="tx1"/>
                </a:solidFill>
                <a:latin typeface="微软雅黑" panose="020B0503020204020204" pitchFamily="34" charset="-122"/>
                <a:ea typeface="微软雅黑" panose="020B0503020204020204" pitchFamily="34" charset="-122"/>
              </a:rPr>
              <a:t>下列举动危害社会的</a:t>
            </a:r>
            <a:r>
              <a:rPr lang="en-US" altLang="zh-CN" sz="2000" dirty="0" err="1">
                <a:solidFill>
                  <a:schemeClr val="tx1"/>
                </a:solidFill>
                <a:latin typeface="微软雅黑" panose="020B0503020204020204" pitchFamily="34" charset="-122"/>
                <a:ea typeface="微软雅黑" panose="020B0503020204020204" pitchFamily="34" charset="-122"/>
              </a:rPr>
              <a:t>，</a:t>
            </a:r>
            <a:r>
              <a:rPr lang="en-US" altLang="zh-CN" sz="2000" dirty="0" err="1" smtClean="0">
                <a:solidFill>
                  <a:schemeClr val="tx1"/>
                </a:solidFill>
                <a:latin typeface="微软雅黑" panose="020B0503020204020204" pitchFamily="34" charset="-122"/>
                <a:ea typeface="微软雅黑" panose="020B0503020204020204" pitchFamily="34" charset="-122"/>
              </a:rPr>
              <a:t>仍应认</a:t>
            </a:r>
            <a:r>
              <a:rPr lang="zh-CN" altLang="en-US" sz="2000" dirty="0" smtClean="0">
                <a:solidFill>
                  <a:schemeClr val="tx1"/>
                </a:solidFill>
                <a:latin typeface="微软雅黑" panose="020B0503020204020204" pitchFamily="34" charset="-122"/>
                <a:ea typeface="微软雅黑" panose="020B0503020204020204" pitchFamily="34" charset="-122"/>
              </a:rPr>
              <a:t>定为</a:t>
            </a:r>
            <a:r>
              <a:rPr lang="en-US" altLang="zh-CN" sz="2000" dirty="0" err="1" smtClean="0">
                <a:solidFill>
                  <a:schemeClr val="tx1"/>
                </a:solidFill>
                <a:latin typeface="微软雅黑" panose="020B0503020204020204" pitchFamily="34" charset="-122"/>
                <a:ea typeface="微软雅黑" panose="020B0503020204020204" pitchFamily="34" charset="-122"/>
              </a:rPr>
              <a:t>刑法上的危害行为</a:t>
            </a:r>
            <a:r>
              <a:rPr lang="en-US" altLang="zh-CN"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1. </a:t>
            </a:r>
            <a:r>
              <a:rPr lang="en-US" altLang="zh-CN" sz="2000" dirty="0" err="1">
                <a:solidFill>
                  <a:schemeClr val="tx1"/>
                </a:solidFill>
                <a:latin typeface="微软雅黑" panose="020B0503020204020204" pitchFamily="34" charset="-122"/>
                <a:ea typeface="微软雅黑" panose="020B0503020204020204" pitchFamily="34" charset="-122"/>
              </a:rPr>
              <a:t>受他人暴力胁迫致其意思受到一定影响，但未丧失意志自由，</a:t>
            </a:r>
            <a:r>
              <a:rPr lang="en-US" altLang="zh-CN" sz="2000" dirty="0" err="1" smtClean="0">
                <a:solidFill>
                  <a:schemeClr val="tx1"/>
                </a:solidFill>
                <a:latin typeface="微软雅黑" panose="020B0503020204020204" pitchFamily="34" charset="-122"/>
                <a:ea typeface="微软雅黑" panose="020B0503020204020204" pitchFamily="34" charset="-122"/>
              </a:rPr>
              <a:t>又不符合紧急避险等的行为</a:t>
            </a:r>
            <a:r>
              <a:rPr lang="zh-CN" altLang="en-US" sz="1400" b="1" dirty="0" smtClean="0">
                <a:solidFill>
                  <a:srgbClr val="00B0F0"/>
                </a:solidFill>
                <a:latin typeface="微软雅黑" panose="020B0503020204020204" pitchFamily="34" charset="-122"/>
                <a:ea typeface="微软雅黑" panose="020B0503020204020204" pitchFamily="34" charset="-122"/>
              </a:rPr>
              <a:t>（胁从犯）</a:t>
            </a:r>
            <a:r>
              <a:rPr lang="en-US" altLang="zh-CN" sz="2000" dirty="0" smtClean="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a:t>
            </a:r>
            <a:r>
              <a:rPr lang="en-US" altLang="zh-CN" sz="2000" dirty="0" err="1" smtClean="0">
                <a:solidFill>
                  <a:schemeClr val="tx1"/>
                </a:solidFill>
                <a:latin typeface="微软雅黑" panose="020B0503020204020204" pitchFamily="34" charset="-122"/>
                <a:ea typeface="微软雅黑" panose="020B0503020204020204" pitchFamily="34" charset="-122"/>
              </a:rPr>
              <a:t>忘却行为</a:t>
            </a:r>
            <a:r>
              <a:rPr lang="en-US" altLang="zh-CN" sz="2000" dirty="0" smtClean="0">
                <a:solidFill>
                  <a:schemeClr val="tx1"/>
                </a:solidFill>
                <a:latin typeface="微软雅黑" panose="020B0503020204020204" pitchFamily="34" charset="-122"/>
                <a:ea typeface="微软雅黑" panose="020B0503020204020204" pitchFamily="34" charset="-122"/>
              </a:rPr>
              <a:t>；</a:t>
            </a:r>
          </a:p>
          <a:p>
            <a:pPr indent="0">
              <a:lnSpc>
                <a:spcPct val="150000"/>
              </a:lnSpc>
              <a:buFont typeface="Arial" panose="020B0604020202020204" pitchFamily="34" charset="0"/>
              <a:buNone/>
            </a:pPr>
            <a:r>
              <a:rPr lang="en-US" altLang="zh-CN" sz="2000" dirty="0" smtClean="0">
                <a:solidFill>
                  <a:schemeClr val="tx1"/>
                </a:solidFill>
                <a:latin typeface="微软雅黑" panose="020B0503020204020204" pitchFamily="34" charset="-122"/>
                <a:ea typeface="微软雅黑" panose="020B0503020204020204" pitchFamily="34" charset="-122"/>
              </a:rPr>
              <a:t>3</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err="1" smtClean="0">
                <a:solidFill>
                  <a:schemeClr val="tx1"/>
                </a:solidFill>
                <a:latin typeface="微软雅黑" panose="020B0503020204020204" pitchFamily="34" charset="-122"/>
                <a:ea typeface="微软雅黑" panose="020B0503020204020204" pitchFamily="34" charset="-122"/>
              </a:rPr>
              <a:t>原因中的自由行为</a:t>
            </a:r>
            <a:r>
              <a:rPr lang="en-US" altLang="zh-CN" sz="2000" dirty="0" smtClean="0">
                <a:solidFill>
                  <a:schemeClr val="tx1"/>
                </a:solidFill>
                <a:latin typeface="微软雅黑" panose="020B0503020204020204" pitchFamily="34" charset="-122"/>
                <a:ea typeface="微软雅黑" panose="020B0503020204020204" pitchFamily="34" charset="-122"/>
              </a:rPr>
              <a:t>。</a:t>
            </a:r>
          </a:p>
          <a:p>
            <a:pPr indent="0">
              <a:lnSpc>
                <a:spcPct val="150000"/>
              </a:lnSpc>
              <a:buFont typeface="Arial" panose="020B0604020202020204" pitchFamily="34" charset="0"/>
              <a:buNone/>
            </a:pPr>
            <a:r>
              <a:rPr lang="zh-CN" altLang="en-US" sz="2000" dirty="0" smtClean="0">
                <a:latin typeface="微软雅黑" panose="020B0503020204020204" pitchFamily="34" charset="-122"/>
                <a:ea typeface="微软雅黑" panose="020B0503020204020204" pitchFamily="34" charset="-122"/>
              </a:rPr>
              <a:t>（三）危害行为的刑法禁止性</a:t>
            </a:r>
            <a:r>
              <a:rPr lang="zh-CN" altLang="en-US" sz="1400" b="1" dirty="0" smtClean="0">
                <a:solidFill>
                  <a:srgbClr val="00B0F0"/>
                </a:solidFill>
                <a:latin typeface="微软雅黑" panose="020B0503020204020204" pitchFamily="34" charset="-122"/>
                <a:ea typeface="微软雅黑" panose="020B0503020204020204" pitchFamily="34" charset="-122"/>
              </a:rPr>
              <a:t>（有害性）</a:t>
            </a:r>
            <a:endParaRPr lang="en-US" altLang="zh-CN" sz="1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767840"/>
            <a:ext cx="7658735" cy="4708981"/>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b="1" dirty="0">
                <a:solidFill>
                  <a:schemeClr val="tx1"/>
                </a:solidFill>
                <a:latin typeface="微软雅黑" panose="020B0503020204020204" pitchFamily="34" charset="-122"/>
                <a:ea typeface="微软雅黑" panose="020B0503020204020204" pitchFamily="34" charset="-122"/>
              </a:rPr>
              <a:t>1. 作为</a:t>
            </a:r>
          </a:p>
          <a:p>
            <a:pPr indent="0">
              <a:lnSpc>
                <a:spcPct val="150000"/>
              </a:lnSpc>
              <a:buFont typeface="Arial" panose="020B0604020202020204" pitchFamily="34" charset="0"/>
              <a:buNone/>
            </a:pPr>
            <a:r>
              <a:rPr lang="en-US" altLang="zh-CN" sz="2000" dirty="0" err="1">
                <a:solidFill>
                  <a:schemeClr val="tx1"/>
                </a:solidFill>
                <a:latin typeface="微软雅黑" panose="020B0503020204020204" pitchFamily="34" charset="-122"/>
                <a:ea typeface="微软雅黑" panose="020B0503020204020204" pitchFamily="34" charset="-122"/>
              </a:rPr>
              <a:t>行为人以积极的身体活动实施的刑法禁止实施的危害行为，</a:t>
            </a:r>
            <a:r>
              <a:rPr lang="en-US" altLang="zh-CN" sz="2000" dirty="0" err="1" smtClean="0">
                <a:solidFill>
                  <a:schemeClr val="tx1"/>
                </a:solidFill>
                <a:latin typeface="微软雅黑" panose="020B0503020204020204" pitchFamily="34" charset="-122"/>
                <a:ea typeface="微软雅黑" panose="020B0503020204020204" pitchFamily="34" charset="-122"/>
              </a:rPr>
              <a:t>即“不应为而为</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sz="1400" b="1" dirty="0">
                <a:solidFill>
                  <a:srgbClr val="00B0F0"/>
                </a:solidFill>
                <a:latin typeface="微软雅黑" panose="020B0503020204020204" pitchFamily="34" charset="-122"/>
                <a:ea typeface="微软雅黑" panose="020B0503020204020204" pitchFamily="34" charset="-122"/>
              </a:rPr>
              <a:t>（如果法益没有面临危险而行为人以积极动作制造危险，或者法益面临较小危险而行为人以积极动作制造更大危险的，是</a:t>
            </a:r>
            <a:r>
              <a:rPr lang="zh-CN" altLang="en-US" sz="1400" b="1" dirty="0" smtClean="0">
                <a:solidFill>
                  <a:srgbClr val="00B0F0"/>
                </a:solidFill>
                <a:latin typeface="微软雅黑" panose="020B0503020204020204" pitchFamily="34" charset="-122"/>
                <a:ea typeface="微软雅黑" panose="020B0503020204020204" pitchFamily="34" charset="-122"/>
              </a:rPr>
              <a:t>作为）</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lang="zh-CN" altLang="en-US" sz="2000" dirty="0" smtClean="0">
                <a:solidFill>
                  <a:schemeClr val="tx1"/>
                </a:solidFill>
                <a:latin typeface="微软雅黑" panose="020B0503020204020204" pitchFamily="34" charset="-122"/>
                <a:ea typeface="微软雅黑" panose="020B0503020204020204" pitchFamily="34" charset="-122"/>
              </a:rPr>
              <a:t>作为除具有危害行为的三个特征外，还有</a:t>
            </a:r>
            <a:r>
              <a:rPr lang="zh-CN" altLang="en-US" sz="2000" dirty="0">
                <a:solidFill>
                  <a:schemeClr val="tx1"/>
                </a:solidFill>
                <a:latin typeface="微软雅黑" panose="020B0503020204020204" pitchFamily="34" charset="-122"/>
                <a:ea typeface="微软雅黑" panose="020B0503020204020204" pitchFamily="34" charset="-122"/>
              </a:rPr>
              <a:t>以下特征：</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（1）行为人实施了刑法规范禁止实施的</a:t>
            </a:r>
            <a:r>
              <a:rPr lang="zh-CN" altLang="en-US" sz="2000" dirty="0">
                <a:latin typeface="微软雅黑" panose="020B0503020204020204" pitchFamily="34" charset="-122"/>
                <a:ea typeface="微软雅黑" panose="020B0503020204020204" pitchFamily="34" charset="-122"/>
              </a:rPr>
              <a:t>行为</a:t>
            </a:r>
            <a:r>
              <a:rPr lang="zh-CN" altLang="en-US" sz="1400" b="1" dirty="0">
                <a:solidFill>
                  <a:srgbClr val="00B0F0"/>
                </a:solidFill>
                <a:latin typeface="微软雅黑" panose="020B0503020204020204" pitchFamily="34" charset="-122"/>
                <a:ea typeface="微软雅黑" panose="020B0503020204020204" pitchFamily="34" charset="-122"/>
              </a:rPr>
              <a:t>（直接违反</a:t>
            </a:r>
            <a:r>
              <a:rPr lang="zh-CN" altLang="en-US" sz="1400" b="1" dirty="0" smtClean="0">
                <a:solidFill>
                  <a:srgbClr val="00B0F0"/>
                </a:solidFill>
                <a:latin typeface="微软雅黑" panose="020B0503020204020204" pitchFamily="34" charset="-122"/>
                <a:ea typeface="微软雅黑" panose="020B0503020204020204" pitchFamily="34" charset="-122"/>
              </a:rPr>
              <a:t>禁止制造危险的规范</a:t>
            </a:r>
            <a:r>
              <a:rPr lang="zh-CN" altLang="en-US" sz="1400" b="1" dirty="0">
                <a:solidFill>
                  <a:srgbClr val="00B0F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（2）作为必须表现为身体的积极状态、动的状态。</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（3）作为是由人的一系列身体活动组成的，而不是孤立的、单个的</a:t>
            </a:r>
            <a:r>
              <a:rPr lang="zh-CN" altLang="en-US" sz="2000" dirty="0" smtClean="0">
                <a:solidFill>
                  <a:schemeClr val="tx1"/>
                </a:solidFill>
                <a:latin typeface="微软雅黑" panose="020B0503020204020204" pitchFamily="34" charset="-122"/>
                <a:ea typeface="微软雅黑" panose="020B0503020204020204" pitchFamily="34" charset="-122"/>
              </a:rPr>
              <a:t>动作</a:t>
            </a:r>
            <a:r>
              <a:rPr lang="zh-CN" altLang="en-US" sz="1400" b="1" dirty="0" smtClean="0">
                <a:solidFill>
                  <a:srgbClr val="00B0F0"/>
                </a:solidFill>
                <a:latin typeface="微软雅黑" panose="020B0503020204020204" pitchFamily="34" charset="-122"/>
                <a:ea typeface="微软雅黑" panose="020B0503020204020204" pitchFamily="34" charset="-122"/>
              </a:rPr>
              <a:t>（举动≠行为）</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688465"/>
            <a:ext cx="7658735" cy="3323987"/>
          </a:xfrm>
          <a:prstGeom prst="rect">
            <a:avLst/>
          </a:prstGeom>
          <a:noFill/>
        </p:spPr>
        <p:txBody>
          <a:bodyPr wrap="square" rtlCol="0">
            <a:spAutoFit/>
          </a:bodyPr>
          <a:lstStyle/>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具体来说，作为主要有以下几种实施方式：</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（1）利用身体活动的</a:t>
            </a:r>
            <a:r>
              <a:rPr lang="zh-CN" altLang="en-US" sz="2000" dirty="0">
                <a:latin typeface="微软雅黑" panose="020B0503020204020204" pitchFamily="34" charset="-122"/>
                <a:ea typeface="微软雅黑" panose="020B0503020204020204" pitchFamily="34" charset="-122"/>
              </a:rPr>
              <a:t>作为</a:t>
            </a:r>
            <a:r>
              <a:rPr lang="zh-CN" altLang="en-US" sz="1400" b="1" dirty="0">
                <a:solidFill>
                  <a:srgbClr val="00B0F0"/>
                </a:solidFill>
                <a:latin typeface="微软雅黑" panose="020B0503020204020204" pitchFamily="34" charset="-122"/>
                <a:ea typeface="微软雅黑" panose="020B0503020204020204" pitchFamily="34" charset="-122"/>
              </a:rPr>
              <a:t>（直接正犯</a:t>
            </a:r>
            <a:r>
              <a:rPr lang="zh-CN" altLang="en-US" sz="1400" b="1" dirty="0" smtClean="0">
                <a:solidFill>
                  <a:srgbClr val="00B0F0"/>
                </a:solidFill>
                <a:latin typeface="微软雅黑" panose="020B0503020204020204" pitchFamily="34" charset="-122"/>
                <a:ea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（2）利用物质或信息工具的</a:t>
            </a:r>
            <a:r>
              <a:rPr lang="zh-CN" altLang="en-US" sz="2000" dirty="0" smtClean="0">
                <a:solidFill>
                  <a:schemeClr val="tx1"/>
                </a:solidFill>
                <a:latin typeface="微软雅黑" panose="020B0503020204020204" pitchFamily="34" charset="-122"/>
                <a:ea typeface="微软雅黑" panose="020B0503020204020204" pitchFamily="34" charset="-122"/>
              </a:rPr>
              <a:t>作为；</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（3）利用他人行为实施的</a:t>
            </a:r>
            <a:r>
              <a:rPr lang="zh-CN" altLang="en-US" sz="2000" dirty="0">
                <a:latin typeface="微软雅黑" panose="020B0503020204020204" pitchFamily="34" charset="-122"/>
                <a:ea typeface="微软雅黑" panose="020B0503020204020204" pitchFamily="34" charset="-122"/>
              </a:rPr>
              <a:t>作为</a:t>
            </a:r>
            <a:r>
              <a:rPr lang="zh-CN" altLang="en-US" sz="1400" b="1" dirty="0">
                <a:solidFill>
                  <a:srgbClr val="00B0F0"/>
                </a:solidFill>
                <a:latin typeface="微软雅黑" panose="020B0503020204020204" pitchFamily="34" charset="-122"/>
                <a:ea typeface="微软雅黑" panose="020B0503020204020204" pitchFamily="34" charset="-122"/>
              </a:rPr>
              <a:t>（间接正犯</a:t>
            </a:r>
            <a:r>
              <a:rPr lang="zh-CN" altLang="en-US" sz="1400" b="1" dirty="0" smtClean="0">
                <a:solidFill>
                  <a:srgbClr val="00B0F0"/>
                </a:solidFill>
                <a:latin typeface="微软雅黑" panose="020B0503020204020204" pitchFamily="34" charset="-122"/>
                <a:ea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（4）利用自然力的</a:t>
            </a:r>
            <a:r>
              <a:rPr lang="zh-CN" altLang="en-US" sz="2000" dirty="0" smtClean="0">
                <a:solidFill>
                  <a:schemeClr val="tx1"/>
                </a:solidFill>
                <a:latin typeface="微软雅黑" panose="020B0503020204020204" pitchFamily="34" charset="-122"/>
                <a:ea typeface="微软雅黑" panose="020B0503020204020204" pitchFamily="34" charset="-122"/>
              </a:rPr>
              <a:t>作为；</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smtClean="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5）利用动物实施的</a:t>
            </a:r>
            <a:r>
              <a:rPr lang="zh-CN" altLang="en-US" sz="2000" dirty="0" smtClean="0">
                <a:solidFill>
                  <a:schemeClr val="tx1"/>
                </a:solidFill>
                <a:latin typeface="微软雅黑" panose="020B0503020204020204" pitchFamily="34" charset="-122"/>
                <a:ea typeface="微软雅黑" panose="020B0503020204020204" pitchFamily="34" charset="-122"/>
              </a:rPr>
              <a:t>作为；</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（6）利用职务上的便利实施的</a:t>
            </a:r>
            <a:r>
              <a:rPr lang="zh-CN" altLang="en-US" sz="2000" dirty="0" smtClean="0">
                <a:solidFill>
                  <a:schemeClr val="tx1"/>
                </a:solidFill>
                <a:latin typeface="微软雅黑" panose="020B0503020204020204" pitchFamily="34" charset="-122"/>
                <a:ea typeface="微软雅黑" panose="020B0503020204020204" pitchFamily="34" charset="-122"/>
              </a:rPr>
              <a:t>作为。</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688465"/>
            <a:ext cx="7658735" cy="4708981"/>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b="1" dirty="0">
                <a:solidFill>
                  <a:schemeClr val="tx1"/>
                </a:solidFill>
                <a:latin typeface="微软雅黑" panose="020B0503020204020204" pitchFamily="34" charset="-122"/>
                <a:ea typeface="微软雅黑" panose="020B0503020204020204" pitchFamily="34" charset="-122"/>
              </a:rPr>
              <a:t>2. </a:t>
            </a:r>
            <a:r>
              <a:rPr lang="zh-CN" altLang="en-US" sz="2000" b="1" dirty="0">
                <a:solidFill>
                  <a:schemeClr val="tx1"/>
                </a:solidFill>
                <a:latin typeface="微软雅黑" panose="020B0503020204020204" pitchFamily="34" charset="-122"/>
                <a:ea typeface="微软雅黑" panose="020B0503020204020204" pitchFamily="34" charset="-122"/>
              </a:rPr>
              <a:t>不</a:t>
            </a:r>
            <a:r>
              <a:rPr lang="en-US" altLang="zh-CN" sz="2000" b="1" dirty="0">
                <a:solidFill>
                  <a:schemeClr val="tx1"/>
                </a:solidFill>
                <a:latin typeface="微软雅黑" panose="020B0503020204020204" pitchFamily="34" charset="-122"/>
                <a:ea typeface="微软雅黑" panose="020B0503020204020204" pitchFamily="34" charset="-122"/>
              </a:rPr>
              <a:t>作为</a:t>
            </a:r>
          </a:p>
          <a:p>
            <a:pPr indent="0">
              <a:lnSpc>
                <a:spcPct val="150000"/>
              </a:lnSpc>
              <a:buFont typeface="Arial" panose="020B0604020202020204" pitchFamily="34" charset="0"/>
              <a:buNone/>
            </a:pPr>
            <a:r>
              <a:rPr lang="en-US" altLang="zh-CN" sz="2000" dirty="0" err="1">
                <a:solidFill>
                  <a:schemeClr val="tx1"/>
                </a:solidFill>
                <a:latin typeface="微软雅黑" panose="020B0503020204020204" pitchFamily="34" charset="-122"/>
                <a:ea typeface="微软雅黑" panose="020B0503020204020204" pitchFamily="34" charset="-122"/>
              </a:rPr>
              <a:t>刑法要求行为人必须履行实施某种特定积极行为的义务，</a:t>
            </a:r>
            <a:r>
              <a:rPr lang="en-US" altLang="zh-CN" sz="2000" dirty="0" err="1" smtClean="0">
                <a:solidFill>
                  <a:schemeClr val="tx1"/>
                </a:solidFill>
                <a:latin typeface="微软雅黑" panose="020B0503020204020204" pitchFamily="34" charset="-122"/>
                <a:ea typeface="微软雅黑" panose="020B0503020204020204" pitchFamily="34" charset="-122"/>
              </a:rPr>
              <a:t>行为人能够履行而没有履行该义务的行为</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err="1" smtClean="0">
                <a:solidFill>
                  <a:schemeClr val="tx1"/>
                </a:solidFill>
                <a:latin typeface="微软雅黑" panose="020B0503020204020204" pitchFamily="34" charset="-122"/>
                <a:ea typeface="微软雅黑" panose="020B0503020204020204" pitchFamily="34" charset="-122"/>
              </a:rPr>
              <a:t>即“应为而不为</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（如果法益已经面临危险，具有保证人地位的行为人不消除危险的，是不作为）</a:t>
            </a:r>
            <a:r>
              <a:rPr lang="en-US" altLang="zh-CN" sz="2000" dirty="0" smtClean="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不作为具有以下特征：</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（1）从主体看，行为人负有实施某种特定积极行为的法律</a:t>
            </a:r>
            <a:r>
              <a:rPr lang="zh-CN" altLang="en-US" sz="2000" dirty="0" smtClean="0">
                <a:solidFill>
                  <a:schemeClr val="tx1"/>
                </a:solidFill>
                <a:latin typeface="微软雅黑" panose="020B0503020204020204" pitchFamily="34" charset="-122"/>
                <a:ea typeface="微软雅黑" panose="020B0503020204020204" pitchFamily="34" charset="-122"/>
              </a:rPr>
              <a:t>义务</a:t>
            </a:r>
            <a:r>
              <a:rPr lang="zh-CN" altLang="en-US" sz="1400" b="1" dirty="0" smtClean="0">
                <a:solidFill>
                  <a:srgbClr val="00B0F0"/>
                </a:solidFill>
                <a:latin typeface="微软雅黑" panose="020B0503020204020204" pitchFamily="34" charset="-122"/>
                <a:ea typeface="微软雅黑" panose="020B0503020204020204" pitchFamily="34" charset="-122"/>
              </a:rPr>
              <a:t>（直接违反要求消除危险的命令规范）</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（2）从行为状态看，不作为是一种消极的身体</a:t>
            </a:r>
            <a:r>
              <a:rPr lang="zh-CN" altLang="en-US" sz="2000" dirty="0" smtClean="0">
                <a:solidFill>
                  <a:schemeClr val="tx1"/>
                </a:solidFill>
                <a:latin typeface="微软雅黑" panose="020B0503020204020204" pitchFamily="34" charset="-122"/>
                <a:ea typeface="微软雅黑" panose="020B0503020204020204" pitchFamily="34" charset="-122"/>
              </a:rPr>
              <a:t>活动</a:t>
            </a:r>
            <a:r>
              <a:rPr lang="zh-CN" altLang="en-US" sz="1400" b="1" dirty="0" smtClean="0">
                <a:solidFill>
                  <a:srgbClr val="00B0F0"/>
                </a:solidFill>
                <a:latin typeface="微软雅黑" panose="020B0503020204020204" pitchFamily="34" charset="-122"/>
                <a:ea typeface="微软雅黑" panose="020B0503020204020204" pitchFamily="34" charset="-122"/>
              </a:rPr>
              <a:t>（ ？）</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（3）从性质上看，不作为是刑法意义上的不</a:t>
            </a:r>
            <a:r>
              <a:rPr lang="zh-CN" altLang="en-US" sz="2000" dirty="0" smtClean="0">
                <a:solidFill>
                  <a:schemeClr val="tx1"/>
                </a:solidFill>
                <a:latin typeface="微软雅黑" panose="020B0503020204020204" pitchFamily="34" charset="-122"/>
                <a:ea typeface="微软雅黑" panose="020B0503020204020204" pitchFamily="34" charset="-122"/>
              </a:rPr>
              <a:t>作为</a:t>
            </a:r>
            <a:r>
              <a:rPr lang="zh-CN" altLang="en-US" sz="1400" b="1" dirty="0" smtClean="0">
                <a:solidFill>
                  <a:srgbClr val="00B0F0"/>
                </a:solidFill>
                <a:latin typeface="微软雅黑" panose="020B0503020204020204" pitchFamily="34" charset="-122"/>
                <a:ea typeface="微软雅黑" panose="020B0503020204020204" pitchFamily="34" charset="-122"/>
              </a:rPr>
              <a:t>（没有实施法律所期待的行为）</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509520"/>
            <a:ext cx="7658735" cy="2400657"/>
          </a:xfrm>
          <a:prstGeom prst="rect">
            <a:avLst/>
          </a:prstGeom>
          <a:noFill/>
        </p:spPr>
        <p:txBody>
          <a:bodyPr wrap="square" rtlCol="0">
            <a:spAutoFit/>
          </a:bodyPr>
          <a:lstStyle/>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成立不作为必须具备三个条件：</a:t>
            </a:r>
          </a:p>
          <a:p>
            <a:pPr indent="0">
              <a:lnSpc>
                <a:spcPct val="150000"/>
              </a:lnSpc>
              <a:buFont typeface="Wingdings" panose="05000000000000000000" charset="0"/>
              <a:buNone/>
            </a:pPr>
            <a:r>
              <a:rPr lang="zh-CN" altLang="en-US" sz="2000" b="1" dirty="0">
                <a:solidFill>
                  <a:schemeClr val="tx1"/>
                </a:solidFill>
                <a:latin typeface="微软雅黑" panose="020B0503020204020204" pitchFamily="34" charset="-122"/>
                <a:ea typeface="微软雅黑" panose="020B0503020204020204" pitchFamily="34" charset="-122"/>
              </a:rPr>
              <a:t>条件一：</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行为人应当履行特定</a:t>
            </a:r>
            <a:r>
              <a:rPr lang="zh-CN" altLang="en-US" sz="2000" b="1" dirty="0" smtClean="0">
                <a:solidFill>
                  <a:schemeClr val="tx1"/>
                </a:solidFill>
                <a:latin typeface="微软雅黑" panose="020B0503020204020204" pitchFamily="34" charset="-122"/>
                <a:ea typeface="微软雅黑" panose="020B0503020204020204" pitchFamily="34" charset="-122"/>
              </a:rPr>
              <a:t>义务</a:t>
            </a:r>
            <a:r>
              <a:rPr lang="zh-CN" altLang="en-US" sz="1400" b="1" dirty="0" smtClean="0">
                <a:solidFill>
                  <a:srgbClr val="0288DD"/>
                </a:solidFill>
                <a:latin typeface="微软雅黑" panose="020B0503020204020204" pitchFamily="34" charset="-122"/>
                <a:ea typeface="微软雅黑" panose="020B0503020204020204" pitchFamily="34" charset="-122"/>
              </a:rPr>
              <a:t>（形式与实质的作为义务）</a:t>
            </a:r>
            <a:endParaRPr lang="zh-CN" altLang="en-US" sz="1400" b="1" dirty="0">
              <a:solidFill>
                <a:srgbClr val="0288DD"/>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一般认为，不作为的</a:t>
            </a:r>
            <a:r>
              <a:rPr lang="zh-CN" altLang="en-US" sz="2000" dirty="0" smtClean="0">
                <a:solidFill>
                  <a:schemeClr val="tx1"/>
                </a:solidFill>
                <a:latin typeface="微软雅黑" panose="020B0503020204020204" pitchFamily="34" charset="-122"/>
                <a:ea typeface="微软雅黑" panose="020B0503020204020204" pitchFamily="34" charset="-122"/>
              </a:rPr>
              <a:t>义务</a:t>
            </a:r>
            <a:r>
              <a:rPr lang="zh-CN" altLang="en-US" sz="2000" b="1" dirty="0" smtClean="0">
                <a:solidFill>
                  <a:srgbClr val="00B0F0"/>
                </a:solidFill>
                <a:latin typeface="微软雅黑" panose="020B0503020204020204" pitchFamily="34" charset="-122"/>
                <a:ea typeface="微软雅黑" panose="020B0503020204020204" pitchFamily="34" charset="-122"/>
              </a:rPr>
              <a:t>（形式）</a:t>
            </a:r>
            <a:r>
              <a:rPr lang="zh-CN" altLang="en-US" sz="2000" dirty="0" smtClean="0">
                <a:solidFill>
                  <a:schemeClr val="tx1"/>
                </a:solidFill>
                <a:latin typeface="微软雅黑" panose="020B0503020204020204" pitchFamily="34" charset="-122"/>
                <a:ea typeface="微软雅黑" panose="020B0503020204020204" pitchFamily="34" charset="-122"/>
              </a:rPr>
              <a:t>来源于：</a:t>
            </a:r>
            <a:r>
              <a:rPr lang="en-US" altLang="zh-CN" sz="2000" b="1" dirty="0" smtClean="0">
                <a:solidFill>
                  <a:srgbClr val="00B0F0"/>
                </a:solidFill>
                <a:latin typeface="微软雅黑" panose="020B0503020204020204" pitchFamily="34" charset="-122"/>
                <a:ea typeface="微软雅黑" panose="020B0503020204020204" pitchFamily="34" charset="-122"/>
              </a:rPr>
              <a:t>a.</a:t>
            </a:r>
            <a:r>
              <a:rPr lang="zh-CN" altLang="en-US" sz="2000" dirty="0" smtClean="0">
                <a:solidFill>
                  <a:schemeClr val="tx1"/>
                </a:solidFill>
                <a:latin typeface="微软雅黑" panose="020B0503020204020204" pitchFamily="34" charset="-122"/>
                <a:ea typeface="微软雅黑" panose="020B0503020204020204" pitchFamily="34" charset="-122"/>
              </a:rPr>
              <a:t>法律</a:t>
            </a:r>
            <a:r>
              <a:rPr lang="zh-CN" altLang="en-US" sz="2000" dirty="0">
                <a:solidFill>
                  <a:schemeClr val="tx1"/>
                </a:solidFill>
                <a:latin typeface="微软雅黑" panose="020B0503020204020204" pitchFamily="34" charset="-122"/>
                <a:ea typeface="微软雅黑" panose="020B0503020204020204" pitchFamily="34" charset="-122"/>
              </a:rPr>
              <a:t>上的明确规定</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b.</a:t>
            </a:r>
            <a:r>
              <a:rPr lang="zh-CN" altLang="en-US" sz="2000" dirty="0" smtClean="0">
                <a:solidFill>
                  <a:schemeClr val="tx1"/>
                </a:solidFill>
                <a:latin typeface="微软雅黑" panose="020B0503020204020204" pitchFamily="34" charset="-122"/>
                <a:ea typeface="微软雅黑" panose="020B0503020204020204" pitchFamily="34" charset="-122"/>
              </a:rPr>
              <a:t>职务</a:t>
            </a:r>
            <a:r>
              <a:rPr lang="zh-CN" altLang="en-US" sz="2000" dirty="0">
                <a:solidFill>
                  <a:schemeClr val="tx1"/>
                </a:solidFill>
                <a:latin typeface="微软雅黑" panose="020B0503020204020204" pitchFamily="34" charset="-122"/>
                <a:ea typeface="微软雅黑" panose="020B0503020204020204" pitchFamily="34" charset="-122"/>
              </a:rPr>
              <a:t>上、业务上要求的义务</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c.</a:t>
            </a:r>
            <a:r>
              <a:rPr lang="zh-CN" altLang="en-US" sz="2000" dirty="0" smtClean="0">
                <a:solidFill>
                  <a:schemeClr val="tx1"/>
                </a:solidFill>
                <a:latin typeface="微软雅黑" panose="020B0503020204020204" pitchFamily="34" charset="-122"/>
                <a:ea typeface="微软雅黑" panose="020B0503020204020204" pitchFamily="34" charset="-122"/>
              </a:rPr>
              <a:t>法律行为</a:t>
            </a:r>
            <a:r>
              <a:rPr lang="zh-CN" altLang="en-US" sz="2000" dirty="0">
                <a:solidFill>
                  <a:schemeClr val="tx1"/>
                </a:solidFill>
                <a:latin typeface="微软雅黑" panose="020B0503020204020204" pitchFamily="34" charset="-122"/>
                <a:ea typeface="微软雅黑" panose="020B0503020204020204" pitchFamily="34" charset="-122"/>
              </a:rPr>
              <a:t>引起的义务</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d.</a:t>
            </a:r>
            <a:r>
              <a:rPr lang="zh-CN" altLang="en-US" sz="2000" dirty="0" smtClean="0">
                <a:solidFill>
                  <a:schemeClr val="tx1"/>
                </a:solidFill>
                <a:latin typeface="微软雅黑" panose="020B0503020204020204" pitchFamily="34" charset="-122"/>
                <a:ea typeface="微软雅黑" panose="020B0503020204020204" pitchFamily="34" charset="-122"/>
              </a:rPr>
              <a:t>先行</a:t>
            </a:r>
            <a:r>
              <a:rPr lang="zh-CN" altLang="en-US" sz="2000" dirty="0">
                <a:solidFill>
                  <a:schemeClr val="tx1"/>
                </a:solidFill>
                <a:latin typeface="微软雅黑" panose="020B0503020204020204" pitchFamily="34" charset="-122"/>
                <a:ea typeface="微软雅黑" panose="020B0503020204020204" pitchFamily="34" charset="-122"/>
              </a:rPr>
              <a:t>行为引起的义务</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err="1" smtClean="0">
                <a:solidFill>
                  <a:srgbClr val="00B0F0"/>
                </a:solidFill>
                <a:latin typeface="微软雅黑" panose="020B0503020204020204" pitchFamily="34" charset="-122"/>
                <a:ea typeface="微软雅黑" panose="020B0503020204020204" pitchFamily="34" charset="-122"/>
              </a:rPr>
              <a:t>e.</a:t>
            </a:r>
            <a:r>
              <a:rPr lang="en-US" altLang="zh-CN" sz="2000" dirty="0" err="1" smtClean="0">
                <a:solidFill>
                  <a:schemeClr val="tx1"/>
                </a:solidFill>
                <a:latin typeface="微软雅黑" panose="020B0503020204020204" pitchFamily="34" charset="-122"/>
                <a:ea typeface="微软雅黑" panose="020B0503020204020204" pitchFamily="34" charset="-122"/>
              </a:rPr>
              <a:t>公共秩序和社会公德要求承担的义务</a:t>
            </a:r>
            <a:r>
              <a:rPr lang="zh-CN" altLang="en-US" sz="2000" dirty="0">
                <a:solidFill>
                  <a:schemeClr val="tx1"/>
                </a:solidFill>
                <a:latin typeface="微软雅黑" panose="020B0503020204020204" pitchFamily="34" charset="-122"/>
                <a:ea typeface="微软雅黑" panose="020B0503020204020204" pitchFamily="34" charset="-122"/>
              </a:rPr>
              <a:t>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681605"/>
            <a:ext cx="7658735" cy="3323987"/>
          </a:xfrm>
          <a:prstGeom prst="rect">
            <a:avLst/>
          </a:prstGeom>
          <a:noFill/>
        </p:spPr>
        <p:txBody>
          <a:bodyPr wrap="square" rtlCol="0">
            <a:spAutoFit/>
          </a:bodyPr>
          <a:lstStyle/>
          <a:p>
            <a:pPr marL="342900" indent="-342900">
              <a:lnSpc>
                <a:spcPct val="150000"/>
              </a:lnSpc>
              <a:buFont typeface="Wingdings" panose="05000000000000000000" charset="0"/>
              <a:buChar char=""/>
            </a:pPr>
            <a:r>
              <a:rPr lang="zh-CN" altLang="en-US" sz="2000" b="1" dirty="0">
                <a:solidFill>
                  <a:schemeClr val="tx1"/>
                </a:solidFill>
                <a:latin typeface="微软雅黑" panose="020B0503020204020204" pitchFamily="34" charset="-122"/>
                <a:ea typeface="微软雅黑" panose="020B0503020204020204" pitchFamily="34" charset="-122"/>
              </a:rPr>
              <a:t>自愿接受行为能否成为不作为的义务来源？</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例如，某甲发现在路边奄奄一息的陌生老人并把老人带回家里，找大夫给其看病，照料其生活。过了一段时间后甲觉得负担太重，将老人遗弃。甲是否构成遗弃罪</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a:t>
            </a:r>
            <a:r>
              <a:rPr lang="en-US" altLang="zh-CN" sz="1400" b="1" dirty="0" smtClean="0">
                <a:solidFill>
                  <a:srgbClr val="00B0F0"/>
                </a:solidFill>
                <a:latin typeface="微软雅黑" panose="020B0503020204020204" pitchFamily="34" charset="-122"/>
                <a:ea typeface="微软雅黑" panose="020B0503020204020204" pitchFamily="34" charset="-122"/>
              </a:rPr>
              <a:t>p127</a:t>
            </a:r>
            <a:r>
              <a:rPr lang="zh-CN" altLang="en-US" sz="1400" b="1" dirty="0" smtClean="0">
                <a:solidFill>
                  <a:srgbClr val="00B0F0"/>
                </a:solidFill>
                <a:latin typeface="微软雅黑" panose="020B0503020204020204" pitchFamily="34" charset="-122"/>
                <a:ea typeface="微软雅黑" panose="020B0503020204020204" pitchFamily="34" charset="-122"/>
              </a:rPr>
              <a:t>）</a:t>
            </a:r>
            <a:endParaRPr lang="zh-CN" altLang="en-US" sz="1400" b="1" dirty="0">
              <a:solidFill>
                <a:srgbClr val="00B0F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ü"/>
            </a:pPr>
            <a:r>
              <a:rPr lang="zh-CN" altLang="en-US" sz="2000" b="1" dirty="0">
                <a:latin typeface="微软雅黑" panose="020B0503020204020204" pitchFamily="34" charset="-122"/>
                <a:ea typeface="微软雅黑" panose="020B0503020204020204" pitchFamily="34" charset="-122"/>
                <a:sym typeface="+mn-ea"/>
              </a:rPr>
              <a:t>先行行为可否包括</a:t>
            </a:r>
            <a:r>
              <a:rPr lang="zh-CN" altLang="en-US" sz="2000" b="1" dirty="0" smtClean="0">
                <a:latin typeface="微软雅黑" panose="020B0503020204020204" pitchFamily="34" charset="-122"/>
                <a:ea typeface="微软雅黑" panose="020B0503020204020204" pitchFamily="34" charset="-122"/>
                <a:sym typeface="+mn-ea"/>
              </a:rPr>
              <a:t>犯罪行为？</a:t>
            </a:r>
            <a:r>
              <a:rPr lang="zh-CN" altLang="en-US" sz="1400" b="1" dirty="0" smtClean="0">
                <a:solidFill>
                  <a:srgbClr val="00B0F0"/>
                </a:solidFill>
                <a:latin typeface="微软雅黑" panose="020B0503020204020204" pitchFamily="34" charset="-122"/>
                <a:ea typeface="微软雅黑" panose="020B0503020204020204" pitchFamily="34" charset="-122"/>
              </a:rPr>
              <a:t>（</a:t>
            </a:r>
            <a:r>
              <a:rPr lang="en-US" altLang="zh-CN" sz="1400" b="1" dirty="0">
                <a:solidFill>
                  <a:srgbClr val="00B0F0"/>
                </a:solidFill>
                <a:latin typeface="微软雅黑" panose="020B0503020204020204" pitchFamily="34" charset="-122"/>
                <a:ea typeface="微软雅黑" panose="020B0503020204020204" pitchFamily="34" charset="-122"/>
              </a:rPr>
              <a:t>p128</a:t>
            </a:r>
            <a:r>
              <a:rPr lang="zh-CN" altLang="en-US" sz="1400" b="1" dirty="0">
                <a:solidFill>
                  <a:srgbClr val="00B0F0"/>
                </a:solidFill>
                <a:latin typeface="微软雅黑" panose="020B0503020204020204" pitchFamily="34" charset="-122"/>
                <a:ea typeface="微软雅黑" panose="020B0503020204020204" pitchFamily="34" charset="-122"/>
              </a:rPr>
              <a:t>）</a:t>
            </a:r>
          </a:p>
          <a:p>
            <a:pPr marL="342900" indent="-342900">
              <a:lnSpc>
                <a:spcPct val="150000"/>
              </a:lnSpc>
              <a:buFont typeface="Wingdings" panose="05000000000000000000" charset="0"/>
              <a:buChar char="ü"/>
            </a:pPr>
            <a:endParaRPr lang="zh-CN" altLang="en-US" sz="2000" b="1" dirty="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                                                </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385" y="764744"/>
            <a:ext cx="10752873" cy="5632311"/>
          </a:xfrm>
          <a:prstGeom prst="rect">
            <a:avLst/>
          </a:prstGeom>
        </p:spPr>
        <p:txBody>
          <a:bodyPr wrap="square">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    </a:t>
            </a:r>
            <a:r>
              <a:rPr lang="zh-CN" altLang="en-US" sz="2000" b="1" dirty="0" smtClean="0">
                <a:solidFill>
                  <a:srgbClr val="00B0F0"/>
                </a:solidFill>
                <a:latin typeface="微软雅黑" panose="020B0503020204020204" pitchFamily="34" charset="-122"/>
                <a:ea typeface="微软雅黑" panose="020B0503020204020204" pitchFamily="34" charset="-122"/>
              </a:rPr>
              <a:t>作为</a:t>
            </a:r>
            <a:r>
              <a:rPr lang="zh-CN" altLang="en-US" sz="2000" b="1" dirty="0">
                <a:solidFill>
                  <a:srgbClr val="00B0F0"/>
                </a:solidFill>
                <a:latin typeface="微软雅黑" panose="020B0503020204020204" pitchFamily="34" charset="-122"/>
                <a:ea typeface="微软雅黑" panose="020B0503020204020204" pitchFamily="34" charset="-122"/>
              </a:rPr>
              <a:t>义务的实质</a:t>
            </a:r>
            <a:r>
              <a:rPr lang="zh-CN" altLang="en-US" sz="2000" b="1" dirty="0" smtClean="0">
                <a:solidFill>
                  <a:srgbClr val="00B0F0"/>
                </a:solidFill>
                <a:latin typeface="微软雅黑" panose="020B0503020204020204" pitchFamily="34" charset="-122"/>
                <a:ea typeface="微软雅黑" panose="020B0503020204020204" pitchFamily="34" charset="-122"/>
              </a:rPr>
              <a:t>根据</a:t>
            </a:r>
            <a:endParaRPr lang="en-US" altLang="zh-CN" sz="2000" b="1" dirty="0" smtClean="0">
              <a:solidFill>
                <a:srgbClr val="00B0F0"/>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    由于</a:t>
            </a:r>
            <a:r>
              <a:rPr lang="zh-CN" altLang="en-US" sz="2000" dirty="0">
                <a:latin typeface="微软雅黑" panose="020B0503020204020204" pitchFamily="34" charset="-122"/>
                <a:ea typeface="微软雅黑" panose="020B0503020204020204" pitchFamily="34" charset="-122"/>
              </a:rPr>
              <a:t>某种原因出现危险</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处于阻止危险地位的行为人没有排除或控制住既存的危险</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危险增大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实害结果的发生</a:t>
            </a:r>
          </a:p>
          <a:p>
            <a:pPr>
              <a:lnSpc>
                <a:spcPct val="150000"/>
              </a:lnSpc>
            </a:pPr>
            <a:r>
              <a:rPr lang="zh-CN" altLang="en-US" sz="2000"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基于对危险源的支配产生的监督</a:t>
            </a:r>
            <a:r>
              <a:rPr lang="zh-CN" altLang="en-US" sz="2000" b="1" dirty="0" smtClean="0">
                <a:latin typeface="微软雅黑" panose="020B0503020204020204" pitchFamily="34" charset="-122"/>
                <a:ea typeface="微软雅黑" panose="020B0503020204020204" pitchFamily="34" charset="-122"/>
              </a:rPr>
              <a:t>义务</a:t>
            </a:r>
            <a:r>
              <a:rPr lang="zh-CN" altLang="en-US" sz="1400" b="1" dirty="0" smtClean="0">
                <a:solidFill>
                  <a:srgbClr val="00B0F0"/>
                </a:solidFill>
                <a:latin typeface="微软雅黑" panose="020B0503020204020204" pitchFamily="34" charset="-122"/>
                <a:ea typeface="微软雅黑" panose="020B0503020204020204" pitchFamily="34" charset="-122"/>
              </a:rPr>
              <a:t>（对结果发生原因的支配地位）</a:t>
            </a:r>
            <a:endParaRPr lang="zh-CN" altLang="en-US" sz="1400" b="1" dirty="0">
              <a:solidFill>
                <a:srgbClr val="00B0F0"/>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对危险物的管理义务</a:t>
            </a: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对他人危险行为的监督义务</a:t>
            </a: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C</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对自己先前行为造成紧迫危险的防止</a:t>
            </a:r>
            <a:r>
              <a:rPr lang="zh-CN" altLang="en-US" sz="2000" dirty="0" smtClean="0">
                <a:latin typeface="微软雅黑" panose="020B0503020204020204" pitchFamily="34" charset="-122"/>
                <a:ea typeface="微软雅黑" panose="020B0503020204020204" pitchFamily="34" charset="-122"/>
              </a:rPr>
              <a:t>义务</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②</a:t>
            </a:r>
            <a:r>
              <a:rPr lang="zh-CN" altLang="en-US" sz="2000" b="1" dirty="0">
                <a:latin typeface="微软雅黑" panose="020B0503020204020204" pitchFamily="34" charset="-122"/>
                <a:ea typeface="微软雅黑" panose="020B0503020204020204" pitchFamily="34" charset="-122"/>
              </a:rPr>
              <a:t>基于与法益的无助（脆弱）状态的特殊</a:t>
            </a:r>
            <a:r>
              <a:rPr lang="zh-CN" altLang="en-US" sz="2000" b="1" dirty="0" smtClean="0">
                <a:latin typeface="微软雅黑" panose="020B0503020204020204" pitchFamily="34" charset="-122"/>
                <a:ea typeface="微软雅黑" panose="020B0503020204020204" pitchFamily="34" charset="-122"/>
              </a:rPr>
              <a:t>关系产生</a:t>
            </a:r>
            <a:r>
              <a:rPr lang="zh-CN" altLang="en-US" sz="2000" b="1" dirty="0">
                <a:latin typeface="微软雅黑" panose="020B0503020204020204" pitchFamily="34" charset="-122"/>
                <a:ea typeface="微软雅黑" panose="020B0503020204020204" pitchFamily="34" charset="-122"/>
              </a:rPr>
              <a:t>的保护</a:t>
            </a:r>
            <a:r>
              <a:rPr lang="zh-CN" altLang="en-US" sz="2000" b="1" dirty="0" smtClean="0">
                <a:latin typeface="微软雅黑" panose="020B0503020204020204" pitchFamily="34" charset="-122"/>
                <a:ea typeface="微软雅黑" panose="020B0503020204020204" pitchFamily="34" charset="-122"/>
              </a:rPr>
              <a:t>义务</a:t>
            </a:r>
            <a:r>
              <a:rPr lang="zh-CN" altLang="en-US" sz="1400" b="1" dirty="0">
                <a:solidFill>
                  <a:srgbClr val="00B0F0"/>
                </a:solidFill>
                <a:latin typeface="微软雅黑" panose="020B0503020204020204" pitchFamily="34" charset="-122"/>
                <a:ea typeface="微软雅黑" panose="020B0503020204020204" pitchFamily="34" charset="-122"/>
              </a:rPr>
              <a:t>（对结果</a:t>
            </a:r>
            <a:r>
              <a:rPr lang="zh-CN" altLang="en-US" sz="1400" b="1" dirty="0" smtClean="0">
                <a:solidFill>
                  <a:srgbClr val="00B0F0"/>
                </a:solidFill>
                <a:latin typeface="微软雅黑" panose="020B0503020204020204" pitchFamily="34" charset="-122"/>
                <a:ea typeface="微软雅黑" panose="020B0503020204020204" pitchFamily="34" charset="-122"/>
              </a:rPr>
              <a:t>发生</a:t>
            </a:r>
            <a:r>
              <a:rPr lang="zh-CN" altLang="en-US" sz="1400" b="1" dirty="0">
                <a:solidFill>
                  <a:srgbClr val="00B0F0"/>
                </a:solidFill>
                <a:latin typeface="微软雅黑" panose="020B0503020204020204" pitchFamily="34" charset="-122"/>
                <a:ea typeface="微软雅黑" panose="020B0503020204020204" pitchFamily="34" charset="-122"/>
              </a:rPr>
              <a:t>进程</a:t>
            </a:r>
            <a:r>
              <a:rPr lang="zh-CN" altLang="en-US" sz="1400" b="1" dirty="0" smtClean="0">
                <a:solidFill>
                  <a:srgbClr val="00B0F0"/>
                </a:solidFill>
                <a:latin typeface="微软雅黑" panose="020B0503020204020204" pitchFamily="34" charset="-122"/>
                <a:ea typeface="微软雅黑" panose="020B0503020204020204" pitchFamily="34" charset="-122"/>
              </a:rPr>
              <a:t>的</a:t>
            </a:r>
            <a:r>
              <a:rPr lang="zh-CN" altLang="en-US" sz="1400" b="1" dirty="0">
                <a:solidFill>
                  <a:srgbClr val="00B0F0"/>
                </a:solidFill>
                <a:latin typeface="微软雅黑" panose="020B0503020204020204" pitchFamily="34" charset="-122"/>
                <a:ea typeface="微软雅黑" panose="020B0503020204020204" pitchFamily="34" charset="-122"/>
              </a:rPr>
              <a:t>支配地位</a:t>
            </a:r>
            <a:r>
              <a:rPr lang="zh-CN" altLang="en-US" sz="1400" b="1" dirty="0" smtClean="0">
                <a:solidFill>
                  <a:srgbClr val="00B0F0"/>
                </a:solidFill>
                <a:latin typeface="微软雅黑" panose="020B0503020204020204" pitchFamily="34" charset="-122"/>
                <a:ea typeface="微软雅黑" panose="020B0503020204020204" pitchFamily="34" charset="-122"/>
              </a:rPr>
              <a:t>）</a:t>
            </a:r>
            <a:endParaRPr lang="zh-CN" altLang="en-US" sz="1400" b="1" dirty="0">
              <a:solidFill>
                <a:srgbClr val="00B0F0"/>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基于法规范产生的保护义务</a:t>
            </a: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基于制度、体制产生的保护义务</a:t>
            </a:r>
          </a:p>
          <a:p>
            <a:pPr>
              <a:lnSpc>
                <a:spcPct val="150000"/>
              </a:lnSpc>
            </a:pPr>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C</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基于自愿承担而产生的保护</a:t>
            </a:r>
            <a:r>
              <a:rPr lang="zh-CN" altLang="en-US" sz="2000" dirty="0" smtClean="0">
                <a:latin typeface="微软雅黑" panose="020B0503020204020204" pitchFamily="34" charset="-122"/>
                <a:ea typeface="微软雅黑" panose="020B0503020204020204" pitchFamily="34" charset="-122"/>
              </a:rPr>
              <a:t>义务</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b="1" dirty="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③</a:t>
            </a:r>
            <a:r>
              <a:rPr lang="zh-CN" altLang="en-US" sz="2000" b="1" dirty="0">
                <a:latin typeface="微软雅黑" panose="020B0503020204020204" pitchFamily="34" charset="-122"/>
                <a:ea typeface="微软雅黑" panose="020B0503020204020204" pitchFamily="34" charset="-122"/>
              </a:rPr>
              <a:t>基于对法益的危险发生领域的支配产生的阻止义务</a:t>
            </a:r>
            <a:r>
              <a:rPr lang="zh-CN" altLang="en-US" sz="1400" b="1" dirty="0">
                <a:solidFill>
                  <a:srgbClr val="00B0F0"/>
                </a:solidFill>
                <a:latin typeface="微软雅黑" panose="020B0503020204020204" pitchFamily="34" charset="-122"/>
                <a:ea typeface="微软雅黑" panose="020B0503020204020204" pitchFamily="34" charset="-122"/>
              </a:rPr>
              <a:t>（对结果</a:t>
            </a:r>
            <a:r>
              <a:rPr lang="zh-CN" altLang="en-US" sz="1400" b="1" dirty="0" smtClean="0">
                <a:solidFill>
                  <a:srgbClr val="00B0F0"/>
                </a:solidFill>
                <a:latin typeface="微软雅黑" panose="020B0503020204020204" pitchFamily="34" charset="-122"/>
                <a:ea typeface="微软雅黑" panose="020B0503020204020204" pitchFamily="34" charset="-122"/>
              </a:rPr>
              <a:t>发生</a:t>
            </a:r>
            <a:r>
              <a:rPr lang="zh-CN" altLang="en-US" sz="1400" b="1" dirty="0">
                <a:solidFill>
                  <a:srgbClr val="00B0F0"/>
                </a:solidFill>
                <a:latin typeface="微软雅黑" panose="020B0503020204020204" pitchFamily="34" charset="-122"/>
                <a:ea typeface="微软雅黑" panose="020B0503020204020204" pitchFamily="34" charset="-122"/>
              </a:rPr>
              <a:t>领域</a:t>
            </a:r>
            <a:r>
              <a:rPr lang="zh-CN" altLang="en-US" sz="1400" b="1" dirty="0" smtClean="0">
                <a:solidFill>
                  <a:srgbClr val="00B0F0"/>
                </a:solidFill>
                <a:latin typeface="微软雅黑" panose="020B0503020204020204" pitchFamily="34" charset="-122"/>
                <a:ea typeface="微软雅黑" panose="020B0503020204020204" pitchFamily="34" charset="-122"/>
              </a:rPr>
              <a:t>的</a:t>
            </a:r>
            <a:r>
              <a:rPr lang="zh-CN" altLang="en-US" sz="1400" b="1" dirty="0">
                <a:solidFill>
                  <a:srgbClr val="00B0F0"/>
                </a:solidFill>
                <a:latin typeface="微软雅黑" panose="020B0503020204020204" pitchFamily="34" charset="-122"/>
                <a:ea typeface="微软雅黑" panose="020B0503020204020204" pitchFamily="34" charset="-122"/>
              </a:rPr>
              <a:t>支配地位</a:t>
            </a:r>
            <a:r>
              <a:rPr lang="zh-CN" altLang="en-US" sz="1400" b="1" dirty="0" smtClean="0">
                <a:solidFill>
                  <a:srgbClr val="00B0F0"/>
                </a:solidFill>
                <a:latin typeface="微软雅黑" panose="020B0503020204020204" pitchFamily="34" charset="-122"/>
                <a:ea typeface="微软雅黑" panose="020B0503020204020204" pitchFamily="34" charset="-122"/>
              </a:rPr>
              <a:t>）</a:t>
            </a:r>
            <a:endParaRPr lang="zh-CN" altLang="en-US" sz="1400" b="1"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2432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688465"/>
            <a:ext cx="7658735" cy="5170646"/>
          </a:xfrm>
          <a:prstGeom prst="rect">
            <a:avLst/>
          </a:prstGeom>
          <a:noFill/>
        </p:spPr>
        <p:txBody>
          <a:bodyPr wrap="square" rtlCol="0">
            <a:spAutoFit/>
          </a:bodyPr>
          <a:lstStyle/>
          <a:p>
            <a:pPr>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b="1" dirty="0">
                <a:solidFill>
                  <a:schemeClr val="tx1"/>
                </a:solidFill>
                <a:latin typeface="微软雅黑" panose="020B0503020204020204" pitchFamily="34" charset="-122"/>
                <a:ea typeface="微软雅黑" panose="020B0503020204020204" pitchFamily="34" charset="-122"/>
              </a:rPr>
              <a:t>条件二：</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行为人有能力履行该特定</a:t>
            </a:r>
            <a:r>
              <a:rPr lang="zh-CN" altLang="en-US" sz="2000" b="1" dirty="0" smtClean="0">
                <a:solidFill>
                  <a:schemeClr val="tx1"/>
                </a:solidFill>
                <a:latin typeface="微软雅黑" panose="020B0503020204020204" pitchFamily="34" charset="-122"/>
                <a:ea typeface="微软雅黑" panose="020B0503020204020204" pitchFamily="34" charset="-122"/>
              </a:rPr>
              <a:t>义务</a:t>
            </a:r>
            <a:r>
              <a:rPr lang="zh-CN" altLang="en-US" sz="1400" b="1" dirty="0" smtClean="0">
                <a:solidFill>
                  <a:srgbClr val="0288DD"/>
                </a:solidFill>
                <a:latin typeface="微软雅黑" panose="020B0503020204020204" pitchFamily="34" charset="-122"/>
                <a:ea typeface="微软雅黑" panose="020B0503020204020204" pitchFamily="34" charset="-122"/>
              </a:rPr>
              <a:t>（作为可能性）</a:t>
            </a:r>
            <a:endParaRPr lang="zh-CN" altLang="en-US" sz="1400" b="1" dirty="0">
              <a:solidFill>
                <a:srgbClr val="0288DD"/>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负有特定义务的人必须在能够履行特定义务的条件下不履行义务，才构成刑法上的不</a:t>
            </a:r>
            <a:r>
              <a:rPr lang="zh-CN" altLang="en-US" sz="2000" dirty="0" smtClean="0">
                <a:solidFill>
                  <a:schemeClr val="tx1"/>
                </a:solidFill>
                <a:latin typeface="微软雅黑" panose="020B0503020204020204" pitchFamily="34" charset="-122"/>
                <a:ea typeface="微软雅黑" panose="020B0503020204020204" pitchFamily="34" charset="-122"/>
              </a:rPr>
              <a:t>作为；行为人负有某种特定义务，但</a:t>
            </a:r>
            <a:r>
              <a:rPr lang="zh-CN" altLang="en-US" sz="2000" dirty="0">
                <a:solidFill>
                  <a:schemeClr val="tx1"/>
                </a:solidFill>
                <a:latin typeface="微软雅黑" panose="020B0503020204020204" pitchFamily="34" charset="-122"/>
                <a:ea typeface="微软雅黑" panose="020B0503020204020204" pitchFamily="34" charset="-122"/>
              </a:rPr>
              <a:t>不具备履行该义务的实际可能性的，则不构成犯罪的不作为。</a:t>
            </a:r>
          </a:p>
          <a:p>
            <a:pPr indent="0">
              <a:lnSpc>
                <a:spcPct val="150000"/>
              </a:lnSpc>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b="1" dirty="0">
                <a:latin typeface="微软雅黑" panose="020B0503020204020204" pitchFamily="34" charset="-122"/>
                <a:ea typeface="微软雅黑" panose="020B0503020204020204" pitchFamily="34" charset="-122"/>
                <a:sym typeface="+mn-ea"/>
              </a:rPr>
              <a:t>条件三：</a:t>
            </a:r>
            <a:r>
              <a:rPr sz="2000" b="1" dirty="0" err="1">
                <a:latin typeface="微软雅黑" panose="020B0503020204020204" pitchFamily="34" charset="-122"/>
                <a:ea typeface="微软雅黑" panose="020B0503020204020204" pitchFamily="34" charset="-122"/>
                <a:sym typeface="+mn-ea"/>
              </a:rPr>
              <a:t>行为人不履行该特定义务，</a:t>
            </a:r>
            <a:r>
              <a:rPr sz="2000" b="1" dirty="0" err="1" smtClean="0">
                <a:latin typeface="微软雅黑" panose="020B0503020204020204" pitchFamily="34" charset="-122"/>
                <a:ea typeface="微软雅黑" panose="020B0503020204020204" pitchFamily="34" charset="-122"/>
                <a:sym typeface="+mn-ea"/>
              </a:rPr>
              <a:t>造成或者可能造成危害结果</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（结果回避可能性）</a:t>
            </a:r>
            <a:endParaRPr sz="1400" b="1" dirty="0">
              <a:solidFill>
                <a:srgbClr val="0288DD"/>
              </a:solidFill>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sym typeface="+mn-ea"/>
              </a:rPr>
              <a:t>多数情况下行为人只有不履行特定义务的行为造成危害结果的，才构成犯罪，但有时候没有造成危害结果，也会构成犯罪，即不作为犯存在未遂、中止和预备形态。</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227721" y="3130226"/>
            <a:ext cx="3877985" cy="1779034"/>
            <a:chOff x="227721" y="3130226"/>
            <a:chExt cx="3877985" cy="177903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27721" y="313022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59885" y="2509520"/>
            <a:ext cx="7885430" cy="2862322"/>
          </a:xfrm>
          <a:prstGeom prst="rect">
            <a:avLst/>
          </a:prstGeom>
          <a:noFill/>
        </p:spPr>
        <p:txBody>
          <a:bodyPr wrap="square" rtlCol="0">
            <a:spAutoFit/>
          </a:bodyPr>
          <a:lstStyle/>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不作为犯的种类：</a:t>
            </a:r>
          </a:p>
          <a:p>
            <a:pPr indent="0">
              <a:lnSpc>
                <a:spcPct val="150000"/>
              </a:lnSpc>
              <a:buFont typeface="Wingdings" panose="05000000000000000000" charset="0"/>
              <a:buNone/>
            </a:pPr>
            <a:r>
              <a:rPr sz="2000" b="1" dirty="0" err="1" smtClean="0">
                <a:latin typeface="微软雅黑" panose="020B0503020204020204" pitchFamily="34" charset="-122"/>
                <a:ea typeface="微软雅黑" panose="020B0503020204020204" pitchFamily="34" charset="-122"/>
                <a:sym typeface="+mn-ea"/>
              </a:rPr>
              <a:t>纯正的</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（真正的）</a:t>
            </a:r>
            <a:r>
              <a:rPr sz="2000" b="1" dirty="0" err="1" smtClean="0">
                <a:latin typeface="微软雅黑" panose="020B0503020204020204" pitchFamily="34" charset="-122"/>
                <a:ea typeface="微软雅黑" panose="020B0503020204020204" pitchFamily="34" charset="-122"/>
                <a:sym typeface="+mn-ea"/>
              </a:rPr>
              <a:t>不作为犯</a:t>
            </a:r>
            <a:r>
              <a:rPr sz="2000" dirty="0" err="1">
                <a:latin typeface="微软雅黑" panose="020B0503020204020204" pitchFamily="34" charset="-122"/>
                <a:ea typeface="微软雅黑" panose="020B0503020204020204" pitchFamily="34" charset="-122"/>
                <a:sym typeface="+mn-ea"/>
              </a:rPr>
              <a:t>，指刑法规定只能由不作为构成的犯罪，如遗弃罪等</a:t>
            </a:r>
            <a:r>
              <a:rPr lang="zh-CN" sz="2000" dirty="0">
                <a:latin typeface="微软雅黑" panose="020B0503020204020204" pitchFamily="34" charset="-122"/>
                <a:ea typeface="微软雅黑" panose="020B0503020204020204" pitchFamily="34" charset="-122"/>
                <a:sym typeface="+mn-ea"/>
              </a:rPr>
              <a:t>。</a:t>
            </a:r>
            <a:endParaRPr sz="2000"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charset="0"/>
              <a:buNone/>
            </a:pPr>
            <a:r>
              <a:rPr sz="2000" b="1" dirty="0" err="1" smtClean="0">
                <a:latin typeface="微软雅黑" panose="020B0503020204020204" pitchFamily="34" charset="-122"/>
                <a:ea typeface="微软雅黑" panose="020B0503020204020204" pitchFamily="34" charset="-122"/>
                <a:sym typeface="+mn-ea"/>
              </a:rPr>
              <a:t>不纯正的</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（不真正的）</a:t>
            </a:r>
            <a:r>
              <a:rPr sz="2000" b="1" dirty="0" err="1" smtClean="0">
                <a:latin typeface="微软雅黑" panose="020B0503020204020204" pitchFamily="34" charset="-122"/>
                <a:ea typeface="微软雅黑" panose="020B0503020204020204" pitchFamily="34" charset="-122"/>
                <a:sym typeface="+mn-ea"/>
              </a:rPr>
              <a:t>不作为犯</a:t>
            </a:r>
            <a:r>
              <a:rPr sz="2000" dirty="0" err="1">
                <a:latin typeface="微软雅黑" panose="020B0503020204020204" pitchFamily="34" charset="-122"/>
                <a:ea typeface="微软雅黑" panose="020B0503020204020204" pitchFamily="34" charset="-122"/>
                <a:sym typeface="+mn-ea"/>
              </a:rPr>
              <a:t>，指以不作为的方式实施通常应以作为方式实施的犯罪，如母亲不给婴儿喂奶导致其死亡，医生不救治病人致使病人死亡等</a:t>
            </a:r>
            <a:r>
              <a:rPr lang="zh-CN" sz="2000"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60494" y="385234"/>
            <a:ext cx="11071013" cy="605422"/>
          </a:xfrm>
          <a:prstGeom prst="rect">
            <a:avLst/>
          </a:prstGeom>
          <a:noFill/>
        </p:spPr>
        <p:txBody>
          <a:bodyPr wrap="square" rtlCol="0">
            <a:spAutoFit/>
          </a:bodyPr>
          <a:lstStyle/>
          <a:p>
            <a:pPr algn="ctr">
              <a:lnSpc>
                <a:spcPts val="4667"/>
              </a:lnSpc>
            </a:pPr>
            <a:r>
              <a:rPr lang="zh-CN" altLang="en-US" sz="20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不纯正（不真正）不</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作为犯的成立条件</a:t>
            </a:r>
            <a:endParaRPr lang="zh-CN" altLang="en-US" sz="2000" b="1" dirty="0">
              <a:latin typeface="微软雅黑" panose="020B0503020204020204" pitchFamily="34" charset="-122"/>
              <a:ea typeface="微软雅黑" panose="020B0503020204020204" pitchFamily="34" charset="-122"/>
            </a:endParaRPr>
          </a:p>
        </p:txBody>
      </p:sp>
      <p:sp>
        <p:nvSpPr>
          <p:cNvPr id="3" name="TextBox 12"/>
          <p:cNvSpPr txBox="1"/>
          <p:nvPr/>
        </p:nvSpPr>
        <p:spPr>
          <a:xfrm>
            <a:off x="560493" y="1220755"/>
            <a:ext cx="5151464" cy="4914166"/>
          </a:xfrm>
          <a:prstGeom prst="rect">
            <a:avLst/>
          </a:prstGeom>
          <a:noFill/>
        </p:spPr>
        <p:txBody>
          <a:bodyPr wrap="square" rtlCol="0">
            <a:spAutoFit/>
          </a:bodyPr>
          <a:lstStyle/>
          <a:p>
            <a:pPr algn="ctr">
              <a:lnSpc>
                <a:spcPts val="4667"/>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mn-ea"/>
              </a:rPr>
              <a:t>不法要素</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不作为</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作为义务</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latin typeface="微软雅黑" panose="020B0503020204020204" pitchFamily="34" charset="-122"/>
                <a:ea typeface="微软雅黑" panose="020B0503020204020204" pitchFamily="34" charset="-122"/>
              </a:rPr>
              <a:t>作为可能性</a:t>
            </a:r>
            <a:endParaRPr lang="en-US" altLang="zh-CN" sz="2000" b="1" dirty="0">
              <a:latin typeface="微软雅黑" panose="020B0503020204020204" pitchFamily="34" charset="-122"/>
              <a:ea typeface="微软雅黑" panose="020B0503020204020204" pitchFamily="34" charset="-122"/>
            </a:endParaRPr>
          </a:p>
          <a:p>
            <a:pPr algn="ctr">
              <a:lnSpc>
                <a:spcPts val="4667"/>
              </a:lnSpc>
            </a:pPr>
            <a:r>
              <a:rPr lang="zh-CN" altLang="en-US" sz="2000" b="1" dirty="0">
                <a:latin typeface="微软雅黑" panose="020B0503020204020204" pitchFamily="34" charset="-122"/>
                <a:ea typeface="微软雅黑" panose="020B0503020204020204" pitchFamily="34" charset="-122"/>
              </a:rPr>
              <a:t>结果回避可能性</a:t>
            </a:r>
            <a:endParaRPr lang="en-US" altLang="zh-CN" sz="2000" b="1" dirty="0">
              <a:latin typeface="微软雅黑" panose="020B0503020204020204" pitchFamily="34" charset="-122"/>
              <a:ea typeface="微软雅黑" panose="020B0503020204020204" pitchFamily="34" charset="-122"/>
            </a:endParaRPr>
          </a:p>
          <a:p>
            <a:pPr algn="ctr">
              <a:lnSpc>
                <a:spcPts val="4667"/>
              </a:lnSpc>
            </a:pPr>
            <a:r>
              <a:rPr lang="zh-CN" altLang="en-US" sz="2000" b="1" dirty="0">
                <a:latin typeface="微软雅黑" panose="020B0503020204020204" pitchFamily="34" charset="-122"/>
                <a:ea typeface="微软雅黑" panose="020B0503020204020204" pitchFamily="34" charset="-122"/>
              </a:rPr>
              <a:t>保证人</a:t>
            </a:r>
            <a:endParaRPr lang="en-US" altLang="zh-CN" sz="2000" b="1" dirty="0">
              <a:latin typeface="微软雅黑" panose="020B0503020204020204" pitchFamily="34" charset="-122"/>
              <a:ea typeface="微软雅黑" panose="020B0503020204020204" pitchFamily="34" charset="-122"/>
            </a:endParaRPr>
          </a:p>
          <a:p>
            <a:pPr algn="r">
              <a:lnSpc>
                <a:spcPts val="4667"/>
              </a:lnSpc>
            </a:pPr>
            <a:r>
              <a:rPr lang="zh-CN" altLang="zh-CN" sz="3200" b="1" dirty="0">
                <a:solidFill>
                  <a:prstClr val="black"/>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cs typeface="Times New Roman" panose="02020603050405020304" pitchFamily="18" charset="0"/>
                <a:sym typeface="+mn-ea"/>
              </a:rPr>
              <a:t>↘</a:t>
            </a:r>
            <a:endParaRPr lang="zh-CN" altLang="en-US" sz="32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4" name="TextBox 12"/>
          <p:cNvSpPr txBox="1"/>
          <p:nvPr/>
        </p:nvSpPr>
        <p:spPr>
          <a:xfrm>
            <a:off x="6454392" y="1220755"/>
            <a:ext cx="5151464" cy="4914166"/>
          </a:xfrm>
          <a:prstGeom prst="rect">
            <a:avLst/>
          </a:prstGeom>
          <a:noFill/>
        </p:spPr>
        <p:txBody>
          <a:bodyPr wrap="square" rtlCol="0">
            <a:spAutoFit/>
          </a:bodyPr>
          <a:lstStyle/>
          <a:p>
            <a:pPr algn="ctr">
              <a:lnSpc>
                <a:spcPts val="4667"/>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mn-ea"/>
              </a:rPr>
              <a:t>责任要素</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故意或过失</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违法性认识或认识可能性</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ctr">
              <a:lnSpc>
                <a:spcPts val="4667"/>
              </a:lnSpc>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rPr>
              <a:t>期待可能性</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algn="just">
              <a:lnSpc>
                <a:spcPts val="4667"/>
              </a:lnSpc>
            </a:pPr>
            <a:r>
              <a:rPr lang="zh-CN" altLang="en-US" sz="3200" b="1" dirty="0">
                <a:solidFill>
                  <a:prstClr val="black"/>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sym typeface="+mn-ea"/>
              </a:rPr>
              <a:t>↙</a:t>
            </a:r>
            <a:endParaRPr lang="zh-CN" altLang="en-US" sz="3200" b="1"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5" name="TextBox 12"/>
          <p:cNvSpPr txBox="1"/>
          <p:nvPr/>
        </p:nvSpPr>
        <p:spPr>
          <a:xfrm>
            <a:off x="873579" y="6005220"/>
            <a:ext cx="10491107" cy="830997"/>
          </a:xfrm>
          <a:prstGeom prst="rect">
            <a:avLst/>
          </a:prstGeom>
          <a:noFill/>
        </p:spPr>
        <p:txBody>
          <a:bodyPr wrap="square" rtlCol="0">
            <a:spAutoFit/>
          </a:bodyPr>
          <a:lstStyle/>
          <a:p>
            <a:pPr algn="ctr"/>
            <a:r>
              <a:rPr lang="zh-CN" altLang="en-US" sz="2000" b="1" dirty="0" smtClean="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等价性</a:t>
            </a:r>
            <a:endParaRPr lang="en-US" altLang="zh-CN" sz="2000" b="1" dirty="0" smtClean="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r>
              <a:rPr lang="zh-CN" altLang="en-US" sz="1400" b="1" dirty="0" smtClean="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    （ </a:t>
            </a:r>
            <a:r>
              <a:rPr lang="zh-CN" altLang="en-US" sz="1400" b="1" dirty="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等价性并不是</a:t>
            </a:r>
            <a:r>
              <a:rPr lang="zh-CN" altLang="en-US" sz="1400" b="1" dirty="0" smtClean="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具体的成立条件，</a:t>
            </a:r>
            <a:r>
              <a:rPr lang="zh-CN" altLang="en-US" sz="1400" b="1" dirty="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而是不真正不作为犯构成要件的解释</a:t>
            </a:r>
            <a:r>
              <a:rPr lang="zh-CN" altLang="en-US" sz="1400" b="1" dirty="0" smtClean="0">
                <a:solidFill>
                  <a:srgbClr val="0288DD"/>
                </a:solidFill>
                <a:latin typeface="微软雅黑" panose="020B0503020204020204" pitchFamily="34" charset="-122"/>
                <a:ea typeface="微软雅黑" panose="020B0503020204020204" pitchFamily="34" charset="-122"/>
                <a:cs typeface="Times New Roman" panose="02020603050405020304" pitchFamily="18" charset="0"/>
                <a:sym typeface="+mn-ea"/>
              </a:rPr>
              <a:t>原理，需要根据法益处于危险状态的原因、法益对行为人的依赖程度、行为人履行义务的难易程度等因素进行综合判断）</a:t>
            </a:r>
            <a:endParaRPr lang="zh-CN" altLang="en-US" sz="1400" b="1" dirty="0">
              <a:solidFill>
                <a:srgbClr val="0288D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58306657"/>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right)">
                                      <p:cBhvr>
                                        <p:cTn id="8" dur="500"/>
                                        <p:tgtEl>
                                          <p:spTgt spid="1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ppt_x</p:attrName>
                                        </p:attrNameLst>
                                      </p:cBhvr>
                                      <p:tavLst>
                                        <p:tav tm="0">
                                          <p:val>
                                            <p:strVal val="#ppt_x-#ppt_w*1.125000"/>
                                          </p:val>
                                        </p:tav>
                                        <p:tav tm="100000">
                                          <p:val>
                                            <p:strVal val="#ppt_x"/>
                                          </p:val>
                                        </p:tav>
                                      </p:tavLst>
                                    </p:anim>
                                    <p:animEffect transition="in" filter="wipe(right)">
                                      <p:cBhvr>
                                        <p:cTn id="13" dur="500"/>
                                        <p:tgtEl>
                                          <p:spTgt spid="3"/>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ppt_x</p:attrName>
                                        </p:attrNameLst>
                                      </p:cBhvr>
                                      <p:tavLst>
                                        <p:tav tm="0">
                                          <p:val>
                                            <p:strVal val="#ppt_x-#ppt_w*1.125000"/>
                                          </p:val>
                                        </p:tav>
                                        <p:tav tm="100000">
                                          <p:val>
                                            <p:strVal val="#ppt_x"/>
                                          </p:val>
                                        </p:tav>
                                      </p:tavLst>
                                    </p:anim>
                                    <p:animEffect transition="in" filter="wipe(right)">
                                      <p:cBhvr>
                                        <p:cTn id="18" dur="500"/>
                                        <p:tgtEl>
                                          <p:spTgt spid="4"/>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p:tgtEl>
                                          <p:spTgt spid="5"/>
                                        </p:tgtEl>
                                        <p:attrNameLst>
                                          <p:attrName>ppt_x</p:attrName>
                                        </p:attrNameLst>
                                      </p:cBhvr>
                                      <p:tavLst>
                                        <p:tav tm="0">
                                          <p:val>
                                            <p:strVal val="#ppt_x-#ppt_w*1.125000"/>
                                          </p:val>
                                        </p:tav>
                                        <p:tav tm="100000">
                                          <p:val>
                                            <p:strVal val="#ppt_x"/>
                                          </p:val>
                                        </p:tav>
                                      </p:tavLst>
                                    </p:anim>
                                    <p:animEffect transition="in" filter="wipe(right)">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688465"/>
            <a:ext cx="7658735" cy="4247317"/>
          </a:xfrm>
          <a:prstGeom prst="rect">
            <a:avLst/>
          </a:prstGeom>
          <a:noFill/>
        </p:spPr>
        <p:txBody>
          <a:bodyPr wrap="square" rtlCol="0">
            <a:spAutoFit/>
          </a:bodyPr>
          <a:lstStyle/>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在理解不作为时，还应该注意以下几个问题：</a:t>
            </a:r>
          </a:p>
          <a:p>
            <a:pPr indent="0">
              <a:lnSpc>
                <a:spcPct val="150000"/>
              </a:lnSpc>
              <a:buFont typeface="Wingdings" panose="05000000000000000000" charset="0"/>
              <a:buNone/>
            </a:pPr>
            <a:r>
              <a:rPr lang="zh-CN" altLang="en-US" sz="2000" b="1" dirty="0">
                <a:solidFill>
                  <a:schemeClr val="tx1"/>
                </a:solidFill>
                <a:latin typeface="微软雅黑" panose="020B0503020204020204" pitchFamily="34" charset="-122"/>
                <a:ea typeface="微软雅黑" panose="020B0503020204020204" pitchFamily="34" charset="-122"/>
              </a:rPr>
              <a:t>第一，</a:t>
            </a:r>
            <a:r>
              <a:rPr lang="zh-CN" altLang="en-US" sz="2000" dirty="0">
                <a:solidFill>
                  <a:schemeClr val="tx1"/>
                </a:solidFill>
                <a:latin typeface="微软雅黑" panose="020B0503020204020204" pitchFamily="34" charset="-122"/>
                <a:ea typeface="微软雅黑" panose="020B0503020204020204" pitchFamily="34" charset="-122"/>
              </a:rPr>
              <a:t>不能把客观行为方面的作为、不作为的分类和主观罪过方面的故意、过失的分类混淆起来；</a:t>
            </a:r>
          </a:p>
          <a:p>
            <a:pPr indent="0">
              <a:lnSpc>
                <a:spcPct val="150000"/>
              </a:lnSpc>
              <a:buFont typeface="Wingdings" panose="05000000000000000000" charset="0"/>
              <a:buNone/>
            </a:pPr>
            <a:r>
              <a:rPr lang="zh-CN" altLang="en-US" sz="2000" b="1" dirty="0">
                <a:solidFill>
                  <a:schemeClr val="tx1"/>
                </a:solidFill>
                <a:latin typeface="微软雅黑" panose="020B0503020204020204" pitchFamily="34" charset="-122"/>
                <a:ea typeface="微软雅黑" panose="020B0503020204020204" pitchFamily="34" charset="-122"/>
              </a:rPr>
              <a:t>第二，</a:t>
            </a:r>
            <a:r>
              <a:rPr lang="zh-CN" altLang="en-US" sz="2000" dirty="0">
                <a:solidFill>
                  <a:schemeClr val="tx1"/>
                </a:solidFill>
                <a:latin typeface="微软雅黑" panose="020B0503020204020204" pitchFamily="34" charset="-122"/>
                <a:ea typeface="微软雅黑" panose="020B0503020204020204" pitchFamily="34" charset="-122"/>
              </a:rPr>
              <a:t>以不作为方式实施的犯罪的社会危害性未必小于以作为方式实施的</a:t>
            </a:r>
            <a:r>
              <a:rPr lang="zh-CN" altLang="en-US" sz="2000" dirty="0">
                <a:latin typeface="微软雅黑" panose="020B0503020204020204" pitchFamily="34" charset="-122"/>
                <a:ea typeface="微软雅黑" panose="020B0503020204020204" pitchFamily="34" charset="-122"/>
              </a:rPr>
              <a:t>犯罪</a:t>
            </a:r>
            <a:r>
              <a:rPr lang="zh-CN" altLang="en-US" sz="1400" b="1" dirty="0">
                <a:solidFill>
                  <a:srgbClr val="0288DD"/>
                </a:solidFill>
                <a:latin typeface="微软雅黑" panose="020B0503020204020204" pitchFamily="34" charset="-122"/>
                <a:ea typeface="微软雅黑" panose="020B0503020204020204" pitchFamily="34" charset="-122"/>
              </a:rPr>
              <a:t>（处罚不真正不作为犯的根底是法益保护的思想，但人权保障的思想要求限制其处罚范围）</a:t>
            </a:r>
            <a:r>
              <a:rPr lang="zh-CN" altLang="en-US" sz="2000" dirty="0">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b="1" dirty="0">
                <a:solidFill>
                  <a:schemeClr val="tx1"/>
                </a:solidFill>
                <a:latin typeface="微软雅黑" panose="020B0503020204020204" pitchFamily="34" charset="-122"/>
                <a:ea typeface="微软雅黑" panose="020B0503020204020204" pitchFamily="34" charset="-122"/>
              </a:rPr>
              <a:t>第三，</a:t>
            </a:r>
            <a:r>
              <a:rPr lang="zh-CN" altLang="en-US" sz="2000" dirty="0">
                <a:solidFill>
                  <a:schemeClr val="tx1"/>
                </a:solidFill>
                <a:latin typeface="微软雅黑" panose="020B0503020204020204" pitchFamily="34" charset="-122"/>
                <a:ea typeface="微软雅黑" panose="020B0503020204020204" pitchFamily="34" charset="-122"/>
              </a:rPr>
              <a:t>不能认为只有在发生了物质性危害结果的情况下，不作为行为才构成</a:t>
            </a:r>
            <a:r>
              <a:rPr lang="zh-CN" altLang="en-US" sz="2000" dirty="0">
                <a:latin typeface="微软雅黑" panose="020B0503020204020204" pitchFamily="34" charset="-122"/>
                <a:ea typeface="微软雅黑" panose="020B0503020204020204" pitchFamily="34" charset="-122"/>
              </a:rPr>
              <a:t>犯罪</a:t>
            </a:r>
            <a:r>
              <a:rPr lang="zh-CN" altLang="en-US" sz="1400" b="1" dirty="0">
                <a:solidFill>
                  <a:srgbClr val="0288DD"/>
                </a:solidFill>
                <a:latin typeface="微软雅黑" panose="020B0503020204020204" pitchFamily="34" charset="-122"/>
                <a:ea typeface="微软雅黑" panose="020B0503020204020204" pitchFamily="34" charset="-122"/>
              </a:rPr>
              <a:t>（不作为犯可以是行为犯或结果犯，</a:t>
            </a:r>
            <a:r>
              <a:rPr lang="zh-CN" altLang="en-US" sz="1400" b="1" dirty="0" smtClean="0">
                <a:solidFill>
                  <a:srgbClr val="0288DD"/>
                </a:solidFill>
                <a:latin typeface="微软雅黑" panose="020B0503020204020204" pitchFamily="34" charset="-122"/>
                <a:ea typeface="微软雅黑" panose="020B0503020204020204" pitchFamily="34" charset="-122"/>
              </a:rPr>
              <a:t>即只要行为人能够排他性</a:t>
            </a:r>
            <a:r>
              <a:rPr lang="zh-CN" altLang="en-US" sz="1400" b="1" dirty="0">
                <a:solidFill>
                  <a:srgbClr val="0288DD"/>
                </a:solidFill>
                <a:latin typeface="微软雅黑" panose="020B0503020204020204" pitchFamily="34" charset="-122"/>
                <a:ea typeface="微软雅黑" panose="020B0503020204020204" pitchFamily="34" charset="-122"/>
              </a:rPr>
              <a:t>地支配或</a:t>
            </a:r>
            <a:r>
              <a:rPr lang="zh-CN" altLang="en-US" sz="1400" b="1" dirty="0" smtClean="0">
                <a:solidFill>
                  <a:srgbClr val="0288DD"/>
                </a:solidFill>
                <a:latin typeface="微软雅黑" panose="020B0503020204020204" pitchFamily="34" charset="-122"/>
                <a:ea typeface="微软雅黑" panose="020B0503020204020204" pitchFamily="34" charset="-122"/>
              </a:rPr>
              <a:t>控制危害结果，</a:t>
            </a:r>
            <a:r>
              <a:rPr lang="zh-CN" altLang="en-US" sz="1400" b="1" dirty="0">
                <a:solidFill>
                  <a:srgbClr val="0288DD"/>
                </a:solidFill>
                <a:latin typeface="微软雅黑" panose="020B0503020204020204" pitchFamily="34" charset="-122"/>
                <a:ea typeface="微软雅黑" panose="020B0503020204020204" pitchFamily="34" charset="-122"/>
              </a:rPr>
              <a:t>就获得了控制因果关系发展流向的地位）</a:t>
            </a:r>
            <a:r>
              <a:rPr lang="zh-CN" altLang="en-US" sz="2000" dirty="0">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179955"/>
            <a:ext cx="7658735" cy="4247317"/>
          </a:xfrm>
          <a:prstGeom prst="rect">
            <a:avLst/>
          </a:prstGeom>
          <a:noFill/>
        </p:spPr>
        <p:txBody>
          <a:bodyPr wrap="square" rtlCol="0">
            <a:spAutoFit/>
          </a:bodyPr>
          <a:lstStyle/>
          <a:p>
            <a:pPr indent="0">
              <a:lnSpc>
                <a:spcPct val="150000"/>
              </a:lnSpc>
              <a:buFont typeface="Arial" panose="020B0604020202020204" pitchFamily="34" charset="0"/>
              <a:buNone/>
            </a:pPr>
            <a:r>
              <a:rPr lang="en-US" altLang="zh-CN" sz="2000" b="1" dirty="0">
                <a:solidFill>
                  <a:schemeClr val="tx1"/>
                </a:solidFill>
                <a:latin typeface="微软雅黑" panose="020B0503020204020204" pitchFamily="34" charset="-122"/>
                <a:ea typeface="微软雅黑" panose="020B0503020204020204" pitchFamily="34" charset="-122"/>
              </a:rPr>
              <a:t>3. </a:t>
            </a:r>
            <a:r>
              <a:rPr lang="zh-CN" altLang="en-US" sz="2000" b="1" dirty="0">
                <a:solidFill>
                  <a:schemeClr val="tx1"/>
                </a:solidFill>
                <a:latin typeface="微软雅黑" panose="020B0503020204020204" pitchFamily="34" charset="-122"/>
                <a:ea typeface="微软雅黑" panose="020B0503020204020204" pitchFamily="34" charset="-122"/>
              </a:rPr>
              <a:t>持有</a:t>
            </a: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sz="2000" dirty="0" err="1">
                <a:solidFill>
                  <a:schemeClr val="tx1"/>
                </a:solidFill>
                <a:latin typeface="微软雅黑" panose="020B0503020204020204" pitchFamily="34" charset="-122"/>
                <a:ea typeface="微软雅黑" panose="020B0503020204020204" pitchFamily="34" charset="-122"/>
              </a:rPr>
              <a:t>刑法理论认为，持有是对物品的控制状态，通常起始于作为，如取得、接受等，之后以不作为维持其存在状态，</a:t>
            </a:r>
            <a:r>
              <a:rPr sz="2000" dirty="0" err="1" smtClean="0">
                <a:solidFill>
                  <a:schemeClr val="tx1"/>
                </a:solidFill>
                <a:latin typeface="微软雅黑" panose="020B0503020204020204" pitchFamily="34" charset="-122"/>
                <a:ea typeface="微软雅黑" panose="020B0503020204020204" pitchFamily="34" charset="-122"/>
              </a:rPr>
              <a:t>具有作为与不作为交融的特点</a:t>
            </a:r>
            <a:r>
              <a:rPr lang="zh-CN" altLang="en-US" sz="1400" b="1" dirty="0" smtClean="0">
                <a:solidFill>
                  <a:srgbClr val="00B0F0"/>
                </a:solidFill>
                <a:latin typeface="微软雅黑" panose="020B0503020204020204" pitchFamily="34" charset="-122"/>
                <a:ea typeface="微软雅黑" panose="020B0503020204020204" pitchFamily="34" charset="-122"/>
              </a:rPr>
              <a:t>（作为</a:t>
            </a:r>
            <a:r>
              <a:rPr lang="en-US" altLang="zh-CN" sz="1400" b="1" dirty="0" smtClean="0">
                <a:solidFill>
                  <a:srgbClr val="00B0F0"/>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不作为）</a:t>
            </a:r>
            <a:r>
              <a:rPr sz="2000" dirty="0" smtClean="0">
                <a:solidFill>
                  <a:schemeClr val="tx1"/>
                </a:solidFill>
                <a:latin typeface="微软雅黑" panose="020B0503020204020204" pitchFamily="34" charset="-122"/>
                <a:ea typeface="微软雅黑" panose="020B0503020204020204" pitchFamily="34" charset="-122"/>
              </a:rPr>
              <a:t>。</a:t>
            </a: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sz="2000" dirty="0" err="1" smtClean="0">
                <a:solidFill>
                  <a:schemeClr val="tx1"/>
                </a:solidFill>
                <a:latin typeface="微软雅黑" panose="020B0503020204020204" pitchFamily="34" charset="-122"/>
                <a:ea typeface="微软雅黑" panose="020B0503020204020204" pitchFamily="34" charset="-122"/>
              </a:rPr>
              <a:t>持有的犯罪性体现于主体对非法财物</a:t>
            </a:r>
            <a:r>
              <a:rPr sz="2000" dirty="0" err="1">
                <a:solidFill>
                  <a:schemeClr val="tx1"/>
                </a:solidFill>
                <a:latin typeface="微软雅黑" panose="020B0503020204020204" pitchFamily="34" charset="-122"/>
                <a:ea typeface="微软雅黑" panose="020B0503020204020204" pitchFamily="34" charset="-122"/>
              </a:rPr>
              <a:t>（如毒品、凶器、不义之财、色情物品、犯罪工具等）</a:t>
            </a:r>
            <a:r>
              <a:rPr sz="2000" dirty="0" err="1" smtClean="0">
                <a:solidFill>
                  <a:schemeClr val="tx1"/>
                </a:solidFill>
                <a:latin typeface="微软雅黑" panose="020B0503020204020204" pitchFamily="34" charset="-122"/>
                <a:ea typeface="微软雅黑" panose="020B0503020204020204" pitchFamily="34" charset="-122"/>
              </a:rPr>
              <a:t>的支配状态</a:t>
            </a:r>
            <a:r>
              <a:rPr lang="zh-CN" altLang="en-US" sz="1400" b="1" dirty="0" smtClean="0">
                <a:solidFill>
                  <a:srgbClr val="00B0F0"/>
                </a:solidFill>
                <a:latin typeface="微软雅黑" panose="020B0503020204020204" pitchFamily="34" charset="-122"/>
                <a:ea typeface="微软雅黑" panose="020B0503020204020204" pitchFamily="34" charset="-122"/>
              </a:rPr>
              <a:t>（非法持有枪支罪是违反了禁止规范，还是命令规范）</a:t>
            </a:r>
            <a:r>
              <a:rPr lang="zh-CN" sz="2000" dirty="0" smtClean="0">
                <a:solidFill>
                  <a:schemeClr val="tx1"/>
                </a:solidFill>
                <a:latin typeface="微软雅黑" panose="020B0503020204020204" pitchFamily="34" charset="-122"/>
                <a:ea typeface="微软雅黑" panose="020B0503020204020204" pitchFamily="34" charset="-122"/>
              </a:rPr>
              <a:t>。</a:t>
            </a: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82991" y="3095936"/>
            <a:ext cx="3877985" cy="1813324"/>
            <a:chOff x="482991" y="3095936"/>
            <a:chExt cx="387798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82991" y="3095936"/>
              <a:ext cx="3877985" cy="60016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）作为、不作为和持有</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066045" y="94776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065905" y="1987550"/>
            <a:ext cx="7658735" cy="2862322"/>
          </a:xfrm>
          <a:prstGeom prst="rect">
            <a:avLst/>
          </a:prstGeom>
          <a:noFill/>
        </p:spPr>
        <p:txBody>
          <a:bodyPr wrap="square" rtlCol="0">
            <a:spAutoFit/>
          </a:bodyPr>
          <a:lstStyle/>
          <a:p>
            <a:pPr marL="342900" indent="-342900">
              <a:lnSpc>
                <a:spcPct val="150000"/>
              </a:lnSpc>
              <a:buFont typeface="Wingdings" panose="05000000000000000000" charset="0"/>
              <a:buChar char=""/>
            </a:pPr>
            <a:r>
              <a:rPr sz="2000" dirty="0">
                <a:solidFill>
                  <a:schemeClr val="tx1"/>
                </a:solidFill>
                <a:latin typeface="微软雅黑" panose="020B0503020204020204" pitchFamily="34" charset="-122"/>
                <a:ea typeface="微软雅黑" panose="020B0503020204020204" pitchFamily="34" charset="-122"/>
              </a:rPr>
              <a:t>在理解持有时应注意以下几点：</a:t>
            </a: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（1）持有是一种</a:t>
            </a:r>
            <a:r>
              <a:rPr lang="zh-CN" sz="2000" dirty="0" smtClean="0">
                <a:solidFill>
                  <a:schemeClr val="tx1"/>
                </a:solidFill>
                <a:latin typeface="微软雅黑" panose="020B0503020204020204" pitchFamily="34" charset="-122"/>
                <a:ea typeface="微软雅黑" panose="020B0503020204020204" pitchFamily="34" charset="-122"/>
              </a:rPr>
              <a:t>状态</a:t>
            </a:r>
            <a:r>
              <a:rPr lang="zh-CN" altLang="en-US" sz="1400" b="1" dirty="0" smtClean="0">
                <a:solidFill>
                  <a:srgbClr val="00B0F0"/>
                </a:solidFill>
                <a:latin typeface="微软雅黑" panose="020B0503020204020204" pitchFamily="34" charset="-122"/>
                <a:ea typeface="微软雅黑" panose="020B0503020204020204" pitchFamily="34" charset="-122"/>
              </a:rPr>
              <a:t>（只需存在事实上的支配关系）</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（2）持有不是</a:t>
            </a:r>
            <a:r>
              <a:rPr lang="zh-CN" sz="2000" dirty="0" smtClean="0">
                <a:solidFill>
                  <a:schemeClr val="tx1"/>
                </a:solidFill>
                <a:latin typeface="微软雅黑" panose="020B0503020204020204" pitchFamily="34" charset="-122"/>
                <a:ea typeface="微软雅黑" panose="020B0503020204020204" pitchFamily="34" charset="-122"/>
              </a:rPr>
              <a:t>握有</a:t>
            </a:r>
            <a:r>
              <a:rPr lang="zh-CN" altLang="en-US" sz="1400" b="1" dirty="0">
                <a:solidFill>
                  <a:srgbClr val="00B0F0"/>
                </a:solidFill>
                <a:latin typeface="微软雅黑" panose="020B0503020204020204" pitchFamily="34" charset="-122"/>
                <a:ea typeface="微软雅黑" panose="020B0503020204020204" pitchFamily="34" charset="-122"/>
              </a:rPr>
              <a:t>（只要行为人认识到它的存在，能够对之进行管理）</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（3）持有并不要求行为人对特定物品拥有</a:t>
            </a:r>
            <a:r>
              <a:rPr lang="zh-CN" sz="2000" dirty="0" smtClean="0">
                <a:solidFill>
                  <a:schemeClr val="tx1"/>
                </a:solidFill>
                <a:latin typeface="微软雅黑" panose="020B0503020204020204" pitchFamily="34" charset="-122"/>
                <a:ea typeface="微软雅黑" panose="020B0503020204020204" pitchFamily="34" charset="-122"/>
              </a:rPr>
              <a:t>所有权</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（4）持有并不要求直接</a:t>
            </a:r>
            <a:r>
              <a:rPr lang="zh-CN" sz="2000" dirty="0" smtClean="0">
                <a:solidFill>
                  <a:schemeClr val="tx1"/>
                </a:solidFill>
                <a:latin typeface="微软雅黑" panose="020B0503020204020204" pitchFamily="34" charset="-122"/>
                <a:ea typeface="微软雅黑" panose="020B0503020204020204" pitchFamily="34" charset="-122"/>
              </a:rPr>
              <a:t>持有</a:t>
            </a:r>
            <a:r>
              <a:rPr lang="zh-CN" altLang="en-US" sz="1400" b="1" dirty="0">
                <a:solidFill>
                  <a:srgbClr val="00B0F0"/>
                </a:solidFill>
                <a:latin typeface="微软雅黑" panose="020B0503020204020204" pitchFamily="34" charset="-122"/>
                <a:ea typeface="微软雅黑" panose="020B0503020204020204" pitchFamily="34" charset="-122"/>
              </a:rPr>
              <a:t>（可以介入第三者）</a:t>
            </a:r>
            <a:r>
              <a:rPr lang="zh-CN" altLang="en-US" sz="2000" dirty="0">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（5）持有是一种持续</a:t>
            </a:r>
            <a:r>
              <a:rPr lang="zh-CN" sz="2000" dirty="0" smtClean="0">
                <a:solidFill>
                  <a:schemeClr val="tx1"/>
                </a:solidFill>
                <a:latin typeface="微软雅黑" panose="020B0503020204020204" pitchFamily="34" charset="-122"/>
                <a:ea typeface="微软雅黑" panose="020B0503020204020204" pitchFamily="34" charset="-122"/>
              </a:rPr>
              <a:t>行为</a:t>
            </a:r>
            <a:r>
              <a:rPr lang="zh-CN" altLang="en-US" sz="1400" b="1" dirty="0" smtClean="0">
                <a:solidFill>
                  <a:srgbClr val="00B0F0"/>
                </a:solidFill>
                <a:latin typeface="微软雅黑" panose="020B0503020204020204" pitchFamily="34" charset="-122"/>
                <a:ea typeface="微软雅黑" panose="020B0503020204020204" pitchFamily="34" charset="-122"/>
              </a:rPr>
              <a:t>（必须持续一段时间）</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0" y="3143644"/>
            <a:ext cx="4176035" cy="1765616"/>
            <a:chOff x="0" y="3143644"/>
            <a:chExt cx="4176035" cy="1765616"/>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0" y="3143644"/>
              <a:ext cx="4176035" cy="600164"/>
            </a:xfrm>
            <a:prstGeom prst="rect">
              <a:avLst/>
            </a:prstGeom>
          </p:spPr>
          <p:txBody>
            <a:bodyPr wrap="squar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（二）实行行为和非实行行为</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066045" y="93633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718310"/>
            <a:ext cx="7658735" cy="4708981"/>
          </a:xfrm>
          <a:prstGeom prst="rect">
            <a:avLst/>
          </a:prstGeom>
          <a:noFill/>
        </p:spPr>
        <p:txBody>
          <a:bodyPr wrap="square" rtlCol="0">
            <a:spAutoFit/>
          </a:bodyPr>
          <a:lstStyle/>
          <a:p>
            <a:pPr>
              <a:lnSpc>
                <a:spcPct val="150000"/>
              </a:lnSpc>
            </a:pPr>
            <a:r>
              <a:rPr lang="en-US" altLang="zh-CN" sz="2000" b="1" dirty="0" smtClean="0">
                <a:solidFill>
                  <a:schemeClr val="tx1"/>
                </a:solidFill>
                <a:latin typeface="微软雅黑" panose="020B0503020204020204" pitchFamily="34" charset="-122"/>
                <a:ea typeface="微软雅黑" panose="020B0503020204020204" pitchFamily="34" charset="-122"/>
              </a:rPr>
              <a:t>1.</a:t>
            </a:r>
            <a:r>
              <a:rPr lang="zh-CN" altLang="en-US" sz="2000" b="1" dirty="0" smtClean="0">
                <a:solidFill>
                  <a:schemeClr val="tx1"/>
                </a:solidFill>
                <a:latin typeface="微软雅黑" panose="020B0503020204020204" pitchFamily="34" charset="-122"/>
                <a:ea typeface="微软雅黑" panose="020B0503020204020204" pitchFamily="34" charset="-122"/>
              </a:rPr>
              <a:t>实行行为</a:t>
            </a:r>
            <a:endParaRPr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sz="2000" dirty="0">
                <a:solidFill>
                  <a:schemeClr val="tx1"/>
                </a:solidFill>
                <a:latin typeface="微软雅黑" panose="020B0503020204020204" pitchFamily="34" charset="-122"/>
                <a:ea typeface="微软雅黑" panose="020B0503020204020204" pitchFamily="34" charset="-122"/>
              </a:rPr>
              <a:t>实行行为具有以下特点</a:t>
            </a:r>
            <a:r>
              <a:rPr lang="zh-CN"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Wingdings" panose="05000000000000000000" charset="0"/>
              <a:buNone/>
            </a:pPr>
            <a:r>
              <a:rPr sz="2000" dirty="0">
                <a:solidFill>
                  <a:schemeClr val="tx1"/>
                </a:solidFill>
                <a:latin typeface="微软雅黑" panose="020B0503020204020204" pitchFamily="34" charset="-122"/>
                <a:ea typeface="微软雅黑" panose="020B0503020204020204" pitchFamily="34" charset="-122"/>
              </a:rPr>
              <a:t>（1）实行行为是一切犯罪的犯罪构成必备的行为，是依据刑法分则各条规定的基本构成要件确定的</a:t>
            </a:r>
            <a:r>
              <a:rPr lang="zh-CN"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（2）实行行为是具有侵害社会关系紧迫危险性的</a:t>
            </a:r>
            <a:r>
              <a:rPr lang="zh-CN" sz="2000" dirty="0" smtClean="0">
                <a:solidFill>
                  <a:schemeClr val="tx1"/>
                </a:solidFill>
                <a:latin typeface="微软雅黑" panose="020B0503020204020204" pitchFamily="34" charset="-122"/>
                <a:ea typeface="微软雅黑" panose="020B0503020204020204" pitchFamily="34" charset="-122"/>
              </a:rPr>
              <a:t>行为</a:t>
            </a:r>
            <a:r>
              <a:rPr lang="zh-CN" altLang="en-US" sz="1400" b="1" dirty="0" smtClean="0">
                <a:solidFill>
                  <a:srgbClr val="00B0F0"/>
                </a:solidFill>
                <a:latin typeface="微软雅黑" panose="020B0503020204020204" pitchFamily="34" charset="-122"/>
                <a:ea typeface="微软雅黑" panose="020B0503020204020204" pitchFamily="34" charset="-122"/>
              </a:rPr>
              <a:t>（着手实行）</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sz="2000" dirty="0">
                <a:solidFill>
                  <a:schemeClr val="tx1"/>
                </a:solidFill>
                <a:latin typeface="微软雅黑" panose="020B0503020204020204" pitchFamily="34" charset="-122"/>
                <a:ea typeface="微软雅黑" panose="020B0503020204020204" pitchFamily="34" charset="-122"/>
              </a:rPr>
              <a:t>（3）实行行为是类型性的社会关系侵害行为，不包括偶然地导致结果发生的</a:t>
            </a:r>
            <a:r>
              <a:rPr lang="zh-CN" sz="2000" dirty="0" smtClean="0">
                <a:solidFill>
                  <a:schemeClr val="tx1"/>
                </a:solidFill>
                <a:latin typeface="微软雅黑" panose="020B0503020204020204" pitchFamily="34" charset="-122"/>
                <a:ea typeface="微软雅黑" panose="020B0503020204020204" pitchFamily="34" charset="-122"/>
              </a:rPr>
              <a:t>情况</a:t>
            </a:r>
            <a:r>
              <a:rPr lang="zh-CN" altLang="en-US" sz="1400" b="1" dirty="0" smtClean="0">
                <a:solidFill>
                  <a:srgbClr val="00B0F0"/>
                </a:solidFill>
                <a:latin typeface="微软雅黑" panose="020B0503020204020204" pitchFamily="34" charset="-122"/>
                <a:ea typeface="微软雅黑" panose="020B0503020204020204" pitchFamily="34" charset="-122"/>
              </a:rPr>
              <a:t>（对社会现实中各种侵害举动的抽象、定型）</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49320" y="3127741"/>
            <a:ext cx="4160114" cy="1781519"/>
            <a:chOff x="49320" y="3127741"/>
            <a:chExt cx="4160114" cy="1781519"/>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49320" y="3127741"/>
              <a:ext cx="4160114" cy="600164"/>
            </a:xfrm>
            <a:prstGeom prst="rect">
              <a:avLst/>
            </a:prstGeom>
          </p:spPr>
          <p:txBody>
            <a:bodyPr wrap="non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（二）实行行为和非实行行为</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066045" y="936334"/>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二、危害</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行为的分类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47820" y="1778000"/>
            <a:ext cx="7658735" cy="4247317"/>
          </a:xfrm>
          <a:prstGeom prst="rect">
            <a:avLst/>
          </a:prstGeom>
          <a:noFill/>
        </p:spPr>
        <p:txBody>
          <a:bodyPr wrap="square" rtlCol="0">
            <a:spAutoFit/>
          </a:bodyPr>
          <a:lstStyle/>
          <a:p>
            <a:pPr>
              <a:lnSpc>
                <a:spcPct val="150000"/>
              </a:lnSpc>
            </a:pPr>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solidFill>
                  <a:schemeClr val="tx1"/>
                </a:solidFill>
                <a:latin typeface="微软雅黑" panose="020B0503020204020204" pitchFamily="34" charset="-122"/>
                <a:ea typeface="微软雅黑" panose="020B0503020204020204" pitchFamily="34" charset="-122"/>
              </a:rPr>
              <a:t>非</a:t>
            </a:r>
            <a:r>
              <a:rPr lang="zh-CN" altLang="en-US" sz="2000" b="1" dirty="0">
                <a:solidFill>
                  <a:schemeClr val="tx1"/>
                </a:solidFill>
                <a:latin typeface="微软雅黑" panose="020B0503020204020204" pitchFamily="34" charset="-122"/>
                <a:ea typeface="微软雅黑" panose="020B0503020204020204" pitchFamily="34" charset="-122"/>
              </a:rPr>
              <a:t>实行行为：</a:t>
            </a:r>
          </a:p>
          <a:p>
            <a:pPr marL="342900" indent="-342900">
              <a:lnSpc>
                <a:spcPct val="150000"/>
              </a:lnSpc>
              <a:buFont typeface="Wingdings" panose="05000000000000000000" charset="0"/>
              <a:buChar char=""/>
            </a:pPr>
            <a:r>
              <a:rPr lang="zh-CN" sz="2000" dirty="0">
                <a:solidFill>
                  <a:schemeClr val="tx1"/>
                </a:solidFill>
                <a:latin typeface="微软雅黑" panose="020B0503020204020204" pitchFamily="34" charset="-122"/>
                <a:ea typeface="微软雅黑" panose="020B0503020204020204" pitchFamily="34" charset="-122"/>
              </a:rPr>
              <a:t>非</a:t>
            </a:r>
            <a:r>
              <a:rPr sz="2000" dirty="0">
                <a:solidFill>
                  <a:schemeClr val="tx1"/>
                </a:solidFill>
                <a:latin typeface="微软雅黑" panose="020B0503020204020204" pitchFamily="34" charset="-122"/>
                <a:ea typeface="微软雅黑" panose="020B0503020204020204" pitchFamily="34" charset="-122"/>
              </a:rPr>
              <a:t>实行行为具有以下特点</a:t>
            </a:r>
            <a:r>
              <a:rPr lang="zh-CN"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Wingdings" panose="05000000000000000000" charset="0"/>
              <a:buNone/>
            </a:pPr>
            <a:r>
              <a:rPr sz="2000" dirty="0">
                <a:solidFill>
                  <a:schemeClr val="tx1"/>
                </a:solidFill>
                <a:latin typeface="微软雅黑" panose="020B0503020204020204" pitchFamily="34" charset="-122"/>
                <a:ea typeface="微软雅黑" panose="020B0503020204020204" pitchFamily="34" charset="-122"/>
              </a:rPr>
              <a:t>（1）</a:t>
            </a:r>
            <a:r>
              <a:rPr sz="2000" dirty="0" smtClean="0">
                <a:solidFill>
                  <a:schemeClr val="tx1"/>
                </a:solidFill>
                <a:latin typeface="微软雅黑" panose="020B0503020204020204" pitchFamily="34" charset="-122"/>
                <a:ea typeface="微软雅黑" panose="020B0503020204020204" pitchFamily="34" charset="-122"/>
              </a:rPr>
              <a:t>非实行行为必须是刑法分则规定的实行行为以外的行为</a:t>
            </a:r>
            <a:r>
              <a:rPr lang="zh-CN" altLang="en-US" sz="1400" b="1" dirty="0" smtClean="0">
                <a:solidFill>
                  <a:srgbClr val="00B0F0"/>
                </a:solidFill>
                <a:latin typeface="微软雅黑" panose="020B0503020204020204" pitchFamily="34" charset="-122"/>
                <a:ea typeface="微软雅黑" panose="020B0503020204020204" pitchFamily="34" charset="-122"/>
              </a:rPr>
              <a:t>（如预备行为，除非立法者将其独立成罪）</a:t>
            </a:r>
            <a:r>
              <a:rPr lang="zh-CN" sz="2000" dirty="0" smtClean="0">
                <a:solidFill>
                  <a:schemeClr val="tx1"/>
                </a:solidFill>
                <a:latin typeface="微软雅黑" panose="020B0503020204020204" pitchFamily="34" charset="-122"/>
                <a:ea typeface="微软雅黑" panose="020B0503020204020204" pitchFamily="34" charset="-122"/>
              </a:rPr>
              <a:t>；</a:t>
            </a:r>
            <a:endParaRPr 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sz="2000" dirty="0">
                <a:solidFill>
                  <a:schemeClr val="tx1"/>
                </a:solidFill>
                <a:latin typeface="微软雅黑" panose="020B0503020204020204" pitchFamily="34" charset="-122"/>
                <a:ea typeface="微软雅黑" panose="020B0503020204020204" pitchFamily="34" charset="-122"/>
              </a:rPr>
              <a:t>（2）</a:t>
            </a:r>
            <a:r>
              <a:rPr sz="2000" dirty="0" smtClean="0">
                <a:solidFill>
                  <a:schemeClr val="tx1"/>
                </a:solidFill>
                <a:latin typeface="微软雅黑" panose="020B0503020204020204" pitchFamily="34" charset="-122"/>
                <a:ea typeface="微软雅黑" panose="020B0503020204020204" pitchFamily="34" charset="-122"/>
              </a:rPr>
              <a:t>非实行行为是依据刑法总则规定的修正的构成要件确定的</a:t>
            </a:r>
            <a:r>
              <a:rPr lang="zh-CN" altLang="en-US" sz="1400" b="1" dirty="0" smtClean="0">
                <a:solidFill>
                  <a:srgbClr val="00B0F0"/>
                </a:solidFill>
                <a:latin typeface="微软雅黑" panose="020B0503020204020204" pitchFamily="34" charset="-122"/>
                <a:ea typeface="微软雅黑" panose="020B0503020204020204" pitchFamily="34" charset="-122"/>
              </a:rPr>
              <a:t>（如教唆、帮助行为）</a:t>
            </a:r>
            <a:r>
              <a:rPr lang="zh-CN" sz="2000" dirty="0" smtClean="0">
                <a:solidFill>
                  <a:schemeClr val="tx1"/>
                </a:solidFill>
                <a:latin typeface="微软雅黑" panose="020B0503020204020204" pitchFamily="34" charset="-122"/>
                <a:ea typeface="微软雅黑" panose="020B0503020204020204" pitchFamily="34" charset="-122"/>
              </a:rPr>
              <a:t>；</a:t>
            </a:r>
            <a:endParaRPr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sz="2000" dirty="0">
                <a:solidFill>
                  <a:schemeClr val="tx1"/>
                </a:solidFill>
                <a:latin typeface="微软雅黑" panose="020B0503020204020204" pitchFamily="34" charset="-122"/>
                <a:ea typeface="微软雅黑" panose="020B0503020204020204" pitchFamily="34" charset="-122"/>
              </a:rPr>
              <a:t>（3）非实行行为尚未对刑法所保护的社会关系造成现实侵害，它本身并不能使犯罪达到既遂状态，</a:t>
            </a:r>
            <a:r>
              <a:rPr sz="2000" dirty="0" smtClean="0">
                <a:solidFill>
                  <a:schemeClr val="tx1"/>
                </a:solidFill>
                <a:latin typeface="微软雅黑" panose="020B0503020204020204" pitchFamily="34" charset="-122"/>
                <a:ea typeface="微软雅黑" panose="020B0503020204020204" pitchFamily="34" charset="-122"/>
              </a:rPr>
              <a:t>只有通过实行行为才能对法定结果的发生产生作用。</a:t>
            </a:r>
            <a:endParaRPr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50342"/>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一、危害结果的概念</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二、危害结果的分类</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424688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第三节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危害结果</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75760" y="3095936"/>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一、危害结果的概念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1989455"/>
            <a:ext cx="7658735" cy="4246245"/>
          </a:xfrm>
          <a:prstGeom prst="rect">
            <a:avLst/>
          </a:prstGeom>
          <a:noFill/>
        </p:spPr>
        <p:txBody>
          <a:bodyPr wrap="square" rtlCol="0">
            <a:spAutoFit/>
          </a:bodyPr>
          <a:lstStyle/>
          <a:p>
            <a:pPr indent="0">
              <a:lnSpc>
                <a:spcPct val="150000"/>
              </a:lnSpc>
              <a:buFont typeface="Arial" panose="020B0604020202020204" pitchFamily="34" charset="0"/>
              <a:buNone/>
            </a:pPr>
            <a:r>
              <a:rPr lang="en-US" sz="2000" b="1" dirty="0">
                <a:solidFill>
                  <a:schemeClr val="tx1"/>
                </a:solidFill>
                <a:latin typeface="微软雅黑" panose="020B0503020204020204" pitchFamily="34" charset="-122"/>
                <a:ea typeface="微软雅黑" panose="020B0503020204020204" pitchFamily="34" charset="-122"/>
              </a:rPr>
              <a:t>1. </a:t>
            </a:r>
            <a:r>
              <a:rPr lang="zh-CN" altLang="en-US" sz="2000" b="1" dirty="0">
                <a:solidFill>
                  <a:schemeClr val="tx1"/>
                </a:solidFill>
                <a:latin typeface="微软雅黑" panose="020B0503020204020204" pitchFamily="34" charset="-122"/>
                <a:ea typeface="微软雅黑" panose="020B0503020204020204" pitchFamily="34" charset="-122"/>
              </a:rPr>
              <a:t>广义的危害结果</a:t>
            </a: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是指犯罪行为对刑法所保护的社会关系所造成的</a:t>
            </a:r>
            <a:r>
              <a:rPr lang="zh-CN" altLang="en-US" sz="2000" dirty="0" smtClean="0">
                <a:solidFill>
                  <a:schemeClr val="tx1"/>
                </a:solidFill>
                <a:latin typeface="微软雅黑" panose="020B0503020204020204" pitchFamily="34" charset="-122"/>
                <a:ea typeface="微软雅黑" panose="020B0503020204020204" pitchFamily="34" charset="-122"/>
              </a:rPr>
              <a:t>损害。</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b="1" dirty="0">
                <a:solidFill>
                  <a:schemeClr val="tx1"/>
                </a:solidFill>
                <a:latin typeface="微软雅黑" panose="020B0503020204020204" pitchFamily="34" charset="-122"/>
                <a:ea typeface="微软雅黑" panose="020B0503020204020204" pitchFamily="34" charset="-122"/>
              </a:rPr>
              <a:t>2. </a:t>
            </a:r>
            <a:r>
              <a:rPr lang="zh-CN" altLang="en-US" sz="2000" b="1" dirty="0">
                <a:solidFill>
                  <a:schemeClr val="tx1"/>
                </a:solidFill>
                <a:latin typeface="微软雅黑" panose="020B0503020204020204" pitchFamily="34" charset="-122"/>
                <a:ea typeface="微软雅黑" panose="020B0503020204020204" pitchFamily="34" charset="-122"/>
              </a:rPr>
              <a:t>狭义的危害结果</a:t>
            </a: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又称构成要件结果，是由犯罪的实行行为造成的、根据刑法分则的规定对成立犯罪或者犯罪既遂具有决定意义的危害结果，它只存在于过失犯罪、间接故意犯罪和结果</a:t>
            </a:r>
            <a:r>
              <a:rPr lang="zh-CN" altLang="en-US" sz="2000" dirty="0" smtClean="0">
                <a:solidFill>
                  <a:schemeClr val="tx1"/>
                </a:solidFill>
                <a:latin typeface="微软雅黑" panose="020B0503020204020204" pitchFamily="34" charset="-122"/>
                <a:ea typeface="微软雅黑" panose="020B0503020204020204" pitchFamily="34" charset="-122"/>
              </a:rPr>
              <a:t>犯</a:t>
            </a:r>
            <a:r>
              <a:rPr lang="zh-CN" altLang="en-US" sz="1400" b="1" dirty="0" smtClean="0">
                <a:solidFill>
                  <a:srgbClr val="00B0F0"/>
                </a:solidFill>
                <a:latin typeface="微软雅黑" panose="020B0503020204020204" pitchFamily="34" charset="-122"/>
                <a:ea typeface="微软雅黑" panose="020B0503020204020204" pitchFamily="34" charset="-122"/>
              </a:rPr>
              <a:t>（直接故意犯）</a:t>
            </a:r>
            <a:r>
              <a:rPr lang="zh-CN" altLang="en-US" sz="2000" dirty="0" smtClean="0">
                <a:solidFill>
                  <a:schemeClr val="tx1"/>
                </a:solidFill>
                <a:latin typeface="微软雅黑" panose="020B0503020204020204" pitchFamily="34" charset="-122"/>
                <a:ea typeface="微软雅黑" panose="020B0503020204020204" pitchFamily="34" charset="-122"/>
              </a:rPr>
              <a:t>的</a:t>
            </a:r>
            <a:r>
              <a:rPr lang="zh-CN" altLang="en-US" sz="2000" dirty="0">
                <a:solidFill>
                  <a:schemeClr val="tx1"/>
                </a:solidFill>
                <a:latin typeface="微软雅黑" panose="020B0503020204020204" pitchFamily="34" charset="-122"/>
                <a:ea typeface="微软雅黑" panose="020B0503020204020204" pitchFamily="34" charset="-122"/>
              </a:rPr>
              <a:t>既遂犯中。</a:t>
            </a: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915072578"/>
              </p:ext>
            </p:extLst>
          </p:nvPr>
        </p:nvGraphicFramePr>
        <p:xfrm>
          <a:off x="838200" y="1526721"/>
          <a:ext cx="10461170" cy="4024993"/>
        </p:xfrm>
        <a:graphic>
          <a:graphicData uri="http://schemas.openxmlformats.org/drawingml/2006/table">
            <a:tbl>
              <a:tblPr/>
              <a:tblGrid>
                <a:gridCol w="2071067"/>
                <a:gridCol w="2728910"/>
                <a:gridCol w="5661193"/>
              </a:tblGrid>
              <a:tr h="1360489">
                <a:tc rowSpan="3">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危害结果</a:t>
                      </a:r>
                    </a:p>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广义的危害结果</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构成要件结果与非构成要件结果</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53534">
                <a:tc vMerge="1">
                  <a:txBody>
                    <a:bodyPr/>
                    <a:lstStyle/>
                    <a:p>
                      <a:endParaRPr lang="zh-CN"/>
                    </a:p>
                  </a:txBody>
                  <a:tcPr/>
                </a:tc>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直接结果与间接结果</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10970">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狭义的危害结果</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rgbClr val="00B0F0"/>
                          </a:solidFill>
                          <a:effectLst/>
                          <a:latin typeface="微软雅黑" panose="020B0503020204020204" pitchFamily="34" charset="-122"/>
                          <a:ea typeface="微软雅黑" panose="020B0503020204020204" pitchFamily="34" charset="-122"/>
                        </a:rPr>
                        <a:t>构成要件的结果</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149350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75760" y="3095936"/>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954655" cy="461665"/>
          </a:xfrm>
          <a:prstGeom prst="rect">
            <a:avLst/>
          </a:prstGeom>
        </p:spPr>
        <p:txBody>
          <a:bodyPr wrap="none">
            <a:spAutoFit/>
          </a:bodyPr>
          <a:lstStyle/>
          <a:p>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一、危害结果的概念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93540" y="2139950"/>
            <a:ext cx="7658735" cy="3323987"/>
          </a:xfrm>
          <a:prstGeom prst="rect">
            <a:avLst/>
          </a:prstGeom>
          <a:noFill/>
        </p:spPr>
        <p:txBody>
          <a:bodyPr wrap="square" rtlCol="0">
            <a:spAutoFit/>
          </a:bodyPr>
          <a:lstStyle/>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狭义的危害结果通常具有以下</a:t>
            </a:r>
            <a:r>
              <a:rPr lang="zh-CN" altLang="en-US" sz="2000" dirty="0">
                <a:latin typeface="微软雅黑" panose="020B0503020204020204" pitchFamily="34" charset="-122"/>
                <a:ea typeface="微软雅黑" panose="020B0503020204020204" pitchFamily="34" charset="-122"/>
              </a:rPr>
              <a:t>特征</a:t>
            </a:r>
            <a:r>
              <a:rPr lang="zh-CN" altLang="en-US" sz="1400" b="1" dirty="0">
                <a:solidFill>
                  <a:srgbClr val="00B0F0"/>
                </a:solidFill>
                <a:latin typeface="微软雅黑" panose="020B0503020204020204" pitchFamily="34" charset="-122"/>
                <a:ea typeface="微软雅黑" panose="020B0503020204020204" pitchFamily="34" charset="-122"/>
              </a:rPr>
              <a:t>（客观性、因果性、危害性、多样性、</a:t>
            </a:r>
            <a:r>
              <a:rPr lang="zh-CN" altLang="en-US" sz="1400" b="1" dirty="0" smtClean="0">
                <a:solidFill>
                  <a:srgbClr val="00B0F0"/>
                </a:solidFill>
                <a:latin typeface="微软雅黑" panose="020B0503020204020204" pitchFamily="34" charset="-122"/>
                <a:ea typeface="微软雅黑" panose="020B0503020204020204" pitchFamily="34" charset="-122"/>
              </a:rPr>
              <a:t>现实性）</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第一，只能是危害行为对犯罪的直接客体造成的损害，即直接危害结果；</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第二，依照刑法规定属于构成要件的一部分；</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第三</a:t>
            </a:r>
            <a:r>
              <a:rPr lang="zh-CN" altLang="en-US" sz="2000" dirty="0" smtClean="0">
                <a:solidFill>
                  <a:schemeClr val="tx1"/>
                </a:solidFill>
                <a:latin typeface="微软雅黑" panose="020B0503020204020204" pitchFamily="34" charset="-122"/>
                <a:ea typeface="微软雅黑" panose="020B0503020204020204" pitchFamily="34" charset="-122"/>
              </a:rPr>
              <a:t>，对于</a:t>
            </a:r>
            <a:r>
              <a:rPr lang="zh-CN" altLang="en-US" sz="2000" dirty="0">
                <a:solidFill>
                  <a:schemeClr val="tx1"/>
                </a:solidFill>
                <a:latin typeface="微软雅黑" panose="020B0503020204020204" pitchFamily="34" charset="-122"/>
                <a:ea typeface="微软雅黑" panose="020B0503020204020204" pitchFamily="34" charset="-122"/>
              </a:rPr>
              <a:t>定罪具有重要</a:t>
            </a:r>
            <a:r>
              <a:rPr lang="zh-CN" altLang="en-US" sz="2000" dirty="0" smtClean="0">
                <a:solidFill>
                  <a:schemeClr val="tx1"/>
                </a:solidFill>
                <a:latin typeface="微软雅黑" panose="020B0503020204020204" pitchFamily="34" charset="-122"/>
                <a:ea typeface="微软雅黑" panose="020B0503020204020204" pitchFamily="34" charset="-122"/>
              </a:rPr>
              <a:t>意义</a:t>
            </a:r>
            <a:r>
              <a:rPr lang="zh-CN" altLang="en-US" sz="1400" b="1" dirty="0" smtClean="0">
                <a:solidFill>
                  <a:srgbClr val="00B0F0"/>
                </a:solidFill>
                <a:latin typeface="微软雅黑" panose="020B0503020204020204" pitchFamily="34" charset="-122"/>
                <a:ea typeface="微软雅黑" panose="020B0503020204020204" pitchFamily="34" charset="-122"/>
              </a:rPr>
              <a:t>（决定犯罪成立：过失犯、间接故意犯；影响犯罪既遂：直接故意犯）</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89494" y="3025958"/>
            <a:ext cx="4155399" cy="1883302"/>
            <a:chOff x="-89494" y="3025958"/>
            <a:chExt cx="4155399" cy="188330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89494" y="3025958"/>
              <a:ext cx="4155399" cy="1107996"/>
            </a:xfrm>
            <a:prstGeom prst="rect">
              <a:avLst/>
            </a:prstGeom>
          </p:spPr>
          <p:txBody>
            <a:bodyPr wrap="squar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（一）构成要件结果与非构成</a:t>
              </a:r>
              <a:endParaRPr lang="en-US" altLang="zh-CN"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要件结果</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6" name="PA_文本框 3"/>
          <p:cNvSpPr txBox="1"/>
          <p:nvPr>
            <p:custDataLst>
              <p:tags r:id="rId1"/>
            </p:custDataLst>
          </p:nvPr>
        </p:nvSpPr>
        <p:spPr>
          <a:xfrm>
            <a:off x="4065905" y="1250950"/>
            <a:ext cx="7786370" cy="4801314"/>
          </a:xfrm>
          <a:prstGeom prst="rect">
            <a:avLst/>
          </a:prstGeom>
          <a:noFill/>
        </p:spPr>
        <p:txBody>
          <a:bodyPr wrap="square" rtlCol="0">
            <a:spAutoFit/>
          </a:bodyPr>
          <a:lstStyle/>
          <a:p>
            <a:pPr>
              <a:lnSpc>
                <a:spcPct val="150000"/>
              </a:lnSpc>
            </a:pPr>
            <a:r>
              <a:rPr lang="zh-CN" altLang="en-US" sz="2400" b="1" dirty="0" smtClean="0">
                <a:latin typeface="微软雅黑" panose="020B0503020204020204" pitchFamily="34" charset="-122"/>
                <a:ea typeface="微软雅黑" panose="020B0503020204020204" pitchFamily="34" charset="-122"/>
              </a:rPr>
              <a:t>二、危害结果的分类</a:t>
            </a:r>
            <a:endParaRPr lang="en-US" sz="2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a:t>
            </a:r>
            <a:r>
              <a:rPr lang="zh-CN" altLang="en-US" sz="2000" dirty="0">
                <a:solidFill>
                  <a:schemeClr val="tx1"/>
                </a:solidFill>
                <a:latin typeface="微软雅黑" panose="020B0503020204020204" pitchFamily="34" charset="-122"/>
                <a:ea typeface="微软雅黑" panose="020B0503020204020204" pitchFamily="34" charset="-122"/>
              </a:rPr>
              <a:t>构成要件结果，即前面论述的狭义的危害结果，因其对定罪具有决定意义，又称为定罪</a:t>
            </a:r>
            <a:r>
              <a:rPr lang="zh-CN" altLang="en-US" sz="2000" dirty="0" smtClean="0">
                <a:solidFill>
                  <a:schemeClr val="tx1"/>
                </a:solidFill>
                <a:latin typeface="微软雅黑" panose="020B0503020204020204" pitchFamily="34" charset="-122"/>
                <a:ea typeface="微软雅黑" panose="020B0503020204020204" pitchFamily="34" charset="-122"/>
              </a:rPr>
              <a:t>结果</a:t>
            </a:r>
            <a:r>
              <a:rPr lang="zh-CN" altLang="en-US" sz="1400" b="1" dirty="0" smtClean="0">
                <a:solidFill>
                  <a:srgbClr val="00B0F0"/>
                </a:solidFill>
                <a:latin typeface="微软雅黑" panose="020B0503020204020204" pitchFamily="34" charset="-122"/>
                <a:ea typeface="微软雅黑" panose="020B0503020204020204" pitchFamily="34" charset="-122"/>
              </a:rPr>
              <a:t>（实害结果和危险结果）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a:t>
            </a:r>
            <a:r>
              <a:rPr lang="zh-CN" altLang="en-US" sz="2000" dirty="0">
                <a:solidFill>
                  <a:schemeClr val="tx1"/>
                </a:solidFill>
                <a:latin typeface="微软雅黑" panose="020B0503020204020204" pitchFamily="34" charset="-122"/>
                <a:ea typeface="微软雅黑" panose="020B0503020204020204" pitchFamily="34" charset="-122"/>
              </a:rPr>
              <a:t>非构成要件结果，是指由危害行为引起的、构成要件结果以外的、对于该种犯罪的社会</a:t>
            </a:r>
            <a:r>
              <a:rPr lang="zh-CN" altLang="en-US" sz="2000" dirty="0" smtClean="0">
                <a:solidFill>
                  <a:schemeClr val="tx1"/>
                </a:solidFill>
                <a:latin typeface="微软雅黑" panose="020B0503020204020204" pitchFamily="34" charset="-122"/>
                <a:ea typeface="微软雅黑" panose="020B0503020204020204" pitchFamily="34" charset="-122"/>
              </a:rPr>
              <a:t>危害程度</a:t>
            </a:r>
            <a:r>
              <a:rPr lang="zh-CN" altLang="en-US" sz="2000" dirty="0">
                <a:solidFill>
                  <a:schemeClr val="tx1"/>
                </a:solidFill>
                <a:latin typeface="微软雅黑" panose="020B0503020204020204" pitchFamily="34" charset="-122"/>
                <a:ea typeface="微软雅黑" panose="020B0503020204020204" pitchFamily="34" charset="-122"/>
              </a:rPr>
              <a:t>及其刑事责任的大小具有一定评价意义的损害</a:t>
            </a:r>
            <a:r>
              <a:rPr lang="zh-CN" altLang="en-US" sz="2000" dirty="0" smtClean="0">
                <a:solidFill>
                  <a:schemeClr val="tx1"/>
                </a:solidFill>
                <a:latin typeface="微软雅黑" panose="020B0503020204020204" pitchFamily="34" charset="-122"/>
                <a:ea typeface="微软雅黑" panose="020B0503020204020204" pitchFamily="34" charset="-122"/>
              </a:rPr>
              <a:t>结果</a:t>
            </a:r>
            <a:r>
              <a:rPr lang="zh-CN" altLang="en-US" sz="1400" b="1" dirty="0" smtClean="0">
                <a:solidFill>
                  <a:srgbClr val="00B0F0"/>
                </a:solidFill>
                <a:latin typeface="微软雅黑" panose="020B0503020204020204" pitchFamily="34" charset="-122"/>
                <a:ea typeface="微软雅黑" panose="020B0503020204020204" pitchFamily="34" charset="-122"/>
              </a:rPr>
              <a:t>（量刑结果）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rPr>
              <a:t>非</a:t>
            </a:r>
            <a:r>
              <a:rPr lang="en-US" sz="2000" dirty="0">
                <a:solidFill>
                  <a:schemeClr val="tx1"/>
                </a:solidFill>
                <a:latin typeface="微软雅黑" panose="020B0503020204020204" pitchFamily="34" charset="-122"/>
                <a:ea typeface="微软雅黑" panose="020B0503020204020204" pitchFamily="34" charset="-122"/>
              </a:rPr>
              <a:t>构成要件结果包括以下数种情形：</a:t>
            </a:r>
          </a:p>
          <a:p>
            <a:pPr indent="0">
              <a:lnSpc>
                <a:spcPct val="150000"/>
              </a:lnSpc>
              <a:buFont typeface="Wingdings" panose="05000000000000000000" charset="0"/>
              <a:buNone/>
            </a:pPr>
            <a:r>
              <a:rPr lang="en-US" sz="2000" b="1" dirty="0" err="1" smtClean="0">
                <a:solidFill>
                  <a:srgbClr val="00B0F0"/>
                </a:solidFill>
                <a:latin typeface="微软雅黑" panose="020B0503020204020204" pitchFamily="34" charset="-122"/>
                <a:ea typeface="微软雅黑" panose="020B0503020204020204" pitchFamily="34" charset="-122"/>
              </a:rPr>
              <a:t>a.</a:t>
            </a:r>
            <a:r>
              <a:rPr lang="en-US" sz="2000" dirty="0" err="1" smtClean="0">
                <a:solidFill>
                  <a:schemeClr val="tx1"/>
                </a:solidFill>
                <a:latin typeface="微软雅黑" panose="020B0503020204020204" pitchFamily="34" charset="-122"/>
                <a:ea typeface="微软雅黑" panose="020B0503020204020204" pitchFamily="34" charset="-122"/>
              </a:rPr>
              <a:t>行为犯造成的结果</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b.</a:t>
            </a:r>
            <a:r>
              <a:rPr lang="zh-CN" altLang="en-US" sz="2000" dirty="0" smtClean="0">
                <a:solidFill>
                  <a:schemeClr val="tx1"/>
                </a:solidFill>
                <a:latin typeface="微软雅黑" panose="020B0503020204020204" pitchFamily="34" charset="-122"/>
                <a:ea typeface="微软雅黑" panose="020B0503020204020204" pitchFamily="34" charset="-122"/>
              </a:rPr>
              <a:t>预备</a:t>
            </a:r>
            <a:r>
              <a:rPr lang="zh-CN" altLang="en-US" sz="2000" dirty="0">
                <a:solidFill>
                  <a:schemeClr val="tx1"/>
                </a:solidFill>
                <a:latin typeface="微软雅黑" panose="020B0503020204020204" pitchFamily="34" charset="-122"/>
                <a:ea typeface="微软雅黑" panose="020B0503020204020204" pitchFamily="34" charset="-122"/>
              </a:rPr>
              <a:t>犯、未遂犯、中止犯造成的结果</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c.</a:t>
            </a:r>
            <a:r>
              <a:rPr lang="zh-CN" altLang="en-US" sz="2000" dirty="0" smtClean="0">
                <a:solidFill>
                  <a:schemeClr val="tx1"/>
                </a:solidFill>
                <a:latin typeface="微软雅黑" panose="020B0503020204020204" pitchFamily="34" charset="-122"/>
                <a:ea typeface="微软雅黑" panose="020B0503020204020204" pitchFamily="34" charset="-122"/>
              </a:rPr>
              <a:t>间接</a:t>
            </a:r>
            <a:r>
              <a:rPr lang="zh-CN" altLang="en-US" sz="2000" dirty="0">
                <a:solidFill>
                  <a:schemeClr val="tx1"/>
                </a:solidFill>
                <a:latin typeface="微软雅黑" panose="020B0503020204020204" pitchFamily="34" charset="-122"/>
                <a:ea typeface="微软雅黑" panose="020B0503020204020204" pitchFamily="34" charset="-122"/>
              </a:rPr>
              <a:t>结果</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b="1" dirty="0" smtClean="0">
                <a:solidFill>
                  <a:srgbClr val="00B0F0"/>
                </a:solidFill>
                <a:latin typeface="微软雅黑" panose="020B0503020204020204" pitchFamily="34" charset="-122"/>
                <a:ea typeface="微软雅黑" panose="020B0503020204020204" pitchFamily="34" charset="-122"/>
              </a:rPr>
              <a:t>d.</a:t>
            </a:r>
            <a:r>
              <a:rPr lang="zh-CN" altLang="en-US" sz="2000" dirty="0" smtClean="0">
                <a:solidFill>
                  <a:schemeClr val="tx1"/>
                </a:solidFill>
                <a:latin typeface="微软雅黑" panose="020B0503020204020204" pitchFamily="34" charset="-122"/>
                <a:ea typeface="微软雅黑" panose="020B0503020204020204" pitchFamily="34" charset="-122"/>
              </a:rPr>
              <a:t>精神</a:t>
            </a:r>
            <a:r>
              <a:rPr lang="zh-CN" altLang="en-US" sz="2000" dirty="0">
                <a:solidFill>
                  <a:schemeClr val="tx1"/>
                </a:solidFill>
                <a:latin typeface="微软雅黑" panose="020B0503020204020204" pitchFamily="34" charset="-122"/>
                <a:ea typeface="微软雅黑" panose="020B0503020204020204" pitchFamily="34" charset="-122"/>
              </a:rPr>
              <a:t>损害等。</a:t>
            </a: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341908" y="2937994"/>
            <a:ext cx="3595856" cy="1971266"/>
            <a:chOff x="341908" y="2937994"/>
            <a:chExt cx="3595856" cy="1971266"/>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341908" y="2937994"/>
              <a:ext cx="3595856" cy="1048044"/>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）物质性危害结果与</a:t>
              </a:r>
              <a:endParaRPr lang="en-US" altLang="zh-CN"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非物质性危害结果</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6" name="PA_文本框 3"/>
          <p:cNvSpPr txBox="1"/>
          <p:nvPr>
            <p:custDataLst>
              <p:tags r:id="rId1"/>
            </p:custDataLst>
          </p:nvPr>
        </p:nvSpPr>
        <p:spPr>
          <a:xfrm>
            <a:off x="4065905" y="1250950"/>
            <a:ext cx="7786370" cy="4801314"/>
          </a:xfrm>
          <a:prstGeom prst="rect">
            <a:avLst/>
          </a:prstGeom>
          <a:noFill/>
        </p:spPr>
        <p:txBody>
          <a:bodyPr wrap="square" rtlCol="0">
            <a:spAutoFit/>
          </a:bodyPr>
          <a:lstStyle/>
          <a:p>
            <a:pPr>
              <a:lnSpc>
                <a:spcPct val="150000"/>
              </a:lnSpc>
            </a:pPr>
            <a:r>
              <a:rPr lang="zh-CN" altLang="en-US" sz="2400" b="1" dirty="0" smtClean="0">
                <a:latin typeface="微软雅黑" panose="020B0503020204020204" pitchFamily="34" charset="-122"/>
                <a:ea typeface="微软雅黑" panose="020B0503020204020204" pitchFamily="34" charset="-122"/>
              </a:rPr>
              <a:t>二、危害结果的分类</a:t>
            </a:r>
            <a:endParaRPr lang="en-US" sz="2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a:t>
            </a:r>
            <a:r>
              <a:rPr lang="zh-CN" altLang="en-US" sz="2000" dirty="0">
                <a:solidFill>
                  <a:schemeClr val="tx1"/>
                </a:solidFill>
                <a:latin typeface="微软雅黑" panose="020B0503020204020204" pitchFamily="34" charset="-122"/>
                <a:ea typeface="微软雅黑" panose="020B0503020204020204" pitchFamily="34" charset="-122"/>
              </a:rPr>
              <a:t>物质性危害结果</a:t>
            </a:r>
            <a:r>
              <a:rPr lang="zh-CN" altLang="en-US" sz="2000" dirty="0" smtClean="0">
                <a:solidFill>
                  <a:schemeClr val="tx1"/>
                </a:solidFill>
                <a:latin typeface="微软雅黑" panose="020B0503020204020204" pitchFamily="34" charset="-122"/>
                <a:ea typeface="微软雅黑" panose="020B0503020204020204" pitchFamily="34" charset="-122"/>
              </a:rPr>
              <a:t>，又称有形</a:t>
            </a:r>
            <a:r>
              <a:rPr lang="zh-CN" altLang="en-US" sz="2000" dirty="0">
                <a:solidFill>
                  <a:schemeClr val="tx1"/>
                </a:solidFill>
                <a:latin typeface="微软雅黑" panose="020B0503020204020204" pitchFamily="34" charset="-122"/>
                <a:ea typeface="微软雅黑" panose="020B0503020204020204" pitchFamily="34" charset="-122"/>
              </a:rPr>
              <a:t>的危害结果，如人的死亡、伤害结果的发生、财产的损害等。</a:t>
            </a: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物质性危害结果一般是在实行行为实施完毕后才发生的，可能在实行行为实施完毕</a:t>
            </a:r>
            <a:r>
              <a:rPr lang="zh-CN" altLang="en-US" sz="2000" dirty="0" smtClean="0">
                <a:solidFill>
                  <a:schemeClr val="tx1"/>
                </a:solidFill>
                <a:latin typeface="微软雅黑" panose="020B0503020204020204" pitchFamily="34" charset="-122"/>
                <a:ea typeface="微软雅黑" panose="020B0503020204020204" pitchFamily="34" charset="-122"/>
              </a:rPr>
              <a:t>之后随即发生，</a:t>
            </a:r>
            <a:r>
              <a:rPr lang="zh-CN" altLang="en-US" sz="2000" dirty="0">
                <a:solidFill>
                  <a:schemeClr val="tx1"/>
                </a:solidFill>
                <a:latin typeface="微软雅黑" panose="020B0503020204020204" pitchFamily="34" charset="-122"/>
                <a:ea typeface="微软雅黑" panose="020B0503020204020204" pitchFamily="34" charset="-122"/>
              </a:rPr>
              <a:t>也可能再过一段时间才</a:t>
            </a:r>
            <a:r>
              <a:rPr lang="zh-CN" altLang="en-US" sz="2000" dirty="0" smtClean="0">
                <a:solidFill>
                  <a:schemeClr val="tx1"/>
                </a:solidFill>
                <a:latin typeface="微软雅黑" panose="020B0503020204020204" pitchFamily="34" charset="-122"/>
                <a:ea typeface="微软雅黑" panose="020B0503020204020204" pitchFamily="34" charset="-122"/>
              </a:rPr>
              <a:t>发生</a:t>
            </a:r>
            <a:r>
              <a:rPr lang="zh-CN" altLang="en-US" sz="1400" b="1" dirty="0" smtClean="0">
                <a:solidFill>
                  <a:srgbClr val="00B0F0"/>
                </a:solidFill>
                <a:latin typeface="微软雅黑" panose="020B0503020204020204" pitchFamily="34" charset="-122"/>
                <a:ea typeface="微软雅黑" panose="020B0503020204020204" pitchFamily="34" charset="-122"/>
              </a:rPr>
              <a:t>（破坏界碑、界桩罪）</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a:t>
            </a:r>
            <a:r>
              <a:rPr lang="zh-CN" altLang="en-US" sz="2000" dirty="0">
                <a:solidFill>
                  <a:schemeClr val="tx1"/>
                </a:solidFill>
                <a:latin typeface="微软雅黑" panose="020B0503020204020204" pitchFamily="34" charset="-122"/>
                <a:ea typeface="微软雅黑" panose="020B0503020204020204" pitchFamily="34" charset="-122"/>
              </a:rPr>
              <a:t>非物质性危害结果</a:t>
            </a:r>
            <a:r>
              <a:rPr lang="zh-CN" altLang="en-US" sz="2000" dirty="0" smtClean="0">
                <a:solidFill>
                  <a:schemeClr val="tx1"/>
                </a:solidFill>
                <a:latin typeface="微软雅黑" panose="020B0503020204020204" pitchFamily="34" charset="-122"/>
                <a:ea typeface="微软雅黑" panose="020B0503020204020204" pitchFamily="34" charset="-122"/>
              </a:rPr>
              <a:t>，又称无形</a:t>
            </a:r>
            <a:r>
              <a:rPr lang="zh-CN" altLang="en-US" sz="2000" dirty="0">
                <a:solidFill>
                  <a:schemeClr val="tx1"/>
                </a:solidFill>
                <a:latin typeface="微软雅黑" panose="020B0503020204020204" pitchFamily="34" charset="-122"/>
                <a:ea typeface="微软雅黑" panose="020B0503020204020204" pitchFamily="34" charset="-122"/>
              </a:rPr>
              <a:t>的危害结果，具有抽象性，不能直接看见，无法具体测量，如名誉权受到损害、人格被侮辱、尊严丧失、国家机关的威信遭受损害</a:t>
            </a:r>
            <a:r>
              <a:rPr lang="zh-CN" altLang="en-US" sz="2000" dirty="0" smtClean="0">
                <a:solidFill>
                  <a:schemeClr val="tx1"/>
                </a:solidFill>
                <a:latin typeface="微软雅黑" panose="020B0503020204020204" pitchFamily="34" charset="-122"/>
                <a:ea typeface="微软雅黑" panose="020B0503020204020204" pitchFamily="34" charset="-122"/>
              </a:rPr>
              <a:t>等</a:t>
            </a:r>
            <a:r>
              <a:rPr lang="zh-CN" altLang="en-US" sz="1400" b="1" dirty="0" smtClean="0">
                <a:solidFill>
                  <a:srgbClr val="00B0F0"/>
                </a:solidFill>
                <a:latin typeface="微软雅黑" panose="020B0503020204020204" pitchFamily="34" charset="-122"/>
                <a:ea typeface="微软雅黑" panose="020B0503020204020204" pitchFamily="34" charset="-122"/>
              </a:rPr>
              <a:t>（侵害英雄烈士名誉、荣誉罪）</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176235" y="3154125"/>
            <a:ext cx="3877985" cy="1755135"/>
            <a:chOff x="176235" y="3154125"/>
            <a:chExt cx="3877985" cy="1755135"/>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76235" y="3154125"/>
              <a:ext cx="3877985" cy="600164"/>
            </a:xfrm>
            <a:prstGeom prst="rect">
              <a:avLst/>
            </a:prstGeom>
          </p:spPr>
          <p:txBody>
            <a:bodyPr wrap="non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（三）直接结果与间接结果</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6" name="PA_文本框 3"/>
          <p:cNvSpPr txBox="1"/>
          <p:nvPr>
            <p:custDataLst>
              <p:tags r:id="rId1"/>
            </p:custDataLst>
          </p:nvPr>
        </p:nvSpPr>
        <p:spPr>
          <a:xfrm>
            <a:off x="4065905" y="1315085"/>
            <a:ext cx="7786370" cy="4801314"/>
          </a:xfrm>
          <a:prstGeom prst="rect">
            <a:avLst/>
          </a:prstGeom>
          <a:noFill/>
        </p:spPr>
        <p:txBody>
          <a:bodyPr wrap="square" rtlCol="0">
            <a:spAutoFit/>
          </a:bodyPr>
          <a:lstStyle/>
          <a:p>
            <a:pPr>
              <a:lnSpc>
                <a:spcPct val="150000"/>
              </a:lnSpc>
            </a:pPr>
            <a:r>
              <a:rPr lang="zh-CN" altLang="en-US" sz="2400" b="1" dirty="0" smtClean="0">
                <a:latin typeface="微软雅黑" panose="020B0503020204020204" pitchFamily="34" charset="-122"/>
                <a:ea typeface="微软雅黑" panose="020B0503020204020204" pitchFamily="34" charset="-122"/>
              </a:rPr>
              <a:t>二、危害结果的分类</a:t>
            </a:r>
            <a:endParaRPr lang="en-US" sz="2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a:t>
            </a:r>
            <a:r>
              <a:rPr lang="zh-CN" altLang="en-US" sz="2000" dirty="0">
                <a:solidFill>
                  <a:schemeClr val="tx1"/>
                </a:solidFill>
                <a:latin typeface="微软雅黑" panose="020B0503020204020204" pitchFamily="34" charset="-122"/>
                <a:ea typeface="微软雅黑" panose="020B0503020204020204" pitchFamily="34" charset="-122"/>
              </a:rPr>
              <a:t>直接结果，指由危害行为本身直接引起的损害结果。</a:t>
            </a: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构成要件结果只能是直接结果，但直接结果未必都是构成要件结果。</a:t>
            </a: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a:t>
            </a:r>
            <a:r>
              <a:rPr lang="zh-CN" altLang="en-US" sz="2000" dirty="0">
                <a:solidFill>
                  <a:schemeClr val="tx1"/>
                </a:solidFill>
                <a:latin typeface="微软雅黑" panose="020B0503020204020204" pitchFamily="34" charset="-122"/>
                <a:ea typeface="微软雅黑" panose="020B0503020204020204" pitchFamily="34" charset="-122"/>
              </a:rPr>
              <a:t>间接结果，指由直接结果进一步引起的危害结果。</a:t>
            </a: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特定情况下，由间接结果进一步引起的结果，仍然属于间接结果。间接结果对量刑有意义，有的刑法条文对此作了明确规定。</a:t>
            </a:r>
          </a:p>
          <a:p>
            <a:pPr marL="342900" indent="-342900">
              <a:lnSpc>
                <a:spcPct val="150000"/>
              </a:lnSpc>
              <a:buFont typeface="Wingdings" panose="05000000000000000000" charset="0"/>
              <a:buChar char=""/>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187920" y="3120875"/>
            <a:ext cx="3877985" cy="1788385"/>
            <a:chOff x="187920" y="3120875"/>
            <a:chExt cx="3877985" cy="1788385"/>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87920" y="3120875"/>
              <a:ext cx="3877985" cy="600164"/>
            </a:xfrm>
            <a:prstGeom prst="rect">
              <a:avLst/>
            </a:prstGeom>
          </p:spPr>
          <p:txBody>
            <a:bodyPr wrap="none">
              <a:spAutoFit/>
            </a:bodyPr>
            <a:lstStyle/>
            <a:p>
              <a:pPr indent="304800" algn="ctr">
                <a:lnSpc>
                  <a:spcPct val="150000"/>
                </a:lnSpc>
              </a:pP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（四）基本结果与加重结果</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6" name="PA_文本框 3"/>
          <p:cNvSpPr txBox="1"/>
          <p:nvPr>
            <p:custDataLst>
              <p:tags r:id="rId1"/>
            </p:custDataLst>
          </p:nvPr>
        </p:nvSpPr>
        <p:spPr>
          <a:xfrm>
            <a:off x="4065905" y="1315085"/>
            <a:ext cx="7786370" cy="4801314"/>
          </a:xfrm>
          <a:prstGeom prst="rect">
            <a:avLst/>
          </a:prstGeom>
          <a:noFill/>
        </p:spPr>
        <p:txBody>
          <a:bodyPr wrap="square" rtlCol="0">
            <a:spAutoFit/>
          </a:bodyPr>
          <a:lstStyle/>
          <a:p>
            <a:pPr>
              <a:lnSpc>
                <a:spcPct val="150000"/>
              </a:lnSpc>
            </a:pPr>
            <a:r>
              <a:rPr lang="zh-CN" altLang="en-US" sz="2400" b="1" dirty="0" smtClean="0">
                <a:latin typeface="微软雅黑" panose="020B0503020204020204" pitchFamily="34" charset="-122"/>
                <a:ea typeface="微软雅黑" panose="020B0503020204020204" pitchFamily="34" charset="-122"/>
              </a:rPr>
              <a:t>二、危害结果的分类</a:t>
            </a:r>
            <a:endParaRPr lang="en-US" sz="2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a:t>
            </a:r>
            <a:r>
              <a:rPr lang="zh-CN" altLang="en-US" sz="2000" dirty="0">
                <a:solidFill>
                  <a:schemeClr val="tx1"/>
                </a:solidFill>
                <a:latin typeface="微软雅黑" panose="020B0503020204020204" pitchFamily="34" charset="-122"/>
                <a:ea typeface="微软雅黑" panose="020B0503020204020204" pitchFamily="34" charset="-122"/>
              </a:rPr>
              <a:t>基本结果，是指作为犯罪构成要件的结果，是犯罪行为对该罪直接客体造成的损害。</a:t>
            </a: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a:t>
            </a:r>
            <a:r>
              <a:rPr lang="zh-CN" altLang="en-US" sz="2000" dirty="0">
                <a:solidFill>
                  <a:schemeClr val="tx1"/>
                </a:solidFill>
                <a:latin typeface="微软雅黑" panose="020B0503020204020204" pitchFamily="34" charset="-122"/>
                <a:ea typeface="微软雅黑" panose="020B0503020204020204" pitchFamily="34" charset="-122"/>
              </a:rPr>
              <a:t>加重结果，是指实施一种犯罪行为，具备该罪的基本要件，却引起了另一种严重的危害结果（因而法律规定加重其</a:t>
            </a:r>
            <a:r>
              <a:rPr lang="zh-CN" altLang="en-US" sz="2000" dirty="0" smtClean="0">
                <a:solidFill>
                  <a:schemeClr val="tx1"/>
                </a:solidFill>
                <a:latin typeface="微软雅黑" panose="020B0503020204020204" pitchFamily="34" charset="-122"/>
                <a:ea typeface="微软雅黑" panose="020B0503020204020204" pitchFamily="34" charset="-122"/>
              </a:rPr>
              <a:t>刑罚：</a:t>
            </a:r>
            <a:r>
              <a:rPr lang="zh-CN" altLang="en-US" sz="1400" b="1" dirty="0" smtClean="0">
                <a:solidFill>
                  <a:srgbClr val="00B0F0"/>
                </a:solidFill>
                <a:latin typeface="微软雅黑" panose="020B0503020204020204" pitchFamily="34" charset="-122"/>
                <a:ea typeface="微软雅黑" panose="020B0503020204020204" pitchFamily="34" charset="-122"/>
              </a:rPr>
              <a:t>故意</a:t>
            </a:r>
            <a:r>
              <a:rPr lang="en-US" altLang="zh-CN" sz="1400" b="1" dirty="0" smtClean="0">
                <a:solidFill>
                  <a:srgbClr val="00B0F0"/>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过失</a:t>
            </a:r>
            <a:r>
              <a:rPr lang="en-US" altLang="zh-CN" sz="1400" b="1" dirty="0" smtClean="0">
                <a:solidFill>
                  <a:srgbClr val="00B0F0"/>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故意</a:t>
            </a:r>
            <a:r>
              <a:rPr lang="en-US" altLang="zh-CN" sz="1400" b="1" dirty="0" smtClean="0">
                <a:solidFill>
                  <a:srgbClr val="00B0F0"/>
                </a:solidFill>
                <a:latin typeface="微软雅黑" panose="020B0503020204020204" pitchFamily="34" charset="-122"/>
                <a:ea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rPr>
              <a:t>故意</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rPr>
              <a:t>在刑法上，基本结果是某罪的基本构成要件，加重结果是加重构成的要件。</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672847"/>
            <a:ext cx="5574158" cy="3415030"/>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一、刑法上因果关系的概念</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二、刑法上因果关系的特点</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三、刑法上因果关系的性质</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四、刑法上因果关系的认定</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五、刑法上的因果关系与刑事责任</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6327373" cy="830997"/>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第四节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刑法上的因果关系</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3877985" cy="461665"/>
          </a:xfrm>
          <a:prstGeom prst="rect">
            <a:avLst/>
          </a:prstGeom>
        </p:spPr>
        <p:txBody>
          <a:bodyPr wrap="none">
            <a:spAutoFit/>
          </a:bodyPr>
          <a:lstStyle/>
          <a:p>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一、刑法上因果关系的概念</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269381" y="2641033"/>
            <a:ext cx="6769735" cy="2954655"/>
          </a:xfrm>
          <a:prstGeom prst="rect">
            <a:avLst/>
          </a:prstGeom>
          <a:noFill/>
        </p:spPr>
        <p:txBody>
          <a:bodyPr wrap="square" rtlCol="0">
            <a:spAutoFit/>
          </a:bodyPr>
          <a:lstStyle/>
          <a:p>
            <a:pPr indent="0">
              <a:lnSpc>
                <a:spcPct val="150000"/>
              </a:lnSpc>
              <a:buFont typeface="Arial" panose="020B0604020202020204" pitchFamily="34" charset="0"/>
              <a:buNone/>
            </a:pPr>
            <a:r>
              <a:rPr lang="zh-CN" altLang="en-US" sz="2000" dirty="0" smtClean="0">
                <a:solidFill>
                  <a:schemeClr val="tx1"/>
                </a:solidFill>
                <a:latin typeface="微软雅黑" panose="020B0503020204020204" pitchFamily="34" charset="-122"/>
                <a:ea typeface="微软雅黑" panose="020B0503020204020204" pitchFamily="34" charset="-122"/>
              </a:rPr>
              <a:t>刑法上的因果关系，是指人的危害行为合乎规律性地引起某种危害结果的内在联系。</a:t>
            </a:r>
            <a:endParaRPr lang="en-US" sz="2000" dirty="0" smtClean="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err="1" smtClean="0">
                <a:solidFill>
                  <a:schemeClr val="tx1"/>
                </a:solidFill>
                <a:latin typeface="微软雅黑" panose="020B0503020204020204" pitchFamily="34" charset="-122"/>
                <a:ea typeface="微软雅黑" panose="020B0503020204020204" pitchFamily="34" charset="-122"/>
              </a:rPr>
              <a:t>我国刑法要求</a:t>
            </a:r>
            <a:r>
              <a:rPr lang="en-US" sz="2000" dirty="0" err="1">
                <a:solidFill>
                  <a:schemeClr val="tx1"/>
                </a:solidFill>
                <a:latin typeface="微软雅黑" panose="020B0503020204020204" pitchFamily="34" charset="-122"/>
                <a:ea typeface="微软雅黑" panose="020B0503020204020204" pitchFamily="34" charset="-122"/>
              </a:rPr>
              <a:t>，</a:t>
            </a:r>
            <a:r>
              <a:rPr lang="en-US" sz="2000" dirty="0" err="1" smtClean="0">
                <a:solidFill>
                  <a:schemeClr val="tx1"/>
                </a:solidFill>
                <a:latin typeface="微软雅黑" panose="020B0503020204020204" pitchFamily="34" charset="-122"/>
                <a:ea typeface="微软雅黑" panose="020B0503020204020204" pitchFamily="34" charset="-122"/>
              </a:rPr>
              <a:t>一个人只能对自己实施的危害行为</a:t>
            </a:r>
            <a:r>
              <a:rPr lang="zh-CN" altLang="en-US" sz="1400" b="1" dirty="0" smtClean="0">
                <a:solidFill>
                  <a:srgbClr val="0288DD"/>
                </a:solidFill>
                <a:latin typeface="微软雅黑" panose="020B0503020204020204" pitchFamily="34" charset="-122"/>
                <a:ea typeface="微软雅黑" panose="020B0503020204020204" pitchFamily="34" charset="-122"/>
              </a:rPr>
              <a:t>（实行行为）</a:t>
            </a:r>
            <a:r>
              <a:rPr lang="en-US" sz="2000" dirty="0" err="1" smtClean="0">
                <a:solidFill>
                  <a:schemeClr val="tx1"/>
                </a:solidFill>
                <a:latin typeface="微软雅黑" panose="020B0503020204020204" pitchFamily="34" charset="-122"/>
                <a:ea typeface="微软雅黑" panose="020B0503020204020204" pitchFamily="34" charset="-122"/>
              </a:rPr>
              <a:t>及造成的危害结果</a:t>
            </a:r>
            <a:r>
              <a:rPr lang="zh-CN" altLang="en-US" sz="1400" b="1" dirty="0" smtClean="0">
                <a:solidFill>
                  <a:srgbClr val="0288DD"/>
                </a:solidFill>
                <a:latin typeface="微软雅黑" panose="020B0503020204020204" pitchFamily="34" charset="-122"/>
                <a:ea typeface="微软雅黑" panose="020B0503020204020204" pitchFamily="34" charset="-122"/>
              </a:rPr>
              <a:t>（构成要件结果）</a:t>
            </a:r>
            <a:r>
              <a:rPr lang="en-US" sz="2000" dirty="0" err="1" smtClean="0">
                <a:solidFill>
                  <a:schemeClr val="tx1"/>
                </a:solidFill>
                <a:latin typeface="微软雅黑" panose="020B0503020204020204" pitchFamily="34" charset="-122"/>
                <a:ea typeface="微软雅黑" panose="020B0503020204020204" pitchFamily="34" charset="-122"/>
              </a:rPr>
              <a:t>承担刑事责任</a:t>
            </a:r>
            <a:r>
              <a:rPr lang="en-US" sz="2000" dirty="0" err="1">
                <a:solidFill>
                  <a:schemeClr val="tx1"/>
                </a:solidFill>
                <a:latin typeface="微软雅黑" panose="020B0503020204020204" pitchFamily="34" charset="-122"/>
                <a:ea typeface="微软雅黑" panose="020B0503020204020204" pitchFamily="34" charset="-122"/>
              </a:rPr>
              <a:t>。因此，当危害结果发生时，要使某人对该结果负责，就必须查明他所实施的危害行为与该结果之间具有因果关系</a:t>
            </a:r>
            <a:r>
              <a:rPr lang="en-US" sz="2000" dirty="0">
                <a:solidFill>
                  <a:schemeClr val="tx1"/>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刑法</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上因果关系的特点</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486275" y="1987550"/>
            <a:ext cx="6494145" cy="4108817"/>
          </a:xfrm>
          <a:prstGeom prst="rect">
            <a:avLst/>
          </a:prstGeom>
          <a:noFill/>
        </p:spPr>
        <p:txBody>
          <a:bodyPr wrap="square" rtlCol="0">
            <a:spAutoFit/>
          </a:bodyPr>
          <a:lstStyle/>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因果关系的客观性</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因果关系的相对性</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3. 因果关系的时间顺序性</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4. 因果关系的条件性</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5. 因果关系的复杂性</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en-US" altLang="zh-CN" sz="2000" dirty="0" err="1" smtClean="0">
                <a:solidFill>
                  <a:schemeClr val="tx1"/>
                </a:solidFill>
                <a:latin typeface="微软雅黑" panose="020B0503020204020204" pitchFamily="34" charset="-122"/>
                <a:ea typeface="微软雅黑" panose="020B0503020204020204" pitchFamily="34" charset="-122"/>
              </a:rPr>
              <a:t>一因多果”或“一果多因</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rPr>
              <a:t>（介入因素）</a:t>
            </a:r>
            <a:endParaRPr lang="en-US" altLang="zh-CN" sz="1400" b="1" dirty="0">
              <a:solidFill>
                <a:srgbClr val="0288DD"/>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6. </a:t>
            </a:r>
            <a:r>
              <a:rPr lang="en-US" altLang="zh-CN" sz="2000" dirty="0" err="1" smtClean="0">
                <a:solidFill>
                  <a:schemeClr val="tx1"/>
                </a:solidFill>
                <a:latin typeface="微软雅黑" panose="020B0503020204020204" pitchFamily="34" charset="-122"/>
                <a:ea typeface="微软雅黑" panose="020B0503020204020204" pitchFamily="34" charset="-122"/>
              </a:rPr>
              <a:t>因果关系的必然性和偶然性</a:t>
            </a:r>
            <a:r>
              <a:rPr lang="zh-CN" altLang="en-US" sz="1400" b="1" dirty="0" smtClean="0">
                <a:solidFill>
                  <a:srgbClr val="0288DD"/>
                </a:solidFill>
                <a:latin typeface="微软雅黑" panose="020B0503020204020204" pitchFamily="34" charset="-122"/>
                <a:ea typeface="微软雅黑" panose="020B0503020204020204" pitchFamily="34" charset="-122"/>
              </a:rPr>
              <a:t>（直接危险型和间接危险型）</a:t>
            </a:r>
            <a:endParaRPr lang="en-US" altLang="zh-CN" sz="1400" b="1" dirty="0">
              <a:solidFill>
                <a:srgbClr val="0288DD"/>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75777" y="3095936"/>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刑法</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上因果关系的性质</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21150" y="1987550"/>
            <a:ext cx="7731125" cy="5169535"/>
          </a:xfrm>
          <a:prstGeom prst="rect">
            <a:avLst/>
          </a:prstGeom>
          <a:noFill/>
        </p:spPr>
        <p:txBody>
          <a:bodyPr wrap="square" rtlCol="0">
            <a:spAutoFit/>
          </a:bodyPr>
          <a:lstStyle/>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作为原因的危害行为，必须具有引起危害结果发生的现实可能性</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2. 作为原因的危害行为，必须合乎规律地引起危害结果的发生</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r>
              <a:rPr lang="en-US" altLang="zh-CN" sz="2000" dirty="0">
                <a:solidFill>
                  <a:schemeClr val="tx1"/>
                </a:solidFill>
                <a:latin typeface="微软雅黑" panose="020B0503020204020204" pitchFamily="34" charset="-122"/>
                <a:ea typeface="微软雅黑" panose="020B0503020204020204" pitchFamily="34" charset="-122"/>
              </a:rPr>
              <a:t>判断危害行为是否合乎规律地引起危害结果的发生，需要注意两个问题：</a:t>
            </a:r>
          </a:p>
          <a:p>
            <a:pPr indent="0">
              <a:lnSpc>
                <a:spcPct val="150000"/>
              </a:lnSpc>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rPr>
              <a:t>（1）该结果必须具有回避可能性</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rPr>
              <a:t>（2）所引起的结果应是具体的，具有特定样态、特定规模，发生在特定的时间与地点，</a:t>
            </a:r>
            <a:r>
              <a:rPr lang="en-US" altLang="zh-CN" sz="2000" dirty="0" smtClean="0">
                <a:solidFill>
                  <a:schemeClr val="tx1"/>
                </a:solidFill>
                <a:latin typeface="微软雅黑" panose="020B0503020204020204" pitchFamily="34" charset="-122"/>
                <a:ea typeface="微软雅黑" panose="020B0503020204020204" pitchFamily="34" charset="-122"/>
              </a:rPr>
              <a:t>而不是抽象意义上的结果</a:t>
            </a:r>
            <a:r>
              <a:rPr lang="zh-CN" altLang="en-US" sz="1400" b="1" dirty="0" smtClean="0">
                <a:solidFill>
                  <a:srgbClr val="0288DD"/>
                </a:solidFill>
                <a:latin typeface="微软雅黑" panose="020B0503020204020204" pitchFamily="34" charset="-122"/>
                <a:ea typeface="微软雅黑" panose="020B0503020204020204" pitchFamily="34" charset="-122"/>
              </a:rPr>
              <a:t>（“死因”）</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1232244"/>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上因果关系的认定</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3964767" y="1687354"/>
            <a:ext cx="7731125" cy="4708981"/>
          </a:xfrm>
          <a:prstGeom prst="rect">
            <a:avLst/>
          </a:prstGeom>
          <a:noFill/>
        </p:spPr>
        <p:txBody>
          <a:bodyPr wrap="square" rtlCol="0">
            <a:spAutoFit/>
          </a:bodyPr>
          <a:lstStyle/>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1. 假定的因果关系</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所谓假定的因果关系，是指虽然某个行为导致结果发生，但即使没有该行为，其他情况也会产生同样结果。</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2. 重叠的因果关系</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重叠的因果关系，是指两个以上相互独立的行为，单独不能导致结果的发生，但合并在一起导致结果的发生。</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3. </a:t>
            </a:r>
            <a:r>
              <a:rPr lang="en-US" sz="2000" dirty="0" err="1" smtClean="0">
                <a:solidFill>
                  <a:schemeClr val="tx1"/>
                </a:solidFill>
                <a:latin typeface="微软雅黑" panose="020B0503020204020204" pitchFamily="34" charset="-122"/>
                <a:ea typeface="微软雅黑" panose="020B0503020204020204" pitchFamily="34" charset="-122"/>
              </a:rPr>
              <a:t>流行病学的因果关系</a:t>
            </a:r>
            <a:r>
              <a:rPr lang="zh-CN" altLang="en-US" sz="1400" b="1" dirty="0" smtClean="0">
                <a:solidFill>
                  <a:srgbClr val="0288DD"/>
                </a:solidFill>
                <a:latin typeface="微软雅黑" panose="020B0503020204020204" pitchFamily="34" charset="-122"/>
                <a:ea typeface="微软雅黑" panose="020B0503020204020204" pitchFamily="34" charset="-122"/>
              </a:rPr>
              <a:t>（疫学的因果关系）</a:t>
            </a:r>
            <a:endParaRPr lang="en-US" sz="1400" b="1" dirty="0">
              <a:solidFill>
                <a:srgbClr val="0288DD"/>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en-US" sz="2000" dirty="0" err="1">
                <a:solidFill>
                  <a:schemeClr val="tx1"/>
                </a:solidFill>
                <a:latin typeface="微软雅黑" panose="020B0503020204020204" pitchFamily="34" charset="-122"/>
                <a:ea typeface="微软雅黑" panose="020B0503020204020204" pitchFamily="34" charset="-122"/>
              </a:rPr>
              <a:t>在污染环境罪等犯罪中，要认定犯罪的成立，</a:t>
            </a:r>
            <a:r>
              <a:rPr lang="en-US" sz="2000" dirty="0" err="1" smtClean="0">
                <a:solidFill>
                  <a:schemeClr val="tx1"/>
                </a:solidFill>
                <a:latin typeface="微软雅黑" panose="020B0503020204020204" pitchFamily="34" charset="-122"/>
                <a:ea typeface="微软雅黑" panose="020B0503020204020204" pitchFamily="34" charset="-122"/>
              </a:rPr>
              <a:t>排污行为与环境污染的结果之间必须有因果关系</a:t>
            </a:r>
            <a:r>
              <a:rPr lang="zh-CN" altLang="en-US" sz="2000" dirty="0" smtClean="0">
                <a:solidFill>
                  <a:schemeClr val="tx1"/>
                </a:solidFill>
                <a:latin typeface="微软雅黑" panose="020B0503020204020204" pitchFamily="34" charset="-122"/>
                <a:ea typeface="微软雅黑" panose="020B0503020204020204" pitchFamily="34" charset="-122"/>
              </a:rPr>
              <a:t>，有学者将这种因果关系称为流行病学的因果关系</a:t>
            </a:r>
            <a:r>
              <a:rPr lang="zh-CN" altLang="en-US" sz="1400" b="1" dirty="0" smtClean="0">
                <a:solidFill>
                  <a:srgbClr val="0288DD"/>
                </a:solidFill>
                <a:latin typeface="微软雅黑" panose="020B0503020204020204" pitchFamily="34" charset="-122"/>
                <a:ea typeface="微软雅黑" panose="020B0503020204020204" pitchFamily="34" charset="-122"/>
              </a:rPr>
              <a:t>（</a:t>
            </a:r>
            <a:r>
              <a:rPr lang="en-US" altLang="zh-CN" sz="1400" b="1" dirty="0" smtClean="0">
                <a:solidFill>
                  <a:srgbClr val="0288DD"/>
                </a:solidFill>
                <a:latin typeface="微软雅黑" panose="020B0503020204020204" pitchFamily="34" charset="-122"/>
                <a:ea typeface="微软雅黑" panose="020B0503020204020204" pitchFamily="34" charset="-122"/>
              </a:rPr>
              <a:t>p142</a:t>
            </a:r>
            <a:r>
              <a:rPr lang="zh-CN" altLang="en-US" sz="1400" b="1" dirty="0" smtClean="0">
                <a:solidFill>
                  <a:srgbClr val="0288DD"/>
                </a:solidFill>
                <a:latin typeface="微软雅黑" panose="020B0503020204020204" pitchFamily="34" charset="-122"/>
                <a:ea typeface="微软雅黑" panose="020B0503020204020204" pitchFamily="34" charset="-122"/>
              </a:rPr>
              <a:t>）</a:t>
            </a:r>
            <a:r>
              <a:rPr lang="en-US" sz="2000" dirty="0" smtClean="0">
                <a:solidFill>
                  <a:schemeClr val="tx1"/>
                </a:solidFill>
                <a:latin typeface="微软雅黑" panose="020B0503020204020204" pitchFamily="34" charset="-122"/>
                <a:ea typeface="微软雅黑" panose="020B0503020204020204" pitchFamily="34" charset="-122"/>
              </a:rPr>
              <a:t>。</a:t>
            </a: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3"/>
            <a:chOff x="760461" y="3095936"/>
            <a:chExt cx="3177303" cy="1813323"/>
          </a:xfrm>
        </p:grpSpPr>
        <p:sp>
          <p:nvSpPr>
            <p:cNvPr id="20" name="L 形 19"/>
            <p:cNvSpPr/>
            <p:nvPr/>
          </p:nvSpPr>
          <p:spPr>
            <a:xfrm>
              <a:off x="760461" y="3252082"/>
              <a:ext cx="3177303" cy="1657177"/>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75782" y="3095936"/>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上因果关系的认定</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121150" y="1987550"/>
            <a:ext cx="7731125" cy="5169535"/>
          </a:xfrm>
          <a:prstGeom prst="rect">
            <a:avLst/>
          </a:prstGeom>
          <a:noFill/>
        </p:spPr>
        <p:txBody>
          <a:bodyPr wrap="square" rtlCol="0">
            <a:spAutoFit/>
          </a:bodyPr>
          <a:lstStyle/>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4. 不作为犯的因果关系</a:t>
            </a:r>
          </a:p>
          <a:p>
            <a:pPr indent="0">
              <a:lnSpc>
                <a:spcPct val="150000"/>
              </a:lnSpc>
              <a:buFont typeface="Arial" panose="020B0604020202020204" pitchFamily="34" charset="0"/>
              <a:buNone/>
            </a:pPr>
            <a:r>
              <a:rPr lang="en-US" sz="2000" dirty="0">
                <a:solidFill>
                  <a:schemeClr val="tx1"/>
                </a:solidFill>
                <a:latin typeface="微软雅黑" panose="020B0503020204020204" pitchFamily="34" charset="-122"/>
                <a:ea typeface="微软雅黑" panose="020B0503020204020204" pitchFamily="34" charset="-122"/>
              </a:rPr>
              <a:t>否定不作为犯因果关系说</a:t>
            </a:r>
            <a:r>
              <a:rPr lang="zh-CN" altLang="en-US" sz="2000" dirty="0">
                <a:solidFill>
                  <a:schemeClr val="tx1"/>
                </a:solidFill>
                <a:latin typeface="微软雅黑" panose="020B0503020204020204" pitchFamily="34" charset="-122"/>
                <a:ea typeface="微软雅黑" panose="020B0503020204020204" pitchFamily="34" charset="-122"/>
              </a:rPr>
              <a:t>；不作为准因果关系说；肯定不作为因果关系说。</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5. 中断的因果关系</a:t>
            </a:r>
          </a:p>
          <a:p>
            <a:pPr indent="0">
              <a:lnSpc>
                <a:spcPct val="150000"/>
              </a:lnSpc>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rPr>
              <a:t>中断的因果关系，是指某种危害行为引起或正在引起某种危害结果，在因果关系的发展过程中，介入了另一原因，从而切断了原来的因果关系。</a:t>
            </a:r>
          </a:p>
          <a:p>
            <a:pPr indent="0">
              <a:lnSpc>
                <a:spcPct val="150000"/>
              </a:lnSpc>
              <a:buFont typeface="Arial" panose="020B0604020202020204" pitchFamily="34" charset="0"/>
              <a:buNone/>
            </a:pPr>
            <a:r>
              <a:rPr lang="en-US" altLang="zh-CN" sz="2000" dirty="0" err="1">
                <a:solidFill>
                  <a:schemeClr val="tx1"/>
                </a:solidFill>
                <a:latin typeface="微软雅黑" panose="020B0503020204020204" pitchFamily="34" charset="-122"/>
                <a:ea typeface="微软雅黑" panose="020B0503020204020204" pitchFamily="34" charset="-122"/>
              </a:rPr>
              <a:t>介入因素在司法实践中主要包括三类情形</a:t>
            </a:r>
            <a:r>
              <a:rPr lang="en-US" altLang="zh-CN" sz="2000" dirty="0" err="1" smtClean="0">
                <a:solidFill>
                  <a:schemeClr val="tx1"/>
                </a:solidFill>
                <a:latin typeface="微软雅黑" panose="020B0503020204020204" pitchFamily="34" charset="-122"/>
                <a:ea typeface="微软雅黑" panose="020B0503020204020204" pitchFamily="34" charset="-122"/>
              </a:rPr>
              <a:t>：</a:t>
            </a:r>
            <a:r>
              <a:rPr lang="en-US" altLang="zh-CN" sz="2000" b="1" dirty="0" err="1" smtClean="0">
                <a:solidFill>
                  <a:srgbClr val="0288DD"/>
                </a:solidFill>
                <a:latin typeface="微软雅黑" panose="020B0503020204020204" pitchFamily="34" charset="-122"/>
                <a:ea typeface="微软雅黑" panose="020B0503020204020204" pitchFamily="34" charset="-122"/>
              </a:rPr>
              <a:t>a.</a:t>
            </a:r>
            <a:r>
              <a:rPr lang="en-US" altLang="zh-CN" sz="2000" dirty="0" err="1" smtClean="0">
                <a:solidFill>
                  <a:schemeClr val="tx1"/>
                </a:solidFill>
                <a:latin typeface="微软雅黑" panose="020B0503020204020204" pitchFamily="34" charset="-122"/>
                <a:ea typeface="微软雅黑" panose="020B0503020204020204" pitchFamily="34" charset="-122"/>
              </a:rPr>
              <a:t>自然事件、</a:t>
            </a:r>
            <a:r>
              <a:rPr lang="en-US" altLang="zh-CN" sz="2000" b="1" dirty="0" err="1" smtClean="0">
                <a:solidFill>
                  <a:srgbClr val="0288DD"/>
                </a:solidFill>
                <a:latin typeface="微软雅黑" panose="020B0503020204020204" pitchFamily="34" charset="-122"/>
                <a:ea typeface="微软雅黑" panose="020B0503020204020204" pitchFamily="34" charset="-122"/>
              </a:rPr>
              <a:t>b.</a:t>
            </a:r>
            <a:r>
              <a:rPr lang="en-US" altLang="zh-CN" sz="2000" dirty="0" err="1" smtClean="0">
                <a:solidFill>
                  <a:schemeClr val="tx1"/>
                </a:solidFill>
                <a:latin typeface="微软雅黑" panose="020B0503020204020204" pitchFamily="34" charset="-122"/>
                <a:ea typeface="微软雅黑" panose="020B0503020204020204" pitchFamily="34" charset="-122"/>
              </a:rPr>
              <a:t>他人行为以及</a:t>
            </a:r>
            <a:r>
              <a:rPr lang="en-US" altLang="zh-CN" sz="2000" b="1" dirty="0" err="1" smtClean="0">
                <a:solidFill>
                  <a:srgbClr val="0288DD"/>
                </a:solidFill>
                <a:latin typeface="微软雅黑" panose="020B0503020204020204" pitchFamily="34" charset="-122"/>
                <a:ea typeface="微软雅黑" panose="020B0503020204020204" pitchFamily="34" charset="-122"/>
              </a:rPr>
              <a:t>c.</a:t>
            </a:r>
            <a:r>
              <a:rPr lang="en-US" altLang="zh-CN" sz="2000" dirty="0" err="1" smtClean="0">
                <a:solidFill>
                  <a:schemeClr val="tx1"/>
                </a:solidFill>
                <a:latin typeface="微软雅黑" panose="020B0503020204020204" pitchFamily="34" charset="-122"/>
                <a:ea typeface="微软雅黑" panose="020B0503020204020204" pitchFamily="34" charset="-122"/>
              </a:rPr>
              <a:t>被害人自身行为</a:t>
            </a:r>
            <a:r>
              <a:rPr lang="en-US" altLang="zh-CN"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Arial" panose="020B0604020202020204" pitchFamily="34"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endParaRPr 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15926"/>
            <a:ext cx="3177303" cy="1893334"/>
            <a:chOff x="760461" y="3015926"/>
            <a:chExt cx="3177303" cy="189333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02757" y="3015926"/>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3937775" y="765519"/>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上因果关系的认定</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034155" y="2047875"/>
            <a:ext cx="7731125" cy="2861310"/>
          </a:xfrm>
          <a:prstGeom prst="rect">
            <a:avLst/>
          </a:prstGeom>
          <a:noFill/>
        </p:spPr>
        <p:txBody>
          <a:bodyPr wrap="square" rtlCol="0">
            <a:spAutoFit/>
          </a:bodyPr>
          <a:lstStyle/>
          <a:p>
            <a:pPr marL="342900" indent="-342900">
              <a:lnSpc>
                <a:spcPct val="150000"/>
              </a:lnSpc>
              <a:buFont typeface="Wingdings" panose="05000000000000000000" charset="0"/>
              <a:buChar char=""/>
            </a:pPr>
            <a:r>
              <a:rPr lang="en-US" altLang="zh-CN" sz="2000" dirty="0">
                <a:solidFill>
                  <a:schemeClr val="tx1"/>
                </a:solidFill>
                <a:latin typeface="微软雅黑" panose="020B0503020204020204" pitchFamily="34" charset="-122"/>
                <a:ea typeface="微软雅黑" panose="020B0503020204020204" pitchFamily="34" charset="-122"/>
              </a:rPr>
              <a:t>在案件存在介入因素的场合，判断其对因果关系的影响，需要综合考虑以下三个因素</a:t>
            </a:r>
            <a:r>
              <a:rPr lang="zh-CN" altLang="en-US" sz="20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1.</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最早出现的实行行为导致最后结果发生的可能性的高低；</a:t>
            </a:r>
          </a:p>
          <a:p>
            <a:pPr indent="0">
              <a:lnSpc>
                <a:spcPct val="150000"/>
              </a:lnSpc>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rPr>
              <a:t>2.</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介入因素异常性的</a:t>
            </a:r>
            <a:r>
              <a:rPr lang="zh-CN" altLang="en-US" sz="2000" dirty="0" smtClean="0">
                <a:solidFill>
                  <a:schemeClr val="tx1"/>
                </a:solidFill>
                <a:latin typeface="微软雅黑" panose="020B0503020204020204" pitchFamily="34" charset="-122"/>
                <a:ea typeface="微软雅黑" panose="020B0503020204020204" pitchFamily="34" charset="-122"/>
              </a:rPr>
              <a:t>大小</a:t>
            </a:r>
            <a:r>
              <a:rPr lang="zh-CN" altLang="en-US" sz="1400" b="1" dirty="0" smtClean="0">
                <a:solidFill>
                  <a:srgbClr val="0288DD"/>
                </a:solidFill>
                <a:latin typeface="微软雅黑" panose="020B0503020204020204" pitchFamily="34" charset="-122"/>
                <a:ea typeface="微软雅黑" panose="020B0503020204020204" pitchFamily="34" charset="-122"/>
              </a:rPr>
              <a:t>（考察其与实行行为的关系）</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Wingdings" panose="05000000000000000000" charset="0"/>
              <a:buNone/>
            </a:pPr>
            <a:r>
              <a:rPr lang="en-US" altLang="zh-CN" sz="2000" dirty="0">
                <a:latin typeface="微软雅黑" panose="020B0503020204020204" pitchFamily="34" charset="-122"/>
                <a:ea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介入因素对结果发生的影响力。</a:t>
            </a: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内容占位符 2"/>
          <p:cNvSpPr>
            <a:spLocks noGrp="1" noChangeArrowheads="1"/>
          </p:cNvSpPr>
          <p:nvPr>
            <p:ph idx="1"/>
          </p:nvPr>
        </p:nvSpPr>
        <p:spPr>
          <a:xfrm>
            <a:off x="1981200" y="390525"/>
            <a:ext cx="8229600" cy="5735638"/>
          </a:xfrm>
        </p:spPr>
        <p:txBody>
          <a:bodyPr/>
          <a:lstStyle/>
          <a:p>
            <a:pPr marL="0" indent="0">
              <a:buNone/>
            </a:pPr>
            <a:r>
              <a:rPr lang="en-US" altLang="zh-CN" sz="2000" b="1" dirty="0" smtClean="0">
                <a:solidFill>
                  <a:srgbClr val="0288DD"/>
                </a:solidFill>
                <a:latin typeface="微软雅黑" panose="020B0503020204020204" pitchFamily="34" charset="-122"/>
                <a:ea typeface="微软雅黑" panose="020B0503020204020204" pitchFamily="34" charset="-122"/>
              </a:rPr>
              <a:t>PS</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刑法</a:t>
            </a:r>
            <a:r>
              <a:rPr lang="zh-CN" altLang="en-US" sz="2000" b="1" dirty="0">
                <a:latin typeface="微软雅黑" panose="020B0503020204020204" pitchFamily="34" charset="-122"/>
                <a:ea typeface="微软雅黑" panose="020B0503020204020204" pitchFamily="34" charset="-122"/>
              </a:rPr>
              <a:t>中的因果关系的主要学说</a:t>
            </a:r>
          </a:p>
          <a:p>
            <a:pPr marL="0" indent="0">
              <a:buNone/>
            </a:pPr>
            <a:endParaRPr lang="zh-CN" altLang="en-US" sz="2000" b="1"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（一）条件说</a:t>
            </a: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        行为与结果之间存在着</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没有前者就没有</a:t>
            </a:r>
            <a:r>
              <a:rPr lang="zh-CN" altLang="en-US" sz="2000" dirty="0" smtClean="0">
                <a:latin typeface="微软雅黑" panose="020B0503020204020204" pitchFamily="34" charset="-122"/>
                <a:ea typeface="微软雅黑" panose="020B0503020204020204" pitchFamily="34" charset="-122"/>
              </a:rPr>
              <a:t>后者”的</a:t>
            </a:r>
            <a:r>
              <a:rPr lang="zh-CN" altLang="en-US" sz="2000" dirty="0">
                <a:latin typeface="微软雅黑" panose="020B0503020204020204" pitchFamily="34" charset="-122"/>
                <a:ea typeface="微软雅黑" panose="020B0503020204020204" pitchFamily="34" charset="-122"/>
              </a:rPr>
              <a:t>条件关系时，前者就是后者的原因</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        该说会扩大处罚范围，得出不合理的结论。</a:t>
            </a: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（二）相当因果关系</a:t>
            </a:r>
            <a:r>
              <a:rPr lang="zh-CN" altLang="en-US" sz="2000" dirty="0" smtClean="0">
                <a:latin typeface="微软雅黑" panose="020B0503020204020204" pitchFamily="34" charset="-122"/>
                <a:ea typeface="微软雅黑" panose="020B0503020204020204" pitchFamily="34" charset="-122"/>
              </a:rPr>
              <a:t>说</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        根据</a:t>
            </a:r>
            <a:r>
              <a:rPr lang="zh-CN" altLang="en-US" sz="2000" dirty="0">
                <a:latin typeface="微软雅黑" panose="020B0503020204020204" pitchFamily="34" charset="-122"/>
                <a:ea typeface="微软雅黑" panose="020B0503020204020204" pitchFamily="34" charset="-122"/>
              </a:rPr>
              <a:t>一般社会生活经验，在通常情况下，</a:t>
            </a:r>
            <a:r>
              <a:rPr lang="zh-CN" altLang="en-US" sz="2000" dirty="0" smtClean="0">
                <a:latin typeface="微软雅黑" panose="020B0503020204020204" pitchFamily="34" charset="-122"/>
                <a:ea typeface="微软雅黑" panose="020B0503020204020204" pitchFamily="34" charset="-122"/>
              </a:rPr>
              <a:t>某种</a:t>
            </a:r>
            <a:r>
              <a:rPr lang="zh-CN" altLang="en-US" sz="2000" dirty="0">
                <a:latin typeface="微软雅黑" panose="020B0503020204020204" pitchFamily="34" charset="-122"/>
                <a:ea typeface="微软雅黑" panose="020B0503020204020204" pitchFamily="34" charset="-122"/>
              </a:rPr>
              <a:t>行为产生某种结果被认为是相当时，二者</a:t>
            </a:r>
            <a:r>
              <a:rPr lang="zh-CN" altLang="en-US" sz="2000" dirty="0" smtClean="0">
                <a:latin typeface="微软雅黑" panose="020B0503020204020204" pitchFamily="34" charset="-122"/>
                <a:ea typeface="微软雅黑" panose="020B0503020204020204" pitchFamily="34" charset="-122"/>
              </a:rPr>
              <a:t>之间就</a:t>
            </a:r>
            <a:r>
              <a:rPr lang="zh-CN" altLang="en-US" sz="2000" dirty="0">
                <a:latin typeface="微软雅黑" panose="020B0503020204020204" pitchFamily="34" charset="-122"/>
                <a:ea typeface="微软雅黑" panose="020B0503020204020204" pitchFamily="34" charset="-122"/>
              </a:rPr>
              <a:t>具有因果关系。</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“相当”</a:t>
            </a:r>
            <a:r>
              <a:rPr lang="zh-CN" altLang="en-US" sz="2000" dirty="0">
                <a:latin typeface="微软雅黑" panose="020B0503020204020204" pitchFamily="34" charset="-122"/>
                <a:ea typeface="微软雅黑" panose="020B0503020204020204" pitchFamily="34" charset="-122"/>
              </a:rPr>
              <a:t>是指该行为产生该结果在日常生活中</a:t>
            </a:r>
            <a:r>
              <a:rPr lang="zh-CN" altLang="en-US" sz="2000" dirty="0" smtClean="0">
                <a:latin typeface="微软雅黑" panose="020B0503020204020204" pitchFamily="34" charset="-122"/>
                <a:ea typeface="微软雅黑" panose="020B0503020204020204" pitchFamily="34" charset="-122"/>
              </a:rPr>
              <a:t>是一般</a:t>
            </a:r>
            <a:r>
              <a:rPr lang="zh-CN" altLang="en-US" sz="2000" dirty="0">
                <a:latin typeface="微软雅黑" panose="020B0503020204020204" pitchFamily="34" charset="-122"/>
                <a:ea typeface="微软雅黑" panose="020B0503020204020204" pitchFamily="34" charset="-122"/>
              </a:rPr>
              <a:t>的、正常的，而不是特殊的、异常的。</a:t>
            </a:r>
          </a:p>
          <a:p>
            <a:pPr marL="0" indent="0">
              <a:buNone/>
            </a:pP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1566892"/>
      </p:ext>
    </p:extLst>
  </p:cSld>
  <p:clrMapOvr>
    <a:masterClrMapping/>
  </p:clrMapOvr>
  <p:transition>
    <p:comb/>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内容占位符 2"/>
          <p:cNvSpPr>
            <a:spLocks noGrp="1" noChangeArrowheads="1"/>
          </p:cNvSpPr>
          <p:nvPr>
            <p:ph idx="1"/>
          </p:nvPr>
        </p:nvSpPr>
        <p:spPr>
          <a:xfrm>
            <a:off x="1981200" y="365125"/>
            <a:ext cx="8229600" cy="5761038"/>
          </a:xfrm>
        </p:spPr>
        <p:txBody>
          <a:bodyPr/>
          <a:lstStyle/>
          <a:p>
            <a:pPr marL="0" indent="0">
              <a:buNone/>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相当</a:t>
            </a:r>
            <a:r>
              <a:rPr lang="zh-CN" altLang="en-US" sz="2000" dirty="0">
                <a:latin typeface="微软雅黑" panose="020B0503020204020204" pitchFamily="34" charset="-122"/>
                <a:ea typeface="微软雅黑" panose="020B0503020204020204" pitchFamily="34" charset="-122"/>
              </a:rPr>
              <a:t>性的判断基础：</a:t>
            </a:r>
          </a:p>
          <a:p>
            <a:pPr marL="0" indent="0">
              <a:buNone/>
            </a:pPr>
            <a:endParaRPr lang="en-US" altLang="zh-CN" b="1" dirty="0" smtClean="0"/>
          </a:p>
          <a:p>
            <a:pPr marL="0" indent="0">
              <a:buNone/>
            </a:pPr>
            <a:endParaRPr lang="en-US" altLang="zh-CN" b="1" dirty="0"/>
          </a:p>
          <a:p>
            <a:pPr marL="0" indent="0">
              <a:buNone/>
            </a:pPr>
            <a:endParaRPr lang="en-US" altLang="zh-CN" b="1" dirty="0" smtClean="0"/>
          </a:p>
          <a:p>
            <a:pPr marL="0" indent="0">
              <a:buNone/>
            </a:pPr>
            <a:r>
              <a:rPr lang="zh-CN" altLang="en-US" sz="2000" dirty="0" smtClean="0">
                <a:latin typeface="微软雅黑" panose="020B0503020204020204" pitchFamily="34" charset="-122"/>
                <a:ea typeface="微软雅黑" panose="020B0503020204020204" pitchFamily="34" charset="-122"/>
              </a:rPr>
              <a:t>        主观</a:t>
            </a:r>
            <a:r>
              <a:rPr lang="zh-CN" altLang="en-US" sz="2000" dirty="0">
                <a:latin typeface="微软雅黑" panose="020B0503020204020204" pitchFamily="34" charset="-122"/>
                <a:ea typeface="微软雅黑" panose="020B0503020204020204" pitchFamily="34" charset="-122"/>
              </a:rPr>
              <a:t>说和折中说使因果关系的有无取决于</a:t>
            </a:r>
            <a:r>
              <a:rPr lang="zh-CN" altLang="en-US" sz="2000" dirty="0" smtClean="0">
                <a:latin typeface="微软雅黑" panose="020B0503020204020204" pitchFamily="34" charset="-122"/>
                <a:ea typeface="微软雅黑" panose="020B0503020204020204" pitchFamily="34" charset="-122"/>
              </a:rPr>
              <a:t>行为人</a:t>
            </a:r>
            <a:r>
              <a:rPr lang="zh-CN" altLang="en-US" sz="2000" dirty="0">
                <a:latin typeface="微软雅黑" panose="020B0503020204020204" pitchFamily="34" charset="-122"/>
                <a:ea typeface="微软雅黑" panose="020B0503020204020204" pitchFamily="34" charset="-122"/>
              </a:rPr>
              <a:t>与一般人认识的有无，违反了因果关系的</a:t>
            </a:r>
            <a:r>
              <a:rPr lang="zh-CN" altLang="en-US" sz="2000" dirty="0" smtClean="0">
                <a:latin typeface="微软雅黑" panose="020B0503020204020204" pitchFamily="34" charset="-122"/>
                <a:ea typeface="微软雅黑" panose="020B0503020204020204" pitchFamily="34" charset="-122"/>
              </a:rPr>
              <a:t>客观性</a:t>
            </a:r>
            <a:r>
              <a:rPr lang="zh-CN" altLang="en-US" sz="2000" dirty="0">
                <a:latin typeface="微软雅黑" panose="020B0503020204020204" pitchFamily="34" charset="-122"/>
                <a:ea typeface="微软雅黑" panose="020B0503020204020204" pitchFamily="34" charset="-122"/>
              </a:rPr>
              <a:t>，所以，客观说成为有力的学说。</a:t>
            </a: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        理论修正</a:t>
            </a:r>
            <a:r>
              <a:rPr lang="zh-CN" altLang="en-US" sz="2000" b="1" dirty="0">
                <a:solidFill>
                  <a:srgbClr val="0288DD"/>
                </a:solidFill>
                <a:latin typeface="微软雅黑" panose="020B0503020204020204" pitchFamily="34" charset="-122"/>
                <a:ea typeface="微软雅黑" panose="020B0503020204020204" pitchFamily="34" charset="-122"/>
              </a:rPr>
              <a:t>（综合判断说</a:t>
            </a:r>
            <a:r>
              <a:rPr lang="zh-CN" altLang="en-US" sz="2000" b="1" dirty="0" smtClean="0">
                <a:solidFill>
                  <a:srgbClr val="0288DD"/>
                </a:solidFill>
                <a:latin typeface="微软雅黑" panose="020B0503020204020204" pitchFamily="34" charset="-122"/>
                <a:ea typeface="微软雅黑" panose="020B0503020204020204" pitchFamily="34" charset="-122"/>
              </a:rPr>
              <a:t>）</a:t>
            </a:r>
            <a:endParaRPr lang="zh-CN" altLang="en-US" sz="2000" b="1" dirty="0">
              <a:solidFill>
                <a:srgbClr val="0288DD"/>
              </a:solidFill>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实行行为对结果发生的贡献程度（行为的</a:t>
            </a:r>
            <a:r>
              <a:rPr lang="zh-CN" altLang="en-US" sz="2000" dirty="0" smtClean="0">
                <a:latin typeface="微软雅黑" panose="020B0503020204020204" pitchFamily="34" charset="-122"/>
                <a:ea typeface="微软雅黑" panose="020B0503020204020204" pitchFamily="34" charset="-122"/>
              </a:rPr>
              <a:t>危险性</a:t>
            </a:r>
            <a:r>
              <a:rPr lang="zh-CN" altLang="en-US" sz="2000" dirty="0">
                <a:latin typeface="微软雅黑" panose="020B0503020204020204" pitchFamily="34" charset="-122"/>
                <a:ea typeface="微软雅黑" panose="020B0503020204020204" pitchFamily="34" charset="-122"/>
              </a:rPr>
              <a:t>大小）</a:t>
            </a:r>
          </a:p>
          <a:p>
            <a:pPr marL="0" indent="0">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介入情况的异常性大小（与实行行为的联结）</a:t>
            </a:r>
          </a:p>
          <a:p>
            <a:pPr marL="0" indent="0">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介入情况对结果的影响程度（与实行行为</a:t>
            </a:r>
            <a:r>
              <a:rPr lang="zh-CN" altLang="en-US" sz="2000" dirty="0" smtClean="0">
                <a:latin typeface="微软雅黑" panose="020B0503020204020204" pitchFamily="34" charset="-122"/>
                <a:ea typeface="微软雅黑" panose="020B0503020204020204" pitchFamily="34" charset="-122"/>
              </a:rPr>
              <a:t>相比较</a:t>
            </a:r>
            <a:r>
              <a:rPr lang="zh-CN" altLang="en-US" sz="2000" dirty="0">
                <a:latin typeface="微软雅黑" panose="020B0503020204020204" pitchFamily="34" charset="-122"/>
                <a:ea typeface="微软雅黑" panose="020B0503020204020204" pitchFamily="34" charset="-122"/>
              </a:rPr>
              <a:t>）</a:t>
            </a:r>
          </a:p>
          <a:p>
            <a:pPr marL="0" indent="0">
              <a:buNone/>
            </a:pPr>
            <a:endParaRPr lang="en-US" altLang="zh-CN" b="1" dirty="0"/>
          </a:p>
        </p:txBody>
      </p:sp>
      <p:graphicFrame>
        <p:nvGraphicFramePr>
          <p:cNvPr id="5" name="表格 4"/>
          <p:cNvGraphicFramePr/>
          <p:nvPr>
            <p:extLst>
              <p:ext uri="{D42A27DB-BD31-4B8C-83A1-F6EECF244321}">
                <p14:modId xmlns:p14="http://schemas.microsoft.com/office/powerpoint/2010/main" val="2235777431"/>
              </p:ext>
            </p:extLst>
          </p:nvPr>
        </p:nvGraphicFramePr>
        <p:xfrm>
          <a:off x="2891518" y="950232"/>
          <a:ext cx="7115175" cy="1189038"/>
        </p:xfrm>
        <a:graphic>
          <a:graphicData uri="http://schemas.openxmlformats.org/drawingml/2006/table">
            <a:tbl>
              <a:tblPr firstRow="1" bandRow="1">
                <a:tableStyleId>{F5AB1C69-6EDB-4FF4-983F-18BD219EF322}</a:tableStyleId>
              </a:tblPr>
              <a:tblGrid>
                <a:gridCol w="1454785"/>
                <a:gridCol w="5660390"/>
              </a:tblGrid>
              <a:tr h="396346">
                <a:tc>
                  <a:txBody>
                    <a:bodyPr/>
                    <a:lstStyle/>
                    <a:p>
                      <a:pPr algn="ctr">
                        <a:buNone/>
                      </a:pPr>
                      <a:r>
                        <a:rPr lang="zh-CN" altLang="en-US" sz="2000" b="0" dirty="0">
                          <a:solidFill>
                            <a:schemeClr val="tx1"/>
                          </a:solidFill>
                          <a:effectLst>
                            <a:outerShdw blurRad="38100" dist="19050" dir="2700000" algn="tl" rotWithShape="0">
                              <a:schemeClr val="dk1">
                                <a:alpha val="40000"/>
                              </a:schemeClr>
                            </a:outerShdw>
                          </a:effectLst>
                          <a:uFillTx/>
                          <a:latin typeface="微软雅黑" panose="020B0503020204020204" pitchFamily="34" charset="-122"/>
                          <a:ea typeface="微软雅黑" panose="020B0503020204020204" pitchFamily="34" charset="-122"/>
                        </a:rPr>
                        <a:t>客观说</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zh-CN" altLang="en-US" sz="2000" b="0" dirty="0">
                          <a:solidFill>
                            <a:schemeClr val="tx1"/>
                          </a:solidFill>
                          <a:effectLst/>
                          <a:latin typeface="微软雅黑" panose="020B0503020204020204" pitchFamily="34" charset="-122"/>
                          <a:ea typeface="微软雅黑" panose="020B0503020204020204" pitchFamily="34" charset="-122"/>
                        </a:rPr>
                        <a:t>行为时的一切客观事实</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396346">
                <a:tc>
                  <a:txBody>
                    <a:bodyPr/>
                    <a:lstStyle/>
                    <a:p>
                      <a:pPr algn="ctr">
                        <a:buNone/>
                      </a:pPr>
                      <a:r>
                        <a:rPr lang="zh-CN" altLang="en-US" sz="2000" b="0"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主观说</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zh-CN" altLang="en-US" sz="2000" b="0" dirty="0">
                          <a:solidFill>
                            <a:schemeClr val="tx1"/>
                          </a:solidFill>
                          <a:effectLst/>
                          <a:latin typeface="微软雅黑" panose="020B0503020204020204" pitchFamily="34" charset="-122"/>
                          <a:ea typeface="微软雅黑" panose="020B0503020204020204" pitchFamily="34" charset="-122"/>
                        </a:rPr>
                        <a:t>行为人认识到或可能认识到的事实</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396346">
                <a:tc>
                  <a:txBody>
                    <a:bodyPr/>
                    <a:lstStyle/>
                    <a:p>
                      <a:pPr algn="ctr">
                        <a:buNone/>
                      </a:pPr>
                      <a:r>
                        <a:rPr lang="zh-CN" altLang="en-US" sz="2000" b="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折中说</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zh-CN" altLang="en-US" sz="2000" b="0" dirty="0">
                          <a:solidFill>
                            <a:schemeClr val="tx1"/>
                          </a:solidFill>
                          <a:effectLst/>
                          <a:latin typeface="微软雅黑" panose="020B0503020204020204" pitchFamily="34" charset="-122"/>
                          <a:ea typeface="微软雅黑" panose="020B0503020204020204" pitchFamily="34" charset="-122"/>
                        </a:rPr>
                        <a:t>一般人能认识到以及行为人特别认识到的事实</a:t>
                      </a:r>
                    </a:p>
                  </a:txBody>
                  <a:tcPr marT="45732" marB="45732">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bl>
          </a:graphicData>
        </a:graphic>
      </p:graphicFrame>
    </p:spTree>
    <p:extLst>
      <p:ext uri="{BB962C8B-B14F-4D97-AF65-F5344CB8AC3E}">
        <p14:creationId xmlns:p14="http://schemas.microsoft.com/office/powerpoint/2010/main" val="2257094506"/>
      </p:ext>
    </p:extLst>
  </p:cSld>
  <p:clrMapOvr>
    <a:masterClrMapping/>
  </p:clrMapOvr>
  <p:transition>
    <p:comb/>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内容占位符 2"/>
          <p:cNvSpPr>
            <a:spLocks noGrp="1" noChangeArrowheads="1"/>
          </p:cNvSpPr>
          <p:nvPr>
            <p:ph idx="1"/>
          </p:nvPr>
        </p:nvSpPr>
        <p:spPr>
          <a:xfrm>
            <a:off x="1981200" y="373063"/>
            <a:ext cx="8229600" cy="5753100"/>
          </a:xfrm>
        </p:spPr>
        <p:txBody>
          <a:bodyPr/>
          <a:lstStyle/>
          <a:p>
            <a:pPr marL="0" indent="0">
              <a:buNone/>
              <a:defRPr/>
            </a:pPr>
            <a:r>
              <a:rPr lang="zh-CN" altLang="en-US" sz="2000" dirty="0">
                <a:latin typeface="微软雅黑" panose="020B0503020204020204" pitchFamily="34" charset="-122"/>
                <a:ea typeface="微软雅黑" panose="020B0503020204020204" pitchFamily="34" charset="-122"/>
              </a:rPr>
              <a:t>（三）客观归责</a:t>
            </a:r>
            <a:r>
              <a:rPr lang="zh-CN" altLang="en-US" sz="2000" dirty="0" smtClean="0">
                <a:latin typeface="微软雅黑" panose="020B0503020204020204" pitchFamily="34" charset="-122"/>
                <a:ea typeface="微软雅黑" panose="020B0503020204020204" pitchFamily="34" charset="-122"/>
              </a:rPr>
              <a:t>论</a:t>
            </a:r>
            <a:endParaRPr lang="zh-CN" altLang="en-US" sz="2000" dirty="0">
              <a:latin typeface="微软雅黑" panose="020B0503020204020204" pitchFamily="34" charset="-122"/>
              <a:ea typeface="微软雅黑" panose="020B0503020204020204" pitchFamily="34" charset="-122"/>
            </a:endParaRPr>
          </a:p>
          <a:p>
            <a:pPr marL="0" indent="0">
              <a:buNone/>
              <a:defRPr/>
            </a:pPr>
            <a:r>
              <a:rPr lang="zh-CN" altLang="en-US" sz="2000" dirty="0">
                <a:latin typeface="微软雅黑" panose="020B0503020204020204" pitchFamily="34" charset="-122"/>
                <a:ea typeface="微软雅黑" panose="020B0503020204020204" pitchFamily="34" charset="-122"/>
              </a:rPr>
              <a:t>        以条件说为前提，在与结果有条件关系的</a:t>
            </a:r>
            <a:r>
              <a:rPr lang="zh-CN" altLang="en-US" sz="2000" dirty="0" smtClean="0">
                <a:latin typeface="微软雅黑" panose="020B0503020204020204" pitchFamily="34" charset="-122"/>
                <a:ea typeface="微软雅黑" panose="020B0503020204020204" pitchFamily="34" charset="-122"/>
              </a:rPr>
              <a:t>行为中</a:t>
            </a:r>
            <a:r>
              <a:rPr lang="zh-CN" altLang="en-US" sz="2000" dirty="0">
                <a:latin typeface="微软雅黑" panose="020B0503020204020204" pitchFamily="34" charset="-122"/>
                <a:ea typeface="微软雅黑" panose="020B0503020204020204" pitchFamily="34" charset="-122"/>
              </a:rPr>
              <a:t>，只有当行为制造了不被允许的危险，而且</a:t>
            </a:r>
            <a:r>
              <a:rPr lang="zh-CN" altLang="en-US" sz="2000" dirty="0" smtClean="0">
                <a:latin typeface="微软雅黑" panose="020B0503020204020204" pitchFamily="34" charset="-122"/>
                <a:ea typeface="微软雅黑" panose="020B0503020204020204" pitchFamily="34" charset="-122"/>
              </a:rPr>
              <a:t>该危险</a:t>
            </a:r>
            <a:r>
              <a:rPr lang="zh-CN" altLang="en-US" sz="2000" dirty="0">
                <a:latin typeface="微软雅黑" panose="020B0503020204020204" pitchFamily="34" charset="-122"/>
                <a:ea typeface="微软雅黑" panose="020B0503020204020204" pitchFamily="34" charset="-122"/>
              </a:rPr>
              <a:t>是在符合构成要件的结果中（或在构成</a:t>
            </a:r>
            <a:r>
              <a:rPr lang="zh-CN" altLang="en-US" sz="2000" dirty="0" smtClean="0">
                <a:latin typeface="微软雅黑" panose="020B0503020204020204" pitchFamily="34" charset="-122"/>
                <a:ea typeface="微软雅黑" panose="020B0503020204020204" pitchFamily="34" charset="-122"/>
              </a:rPr>
              <a:t>要件的</a:t>
            </a:r>
            <a:r>
              <a:rPr lang="zh-CN" altLang="en-US" sz="2000" dirty="0">
                <a:latin typeface="微软雅黑" panose="020B0503020204020204" pitchFamily="34" charset="-122"/>
                <a:ea typeface="微软雅黑" panose="020B0503020204020204" pitchFamily="34" charset="-122"/>
              </a:rPr>
              <a:t>保护范围内）实现时，才能将该结果归责于</a:t>
            </a:r>
            <a:r>
              <a:rPr lang="zh-CN" altLang="en-US" sz="2000" dirty="0" smtClean="0">
                <a:latin typeface="微软雅黑" panose="020B0503020204020204" pitchFamily="34" charset="-122"/>
                <a:ea typeface="微软雅黑" panose="020B0503020204020204" pitchFamily="34" charset="-122"/>
              </a:rPr>
              <a:t>行为。</a:t>
            </a:r>
            <a:endParaRPr lang="en-US" altLang="zh-CN" sz="2000" dirty="0">
              <a:latin typeface="微软雅黑" panose="020B0503020204020204" pitchFamily="34" charset="-122"/>
              <a:ea typeface="微软雅黑" panose="020B0503020204020204" pitchFamily="34" charset="-122"/>
            </a:endParaRPr>
          </a:p>
          <a:p>
            <a:pPr marL="0" indent="0">
              <a:buNone/>
              <a:defRPr/>
            </a:pPr>
            <a:r>
              <a:rPr lang="en-US" altLang="zh-CN" sz="2000" dirty="0">
                <a:latin typeface="微软雅黑" panose="020B0503020204020204" pitchFamily="34" charset="-122"/>
                <a:ea typeface="微软雅黑" panose="020B0503020204020204" pitchFamily="34" charset="-122"/>
              </a:rPr>
              <a:t>        1.</a:t>
            </a:r>
            <a:r>
              <a:rPr lang="zh-CN" altLang="en-US" sz="2000" dirty="0">
                <a:latin typeface="微软雅黑" panose="020B0503020204020204" pitchFamily="34" charset="-122"/>
                <a:ea typeface="微软雅黑" panose="020B0503020204020204" pitchFamily="34" charset="-122"/>
              </a:rPr>
              <a:t>制造不被允许的</a:t>
            </a:r>
            <a:r>
              <a:rPr lang="zh-CN" altLang="en-US" sz="2000" dirty="0" smtClean="0">
                <a:latin typeface="微软雅黑" panose="020B0503020204020204" pitchFamily="34" charset="-122"/>
                <a:ea typeface="微软雅黑" panose="020B0503020204020204" pitchFamily="34" charset="-122"/>
              </a:rPr>
              <a:t>危险</a:t>
            </a:r>
            <a:endParaRPr lang="en-US" altLang="zh-CN" sz="2000" dirty="0">
              <a:latin typeface="微软雅黑" panose="020B0503020204020204" pitchFamily="34" charset="-122"/>
              <a:ea typeface="微软雅黑" panose="020B0503020204020204" pitchFamily="34" charset="-122"/>
              <a:sym typeface="Arial" panose="020B0604020202020204"/>
            </a:endParaRPr>
          </a:p>
          <a:p>
            <a:pPr marL="0" indent="0">
              <a:buNone/>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zh-CN" altLang="en-US" sz="2000" dirty="0">
                <a:latin typeface="微软雅黑" panose="020B0503020204020204" pitchFamily="34" charset="-122"/>
                <a:ea typeface="微软雅黑" panose="020B0503020204020204" pitchFamily="34" charset="-122"/>
                <a:cs typeface="+mn-ea"/>
                <a:sym typeface="Arial" panose="020B0604020202020204"/>
              </a:rPr>
              <a:t>（</a:t>
            </a:r>
            <a:r>
              <a:rPr lang="en-US" altLang="zh-CN" sz="2000" dirty="0">
                <a:latin typeface="微软雅黑" panose="020B0503020204020204" pitchFamily="34" charset="-122"/>
                <a:ea typeface="微软雅黑" panose="020B0503020204020204" pitchFamily="34" charset="-122"/>
                <a:cs typeface="+mn-ea"/>
                <a:sym typeface="Arial" panose="020B0604020202020204"/>
              </a:rPr>
              <a:t>1</a:t>
            </a:r>
            <a:r>
              <a:rPr lang="zh-CN" altLang="en-US" sz="2000" dirty="0">
                <a:latin typeface="微软雅黑" panose="020B0503020204020204" pitchFamily="34" charset="-122"/>
                <a:ea typeface="微软雅黑" panose="020B0503020204020204" pitchFamily="34" charset="-122"/>
                <a:cs typeface="+mn-ea"/>
                <a:sym typeface="Arial" panose="020B0604020202020204"/>
              </a:rPr>
              <a:t>）减少危险：当行为人为被害人减少既存</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的</a:t>
            </a:r>
            <a:r>
              <a:rPr lang="zh-CN" altLang="en-US" sz="2000" dirty="0">
                <a:latin typeface="微软雅黑" panose="020B0503020204020204" pitchFamily="34" charset="-122"/>
                <a:ea typeface="微软雅黑" panose="020B0503020204020204" pitchFamily="34" charset="-122"/>
                <a:cs typeface="+mn-ea"/>
                <a:sym typeface="Arial" panose="020B0604020202020204"/>
              </a:rPr>
              <a:t>危险即将因果经过修正为对被害人有利的状况</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时，</a:t>
            </a:r>
            <a:r>
              <a:rPr lang="zh-CN" altLang="en-US" sz="2000" dirty="0">
                <a:latin typeface="微软雅黑" panose="020B0503020204020204" pitchFamily="34" charset="-122"/>
                <a:ea typeface="微软雅黑" panose="020B0503020204020204" pitchFamily="34" charset="-122"/>
                <a:cs typeface="+mn-ea"/>
                <a:sym typeface="Arial" panose="020B0604020202020204"/>
              </a:rPr>
              <a:t>就应排除结果的归</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责</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zh-CN" altLang="en-US"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a:latin typeface="微软雅黑" panose="020B0503020204020204" pitchFamily="34" charset="-122"/>
                <a:ea typeface="微软雅黑" panose="020B0503020204020204" pitchFamily="34" charset="-122"/>
                <a:cs typeface="+mn-ea"/>
                <a:sym typeface="Arial" panose="020B0604020202020204"/>
              </a:rPr>
              <a:t>2</a:t>
            </a:r>
            <a:r>
              <a:rPr lang="zh-CN" altLang="en-US" sz="2000" dirty="0">
                <a:latin typeface="微软雅黑" panose="020B0503020204020204" pitchFamily="34" charset="-122"/>
                <a:ea typeface="微软雅黑" panose="020B0503020204020204" pitchFamily="34" charset="-122"/>
                <a:cs typeface="+mn-ea"/>
                <a:sym typeface="Arial" panose="020B0604020202020204"/>
              </a:rPr>
              <a:t>）没有制造危险：当行为人没有以在法律</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上重要</a:t>
            </a:r>
            <a:r>
              <a:rPr lang="zh-CN" altLang="en-US" sz="2000" dirty="0">
                <a:latin typeface="微软雅黑" panose="020B0503020204020204" pitchFamily="34" charset="-122"/>
                <a:ea typeface="微软雅黑" panose="020B0503020204020204" pitchFamily="34" charset="-122"/>
                <a:cs typeface="+mn-ea"/>
                <a:sym typeface="Arial" panose="020B0604020202020204"/>
              </a:rPr>
              <a:t>的方式制造危险时，就应排除结果的归</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责</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zh-CN" altLang="en-US" sz="2000" dirty="0">
                <a:latin typeface="微软雅黑" panose="020B0503020204020204" pitchFamily="34" charset="-122"/>
                <a:ea typeface="微软雅黑" panose="020B0503020204020204" pitchFamily="34" charset="-122"/>
                <a:cs typeface="+mn-ea"/>
                <a:sym typeface="Arial" panose="020B0604020202020204"/>
              </a:rPr>
              <a:t>（</a:t>
            </a:r>
            <a:r>
              <a:rPr lang="en-US" altLang="zh-CN" sz="2000" dirty="0">
                <a:latin typeface="微软雅黑" panose="020B0503020204020204" pitchFamily="34" charset="-122"/>
                <a:ea typeface="微软雅黑" panose="020B0503020204020204" pitchFamily="34" charset="-122"/>
                <a:cs typeface="+mn-ea"/>
                <a:sym typeface="Arial" panose="020B0604020202020204"/>
              </a:rPr>
              <a:t>3</a:t>
            </a:r>
            <a:r>
              <a:rPr lang="zh-CN" altLang="en-US" sz="2000" dirty="0">
                <a:latin typeface="微软雅黑" panose="020B0503020204020204" pitchFamily="34" charset="-122"/>
                <a:ea typeface="微软雅黑" panose="020B0503020204020204" pitchFamily="34" charset="-122"/>
                <a:cs typeface="+mn-ea"/>
                <a:sym typeface="Arial" panose="020B0604020202020204"/>
              </a:rPr>
              <a:t>）制造出被允许的危险：虽然行为人已经</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制造</a:t>
            </a:r>
            <a:r>
              <a:rPr lang="zh-CN" altLang="en-US" sz="2000" dirty="0">
                <a:latin typeface="微软雅黑" panose="020B0503020204020204" pitchFamily="34" charset="-122"/>
                <a:ea typeface="微软雅黑" panose="020B0503020204020204" pitchFamily="34" charset="-122"/>
                <a:cs typeface="+mn-ea"/>
                <a:sym typeface="Arial" panose="020B0604020202020204"/>
              </a:rPr>
              <a:t>出法律上具有重要性的危险，但当其是为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法律所</a:t>
            </a:r>
            <a:r>
              <a:rPr lang="zh-CN" altLang="en-US" sz="2000" dirty="0">
                <a:latin typeface="微软雅黑" panose="020B0503020204020204" pitchFamily="34" charset="-122"/>
                <a:ea typeface="微软雅黑" panose="020B0503020204020204" pitchFamily="34" charset="-122"/>
                <a:cs typeface="+mn-ea"/>
                <a:sym typeface="Arial" panose="020B0604020202020204"/>
              </a:rPr>
              <a:t>允许时，则要排除结果的归</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责</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实现不被允许的危险</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a:latin typeface="微软雅黑" panose="020B0503020204020204" pitchFamily="34" charset="-122"/>
                <a:ea typeface="微软雅黑" panose="020B0503020204020204" pitchFamily="34" charset="-122"/>
                <a:cs typeface="+mn-ea"/>
                <a:sym typeface="Arial" panose="020B0604020202020204"/>
              </a:rPr>
              <a:t>1</a:t>
            </a:r>
            <a:r>
              <a:rPr lang="zh-CN" altLang="en-US" sz="2000" dirty="0">
                <a:latin typeface="微软雅黑" panose="020B0503020204020204" pitchFamily="34" charset="-122"/>
                <a:ea typeface="微软雅黑" panose="020B0503020204020204" pitchFamily="34" charset="-122"/>
                <a:cs typeface="+mn-ea"/>
                <a:sym typeface="Arial" panose="020B0604020202020204"/>
              </a:rPr>
              <a:t>）未实现风险：虽然行为制造了法律所不</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允许的</a:t>
            </a:r>
            <a:r>
              <a:rPr lang="zh-CN" altLang="en-US" sz="2000" dirty="0">
                <a:latin typeface="微软雅黑" panose="020B0503020204020204" pitchFamily="34" charset="-122"/>
                <a:ea typeface="微软雅黑" panose="020B0503020204020204" pitchFamily="34" charset="-122"/>
                <a:cs typeface="+mn-ea"/>
                <a:sym typeface="Arial" panose="020B0604020202020204"/>
              </a:rPr>
              <a:t>危险，但结果的发生并不是由其所导致，而是</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偶然</a:t>
            </a:r>
            <a:r>
              <a:rPr lang="zh-CN" altLang="en-US" sz="2000" dirty="0">
                <a:latin typeface="微软雅黑" panose="020B0503020204020204" pitchFamily="34" charset="-122"/>
                <a:ea typeface="微软雅黑" panose="020B0503020204020204" pitchFamily="34" charset="-122"/>
                <a:cs typeface="+mn-ea"/>
                <a:sym typeface="Arial" panose="020B0604020202020204"/>
              </a:rPr>
              <a:t>与危险同时发生时，就应排除结果的归</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责</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zh-CN" altLang="en-US" sz="2000" dirty="0">
                <a:latin typeface="微软雅黑" panose="020B0503020204020204" pitchFamily="34" charset="-122"/>
                <a:ea typeface="微软雅黑" panose="020B0503020204020204" pitchFamily="34" charset="-122"/>
                <a:cs typeface="+mn-ea"/>
                <a:sym typeface="Arial" panose="020B0604020202020204"/>
              </a:rPr>
              <a:t>（</a:t>
            </a:r>
            <a:r>
              <a:rPr lang="en-US" altLang="zh-CN" sz="2000" dirty="0">
                <a:latin typeface="微软雅黑" panose="020B0503020204020204" pitchFamily="34" charset="-122"/>
                <a:ea typeface="微软雅黑" panose="020B0503020204020204" pitchFamily="34" charset="-122"/>
                <a:cs typeface="+mn-ea"/>
                <a:sym typeface="Arial" panose="020B0604020202020204"/>
              </a:rPr>
              <a:t>2</a:t>
            </a:r>
            <a:r>
              <a:rPr lang="zh-CN" altLang="en-US" sz="2000" dirty="0">
                <a:latin typeface="微软雅黑" panose="020B0503020204020204" pitchFamily="34" charset="-122"/>
                <a:ea typeface="微软雅黑" panose="020B0503020204020204" pitchFamily="34" charset="-122"/>
                <a:cs typeface="+mn-ea"/>
                <a:sym typeface="Arial" panose="020B0604020202020204"/>
              </a:rPr>
              <a:t>）未实现不被允许的危险：即使实现了危险</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，但</a:t>
            </a:r>
            <a:r>
              <a:rPr lang="zh-CN" altLang="en-US" sz="2000" dirty="0">
                <a:latin typeface="微软雅黑" panose="020B0503020204020204" pitchFamily="34" charset="-122"/>
                <a:ea typeface="微软雅黑" panose="020B0503020204020204" pitchFamily="34" charset="-122"/>
                <a:cs typeface="+mn-ea"/>
                <a:sym typeface="Arial" panose="020B0604020202020204"/>
              </a:rPr>
              <a:t>其并非不为法律所允许时，也要排除结果的归</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责</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p:txBody>
      </p:sp>
    </p:spTree>
    <p:extLst>
      <p:ext uri="{BB962C8B-B14F-4D97-AF65-F5344CB8AC3E}">
        <p14:creationId xmlns:p14="http://schemas.microsoft.com/office/powerpoint/2010/main" val="2081602618"/>
      </p:ext>
    </p:extLst>
  </p:cSld>
  <p:clrMapOvr>
    <a:masterClrMapping/>
  </p:clrMapOvr>
  <p:transition>
    <p:comb/>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内容占位符 2"/>
          <p:cNvSpPr>
            <a:spLocks noGrp="1" noChangeArrowheads="1"/>
          </p:cNvSpPr>
          <p:nvPr>
            <p:ph idx="1"/>
          </p:nvPr>
        </p:nvSpPr>
        <p:spPr>
          <a:xfrm>
            <a:off x="1981200" y="365125"/>
            <a:ext cx="8229600" cy="5761038"/>
          </a:xfrm>
        </p:spPr>
        <p:txBody>
          <a:bodyPr/>
          <a:lstStyle/>
          <a:p>
            <a:pPr marL="0" indent="0">
              <a:buNone/>
              <a:defRPr/>
            </a:pPr>
            <a:r>
              <a:rPr lang="zh-CN" altLang="en-US" b="1" dirty="0" smtClean="0">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a:latin typeface="微软雅黑" panose="020B0503020204020204" pitchFamily="34" charset="-122"/>
                <a:ea typeface="微软雅黑" panose="020B0503020204020204" pitchFamily="34" charset="-122"/>
                <a:cs typeface="+mn-ea"/>
                <a:sym typeface="Arial" panose="020B0604020202020204"/>
              </a:rPr>
              <a:t>3</a:t>
            </a:r>
            <a:r>
              <a:rPr lang="zh-CN" altLang="en-US" sz="2000" dirty="0">
                <a:latin typeface="微软雅黑" panose="020B0503020204020204" pitchFamily="34" charset="-122"/>
                <a:ea typeface="微软雅黑" panose="020B0503020204020204" pitchFamily="34" charset="-122"/>
                <a:cs typeface="+mn-ea"/>
                <a:sym typeface="Arial" panose="020B0604020202020204"/>
              </a:rPr>
              <a:t>）结果不在注意规范保护范围之内：虽然</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发生了</a:t>
            </a:r>
            <a:r>
              <a:rPr lang="zh-CN" altLang="en-US" sz="2000" dirty="0">
                <a:latin typeface="微软雅黑" panose="020B0503020204020204" pitchFamily="34" charset="-122"/>
                <a:ea typeface="微软雅黑" panose="020B0503020204020204" pitchFamily="34" charset="-122"/>
                <a:cs typeface="+mn-ea"/>
                <a:sym typeface="Arial" panose="020B0604020202020204"/>
              </a:rPr>
              <a:t>结果，但</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其并不</a:t>
            </a:r>
            <a:r>
              <a:rPr lang="zh-CN" altLang="en-US" sz="2000" dirty="0">
                <a:latin typeface="微软雅黑" panose="020B0503020204020204" pitchFamily="34" charset="-122"/>
                <a:ea typeface="微软雅黑" panose="020B0503020204020204" pitchFamily="34" charset="-122"/>
                <a:cs typeface="+mn-ea"/>
                <a:sym typeface="Arial" panose="020B0604020202020204"/>
              </a:rPr>
              <a:t>在注意规范的保护范围之内的</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，仍然</a:t>
            </a:r>
            <a:r>
              <a:rPr lang="zh-CN" altLang="en-US" sz="2000" dirty="0">
                <a:latin typeface="微软雅黑" panose="020B0503020204020204" pitchFamily="34" charset="-122"/>
                <a:ea typeface="微软雅黑" panose="020B0503020204020204" pitchFamily="34" charset="-122"/>
                <a:cs typeface="+mn-ea"/>
                <a:sym typeface="Arial" panose="020B0604020202020204"/>
              </a:rPr>
              <a:t>不具有可归责性</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en-US" altLang="zh-CN" sz="2000" dirty="0" smtClean="0">
                <a:latin typeface="微软雅黑" panose="020B0503020204020204" pitchFamily="34" charset="-122"/>
                <a:ea typeface="微软雅黑" panose="020B0503020204020204" pitchFamily="34" charset="-122"/>
              </a:rPr>
              <a:t>        3</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结果属于构成要件的保护范围</a:t>
            </a:r>
            <a:r>
              <a:rPr lang="zh-CN" altLang="en-US" sz="2000" dirty="0" smtClean="0">
                <a:latin typeface="微软雅黑" panose="020B0503020204020204" pitchFamily="34" charset="-122"/>
                <a:ea typeface="微软雅黑" panose="020B0503020204020204" pitchFamily="34" charset="-122"/>
              </a:rPr>
              <a:t>之内</a:t>
            </a:r>
            <a:endParaRPr lang="en-US" altLang="zh-CN" sz="2000" dirty="0" smtClean="0">
              <a:latin typeface="微软雅黑" panose="020B0503020204020204" pitchFamily="34" charset="-122"/>
              <a:ea typeface="微软雅黑" panose="020B0503020204020204" pitchFamily="34" charset="-122"/>
            </a:endParaRPr>
          </a:p>
          <a:p>
            <a:pPr marL="0" indent="0">
              <a:buNone/>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a:latin typeface="微软雅黑" panose="020B0503020204020204" pitchFamily="34" charset="-122"/>
                <a:ea typeface="微软雅黑" panose="020B0503020204020204" pitchFamily="34" charset="-122"/>
                <a:cs typeface="+mn-ea"/>
                <a:sym typeface="Arial" panose="020B0604020202020204"/>
              </a:rPr>
              <a:t>1</a:t>
            </a:r>
            <a:r>
              <a:rPr lang="zh-CN" altLang="en-US" sz="2000" dirty="0">
                <a:latin typeface="微软雅黑" panose="020B0503020204020204" pitchFamily="34" charset="-122"/>
                <a:ea typeface="微软雅黑" panose="020B0503020204020204" pitchFamily="34" charset="-122"/>
                <a:cs typeface="+mn-ea"/>
                <a:sym typeface="Arial" panose="020B0604020202020204"/>
              </a:rPr>
              <a:t>）参与故意的自危行为：行为人参与</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被害人故意</a:t>
            </a:r>
            <a:r>
              <a:rPr lang="zh-CN" altLang="en-US" sz="2000" dirty="0">
                <a:latin typeface="微软雅黑" panose="020B0503020204020204" pitchFamily="34" charset="-122"/>
                <a:ea typeface="微软雅黑" panose="020B0503020204020204" pitchFamily="34" charset="-122"/>
                <a:cs typeface="+mn-ea"/>
                <a:sym typeface="Arial" panose="020B0604020202020204"/>
              </a:rPr>
              <a:t>的自损行为时，不能将被害人的自损结果</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归责</a:t>
            </a:r>
            <a:r>
              <a:rPr lang="zh-CN" altLang="en-US" sz="2000" dirty="0">
                <a:latin typeface="微软雅黑" panose="020B0503020204020204" pitchFamily="34" charset="-122"/>
                <a:ea typeface="微软雅黑" panose="020B0503020204020204" pitchFamily="34" charset="-122"/>
                <a:cs typeface="+mn-ea"/>
                <a:sym typeface="Arial" panose="020B0604020202020204"/>
              </a:rPr>
              <a:t>于行为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人</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zh-CN" altLang="en-US"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a:latin typeface="微软雅黑" panose="020B0503020204020204" pitchFamily="34" charset="-122"/>
                <a:ea typeface="微软雅黑" panose="020B0503020204020204" pitchFamily="34" charset="-122"/>
                <a:cs typeface="+mn-ea"/>
                <a:sym typeface="Arial" panose="020B0604020202020204"/>
              </a:rPr>
              <a:t>2</a:t>
            </a:r>
            <a:r>
              <a:rPr lang="zh-CN" altLang="en-US" sz="2000" dirty="0">
                <a:latin typeface="微软雅黑" panose="020B0503020204020204" pitchFamily="34" charset="-122"/>
                <a:ea typeface="微软雅黑" panose="020B0503020204020204" pitchFamily="34" charset="-122"/>
                <a:cs typeface="+mn-ea"/>
                <a:sym typeface="Arial" panose="020B0604020202020204"/>
              </a:rPr>
              <a:t>）同意他人造成危险：在被害人意识到</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他人行为</a:t>
            </a:r>
            <a:r>
              <a:rPr lang="zh-CN" altLang="en-US" sz="2000" dirty="0">
                <a:latin typeface="微软雅黑" panose="020B0503020204020204" pitchFamily="34" charset="-122"/>
                <a:ea typeface="微软雅黑" panose="020B0503020204020204" pitchFamily="34" charset="-122"/>
                <a:cs typeface="+mn-ea"/>
                <a:sym typeface="Arial" panose="020B0604020202020204"/>
              </a:rPr>
              <a:t>对自己法益的危险性，却同意他人实施给</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自己</a:t>
            </a:r>
            <a:r>
              <a:rPr lang="zh-CN" altLang="en-US" sz="2000" dirty="0">
                <a:latin typeface="微软雅黑" panose="020B0503020204020204" pitchFamily="34" charset="-122"/>
                <a:ea typeface="微软雅黑" panose="020B0503020204020204" pitchFamily="34" charset="-122"/>
                <a:cs typeface="+mn-ea"/>
                <a:sym typeface="Arial" panose="020B0604020202020204"/>
              </a:rPr>
              <a:t>造成危险的行为时，不能将由此产生的结果</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归责</a:t>
            </a:r>
            <a:r>
              <a:rPr lang="zh-CN" altLang="en-US" sz="2000" dirty="0">
                <a:latin typeface="微软雅黑" panose="020B0503020204020204" pitchFamily="34" charset="-122"/>
                <a:ea typeface="微软雅黑" panose="020B0503020204020204" pitchFamily="34" charset="-122"/>
                <a:cs typeface="+mn-ea"/>
                <a:sym typeface="Arial" panose="020B0604020202020204"/>
              </a:rPr>
              <a:t>于行为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人</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marL="0" indent="0">
              <a:buNone/>
              <a:defRPr/>
            </a:pPr>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）第三人责任范围：在防止结果的发生</a:t>
            </a:r>
            <a:r>
              <a:rPr lang="zh-CN" altLang="en-US" sz="2000" dirty="0" smtClean="0">
                <a:latin typeface="微软雅黑" panose="020B0503020204020204" pitchFamily="34" charset="-122"/>
                <a:ea typeface="微软雅黑" panose="020B0503020204020204" pitchFamily="34" charset="-122"/>
              </a:rPr>
              <a:t>属于他人</a:t>
            </a:r>
            <a:r>
              <a:rPr lang="zh-CN" altLang="en-US" sz="2000" dirty="0">
                <a:latin typeface="微软雅黑" panose="020B0503020204020204" pitchFamily="34" charset="-122"/>
                <a:ea typeface="微软雅黑" panose="020B0503020204020204" pitchFamily="34" charset="-122"/>
              </a:rPr>
              <a:t>的责任领域时，该结果不属于行为人的</a:t>
            </a:r>
            <a:r>
              <a:rPr lang="zh-CN" altLang="en-US" sz="2000" dirty="0" smtClean="0">
                <a:latin typeface="微软雅黑" panose="020B0503020204020204" pitchFamily="34" charset="-122"/>
                <a:ea typeface="微软雅黑" panose="020B0503020204020204" pitchFamily="34" charset="-122"/>
              </a:rPr>
              <a:t>行为所</a:t>
            </a:r>
            <a:r>
              <a:rPr lang="zh-CN" altLang="en-US" sz="2000" dirty="0">
                <a:latin typeface="微软雅黑" panose="020B0503020204020204" pitchFamily="34" charset="-122"/>
                <a:ea typeface="微软雅黑" panose="020B0503020204020204" pitchFamily="34" charset="-122"/>
              </a:rPr>
              <a:t>符合的构成要件保护目的之内的结果，不能</a:t>
            </a:r>
            <a:r>
              <a:rPr lang="zh-CN" altLang="en-US" sz="2000" dirty="0" smtClean="0">
                <a:latin typeface="微软雅黑" panose="020B0503020204020204" pitchFamily="34" charset="-122"/>
                <a:ea typeface="微软雅黑" panose="020B0503020204020204" pitchFamily="34" charset="-122"/>
              </a:rPr>
              <a:t>将结果</a:t>
            </a:r>
            <a:r>
              <a:rPr lang="zh-CN" altLang="en-US" sz="2000" dirty="0">
                <a:latin typeface="微软雅黑" panose="020B0503020204020204" pitchFamily="34" charset="-122"/>
                <a:ea typeface="微软雅黑" panose="020B0503020204020204" pitchFamily="34" charset="-122"/>
              </a:rPr>
              <a:t>归责于行为人</a:t>
            </a:r>
          </a:p>
          <a:p>
            <a:pPr marL="0" indent="0">
              <a:buNone/>
              <a:defRPr/>
            </a:pPr>
            <a:endParaRPr lang="zh-CN" altLang="en-US" sz="2000" dirty="0">
              <a:latin typeface="微软雅黑" panose="020B0503020204020204" pitchFamily="34" charset="-122"/>
              <a:ea typeface="微软雅黑" panose="020B0503020204020204" pitchFamily="34" charset="-122"/>
            </a:endParaRPr>
          </a:p>
          <a:p>
            <a:pPr marL="0" indent="0">
              <a:buNone/>
              <a:defRPr/>
            </a:pPr>
            <a:r>
              <a:rPr lang="zh-CN" altLang="en-US" sz="2000" dirty="0">
                <a:latin typeface="微软雅黑" panose="020B0503020204020204" pitchFamily="34" charset="-122"/>
                <a:ea typeface="微软雅黑" panose="020B0503020204020204" pitchFamily="34" charset="-122"/>
              </a:rPr>
              <a:t>        尽管该说在规范论、体系论和本体论等方面</a:t>
            </a:r>
            <a:r>
              <a:rPr lang="zh-CN" altLang="en-US" sz="2000" dirty="0" smtClean="0">
                <a:latin typeface="微软雅黑" panose="020B0503020204020204" pitchFamily="34" charset="-122"/>
                <a:ea typeface="微软雅黑" panose="020B0503020204020204" pitchFamily="34" charset="-122"/>
              </a:rPr>
              <a:t>存在</a:t>
            </a:r>
            <a:r>
              <a:rPr lang="zh-CN" altLang="en-US" sz="2000" dirty="0">
                <a:latin typeface="微软雅黑" panose="020B0503020204020204" pitchFamily="34" charset="-122"/>
                <a:ea typeface="微软雅黑" panose="020B0503020204020204" pitchFamily="34" charset="-122"/>
              </a:rPr>
              <a:t>诸多疑问，但其方法论值得借鉴。</a:t>
            </a:r>
          </a:p>
        </p:txBody>
      </p:sp>
    </p:spTree>
    <p:extLst>
      <p:ext uri="{BB962C8B-B14F-4D97-AF65-F5344CB8AC3E}">
        <p14:creationId xmlns:p14="http://schemas.microsoft.com/office/powerpoint/2010/main" val="2208959911"/>
      </p:ext>
    </p:extLst>
  </p:cSld>
  <p:clrMapOvr>
    <a:masterClrMapping/>
  </p:clrMapOvr>
  <p:transition>
    <p:comb/>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887413" y="284163"/>
            <a:ext cx="2826440" cy="4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615" tIns="60808" rIns="121615" bIns="6080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smtClean="0">
                <a:latin typeface="微软雅黑" panose="020B0503020204020204" pitchFamily="34" charset="-122"/>
                <a:ea typeface="微软雅黑" panose="020B0503020204020204" pitchFamily="34" charset="-122"/>
              </a:rPr>
              <a:t>（四）</a:t>
            </a:r>
            <a:r>
              <a:rPr lang="zh-CN" altLang="en-US" sz="2000" dirty="0" smtClean="0">
                <a:latin typeface="微软雅黑" panose="020B0503020204020204" pitchFamily="34" charset="-122"/>
                <a:ea typeface="微软雅黑" panose="020B0503020204020204" pitchFamily="34" charset="-122"/>
              </a:rPr>
              <a:t>危险</a:t>
            </a:r>
            <a:r>
              <a:rPr lang="zh-CN" altLang="en-US" sz="2000" dirty="0">
                <a:latin typeface="微软雅黑" panose="020B0503020204020204" pitchFamily="34" charset="-122"/>
                <a:ea typeface="微软雅黑" panose="020B0503020204020204" pitchFamily="34" charset="-122"/>
              </a:rPr>
              <a:t>的现实化</a:t>
            </a:r>
            <a:r>
              <a:rPr lang="zh-CN" altLang="en-US" sz="2000" dirty="0" smtClean="0">
                <a:latin typeface="微软雅黑" panose="020B0503020204020204" pitchFamily="34" charset="-122"/>
                <a:ea typeface="微软雅黑" panose="020B0503020204020204" pitchFamily="34" charset="-122"/>
              </a:rPr>
              <a:t>说</a:t>
            </a:r>
            <a:endParaRPr lang="zh-CN" altLang="en-US" sz="2000" dirty="0">
              <a:latin typeface="微软雅黑" panose="020B0503020204020204" pitchFamily="34" charset="-122"/>
              <a:ea typeface="微软雅黑" panose="020B0503020204020204" pitchFamily="34" charset="-122"/>
            </a:endParaRPr>
          </a:p>
        </p:txBody>
      </p:sp>
      <p:sp>
        <p:nvSpPr>
          <p:cNvPr id="23" name="TextBox 11"/>
          <p:cNvSpPr txBox="1"/>
          <p:nvPr/>
        </p:nvSpPr>
        <p:spPr>
          <a:xfrm>
            <a:off x="336550" y="1304925"/>
            <a:ext cx="11541125" cy="5016758"/>
          </a:xfrm>
          <a:prstGeom prst="rect">
            <a:avLst/>
          </a:prstGeom>
          <a:noFill/>
        </p:spPr>
        <p:txBody>
          <a:bodyPr>
            <a:spAutoFit/>
          </a:bodyPr>
          <a:lstStyle/>
          <a:p>
            <a:pPr>
              <a:defRPr/>
            </a:pPr>
            <a:r>
              <a:rPr lang="en-US" altLang="zh-CN" sz="2000" b="1" dirty="0">
                <a:solidFill>
                  <a:schemeClr val="tx1">
                    <a:lumMod val="65000"/>
                    <a:lumOff val="35000"/>
                  </a:schemeClr>
                </a:solidFill>
                <a:latin typeface="+mn-ea"/>
                <a:cs typeface="+mn-ea"/>
                <a:sym typeface="Arial" panose="020B0604020202020204"/>
              </a:rPr>
              <a:t>   </a:t>
            </a:r>
            <a:r>
              <a:rPr lang="en-US" altLang="zh-CN" sz="2000" b="1" dirty="0" smtClean="0">
                <a:solidFill>
                  <a:schemeClr val="tx1">
                    <a:lumMod val="65000"/>
                    <a:lumOff val="35000"/>
                  </a:schemeClr>
                </a:solidFill>
                <a:latin typeface="+mn-ea"/>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1.</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契机</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1</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大阪</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南港事件：被告人对被害人施加暴力，导其因内因性高血压性颅内出血之后，将被害人置于大阪南港的某处材料堆放点而自行离去。次日凌晨，被害人因内因性高血压性颅内出血而死亡，但存在被第三者数次殴打头部，引起颅内出血扩大，稍微提早了死亡时间的可能性。最高裁判所判定，在因</a:t>
            </a:r>
            <a:r>
              <a:rPr lang="zh-CN" altLang="en-US" sz="2000" dirty="0">
                <a:latin typeface="微软雅黑" panose="020B0503020204020204" pitchFamily="34" charset="-122"/>
                <a:ea typeface="微软雅黑" panose="020B0503020204020204" pitchFamily="34" charset="-122"/>
                <a:cs typeface="+mn-ea"/>
                <a:sym typeface="Arial" panose="020B0604020202020204"/>
              </a:rPr>
              <a:t>犯</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人的暴力而形成了属于被害人之死因的伤害的场合，即使其后因第三者所施加的暴力而提早了死亡时间，仍能肯定暴力与死亡之间存在因果关系</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2</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相当</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因果关系说的转变：仅仅由于因果进程本身异常，还不能否定因果关系；应当以</a:t>
            </a:r>
            <a:r>
              <a:rPr lang="zh-CN" altLang="en-US" sz="2000" dirty="0" smtClean="0">
                <a:solidFill>
                  <a:srgbClr val="0288DD"/>
                </a:solidFill>
                <a:latin typeface="微软雅黑" panose="020B0503020204020204" pitchFamily="34" charset="-122"/>
                <a:ea typeface="微软雅黑" panose="020B0503020204020204" pitchFamily="34" charset="-122"/>
                <a:cs typeface="+mn-ea"/>
                <a:sym typeface="Arial" panose="020B0604020202020204"/>
              </a:rPr>
              <a:t>实行行为对结果的影响力</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为标准来判断因果关系，即将判断标准从“因果进程的通常性”修正为</a:t>
            </a:r>
            <a:r>
              <a:rPr lang="zh-CN" altLang="en-US" sz="2000" dirty="0" smtClean="0">
                <a:solidFill>
                  <a:srgbClr val="0288DD"/>
                </a:solidFill>
                <a:latin typeface="微软雅黑" panose="020B0503020204020204" pitchFamily="34" charset="-122"/>
                <a:ea typeface="微软雅黑" panose="020B0503020204020204" pitchFamily="34" charset="-122"/>
                <a:cs typeface="+mn-ea"/>
                <a:sym typeface="Arial" panose="020B0604020202020204"/>
              </a:rPr>
              <a:t>“引起结果的影响力”</a:t>
            </a:r>
            <a:endParaRPr lang="en-US" altLang="zh-CN" sz="2000" dirty="0" smtClean="0">
              <a:solidFill>
                <a:srgbClr val="0288DD"/>
              </a:solidFill>
              <a:latin typeface="微软雅黑" panose="020B0503020204020204" pitchFamily="34" charset="-122"/>
              <a:ea typeface="微软雅黑" panose="020B0503020204020204" pitchFamily="34" charset="-122"/>
              <a:cs typeface="+mn-ea"/>
              <a:sym typeface="Arial" panose="020B0604020202020204"/>
            </a:endParaRPr>
          </a:p>
          <a:p>
            <a:pPr>
              <a:defRPr/>
            </a:pP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2.</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因果</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进程通常性的定位</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1</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传统</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理论从一般预防必要性的角度，重视普通人对因果进程的利用可能性</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2</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因果</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进程的通常性现在并非毫无意义，而是必须直面自身与实行行为贡献度之间的关系</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3</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此时</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，必须处理好实行行为与介入因素的关联性、介入因素的异常性与贡献度的相反情形</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3.</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危险</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的现实化的判断结构</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p:txBody>
      </p:sp>
    </p:spTree>
    <p:extLst>
      <p:ext uri="{BB962C8B-B14F-4D97-AF65-F5344CB8AC3E}">
        <p14:creationId xmlns:p14="http://schemas.microsoft.com/office/powerpoint/2010/main" val="1436188211"/>
      </p:ext>
    </p:extLst>
  </p:cSld>
  <p:clrMapOvr>
    <a:masterClrMapping/>
  </p:clrMapOvr>
  <p:transition spd="slow" advTm="427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4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400" fill="hold"/>
                                        <p:tgtEl>
                                          <p:spTgt spid="2"/>
                                        </p:tgtEl>
                                        <p:attrNameLst>
                                          <p:attrName>ppt_y</p:attrName>
                                        </p:attrNameLst>
                                      </p:cBhvr>
                                      <p:tavLst>
                                        <p:tav tm="0">
                                          <p:val>
                                            <p:strVal val="#ppt_y"/>
                                          </p:val>
                                        </p:tav>
                                        <p:tav tm="100000">
                                          <p:val>
                                            <p:strVal val="#ppt_y"/>
                                          </p:val>
                                        </p:tav>
                                      </p:tavLst>
                                    </p:anim>
                                    <p:anim calcmode="lin" valueType="num">
                                      <p:cBhvr>
                                        <p:cTn id="9" dur="4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4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400" tmFilter="0,0; .5, 1; 1, 1"/>
                                        <p:tgtEl>
                                          <p:spTgt spid="2"/>
                                        </p:tgtEl>
                                      </p:cBhvr>
                                    </p:animEffect>
                                  </p:childTnLst>
                                </p:cTn>
                              </p:par>
                            </p:childTnLst>
                          </p:cTn>
                        </p:par>
                        <p:par>
                          <p:cTn id="12" fill="hold" nodeType="afterGroup">
                            <p:stCondLst>
                              <p:cond delay="760"/>
                            </p:stCondLst>
                            <p:childTnLst>
                              <p:par>
                                <p:cTn id="13" presetID="42"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250"/>
                                        <p:tgtEl>
                                          <p:spTgt spid="23"/>
                                        </p:tgtEl>
                                      </p:cBhvr>
                                    </p:animEffect>
                                    <p:anim calcmode="lin" valueType="num">
                                      <p:cBhvr>
                                        <p:cTn id="16" dur="250" fill="hold"/>
                                        <p:tgtEl>
                                          <p:spTgt spid="23"/>
                                        </p:tgtEl>
                                        <p:attrNameLst>
                                          <p:attrName>ppt_x</p:attrName>
                                        </p:attrNameLst>
                                      </p:cBhvr>
                                      <p:tavLst>
                                        <p:tav tm="0">
                                          <p:val>
                                            <p:strVal val="#ppt_x"/>
                                          </p:val>
                                        </p:tav>
                                        <p:tav tm="100000">
                                          <p:val>
                                            <p:strVal val="#ppt_x"/>
                                          </p:val>
                                        </p:tav>
                                      </p:tavLst>
                                    </p:anim>
                                    <p:anim calcmode="lin" valueType="num">
                                      <p:cBhvr>
                                        <p:cTn id="17" dur="2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11"/>
          <p:cNvSpPr txBox="1"/>
          <p:nvPr/>
        </p:nvSpPr>
        <p:spPr>
          <a:xfrm>
            <a:off x="336550" y="1304925"/>
            <a:ext cx="11541125" cy="4708981"/>
          </a:xfrm>
          <a:prstGeom prst="rect">
            <a:avLst/>
          </a:prstGeom>
          <a:noFill/>
        </p:spPr>
        <p:txBody>
          <a:bodyPr>
            <a:spAutoFit/>
          </a:bodyPr>
          <a:lstStyle/>
          <a:p>
            <a:pPr>
              <a:defRPr/>
            </a:pPr>
            <a:r>
              <a:rPr lang="en-US" altLang="zh-CN" sz="2000" b="1" dirty="0" smtClean="0">
                <a:latin typeface="+mn-ea"/>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1</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危险</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现实化的类型</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A.</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直接</a:t>
            </a:r>
            <a:r>
              <a:rPr lang="zh-CN" altLang="en-US" sz="2000" dirty="0">
                <a:latin typeface="微软雅黑" panose="020B0503020204020204" pitchFamily="34" charset="-122"/>
                <a:ea typeface="微软雅黑" panose="020B0503020204020204" pitchFamily="34" charset="-122"/>
                <a:cs typeface="+mn-ea"/>
                <a:sym typeface="Arial" panose="020B0604020202020204"/>
              </a:rPr>
              <a:t>实现型：实行行为对引起结果施加了决定性</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影响力</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B.</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间接</a:t>
            </a:r>
            <a:r>
              <a:rPr lang="zh-CN" altLang="en-US" sz="2000" dirty="0">
                <a:latin typeface="微软雅黑" panose="020B0503020204020204" pitchFamily="34" charset="-122"/>
                <a:ea typeface="微软雅黑" panose="020B0503020204020204" pitchFamily="34" charset="-122"/>
                <a:cs typeface="+mn-ea"/>
                <a:sym typeface="Arial" panose="020B0604020202020204"/>
              </a:rPr>
              <a:t>实现型：实行行为的危险性经由介入因素而间接地实现于</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结果</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2</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实行</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行为危险性的判断</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A.</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危险性</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的判断结构：实行行为→结果的</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危险性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实行</a:t>
            </a:r>
            <a:r>
              <a:rPr lang="zh-CN" altLang="en-US" sz="2000" dirty="0">
                <a:latin typeface="微软雅黑" panose="020B0503020204020204" pitchFamily="34" charset="-122"/>
                <a:ea typeface="微软雅黑" panose="020B0503020204020204" pitchFamily="34" charset="-122"/>
                <a:cs typeface="+mn-ea"/>
                <a:sym typeface="Arial" panose="020B0604020202020204"/>
              </a:rPr>
              <a:t>行为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a:latin typeface="微软雅黑" panose="020B0503020204020204" pitchFamily="34" charset="-122"/>
                <a:ea typeface="微软雅黑" panose="020B0503020204020204" pitchFamily="34" charset="-122"/>
                <a:cs typeface="+mn-ea"/>
                <a:sym typeface="Arial" panose="020B0604020202020204"/>
              </a:rPr>
              <a:t>介入因素→结果的危险性</a:t>
            </a:r>
            <a:endParaRPr lang="en-US" altLang="zh-CN" sz="2000" dirty="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B.</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危险性</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的判断资料：原则上以全部客观情况为基础</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3</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对</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各种介入行为的评价</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A.</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概述</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：实行行为的危险性要评价为含有引起介入因素的危险性，就应当限于一般性、类型性</a:t>
            </a:r>
            <a:r>
              <a:rPr lang="zh-CN" altLang="en-US" sz="2000" dirty="0" smtClean="0">
                <a:solidFill>
                  <a:srgbClr val="0288DD"/>
                </a:solidFill>
                <a:latin typeface="微软雅黑" panose="020B0503020204020204" pitchFamily="34" charset="-122"/>
                <a:ea typeface="微软雅黑" panose="020B0503020204020204" pitchFamily="34" charset="-122"/>
                <a:cs typeface="+mn-ea"/>
                <a:sym typeface="Arial" panose="020B0604020202020204"/>
              </a:rPr>
              <a:t>诱发</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某种介入行为的事态</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B.</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被害人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行为的介入：“柔道康复师事件”（被害人的行为是直接源于被告人的指示，被告人反复出诊，相应地增加了被害人遵从其指示的危险，难以主张其存在异常性）</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C.</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第三</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人行为的介入：“汽车后备箱事件”（即使拘禁行为提升了诱发追尾事故的可能性，介入因素的异常性仍然很高；除非是非常重大的过失行为，才能作为实行行为所诱发而肯定因果关系）</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a:p>
            <a:pPr>
              <a:defRPr/>
            </a:pPr>
            <a:r>
              <a:rPr lang="en-US" altLang="zh-CN" sz="2000" dirty="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   </a:t>
            </a:r>
            <a:r>
              <a:rPr lang="en-US" altLang="zh-CN" sz="2000" dirty="0" smtClean="0">
                <a:latin typeface="微软雅黑" panose="020B0503020204020204" pitchFamily="34" charset="-122"/>
                <a:ea typeface="微软雅黑" panose="020B0503020204020204" pitchFamily="34" charset="-122"/>
                <a:cs typeface="+mn-ea"/>
                <a:sym typeface="Arial" panose="020B0604020202020204"/>
              </a:rPr>
              <a:t>D.</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行为</a:t>
            </a:r>
            <a:r>
              <a:rPr lang="zh-CN" altLang="en-US" sz="2000" dirty="0" smtClean="0">
                <a:latin typeface="微软雅黑" panose="020B0503020204020204" pitchFamily="34" charset="-122"/>
                <a:ea typeface="微软雅黑" panose="020B0503020204020204" pitchFamily="34" charset="-122"/>
                <a:cs typeface="+mn-ea"/>
                <a:sym typeface="Arial" panose="020B0604020202020204"/>
              </a:rPr>
              <a:t>人行为的介入：“吸入沙土事件”（要认定第一行为与结果之间存在因果关系，就要求由该行为诱发第二行为具有通常性，这从行为时的心理状态、所介入的过失行为等情况，可以予以认定）</a:t>
            </a:r>
            <a:endParaRPr lang="en-US" altLang="zh-CN" sz="2000" dirty="0" smtClean="0">
              <a:latin typeface="微软雅黑" panose="020B0503020204020204" pitchFamily="34" charset="-122"/>
              <a:ea typeface="微软雅黑" panose="020B0503020204020204" pitchFamily="34" charset="-122"/>
              <a:cs typeface="+mn-ea"/>
              <a:sym typeface="Arial" panose="020B0604020202020204"/>
            </a:endParaRPr>
          </a:p>
        </p:txBody>
      </p:sp>
    </p:spTree>
    <p:extLst>
      <p:ext uri="{BB962C8B-B14F-4D97-AF65-F5344CB8AC3E}">
        <p14:creationId xmlns:p14="http://schemas.microsoft.com/office/powerpoint/2010/main" val="2925447814"/>
      </p:ext>
    </p:extLst>
  </p:cSld>
  <p:clrMapOvr>
    <a:masterClrMapping/>
  </p:clrMapOvr>
  <p:transition spd="slow" advTm="427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anim calcmode="lin" valueType="num">
                                      <p:cBhvr>
                                        <p:cTn id="8" dur="250" fill="hold"/>
                                        <p:tgtEl>
                                          <p:spTgt spid="23"/>
                                        </p:tgtEl>
                                        <p:attrNameLst>
                                          <p:attrName>ppt_x</p:attrName>
                                        </p:attrNameLst>
                                      </p:cBhvr>
                                      <p:tavLst>
                                        <p:tav tm="0">
                                          <p:val>
                                            <p:strVal val="#ppt_x"/>
                                          </p:val>
                                        </p:tav>
                                        <p:tav tm="100000">
                                          <p:val>
                                            <p:strVal val="#ppt_x"/>
                                          </p:val>
                                        </p:tav>
                                      </p:tavLst>
                                    </p:anim>
                                    <p:anim calcmode="lin" valueType="num">
                                      <p:cBhvr>
                                        <p:cTn id="9" dur="2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2951791"/>
            <a:ext cx="3177303" cy="1957469"/>
            <a:chOff x="760461" y="2951791"/>
            <a:chExt cx="3177303" cy="1957469"/>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102759" y="2951791"/>
              <a:ext cx="492443" cy="540212"/>
            </a:xfrm>
            <a:prstGeom prst="rect">
              <a:avLst/>
            </a:prstGeom>
          </p:spPr>
          <p:txBody>
            <a:bodyPr wrap="non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3937775" y="765519"/>
            <a:ext cx="4801314"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刑法上的因果关系与刑事责任</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6" name="PA_文本框 3"/>
          <p:cNvSpPr txBox="1"/>
          <p:nvPr>
            <p:custDataLst>
              <p:tags r:id="rId1"/>
            </p:custDataLst>
          </p:nvPr>
        </p:nvSpPr>
        <p:spPr>
          <a:xfrm>
            <a:off x="4027170" y="2519680"/>
            <a:ext cx="7731125" cy="2861310"/>
          </a:xfrm>
          <a:prstGeom prst="rect">
            <a:avLst/>
          </a:prstGeom>
          <a:noFill/>
        </p:spPr>
        <p:txBody>
          <a:bodyPr wrap="square" rtlCol="0">
            <a:spAutoFit/>
          </a:bodyPr>
          <a:lstStyle/>
          <a:p>
            <a:pPr marL="342900" indent="-342900">
              <a:lnSpc>
                <a:spcPct val="150000"/>
              </a:lnSpc>
              <a:buFont typeface="Wingdings" panose="05000000000000000000" charset="0"/>
              <a:buChar char=""/>
            </a:pPr>
            <a:r>
              <a:rPr sz="2000" dirty="0" err="1" smtClean="0">
                <a:solidFill>
                  <a:schemeClr val="tx1"/>
                </a:solidFill>
                <a:latin typeface="微软雅黑" panose="020B0503020204020204" pitchFamily="34" charset="-122"/>
                <a:ea typeface="微软雅黑" panose="020B0503020204020204" pitchFamily="34" charset="-122"/>
              </a:rPr>
              <a:t>在客观上行为与结果之间存在因果关系的情况下</a:t>
            </a:r>
            <a:r>
              <a:rPr lang="zh-CN" altLang="en-US" sz="1400" b="1" dirty="0" smtClean="0">
                <a:solidFill>
                  <a:srgbClr val="0288DD"/>
                </a:solidFill>
                <a:latin typeface="微软雅黑" panose="020B0503020204020204" pitchFamily="34" charset="-122"/>
                <a:ea typeface="微软雅黑" panose="020B0503020204020204" pitchFamily="34" charset="-122"/>
              </a:rPr>
              <a:t>（客观归责）</a:t>
            </a:r>
            <a:r>
              <a:rPr sz="2000" dirty="0" smtClean="0">
                <a:latin typeface="微软雅黑" panose="020B0503020204020204" pitchFamily="34" charset="-122"/>
                <a:ea typeface="微软雅黑" panose="020B0503020204020204" pitchFamily="34" charset="-122"/>
              </a:rPr>
              <a:t>，</a:t>
            </a:r>
            <a:r>
              <a:rPr sz="2000" dirty="0" err="1">
                <a:solidFill>
                  <a:schemeClr val="tx1"/>
                </a:solidFill>
                <a:latin typeface="微软雅黑" panose="020B0503020204020204" pitchFamily="34" charset="-122"/>
                <a:ea typeface="微软雅黑" panose="020B0503020204020204" pitchFamily="34" charset="-122"/>
              </a:rPr>
              <a:t>确定行为人是否构成犯罪以及构成何种犯罪，</a:t>
            </a:r>
            <a:r>
              <a:rPr sz="2000" dirty="0" err="1" smtClean="0">
                <a:solidFill>
                  <a:schemeClr val="tx1"/>
                </a:solidFill>
                <a:latin typeface="微软雅黑" panose="020B0503020204020204" pitchFamily="34" charset="-122"/>
                <a:ea typeface="微软雅黑" panose="020B0503020204020204" pitchFamily="34" charset="-122"/>
              </a:rPr>
              <a:t>还要看行为人主观上是否具有罪过以及罪过的形式</a:t>
            </a:r>
            <a:r>
              <a:rPr lang="zh-CN" altLang="en-US" sz="1400" b="1" dirty="0" smtClean="0">
                <a:solidFill>
                  <a:srgbClr val="0288DD"/>
                </a:solidFill>
                <a:latin typeface="微软雅黑" panose="020B0503020204020204" pitchFamily="34" charset="-122"/>
                <a:ea typeface="微软雅黑" panose="020B0503020204020204" pitchFamily="34" charset="-122"/>
              </a:rPr>
              <a:t>（主观归责）</a:t>
            </a:r>
            <a:r>
              <a:rPr sz="2000" dirty="0" smtClean="0">
                <a:latin typeface="微软雅黑" panose="020B0503020204020204" pitchFamily="34" charset="-122"/>
                <a:ea typeface="微软雅黑" panose="020B0503020204020204" pitchFamily="34" charset="-122"/>
              </a:rPr>
              <a:t>，</a:t>
            </a:r>
            <a:r>
              <a:rPr sz="2000" dirty="0">
                <a:solidFill>
                  <a:schemeClr val="tx1"/>
                </a:solidFill>
                <a:latin typeface="微软雅黑" panose="020B0503020204020204" pitchFamily="34" charset="-122"/>
                <a:ea typeface="微软雅黑" panose="020B0503020204020204" pitchFamily="34" charset="-122"/>
              </a:rPr>
              <a:t>不具有罪过心理的，不能对行为人追究刑事责任。</a:t>
            </a:r>
          </a:p>
          <a:p>
            <a:pPr indent="0">
              <a:lnSpc>
                <a:spcPct val="150000"/>
              </a:lnSpc>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9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9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50342"/>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一、行为的时间</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二、行为的地点</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三、行为的方法</a:t>
            </a:r>
          </a:p>
        </p:txBody>
      </p:sp>
      <p:sp>
        <p:nvSpPr>
          <p:cNvPr id="23" name="矩形 22"/>
          <p:cNvSpPr/>
          <p:nvPr/>
        </p:nvSpPr>
        <p:spPr>
          <a:xfrm>
            <a:off x="3465201" y="791588"/>
            <a:ext cx="780288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第五节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犯罪客观方面的其他要件</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681730" y="1802130"/>
            <a:ext cx="7377430" cy="2400657"/>
          </a:xfrm>
          <a:prstGeom prst="rect">
            <a:avLst/>
          </a:prstGeom>
          <a:noFill/>
        </p:spPr>
        <p:txBody>
          <a:bodyPr wrap="square" rtlCol="0">
            <a:spAutoFit/>
          </a:bodyPr>
          <a:lstStyle/>
          <a:p>
            <a:pPr lvl="0" algn="just">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在法律明文规定将特定时间作为某罪构成要件时，特定时间对于危害行为是否为罪、构成何罪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，起</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着决定性的作用。</a:t>
            </a:r>
          </a:p>
          <a:p>
            <a:pPr marL="342900" lvl="0" indent="-342900" algn="just">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没有将时间作为犯罪构成要件的情形里，犯罪行为实行的时间，对于正确评判行为的社会危害性程度也有一定的意义。</a:t>
            </a:r>
          </a:p>
        </p:txBody>
      </p:sp>
      <p:sp>
        <p:nvSpPr>
          <p:cNvPr id="2" name="矩形 1"/>
          <p:cNvSpPr/>
          <p:nvPr/>
        </p:nvSpPr>
        <p:spPr>
          <a:xfrm>
            <a:off x="2610318" y="684820"/>
            <a:ext cx="2339102"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altLang="en-US" sz="24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、行为的时间</a:t>
            </a:r>
            <a:endPar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7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2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7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1523" name="Group 35"/>
          <p:cNvGraphicFramePr>
            <a:graphicFrameLocks noGrp="1"/>
          </p:cNvGraphicFramePr>
          <p:nvPr>
            <p:ph sz="half" idx="1"/>
            <p:extLst>
              <p:ext uri="{D42A27DB-BD31-4B8C-83A1-F6EECF244321}">
                <p14:modId xmlns:p14="http://schemas.microsoft.com/office/powerpoint/2010/main" val="2074750075"/>
              </p:ext>
            </p:extLst>
          </p:nvPr>
        </p:nvGraphicFramePr>
        <p:xfrm>
          <a:off x="1428750" y="1314449"/>
          <a:ext cx="9446079" cy="4139294"/>
        </p:xfrm>
        <a:graphic>
          <a:graphicData uri="http://schemas.openxmlformats.org/drawingml/2006/table">
            <a:tbl>
              <a:tblPr/>
              <a:tblGrid>
                <a:gridCol w="3148693"/>
                <a:gridCol w="1656343"/>
                <a:gridCol w="4641043"/>
              </a:tblGrid>
              <a:tr h="66152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罪  名</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  文</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犯 罪 时 间</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028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叛逃罪</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109</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在履行公务期间</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089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危险物品肇事罪</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136</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在生产、储存、运输、使用中</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354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妨害公务罪</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277</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在自然灾害和突发事件中</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1524">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非法捕捞水产品罪</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340</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在禁渔期</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1524">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战时造谣扰乱军心罪</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378</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战时</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246741242"/>
      </p:ext>
    </p:extLst>
  </p:cSld>
  <p:clrMapOvr>
    <a:masterClrMapping/>
  </p:clrMapOvr>
  <p:transition>
    <p:comb/>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23030" y="2228850"/>
            <a:ext cx="7377430" cy="3323987"/>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在通常情况下，犯罪行为的地点并非犯罪构成要件，不影响犯罪的成立。</a:t>
            </a:r>
          </a:p>
          <a:p>
            <a:pPr marL="342900" lvl="0" indent="-342900" algn="just">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刑法明文规定把特定地点作为某罪构成要件时，地点对该行为是否构成犯罪就具有决定性作用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gn="just">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在不把地点作为犯罪构成要件时，危害行为发生的地点对于我们正确评定行为的社会危害性程度，从而正确地追究刑事责任也具有一定的意义。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2159566" cy="430887"/>
          </a:xfrm>
          <a:prstGeom prst="rect">
            <a:avLst/>
          </a:prstGeom>
        </p:spPr>
        <p:txBody>
          <a:bodyPr wrap="none">
            <a:spAutoFit/>
          </a:bodyPr>
          <a:lstStyle/>
          <a:p>
            <a:r>
              <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rPr>
              <a:t>二</a:t>
            </a:r>
            <a:r>
              <a:rPr lang="zh-CN" altLang="en-US" sz="22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、行为的地点</a:t>
            </a:r>
            <a:endPar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7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2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7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68" name="Group 56"/>
          <p:cNvGraphicFramePr>
            <a:graphicFrameLocks noGrp="1"/>
          </p:cNvGraphicFramePr>
          <p:nvPr>
            <p:ph sz="quarter" idx="1"/>
            <p:extLst>
              <p:ext uri="{D42A27DB-BD31-4B8C-83A1-F6EECF244321}">
                <p14:modId xmlns:p14="http://schemas.microsoft.com/office/powerpoint/2010/main" val="3858027113"/>
              </p:ext>
            </p:extLst>
          </p:nvPr>
        </p:nvGraphicFramePr>
        <p:xfrm>
          <a:off x="1029382" y="873578"/>
          <a:ext cx="10131198" cy="4212773"/>
        </p:xfrm>
        <a:graphic>
          <a:graphicData uri="http://schemas.openxmlformats.org/drawingml/2006/table">
            <a:tbl>
              <a:tblPr/>
              <a:tblGrid>
                <a:gridCol w="3375140"/>
                <a:gridCol w="1775174"/>
                <a:gridCol w="4980884"/>
              </a:tblGrid>
              <a:tr h="70200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罪  名</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  文 </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犯 罪 地 点</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暴力危及飞行安全罪</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123</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飞行中的航空器</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走私普通货物、物品罪</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153</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海关口岸</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聚众冲击国家机关罪</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290</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国家机关</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暴动越狱罪</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317</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监狱</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非法狩猎罪</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341</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禁猎区</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946215736"/>
      </p:ext>
    </p:extLst>
  </p:cSld>
  <p:clrMapOvr>
    <a:masterClrMapping/>
  </p:clrMapOvr>
  <p:transition>
    <p:comb/>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17620" y="2324735"/>
            <a:ext cx="7377430" cy="2862322"/>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在一般情况下，犯罪人用何种方法实施危害行为，对于构成犯罪并没有影响。</a:t>
            </a:r>
          </a:p>
          <a:p>
            <a:pPr marL="342900" lvl="0" indent="-342900" algn="just">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对于某些犯罪来说，刑法也将特定的方法规定为犯罪构成的必要条件。</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gn="just">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行为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方法能够</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反映出行为的社会危害程度以及行为人的人身危险</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程度，在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量刑中也是一个不可忽视的因素。</a:t>
            </a:r>
          </a:p>
        </p:txBody>
      </p:sp>
      <p:sp>
        <p:nvSpPr>
          <p:cNvPr id="2" name="矩形 1"/>
          <p:cNvSpPr/>
          <p:nvPr/>
        </p:nvSpPr>
        <p:spPr>
          <a:xfrm>
            <a:off x="2610318" y="684820"/>
            <a:ext cx="2159566" cy="430887"/>
          </a:xfrm>
          <a:prstGeom prst="rect">
            <a:avLst/>
          </a:prstGeom>
        </p:spPr>
        <p:txBody>
          <a:bodyPr wrap="none">
            <a:spAutoFit/>
          </a:bodyPr>
          <a:lstStyle/>
          <a:p>
            <a:r>
              <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200" b="1" dirty="0" smtClean="0">
                <a:latin typeface="微软雅黑" panose="020B0503020204020204" pitchFamily="34" charset="-122"/>
                <a:ea typeface="微软雅黑" panose="020B0503020204020204" pitchFamily="34" charset="-122"/>
                <a:cs typeface="宋体" panose="02010600030101010101" pitchFamily="2" charset="-122"/>
                <a:sym typeface="+mn-ea"/>
              </a:rPr>
              <a:t>、行为的方法</a:t>
            </a:r>
            <a:endPar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7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2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7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466" name="Group 106"/>
          <p:cNvGraphicFramePr>
            <a:graphicFrameLocks noGrp="1"/>
          </p:cNvGraphicFramePr>
          <p:nvPr>
            <p:ph sz="quarter" idx="1"/>
            <p:extLst>
              <p:ext uri="{D42A27DB-BD31-4B8C-83A1-F6EECF244321}">
                <p14:modId xmlns:p14="http://schemas.microsoft.com/office/powerpoint/2010/main" val="1319809995"/>
              </p:ext>
            </p:extLst>
          </p:nvPr>
        </p:nvGraphicFramePr>
        <p:xfrm>
          <a:off x="1135518" y="1267732"/>
          <a:ext cx="9976075" cy="3418568"/>
        </p:xfrm>
        <a:graphic>
          <a:graphicData uri="http://schemas.openxmlformats.org/drawingml/2006/table">
            <a:tbl>
              <a:tblPr/>
              <a:tblGrid>
                <a:gridCol w="3334837"/>
                <a:gridCol w="1653200"/>
                <a:gridCol w="4988038"/>
              </a:tblGrid>
              <a:tr h="85464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罪  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  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犯 罪 方 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464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强迫交易罪</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226</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暴力、威胁手段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464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破坏性采矿罪</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343</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破坏性的开采方法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464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私分国有资产罪</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第</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396</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以单位名义将资产集体私分给个人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27285118"/>
      </p:ext>
    </p:extLst>
  </p:cSld>
  <p:clrMapOvr>
    <a:masterClrMapping/>
  </p:clrMapOvr>
  <p:transition>
    <p:comb/>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383790" y="2211705"/>
            <a:ext cx="7285355" cy="2572385"/>
          </a:xfrm>
          <a:prstGeom prst="rect">
            <a:avLst/>
          </a:prstGeom>
          <a:noFill/>
        </p:spPr>
        <p:txBody>
          <a:bodyPr wrap="square" rtlCol="0" anchor="t">
            <a:no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sym typeface="+mn-ea"/>
              </a:rPr>
              <a:t>1.</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如何理解犯罪客观方面的要件在犯罪构成中的地位？</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a:latin typeface="微软雅黑" panose="020B0503020204020204" pitchFamily="34" charset="-122"/>
                <a:ea typeface="微软雅黑" panose="020B0503020204020204" pitchFamily="34" charset="-122"/>
                <a:sym typeface="+mn-ea"/>
              </a:rPr>
              <a:t>2</a:t>
            </a:r>
            <a:r>
              <a:rPr lang="zh-CN" altLang="en-US" sz="2000" smtClean="0">
                <a:latin typeface="微软雅黑" panose="020B0503020204020204" pitchFamily="34" charset="-122"/>
                <a:ea typeface="微软雅黑" panose="020B0503020204020204" pitchFamily="34" charset="-122"/>
                <a:sym typeface="+mn-ea"/>
              </a:rPr>
              <a:t>.如何</a:t>
            </a:r>
            <a:r>
              <a:rPr lang="zh-CN" altLang="en-US" sz="2000" dirty="0">
                <a:latin typeface="微软雅黑" panose="020B0503020204020204" pitchFamily="34" charset="-122"/>
                <a:ea typeface="微软雅黑" panose="020B0503020204020204" pitchFamily="34" charset="-122"/>
                <a:sym typeface="+mn-ea"/>
              </a:rPr>
              <a:t>理解“无行为则无犯罪”？怎样区分刑法中的危害行为与其他危害行为？</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sym typeface="+mn-ea"/>
              </a:rPr>
              <a:t>3.</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如何理解不作为的行为性？不作为的成立条件是什么？</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sym typeface="+mn-ea"/>
              </a:rPr>
              <a:t>4.</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哪些危害结果对定罪有意义？哪些危害结果对量刑有意义？</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sym typeface="+mn-ea"/>
              </a:rPr>
              <a:t>5.</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如何区分刑法上因果关系中的原因与条件？</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ags/tag5.xml><?xml version="1.0" encoding="utf-8"?>
<p:tagLst xmlns:a="http://schemas.openxmlformats.org/drawingml/2006/main" xmlns:r="http://schemas.openxmlformats.org/officeDocument/2006/relationships" xmlns:p="http://schemas.openxmlformats.org/presentationml/2006/main">
  <p:tag name="PA" val="v3.2.0"/>
</p:tagLst>
</file>

<file path=ppt/tags/tag6.xml><?xml version="1.0" encoding="utf-8"?>
<p:tagLst xmlns:a="http://schemas.openxmlformats.org/drawingml/2006/main" xmlns:r="http://schemas.openxmlformats.org/officeDocument/2006/relationships" xmlns:p="http://schemas.openxmlformats.org/presentationml/2006/main">
  <p:tag name="PA" val="v3.2.0"/>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PA" val="v3.2.0"/>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PA" val="v3.2.0"/>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PA" val="v3.2.0"/>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PA" val="v3.2.0"/>
</p:tagLst>
</file>

<file path=ppt/tags/tag29.xml><?xml version="1.0" encoding="utf-8"?>
<p:tagLst xmlns:a="http://schemas.openxmlformats.org/drawingml/2006/main" xmlns:r="http://schemas.openxmlformats.org/officeDocument/2006/relationships" xmlns:p="http://schemas.openxmlformats.org/presentationml/2006/main">
  <p:tag name="PA" val="v3.2.0"/>
</p:tagLst>
</file>

<file path=ppt/tags/tag30.xml><?xml version="1.0" encoding="utf-8"?>
<p:tagLst xmlns:a="http://schemas.openxmlformats.org/drawingml/2006/main" xmlns:r="http://schemas.openxmlformats.org/officeDocument/2006/relationships" xmlns:p="http://schemas.openxmlformats.org/presentationml/2006/main">
  <p:tag name="PA" val="v3.2.0"/>
</p:tagLst>
</file>

<file path=ppt/tags/tag31.xml><?xml version="1.0" encoding="utf-8"?>
<p:tagLst xmlns:a="http://schemas.openxmlformats.org/drawingml/2006/main" xmlns:r="http://schemas.openxmlformats.org/officeDocument/2006/relationships" xmlns:p="http://schemas.openxmlformats.org/presentationml/2006/main">
  <p:tag name="PA" val="v3.2.0"/>
</p:tagLst>
</file>

<file path=ppt/tags/tag32.xml><?xml version="1.0" encoding="utf-8"?>
<p:tagLst xmlns:a="http://schemas.openxmlformats.org/drawingml/2006/main" xmlns:r="http://schemas.openxmlformats.org/officeDocument/2006/relationships" xmlns:p="http://schemas.openxmlformats.org/presentationml/2006/main">
  <p:tag name="PA" val="v3.2.0"/>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PA" val="v3.2.0"/>
</p:tagLst>
</file>

<file path=ppt/tags/tag35.xml><?xml version="1.0" encoding="utf-8"?>
<p:tagLst xmlns:a="http://schemas.openxmlformats.org/drawingml/2006/main" xmlns:r="http://schemas.openxmlformats.org/officeDocument/2006/relationships" xmlns:p="http://schemas.openxmlformats.org/presentationml/2006/main">
  <p:tag name="PA" val="v3.2.0"/>
</p:tagLst>
</file>

<file path=ppt/tags/tag36.xml><?xml version="1.0" encoding="utf-8"?>
<p:tagLst xmlns:a="http://schemas.openxmlformats.org/drawingml/2006/main" xmlns:r="http://schemas.openxmlformats.org/officeDocument/2006/relationships" xmlns:p="http://schemas.openxmlformats.org/presentationml/2006/main">
  <p:tag name="PA" val="v3.2.0"/>
</p:tagLst>
</file>

<file path=ppt/tags/tag37.xml><?xml version="1.0" encoding="utf-8"?>
<p:tagLst xmlns:a="http://schemas.openxmlformats.org/drawingml/2006/main" xmlns:r="http://schemas.openxmlformats.org/officeDocument/2006/relationships" xmlns:p="http://schemas.openxmlformats.org/presentationml/2006/main">
  <p:tag name="PA" val="v3.2.0"/>
</p:tagLst>
</file>

<file path=ppt/tags/tag38.xml><?xml version="1.0" encoding="utf-8"?>
<p:tagLst xmlns:a="http://schemas.openxmlformats.org/drawingml/2006/main" xmlns:r="http://schemas.openxmlformats.org/officeDocument/2006/relationships" xmlns:p="http://schemas.openxmlformats.org/presentationml/2006/main">
  <p:tag name="PA" val="v3.2.0"/>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PA" val="v3.2.0"/>
</p:tagLst>
</file>

<file path=ppt/tags/tag41.xml><?xml version="1.0" encoding="utf-8"?>
<p:tagLst xmlns:a="http://schemas.openxmlformats.org/drawingml/2006/main" xmlns:r="http://schemas.openxmlformats.org/officeDocument/2006/relationships" xmlns:p="http://schemas.openxmlformats.org/presentationml/2006/main">
  <p:tag name="PA" val="v3.2.0"/>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PA" val="v3.2.0"/>
</p:tagLst>
</file>

<file path=ppt/tags/tag45.xml><?xml version="1.0" encoding="utf-8"?>
<p:tagLst xmlns:a="http://schemas.openxmlformats.org/drawingml/2006/main" xmlns:r="http://schemas.openxmlformats.org/officeDocument/2006/relationships" xmlns:p="http://schemas.openxmlformats.org/presentationml/2006/main">
  <p:tag name="PA" val="v3.2.0"/>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4826</Words>
  <Application>Microsoft Office PowerPoint</Application>
  <PresentationFormat>宽屏</PresentationFormat>
  <Paragraphs>455</Paragraphs>
  <Slides>56</Slides>
  <Notes>2</Notes>
  <HiddenSlides>0</HiddenSlides>
  <MMClips>1</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56</vt:i4>
      </vt:variant>
    </vt:vector>
  </HeadingPairs>
  <TitlesOfParts>
    <vt:vector size="71" baseType="lpstr">
      <vt:lpstr>Roboto</vt:lpstr>
      <vt:lpstr>等线</vt:lpstr>
      <vt:lpstr>等线 Light</vt:lpstr>
      <vt:lpstr>仿宋</vt:lpstr>
      <vt:lpstr>黑体</vt:lpstr>
      <vt:lpstr>华文新魏</vt:lpstr>
      <vt:lpstr>华文中宋</vt:lpstr>
      <vt:lpstr>宋体</vt:lpstr>
      <vt:lpstr>微软雅黑</vt:lpstr>
      <vt:lpstr>Arial</vt:lpstr>
      <vt:lpstr>Calibri</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266</cp:revision>
  <dcterms:created xsi:type="dcterms:W3CDTF">2023-08-17T12:29:00Z</dcterms:created>
  <dcterms:modified xsi:type="dcterms:W3CDTF">2025-03-18T02:18:42Z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803504C1B69F4025BDC0B7011BA9BF46_12</vt:lpwstr>
  </property>
  <property fmtid="{D5CDD505-2E9C-101B-9397-08002B2CF9AE}" pid="3" name="KSOProductBuildVer">
    <vt:lpwstr>2052-12.1.0.15120</vt:lpwstr>
  </property>
</Properties>
</file>