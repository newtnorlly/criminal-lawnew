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handoutMasterIdLst>
    <p:handoutMasterId r:id="rId45"/>
  </p:handoutMasterIdLst>
  <p:sldIdLst>
    <p:sldId id="260" r:id="rId3"/>
    <p:sldId id="295" r:id="rId4"/>
    <p:sldId id="303" r:id="rId5"/>
    <p:sldId id="296" r:id="rId6"/>
    <p:sldId id="447" r:id="rId7"/>
    <p:sldId id="480" r:id="rId8"/>
    <p:sldId id="481" r:id="rId9"/>
    <p:sldId id="419" r:id="rId10"/>
    <p:sldId id="420" r:id="rId11"/>
    <p:sldId id="421" r:id="rId12"/>
    <p:sldId id="422" r:id="rId13"/>
    <p:sldId id="423" r:id="rId14"/>
    <p:sldId id="425" r:id="rId15"/>
    <p:sldId id="426" r:id="rId16"/>
    <p:sldId id="427" r:id="rId17"/>
    <p:sldId id="482" r:id="rId18"/>
    <p:sldId id="428" r:id="rId19"/>
    <p:sldId id="448" r:id="rId20"/>
    <p:sldId id="429" r:id="rId21"/>
    <p:sldId id="483" r:id="rId22"/>
    <p:sldId id="430" r:id="rId23"/>
    <p:sldId id="476" r:id="rId24"/>
    <p:sldId id="431" r:id="rId25"/>
    <p:sldId id="477" r:id="rId26"/>
    <p:sldId id="432" r:id="rId27"/>
    <p:sldId id="433" r:id="rId28"/>
    <p:sldId id="434" r:id="rId29"/>
    <p:sldId id="484" r:id="rId30"/>
    <p:sldId id="485" r:id="rId31"/>
    <p:sldId id="478" r:id="rId32"/>
    <p:sldId id="436" r:id="rId33"/>
    <p:sldId id="479" r:id="rId34"/>
    <p:sldId id="437" r:id="rId35"/>
    <p:sldId id="452" r:id="rId36"/>
    <p:sldId id="438" r:id="rId37"/>
    <p:sldId id="439" r:id="rId38"/>
    <p:sldId id="453" r:id="rId39"/>
    <p:sldId id="440" r:id="rId40"/>
    <p:sldId id="362" r:id="rId41"/>
    <p:sldId id="441" r:id="rId42"/>
    <p:sldId id="442" r:id="rId43"/>
    <p:sldId id="280" r:id="rId44"/>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D9793F"/>
    <a:srgbClr val="FFFFFF"/>
    <a:srgbClr val="BFBFBF"/>
    <a:srgbClr val="000000"/>
    <a:srgbClr val="E6E6E6"/>
    <a:srgbClr val="0289D9"/>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p:cViewPr varScale="1">
        <p:scale>
          <a:sx n="82" d="100"/>
          <a:sy n="82" d="100"/>
        </p:scale>
        <p:origin x="48" y="10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t>2025/5/6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t>‹#›</a:t>
            </a:fld>
            <a:endParaRPr lang="zh-CN" altLang="en-US"/>
          </a:p>
        </p:txBody>
      </p:sp>
    </p:spTree>
    <p:extLst>
      <p:ext uri="{BB962C8B-B14F-4D97-AF65-F5344CB8AC3E}">
        <p14:creationId xmlns:p14="http://schemas.microsoft.com/office/powerpoint/2010/main" val="419435046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19558" y="122345"/>
            <a:ext cx="11721961" cy="6610935"/>
            <a:chOff x="219558" y="122345"/>
            <a:chExt cx="11721961"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219558"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0957269" y="6384030"/>
              <a:ext cx="984250"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第十二章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第七章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p>
          </p:txBody>
        </p:sp>
      </p:grpSp>
      <p:sp>
        <p:nvSpPr>
          <p:cNvPr id="9" name="文本框 8"/>
          <p:cNvSpPr txBox="1"/>
          <p:nvPr/>
        </p:nvSpPr>
        <p:spPr>
          <a:xfrm>
            <a:off x="1762134" y="5817429"/>
            <a:ext cx="2657532" cy="33718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刑法学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编写组</a:t>
            </a: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6503632" y="2582672"/>
            <a:ext cx="4354830" cy="1322070"/>
          </a:xfrm>
          <a:prstGeom prst="rect">
            <a:avLst/>
          </a:prstGeom>
        </p:spPr>
        <p:txBody>
          <a:bodyPr wrap="non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第十二章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罪数</a:t>
            </a:r>
          </a:p>
        </p:txBody>
      </p:sp>
      <p:sp>
        <p:nvSpPr>
          <p:cNvPr id="3" name="矩形 2"/>
          <p:cNvSpPr/>
          <p:nvPr/>
        </p:nvSpPr>
        <p:spPr>
          <a:xfrm>
            <a:off x="1932339" y="4333792"/>
            <a:ext cx="1635614"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19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050"/>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4807024" y="2769892"/>
            <a:ext cx="6427334" cy="922020"/>
            <a:chOff x="6063487" y="808531"/>
            <a:chExt cx="5374980" cy="844706"/>
          </a:xfrm>
        </p:grpSpPr>
        <p:sp>
          <p:nvSpPr>
            <p:cNvPr id="4" name="椭圆 3"/>
            <p:cNvSpPr/>
            <p:nvPr/>
          </p:nvSpPr>
          <p:spPr>
            <a:xfrm>
              <a:off x="6063487" y="942228"/>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6819327" y="808531"/>
              <a:ext cx="4619140" cy="844706"/>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p>
            <a:p>
              <a:pPr lvl="0" algn="just" eaLnBrk="0" fontAlgn="base" hangingPunct="0">
                <a:lnSpc>
                  <a:spcPct val="150000"/>
                </a:lnSpc>
                <a:spcBef>
                  <a:spcPct val="0"/>
                </a:spcBef>
                <a:spcAft>
                  <a:spcPct val="0"/>
                </a:spcAft>
                <a:defRPr/>
              </a:pPr>
              <a:r>
                <a:rPr lang="zh-CN" altLang="en-US" dirty="0" err="1">
                  <a:latin typeface="微软雅黑" panose="020B0503020204020204" pitchFamily="34" charset="-122"/>
                  <a:ea typeface="微软雅黑" panose="020B0503020204020204" pitchFamily="34" charset="-122"/>
                </a:rPr>
                <a:t>罪数</a:t>
              </a:r>
              <a:r>
                <a:rPr lang="en-US" altLang="zh-CN" dirty="0" err="1">
                  <a:latin typeface="微软雅黑" panose="020B0503020204020204" pitchFamily="34" charset="-122"/>
                  <a:ea typeface="微软雅黑" panose="020B0503020204020204" pitchFamily="34" charset="-122"/>
                </a:rPr>
                <a:t>概述</a:t>
              </a:r>
            </a:p>
          </p:txBody>
        </p:sp>
      </p:grpSp>
      <p:grpSp>
        <p:nvGrpSpPr>
          <p:cNvPr id="14" name="组合 13"/>
          <p:cNvGrpSpPr/>
          <p:nvPr/>
        </p:nvGrpSpPr>
        <p:grpSpPr>
          <a:xfrm>
            <a:off x="5394844" y="3909082"/>
            <a:ext cx="6427334" cy="783590"/>
            <a:chOff x="6063487" y="2021055"/>
            <a:chExt cx="5374980" cy="717884"/>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 name="矩形 8"/>
            <p:cNvSpPr/>
            <p:nvPr/>
          </p:nvSpPr>
          <p:spPr>
            <a:xfrm>
              <a:off x="6819327" y="2021055"/>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p>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一罪的类型</a:t>
              </a:r>
            </a:p>
          </p:txBody>
        </p:sp>
      </p:grpSp>
      <p:grpSp>
        <p:nvGrpSpPr>
          <p:cNvPr id="15" name="组合 14"/>
          <p:cNvGrpSpPr/>
          <p:nvPr/>
        </p:nvGrpSpPr>
        <p:grpSpPr>
          <a:xfrm>
            <a:off x="5982663" y="4851859"/>
            <a:ext cx="6427334" cy="783590"/>
            <a:chOff x="6063487" y="3115241"/>
            <a:chExt cx="5374980" cy="717884"/>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数罪的类型</a:t>
              </a:r>
            </a:p>
          </p:txBody>
        </p:sp>
      </p:grpSp>
      <p:cxnSp>
        <p:nvCxnSpPr>
          <p:cNvPr id="23" name="Conexão reta 24"/>
          <p:cNvCxnSpPr/>
          <p:nvPr/>
        </p:nvCxnSpPr>
        <p:spPr>
          <a:xfrm>
            <a:off x="4596826" y="2052232"/>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1239877"/>
            <a:ext cx="1225015" cy="523220"/>
          </a:xfrm>
          <a:prstGeom prst="rect">
            <a:avLst/>
          </a:prstGeom>
          <a:noFill/>
        </p:spPr>
        <p:txBody>
          <a:bodyPr wrap="none" rtlCol="0">
            <a:spAutoFit/>
          </a:bodyPr>
          <a:lstStyle/>
          <a:p>
            <a:r>
              <a:rPr lang="zh-CN" altLang="en-US" sz="2800" b="1" dirty="0">
                <a:solidFill>
                  <a:srgbClr val="D9793F"/>
                </a:solidFill>
                <a:latin typeface="微软雅黑" panose="020B0503020204020204" pitchFamily="34" charset="-122"/>
                <a:ea typeface="微软雅黑" panose="020B0503020204020204" pitchFamily="34" charset="-122"/>
              </a:rPr>
              <a:t>目   录</a:t>
            </a:r>
          </a:p>
        </p:txBody>
      </p:sp>
      <p:pic>
        <p:nvPicPr>
          <p:cNvPr id="20" name="图片 19"/>
          <p:cNvPicPr>
            <a:picLocks noChangeAspect="1"/>
          </p:cNvPicPr>
          <p:nvPr/>
        </p:nvPicPr>
        <p:blipFill rotWithShape="1">
          <a:blip r:embed="rId2">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第一节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altLang="en-US" sz="2400" b="1" dirty="0" err="1">
                <a:latin typeface="微软雅黑" panose="020B0503020204020204" pitchFamily="34" charset="-122"/>
                <a:ea typeface="微软雅黑" panose="020B0503020204020204" pitchFamily="34" charset="-122"/>
              </a:rPr>
              <a:t>罪数</a:t>
            </a:r>
            <a:r>
              <a:rPr lang="en-US" altLang="zh-CN" sz="2400" b="1" dirty="0" err="1">
                <a:latin typeface="微软雅黑" panose="020B0503020204020204" pitchFamily="34" charset="-122"/>
                <a:ea typeface="微软雅黑" panose="020B0503020204020204" pitchFamily="34" charset="-122"/>
              </a:rPr>
              <a:t>概述</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/12</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7106508" y="775078"/>
            <a:ext cx="423037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第十二章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罪数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7580" y="1205230"/>
            <a:ext cx="1065339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一、罪数形态研究的意义</a:t>
            </a:r>
          </a:p>
          <a:p>
            <a:pPr indent="0" fontAlgn="auto">
              <a:lnSpc>
                <a:spcPct val="150000"/>
              </a:lnSpc>
            </a:pPr>
            <a:r>
              <a:rPr lang="zh-CN" altLang="en-US" sz="2000" dirty="0">
                <a:latin typeface="微软雅黑" panose="020B0503020204020204" pitchFamily="34" charset="-122"/>
                <a:ea typeface="微软雅黑" panose="020B0503020204020204" pitchFamily="34" charset="-122"/>
                <a:sym typeface="+mn-ea"/>
              </a:rPr>
              <a:t>一罪与数罪形态，亦称罪数形态。</a:t>
            </a: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1</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罪数形态研究有助于准确定罪</a:t>
            </a: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2</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罪数形态研究是合理适用刑罚的必要前提</a:t>
            </a:r>
          </a:p>
          <a:p>
            <a:pPr indent="0"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3</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罪数形态研究与刑法某些重要制度的适用相关</a:t>
            </a:r>
          </a:p>
          <a:p>
            <a:pPr indent="0" algn="l" fontAlgn="auto">
              <a:lnSpc>
                <a:spcPct val="150000"/>
              </a:lnSpc>
              <a:buClrTx/>
              <a:buSzTx/>
              <a:buFontTx/>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4</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罪数形态研究有助于保障刑事诉讼的顺利进行</a:t>
            </a: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050290"/>
            <a:ext cx="10653395" cy="4448175"/>
          </a:xfrm>
          <a:prstGeom prst="rect">
            <a:avLst/>
          </a:prstGeom>
          <a:noFill/>
        </p:spPr>
        <p:txBody>
          <a:bodyPr wrap="square" rtlCol="0">
            <a:noAutofit/>
          </a:bodyPr>
          <a:lstStyle/>
          <a:p>
            <a:pPr indent="0"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二、罪数的判断标准</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代表性学说</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评析</a:t>
            </a: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endParaRP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graphicFrame>
        <p:nvGraphicFramePr>
          <p:cNvPr id="5" name="Group 60"/>
          <p:cNvGraphicFramePr>
            <a:graphicFrameLocks/>
          </p:cNvGraphicFramePr>
          <p:nvPr>
            <p:extLst>
              <p:ext uri="{D42A27DB-BD31-4B8C-83A1-F6EECF244321}">
                <p14:modId xmlns:p14="http://schemas.microsoft.com/office/powerpoint/2010/main" val="1697279934"/>
              </p:ext>
            </p:extLst>
          </p:nvPr>
        </p:nvGraphicFramePr>
        <p:xfrm>
          <a:off x="1137038" y="2329733"/>
          <a:ext cx="10018642" cy="4000514"/>
        </p:xfrm>
        <a:graphic>
          <a:graphicData uri="http://schemas.openxmlformats.org/drawingml/2006/table">
            <a:tbl>
              <a:tblPr/>
              <a:tblGrid>
                <a:gridCol w="2504661"/>
                <a:gridCol w="2504660"/>
                <a:gridCol w="2504661"/>
                <a:gridCol w="2504660"/>
              </a:tblGrid>
              <a:tr h="46492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行为标准说</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法益标准说</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犯意标准说</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构成要件标准说</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15394">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实施一个危害行为的，为一罪；实施数个危害行为的，为数罪。</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侵害一个法益的，为一罪；侵害数个法益的，为数罪。</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基于一个犯意实施犯罪的，为一罪；基于数个犯意实施犯罪的，为数罪。</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一次符合构成要件的行为，为一罪；数次符合构成要件的行为，为数罪。</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92019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仅适用于行为犯的场合，且忽略了罪过形式的多样性。</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仅适用于结果犯的场合，且忽略了危害行为的复杂性。</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重视犯罪的主观方面，却忽视了犯罪的客观方面。</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构成要件符合性只是犯罪的成立条件之一，行为符合构成要件的次数不等于犯罪的个数。</a:t>
                      </a:r>
                    </a:p>
                  </a:txBody>
                  <a:tcPr marT="45699" marB="4569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050290"/>
            <a:ext cx="10653395" cy="4448175"/>
          </a:xfrm>
          <a:prstGeom prst="rect">
            <a:avLst/>
          </a:prstGeom>
          <a:noFill/>
        </p:spPr>
        <p:txBody>
          <a:bodyPr wrap="square" rtlCol="0">
            <a:noAutofit/>
          </a:bodyPr>
          <a:lstStyle/>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二）“犯罪构成标准说”之提倡</a:t>
            </a:r>
          </a:p>
          <a:p>
            <a:pPr>
              <a:lnSpc>
                <a:spcPct val="150000"/>
              </a:lnSpc>
            </a:pPr>
            <a:r>
              <a:rPr lang="zh-CN" altLang="en-US" sz="2000" dirty="0">
                <a:latin typeface="微软雅黑" panose="020B0503020204020204" pitchFamily="34" charset="-122"/>
                <a:ea typeface="微软雅黑" panose="020B0503020204020204" pitchFamily="34" charset="-122"/>
                <a:sym typeface="+mn-ea"/>
              </a:rPr>
              <a:t>该说认为，判断行为构成一罪还是数罪，应以犯罪构成为标准。这里的犯罪构成既包括基本的犯罪构成和修正的犯罪构成，也包括独立的犯罪构成和派生的犯罪构成。以此为标准，贯彻了罪刑法定原则、主客观相统一原则和犯罪构成理论</a:t>
            </a:r>
            <a:r>
              <a:rPr lang="zh-CN" altLang="en-US" sz="2000" dirty="0" smtClean="0">
                <a:latin typeface="微软雅黑" panose="020B0503020204020204" pitchFamily="34" charset="-122"/>
                <a:ea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sym typeface="+mn-ea"/>
            </a:endParaRPr>
          </a:p>
          <a:p>
            <a:pPr indent="0" algn="l" fontAlgn="auto">
              <a:lnSpc>
                <a:spcPct val="150000"/>
              </a:lnSpc>
              <a:buClrTx/>
              <a:buSzTx/>
              <a:buFont typeface="Wingdings" panose="05000000000000000000" charset="0"/>
              <a:buNone/>
            </a:pPr>
            <a:r>
              <a:rPr lang="zh-CN" altLang="en-US" sz="2000" dirty="0" smtClean="0">
                <a:latin typeface="微软雅黑" panose="020B0503020204020204" pitchFamily="34" charset="-122"/>
                <a:ea typeface="微软雅黑" panose="020B0503020204020204" pitchFamily="34" charset="-122"/>
                <a:sym typeface="+mn-ea"/>
              </a:rPr>
              <a:t>第一</a:t>
            </a:r>
            <a:r>
              <a:rPr lang="zh-CN" altLang="en-US" sz="2000" dirty="0">
                <a:latin typeface="微软雅黑" panose="020B0503020204020204" pitchFamily="34" charset="-122"/>
                <a:ea typeface="微软雅黑" panose="020B0503020204020204" pitchFamily="34" charset="-122"/>
                <a:sym typeface="+mn-ea"/>
              </a:rPr>
              <a:t>，在以我国刑事立法为根据的基础上，贯彻了罪刑法定的刑法基本原则。</a:t>
            </a:r>
          </a:p>
          <a:p>
            <a:pPr indent="0" algn="l" fontAlgn="auto">
              <a:lnSpc>
                <a:spcPct val="150000"/>
              </a:lnSpc>
              <a:buClrTx/>
              <a:buSzTx/>
              <a:buFont typeface="Wingdings" panose="05000000000000000000" charset="0"/>
              <a:buNone/>
            </a:pPr>
            <a:r>
              <a:rPr lang="zh-CN" altLang="en-US" sz="2000" dirty="0">
                <a:latin typeface="微软雅黑" panose="020B0503020204020204" pitchFamily="34" charset="-122"/>
                <a:ea typeface="微软雅黑" panose="020B0503020204020204" pitchFamily="34" charset="-122"/>
                <a:sym typeface="+mn-ea"/>
              </a:rPr>
              <a:t>第二，以犯罪现象的自身规律为出发点，贯彻了主客观相统一的原则。</a:t>
            </a:r>
          </a:p>
          <a:p>
            <a:pPr>
              <a:lnSpc>
                <a:spcPct val="150000"/>
              </a:lnSpc>
            </a:pPr>
            <a:r>
              <a:rPr lang="zh-CN" altLang="en-US" sz="2000" dirty="0">
                <a:latin typeface="微软雅黑" panose="020B0503020204020204" pitchFamily="34" charset="-122"/>
                <a:ea typeface="微软雅黑" panose="020B0503020204020204" pitchFamily="34" charset="-122"/>
                <a:sym typeface="+mn-ea"/>
              </a:rPr>
              <a:t>第三，不仅在罪数形态论领域贯彻了犯罪构成理论，</a:t>
            </a:r>
            <a:r>
              <a:rPr lang="zh-CN" altLang="en-US" sz="2000" dirty="0" smtClean="0">
                <a:latin typeface="微软雅黑" panose="020B0503020204020204" pitchFamily="34" charset="-122"/>
                <a:ea typeface="微软雅黑" panose="020B0503020204020204" pitchFamily="34" charset="-122"/>
                <a:sym typeface="+mn-ea"/>
              </a:rPr>
              <a:t>而且适当参照</a:t>
            </a:r>
            <a:r>
              <a:rPr lang="zh-CN" altLang="en-US" sz="2000" dirty="0">
                <a:latin typeface="微软雅黑" panose="020B0503020204020204" pitchFamily="34" charset="-122"/>
                <a:ea typeface="微软雅黑" panose="020B0503020204020204" pitchFamily="34" charset="-122"/>
                <a:sym typeface="+mn-ea"/>
              </a:rPr>
              <a:t>司法实践的一般</a:t>
            </a:r>
            <a:r>
              <a:rPr lang="zh-CN" altLang="en-US" sz="2000" dirty="0" smtClean="0">
                <a:latin typeface="微软雅黑" panose="020B0503020204020204" pitchFamily="34" charset="-122"/>
                <a:ea typeface="微软雅黑" panose="020B0503020204020204" pitchFamily="34" charset="-122"/>
                <a:sym typeface="+mn-ea"/>
              </a:rPr>
              <a:t>做法。</a:t>
            </a:r>
            <a:endParaRPr lang="en-US" altLang="zh-CN" sz="2000" dirty="0" smtClean="0">
              <a:latin typeface="微软雅黑" panose="020B0503020204020204" pitchFamily="34" charset="-122"/>
              <a:ea typeface="微软雅黑" panose="020B0503020204020204" pitchFamily="34" charset="-122"/>
              <a:sym typeface="+mn-ea"/>
            </a:endParaRPr>
          </a:p>
          <a:p>
            <a:pPr>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三、</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罪数</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的类型</a:t>
            </a:r>
            <a:endParaRPr lang="zh-CN" altLang="en-US" sz="2000" dirty="0">
              <a:latin typeface="微软雅黑" panose="020B0503020204020204" pitchFamily="34" charset="-122"/>
              <a:ea typeface="微软雅黑" panose="020B0503020204020204" pitchFamily="34"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一）一罪的</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类型</a:t>
            </a:r>
            <a:endParaRPr lang="en-US" altLang="zh-CN" sz="2200" dirty="0">
              <a:solidFill>
                <a:schemeClr val="tx1"/>
              </a:solidFill>
              <a:latin typeface="微软雅黑" panose="020B0503020204020204" pitchFamily="34" charset="-122"/>
              <a:ea typeface="微软雅黑" panose="020B0503020204020204" pitchFamily="34" charset="-122"/>
            </a:endParaRP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34506464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050290"/>
            <a:ext cx="10653395" cy="4448175"/>
          </a:xfrm>
          <a:prstGeom prst="rect">
            <a:avLst/>
          </a:prstGeom>
          <a:noFill/>
        </p:spPr>
        <p:txBody>
          <a:bodyPr wrap="square" rtlCol="0">
            <a:no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实质的一罪：</a:t>
            </a:r>
            <a:r>
              <a:rPr lang="zh-CN" altLang="en-US" sz="2000"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继续犯</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想象竞合犯</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结果加</a:t>
            </a:r>
            <a:r>
              <a:rPr lang="zh-CN" altLang="en-US" sz="2000"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重犯</a:t>
            </a:r>
            <a:endParaRPr lang="zh-CN" altLang="en-US" sz="2000"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2</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法定的一罪：结合犯、</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集合犯</a:t>
            </a: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处断的一罪：</a:t>
            </a:r>
            <a:r>
              <a:rPr lang="zh-CN" altLang="en-US" sz="2000"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连续犯</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牵连犯</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、吸收犯</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（二）数罪</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的</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类型</a:t>
            </a:r>
            <a:endParaRPr lang="en-US" altLang="zh-CN" sz="2200" dirty="0" smtClean="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异种数罪与同种数</a:t>
            </a:r>
            <a:r>
              <a:rPr lang="zh-CN" altLang="en-US" sz="2000" dirty="0" smtClean="0">
                <a:latin typeface="微软雅黑" panose="020B0503020204020204" pitchFamily="34" charset="-122"/>
                <a:ea typeface="微软雅黑" panose="020B0503020204020204" pitchFamily="34" charset="-122"/>
              </a:rPr>
              <a:t>罪</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并罚数罪与非并罚数</a:t>
            </a:r>
            <a:r>
              <a:rPr lang="zh-CN" altLang="en-US" sz="2000" dirty="0" smtClean="0">
                <a:latin typeface="微软雅黑" panose="020B0503020204020204" pitchFamily="34" charset="-122"/>
                <a:ea typeface="微软雅黑" panose="020B0503020204020204" pitchFamily="34" charset="-122"/>
              </a:rPr>
              <a:t>罪</a:t>
            </a:r>
            <a:endParaRPr lang="zh-CN" altLang="en-US" sz="2000" dirty="0">
              <a:latin typeface="微软雅黑" panose="020B0503020204020204" pitchFamily="34" charset="-122"/>
              <a:ea typeface="微软雅黑" panose="020B0503020204020204" pitchFamily="34" charset="-122"/>
            </a:endParaRPr>
          </a:p>
          <a:p>
            <a:pPr>
              <a:lnSpc>
                <a:spcPct val="150000"/>
              </a:lnSpc>
            </a:pPr>
            <a:r>
              <a:rPr lang="en-US" altLang="zh-CN" sz="2000" dirty="0" smtClean="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判决宣告以前的数罪与刑罚执行期间的数罪</a:t>
            </a:r>
          </a:p>
          <a:p>
            <a:pPr>
              <a:lnSpc>
                <a:spcPct val="150000"/>
              </a:lnSpc>
            </a:pPr>
            <a:endParaRPr lang="en-US" altLang="zh-CN" sz="2200" dirty="0">
              <a:latin typeface="微软雅黑" panose="020B0503020204020204" pitchFamily="34" charset="-122"/>
              <a:ea typeface="微软雅黑" panose="020B0503020204020204" pitchFamily="34" charset="-122"/>
            </a:endParaRPr>
          </a:p>
          <a:p>
            <a:pPr indent="0" fontAlgn="auto">
              <a:lnSpc>
                <a:spcPct val="150000"/>
              </a:lnSpc>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spTree>
    <p:extLst>
      <p:ext uri="{BB962C8B-B14F-4D97-AF65-F5344CB8AC3E}">
        <p14:creationId xmlns:p14="http://schemas.microsoft.com/office/powerpoint/2010/main" val="36612574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第二节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一罪的类型</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/12</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7270973" y="775078"/>
            <a:ext cx="423037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第十二章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罪数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55650"/>
            <a:ext cx="1099248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一、实质的一</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罪</a:t>
            </a: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（实质的一罪是指行为人实施一个犯罪行为，形式上符合数个犯罪构成，而实质上构成一罪的罪数形态</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（一）继续犯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1.继续犯的概念。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所谓继续犯，亦称持续犯，是指犯罪行为及其所引起的不法状态同时处于持续过程中的犯罪形态</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（行为人作用于同一对象的一个犯罪行为从着手实行到实行终了，犯罪行为与不法状态在一定时间内同时处于继续（持续）状态的犯罪）</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继续犯的构成特征。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）是基于</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一个犯罪故意实施一个危害行为的犯罪。</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）是持续</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地侵犯同一或相同直接客体的犯罪。</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）是犯罪行为</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及其所引起的不法状态同时处于持续过程中的犯罪。</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）必须以持续一定时间或一定时间的持续性为成立条件。</a:t>
            </a: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92455"/>
            <a:ext cx="10653395"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3.继续犯与即成犯、状态犯的区别。</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1</a:t>
            </a: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继续犯与即成犯的区别。</a:t>
            </a:r>
          </a:p>
          <a:p>
            <a:pPr marL="342900" indent="-342900" algn="l" fontAlgn="auto">
              <a:lnSpc>
                <a:spcPct val="150000"/>
              </a:lnSpc>
              <a:buClrTx/>
              <a:buSzTx/>
              <a:buFont typeface="Wingdings" panose="05000000000000000000" charset="0"/>
              <a:buChar char="p"/>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所谓即成犯，亦称即时犯，是指侵犯一定客体或者引发一定危害结果的危害行为，一经实施终了，即齐备某种犯罪的构成要件，</a:t>
            </a:r>
            <a:r>
              <a:rPr lang="en-US" altLang="zh-CN"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构成既遂的犯罪形态</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（如故意杀人罪、盗窃罪）</a:t>
            </a:r>
            <a:r>
              <a:rPr lang="en-US" altLang="zh-CN"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marL="342900" indent="-342900" algn="l" fontAlgn="auto">
              <a:lnSpc>
                <a:spcPct val="150000"/>
              </a:lnSpc>
              <a:buClrTx/>
              <a:buSzTx/>
              <a:buFont typeface="Wingdings" panose="05000000000000000000" charset="0"/>
              <a:buChar char="p"/>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即成犯与继续犯的主要区别在于：</a:t>
            </a:r>
          </a:p>
          <a:p>
            <a:pPr marL="342900" indent="-342900" algn="l" fontAlgn="auto">
              <a:lnSpc>
                <a:spcPct val="150000"/>
              </a:lnSpc>
              <a:buClrTx/>
              <a:buSzTx/>
              <a:buFont typeface="Arial" panose="020B0604020202020204" pitchFamily="34" charset="0"/>
              <a:buChar char="•"/>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algn="l" fontAlgn="auto">
              <a:lnSpc>
                <a:spcPct val="150000"/>
              </a:lnSpc>
              <a:buClrTx/>
              <a:buSzTx/>
              <a:buFont typeface="Wingdings" panose="05000000000000000000" charset="0"/>
              <a:buNone/>
            </a:pPr>
            <a:endPar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p:txBody>
      </p:sp>
      <p:graphicFrame>
        <p:nvGraphicFramePr>
          <p:cNvPr id="2" name="表格 1"/>
          <p:cNvGraphicFramePr/>
          <p:nvPr>
            <p:custDataLst>
              <p:tags r:id="rId1"/>
            </p:custDataLst>
            <p:extLst>
              <p:ext uri="{D42A27DB-BD31-4B8C-83A1-F6EECF244321}">
                <p14:modId xmlns:p14="http://schemas.microsoft.com/office/powerpoint/2010/main" val="3095080952"/>
              </p:ext>
            </p:extLst>
          </p:nvPr>
        </p:nvGraphicFramePr>
        <p:xfrm>
          <a:off x="699135" y="3077845"/>
          <a:ext cx="10685780" cy="3108960"/>
        </p:xfrm>
        <a:graphic>
          <a:graphicData uri="http://schemas.openxmlformats.org/drawingml/2006/table">
            <a:tbl>
              <a:tblPr firstRow="1" bandRow="1">
                <a:tableStyleId>{21E4AEA4-8DFA-4A89-87EB-49C32662AFE0}</a:tableStyleId>
              </a:tblPr>
              <a:tblGrid>
                <a:gridCol w="5342890">
                  <a:extLst>
                    <a:ext uri="{9D8B030D-6E8A-4147-A177-3AD203B41FA5}">
                      <a16:colId xmlns="" xmlns:a16="http://schemas.microsoft.com/office/drawing/2014/main" val="20000"/>
                    </a:ext>
                  </a:extLst>
                </a:gridCol>
                <a:gridCol w="5342890">
                  <a:extLst>
                    <a:ext uri="{9D8B030D-6E8A-4147-A177-3AD203B41FA5}">
                      <a16:colId xmlns="" xmlns:a16="http://schemas.microsoft.com/office/drawing/2014/main" val="20001"/>
                    </a:ext>
                  </a:extLst>
                </a:gridCol>
              </a:tblGrid>
              <a:tr h="396240">
                <a:tc>
                  <a:txBody>
                    <a:bodyPr/>
                    <a:lstStyle/>
                    <a:p>
                      <a:pPr algn="ctr">
                        <a:buNone/>
                      </a:pPr>
                      <a:r>
                        <a:rPr lang="zh-CN" altLang="en-US" sz="2000" dirty="0">
                          <a:latin typeface="微软雅黑" panose="020B0503020204020204" pitchFamily="34" charset="-122"/>
                          <a:ea typeface="微软雅黑" panose="020B0503020204020204" pitchFamily="34" charset="-122"/>
                        </a:rPr>
                        <a:t>即成犯</a:t>
                      </a:r>
                    </a:p>
                  </a:txBody>
                  <a:tcPr/>
                </a:tc>
                <a:tc>
                  <a:txBody>
                    <a:bodyPr/>
                    <a:lstStyle/>
                    <a:p>
                      <a:pPr algn="ctr">
                        <a:buNone/>
                      </a:pPr>
                      <a:r>
                        <a:rPr lang="zh-CN" altLang="en-US" sz="2000">
                          <a:latin typeface="微软雅黑" panose="020B0503020204020204" pitchFamily="34" charset="-122"/>
                          <a:ea typeface="微软雅黑" panose="020B0503020204020204" pitchFamily="34" charset="-122"/>
                        </a:rPr>
                        <a:t>继续犯</a:t>
                      </a:r>
                    </a:p>
                  </a:txBody>
                  <a:tcPr/>
                </a:tc>
                <a:extLst>
                  <a:ext uri="{0D108BD9-81ED-4DB2-BD59-A6C34878D82A}">
                    <a16:rowId xmlns="" xmlns:a16="http://schemas.microsoft.com/office/drawing/2014/main" val="10000"/>
                  </a:ext>
                </a:extLst>
              </a:tr>
              <a:tr h="381000">
                <a:tc>
                  <a:txBody>
                    <a:bodyPr/>
                    <a:lstStyle/>
                    <a:p>
                      <a:pPr>
                        <a:buNone/>
                      </a:pPr>
                      <a:r>
                        <a:rPr lang="en-US" altLang="zh-CN" sz="2000" b="1" dirty="0" err="1"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a:t>
                      </a:r>
                      <a:r>
                        <a:rPr lang="en-US" altLang="zh-CN"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并不要求危害行为必须具有一定时间的持续性</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nSpc>
                          <a:spcPct val="150000"/>
                        </a:lnSpc>
                        <a:buNone/>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在一定的时间内，犯罪行为及其所引起的不法状态同时处</a:t>
                      </a:r>
                      <a:r>
                        <a:rPr lang="zh-CN" altLang="en-US"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于</a:t>
                      </a: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持续状态的犯罪形态</a:t>
                      </a:r>
                      <a:endParaRPr lang="zh-CN" altLang="en-US" sz="2000">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10001"/>
                  </a:ext>
                </a:extLst>
              </a:tr>
              <a:tr h="381000">
                <a:tc>
                  <a:txBody>
                    <a:bodyPr/>
                    <a:lstStyle/>
                    <a:p>
                      <a:pPr>
                        <a:lnSpc>
                          <a:spcPct val="150000"/>
                        </a:lnSpc>
                        <a:buNone/>
                      </a:pPr>
                      <a:r>
                        <a:rPr lang="en-US" altLang="zh-CN" sz="2000" b="1" dirty="0" err="1"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b.</a:t>
                      </a:r>
                      <a:r>
                        <a:rPr lang="en-US" altLang="zh-CN"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犯罪既遂之后</a:t>
                      </a:r>
                      <a:r>
                        <a:rPr lang="en-US" altLang="zh-CN"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，其危害行为不再继续，只是危害行为可能引起的不法状态有可能继续存在</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nSpc>
                          <a:spcPct val="150000"/>
                        </a:lnSpc>
                        <a:buNone/>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构成既遂之后，其危害行为及其所引起的不法状态仍可能在一定时间内同时处于持续状态</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10002"/>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c.</a:t>
                      </a:r>
                      <a:r>
                        <a:rPr lang="zh-CN" altLang="en-US"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危害行为实施终了在前，犯罪构成既遂在后，危害行为实施终了是犯罪构成既遂的必备前提</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nSpc>
                          <a:spcPct val="150000"/>
                        </a:lnSpc>
                        <a:buNone/>
                      </a:pPr>
                      <a:r>
                        <a:rPr lang="zh-CN" altLang="en-US" sz="2000" dirty="0" smtClean="0">
                          <a:latin typeface="微软雅黑" panose="020B0503020204020204" pitchFamily="34" charset="-122"/>
                          <a:ea typeface="微软雅黑" panose="020B0503020204020204" pitchFamily="34" charset="-122"/>
                        </a:rPr>
                        <a:t>既遂之后，其危害行为可能仍然尚未实施终了</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48640" y="726440"/>
            <a:ext cx="10979786"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(2)继续犯与状态犯的区别。</a:t>
            </a:r>
          </a:p>
          <a:p>
            <a:pPr marL="342900" indent="-342900" algn="l" fontAlgn="auto">
              <a:lnSpc>
                <a:spcPct val="150000"/>
              </a:lnSpc>
              <a:buClrTx/>
              <a:buSzTx/>
              <a:buFont typeface="Wingdings" panose="05000000000000000000" charset="0"/>
              <a:buChar char="p"/>
            </a:pPr>
            <a:r>
              <a:rPr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所谓状态犯，是指犯罪行为一经实施，当即发生危害结果，犯罪就已既遂，犯罪行为也随之结束或终了，但基于该犯罪行为所产生的不法状态仍继续存在。</a:t>
            </a:r>
          </a:p>
          <a:p>
            <a:pPr marL="342900" indent="-342900" algn="l" fontAlgn="auto">
              <a:lnSpc>
                <a:spcPct val="150000"/>
              </a:lnSpc>
              <a:buClrTx/>
              <a:buSzTx/>
              <a:buFont typeface="Wingdings" panose="05000000000000000000" charset="0"/>
              <a:buChar char="p"/>
            </a:pPr>
            <a:r>
              <a:rPr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继续犯与状态犯区别主要表现于：</a:t>
            </a:r>
          </a:p>
          <a:p>
            <a:pPr marL="342900" indent="-342900" algn="l" fontAlgn="auto">
              <a:lnSpc>
                <a:spcPct val="150000"/>
              </a:lnSpc>
              <a:buClrTx/>
              <a:buSzTx/>
              <a:buFont typeface="Arial" panose="020B0604020202020204" pitchFamily="34" charset="0"/>
              <a:buChar char="•"/>
            </a:pPr>
            <a:r>
              <a:rPr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第一</a:t>
            </a:r>
            <a:r>
              <a:rPr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不法状态产生的时间不同。</a:t>
            </a:r>
            <a:r>
              <a:rPr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继续犯是犯罪行为一旦着手实施</a:t>
            </a:r>
            <a:r>
              <a:rPr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必然随即引起相应的不法状态</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（实行犯罪→犯罪终止）</a:t>
            </a:r>
            <a:r>
              <a:rPr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状态犯只是在犯罪行为实行终了以后，</a:t>
            </a:r>
            <a:r>
              <a:rPr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才有可能导致不法状态的产生</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（终止之后）</a:t>
            </a:r>
            <a:r>
              <a:rPr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marL="342900" indent="-342900">
              <a:lnSpc>
                <a:spcPct val="150000"/>
              </a:lnSpc>
              <a:buFont typeface="Arial" panose="020B0604020202020204" pitchFamily="34" charset="0"/>
              <a:buChar char="•"/>
            </a:pPr>
            <a:r>
              <a:rPr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第二</a:t>
            </a:r>
            <a:r>
              <a:rPr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是否存在犯罪行为的继续</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不同。</a:t>
            </a:r>
            <a:r>
              <a:rPr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继续犯是在犯罪行为继续存在的同时</a:t>
            </a:r>
            <a:r>
              <a:rPr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，由犯罪行为所引起的不法状态也处于继续之中；状态犯则是在犯罪行为结束之后，仅仅是犯罪行为所引起的不法状态有可能继续存在。</a:t>
            </a:r>
          </a:p>
          <a:p>
            <a:pPr indent="0" algn="l" fontAlgn="auto">
              <a:lnSpc>
                <a:spcPct val="150000"/>
              </a:lnSpc>
              <a:buClrTx/>
              <a:buSzTx/>
              <a:buFont typeface="Arial" panose="020B0604020202020204" pitchFamily="34" charset="0"/>
              <a:buNone/>
            </a:pP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4.</a:t>
            </a:r>
            <a:r>
              <a:rPr lang="en-US" altLang="zh-CN" sz="2000" dirty="0"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继续犯的处断原则</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err="1" smtClean="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应按刑法相关规定以一罪论处</a:t>
            </a:r>
            <a:r>
              <a:rPr lang="en-US" altLang="zh-CN" sz="2000" dirty="0" err="1">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，不实行数罪并罚</a:t>
            </a:r>
            <a:r>
              <a:rPr lang="en-US" altLang="zh-CN" sz="2000" dirty="0">
                <a:solidFill>
                  <a:schemeClr val="tx1"/>
                </a:solidFill>
                <a:latin typeface="微软雅黑" panose="020B0503020204020204" pitchFamily="34" charset="-122"/>
                <a:ea typeface="微软雅黑" panose="020B0503020204020204" pitchFamily="34" charset="-122"/>
                <a:cs typeface="华文中宋" panose="02010600040101010101" pitchFamily="2" charset="-122"/>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55345"/>
            <a:ext cx="1065339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（二）想象竞合犯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1.想象竞合犯的概念。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想象竞合犯，亦称想象数</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罪</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（观念的竞合）</a:t>
            </a:r>
            <a:r>
              <a:rPr lang="zh-CN" altLang="en-US" sz="20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是指行为人基于数个不同的具体罪过，实施一个危害社会行为，而触犯两个以上异种罪名的犯罪形态。</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想象竞合犯的构成特征。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）行为人必须基于数个不同的具体</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罪过</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（故意或过失）</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实施</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犯罪行为。</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）行为人只实施一个危害社会行为。</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）行为人实施的一个危害社会行为必须侵犯数个不同的直接客体。</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）行为人实施的一个危害社会行为必须同时触犯数个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罪名</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（存在数个法益侵害事实）</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75030"/>
            <a:ext cx="10653395" cy="4448175"/>
          </a:xfrm>
          <a:prstGeom prst="rect">
            <a:avLst/>
          </a:prstGeom>
          <a:noFill/>
        </p:spPr>
        <p:txBody>
          <a:bodyPr wrap="square" rtlCol="0">
            <a:noAutofit/>
          </a:bodyPr>
          <a:lstStyle/>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想象竞合犯与法条竞合的区别。</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法规竞合是</a:t>
            </a:r>
            <a:r>
              <a:rPr lang="zh-CN" altLang="en-US" sz="2000"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刑事立法上</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2000"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法规重合</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现象。刑法规定的犯罪类型十分复杂，随着刑事立法的发展，就会发生法规重合现象。刑事立法越是发达，法规重合现象就越是不可避免。例如，因法律的特别规定，会发生普通法与特别法的重合；因法律的补充规定，会发生基本法与补充法的重合</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法</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条竞合又称法规竞合，通常是指一种犯罪行为因刑事立法对法条的错综规定，导致数个法条规定的犯罪构成要件在内容上发生重合或交叉的情形。</a:t>
            </a:r>
          </a:p>
          <a:p>
            <a:pPr marL="342900" indent="-342900" fontAlgn="auto">
              <a:lnSpc>
                <a:spcPct val="150000"/>
              </a:lnSpc>
              <a:buFont typeface="Wingdings" panose="05000000000000000000" charset="0"/>
              <a:buChar char="p"/>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想象竞合犯与法条竞合具有四个共同的特征：</a:t>
            </a:r>
          </a:p>
          <a:p>
            <a:pPr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）行为人均实施了一个犯罪行为；</a:t>
            </a:r>
          </a:p>
          <a:p>
            <a:pPr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）行为人所实施的犯罪行为均触犯了规定不同罪名的数个法条；</a:t>
            </a:r>
          </a:p>
          <a:p>
            <a:pPr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）两者的法律本质相同，法条竞合是单纯一罪，想象竞合犯是实质上的一罪，即两者的法律本质均是一罪，而非数罪；</a:t>
            </a:r>
          </a:p>
          <a:p>
            <a:pPr indent="0"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）想象竞合犯和法条竞合最终均适用一个法条并且按照一罪予以处罚。</a:t>
            </a:r>
          </a:p>
          <a:p>
            <a:pPr indent="0" fontAlgn="auto">
              <a:lnSpc>
                <a:spcPct val="150000"/>
              </a:lnSpc>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48640"/>
            <a:ext cx="10653395" cy="4448175"/>
          </a:xfrm>
          <a:prstGeom prst="rect">
            <a:avLst/>
          </a:prstGeom>
          <a:noFill/>
        </p:spPr>
        <p:txBody>
          <a:bodyPr wrap="square" rtlCol="0">
            <a:noAutofit/>
          </a:bodyPr>
          <a:lstStyle/>
          <a:p>
            <a:pPr indent="0" algn="ctr" fontAlgn="auto">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想象竞合犯与法条竞合的</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区别</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（是否具有逻辑的相容性、法益的同一性、不法的包容性）</a:t>
            </a:r>
          </a:p>
        </p:txBody>
      </p:sp>
      <p:graphicFrame>
        <p:nvGraphicFramePr>
          <p:cNvPr id="2" name="表格 1"/>
          <p:cNvGraphicFramePr/>
          <p:nvPr>
            <p:custDataLst>
              <p:tags r:id="rId1"/>
            </p:custDataLst>
            <p:extLst>
              <p:ext uri="{D42A27DB-BD31-4B8C-83A1-F6EECF244321}">
                <p14:modId xmlns:p14="http://schemas.microsoft.com/office/powerpoint/2010/main" val="2450711572"/>
              </p:ext>
            </p:extLst>
          </p:nvPr>
        </p:nvGraphicFramePr>
        <p:xfrm>
          <a:off x="278296" y="1146810"/>
          <a:ext cx="11433975" cy="4389120"/>
        </p:xfrm>
        <a:graphic>
          <a:graphicData uri="http://schemas.openxmlformats.org/drawingml/2006/table">
            <a:tbl>
              <a:tblPr firstRow="1" bandRow="1">
                <a:tableStyleId>{21E4AEA4-8DFA-4A89-87EB-49C32662AFE0}</a:tableStyleId>
              </a:tblPr>
              <a:tblGrid>
                <a:gridCol w="5752915">
                  <a:extLst>
                    <a:ext uri="{9D8B030D-6E8A-4147-A177-3AD203B41FA5}">
                      <a16:colId xmlns="" xmlns:a16="http://schemas.microsoft.com/office/drawing/2014/main" val="20000"/>
                    </a:ext>
                  </a:extLst>
                </a:gridCol>
                <a:gridCol w="5681060">
                  <a:extLst>
                    <a:ext uri="{9D8B030D-6E8A-4147-A177-3AD203B41FA5}">
                      <a16:colId xmlns="" xmlns:a16="http://schemas.microsoft.com/office/drawing/2014/main" val="20001"/>
                    </a:ext>
                  </a:extLst>
                </a:gridCol>
              </a:tblGrid>
              <a:tr h="396240">
                <a:tc>
                  <a:txBody>
                    <a:bodyPr/>
                    <a:lstStyle/>
                    <a:p>
                      <a:pPr algn="ctr">
                        <a:buNone/>
                      </a:pPr>
                      <a:r>
                        <a:rPr lang="zh-CN" altLang="en-US" sz="2000" dirty="0">
                          <a:latin typeface="微软雅黑" panose="020B0503020204020204" pitchFamily="34" charset="-122"/>
                          <a:ea typeface="微软雅黑" panose="020B0503020204020204" pitchFamily="34" charset="-122"/>
                        </a:rPr>
                        <a:t>想象竞合</a:t>
                      </a:r>
                    </a:p>
                  </a:txBody>
                  <a:tcPr/>
                </a:tc>
                <a:tc>
                  <a:txBody>
                    <a:bodyPr/>
                    <a:lstStyle/>
                    <a:p>
                      <a:pPr algn="ctr">
                        <a:buNone/>
                      </a:pPr>
                      <a:r>
                        <a:rPr lang="zh-CN" altLang="en-US" sz="2000">
                          <a:latin typeface="微软雅黑" panose="020B0503020204020204" pitchFamily="34" charset="-122"/>
                          <a:ea typeface="微软雅黑" panose="020B0503020204020204" pitchFamily="34" charset="-122"/>
                        </a:rPr>
                        <a:t>法条竞合</a:t>
                      </a:r>
                    </a:p>
                  </a:txBody>
                  <a:tcPr/>
                </a:tc>
                <a:extLst>
                  <a:ext uri="{0D108BD9-81ED-4DB2-BD59-A6C34878D82A}">
                    <a16:rowId xmlns="" xmlns:a16="http://schemas.microsoft.com/office/drawing/2014/main" val="10000"/>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a.</a:t>
                      </a:r>
                      <a:r>
                        <a:rPr lang="zh-CN" altLang="en-US" sz="2000" dirty="0" smtClean="0">
                          <a:latin typeface="微软雅黑" panose="020B0503020204020204" pitchFamily="34" charset="-122"/>
                          <a:ea typeface="微软雅黑" panose="020B0503020204020204" pitchFamily="34" charset="-122"/>
                        </a:rPr>
                        <a:t>罪</a:t>
                      </a:r>
                      <a:r>
                        <a:rPr lang="zh-CN" altLang="en-US" sz="2000" dirty="0">
                          <a:latin typeface="微软雅黑" panose="020B0503020204020204" pitchFamily="34" charset="-122"/>
                          <a:ea typeface="微软雅黑" panose="020B0503020204020204" pitchFamily="34" charset="-122"/>
                        </a:rPr>
                        <a:t>数形态</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法条形态</a:t>
                      </a:r>
                    </a:p>
                  </a:txBody>
                  <a:tcPr anchor="ctr"/>
                </a:tc>
                <a:extLst>
                  <a:ext uri="{0D108BD9-81ED-4DB2-BD59-A6C34878D82A}">
                    <a16:rowId xmlns="" xmlns:a16="http://schemas.microsoft.com/office/drawing/2014/main" val="10001"/>
                  </a:ext>
                </a:extLst>
              </a:tr>
              <a:tr h="381000">
                <a:tc>
                  <a:txBody>
                    <a:bodyPr/>
                    <a:lstStyle/>
                    <a:p>
                      <a:pPr>
                        <a:buNone/>
                      </a:pPr>
                      <a:r>
                        <a:rPr lang="en-US" altLang="zh-CN" sz="2000" baseline="0" dirty="0" smtClean="0">
                          <a:latin typeface="微软雅黑" panose="020B0503020204020204" pitchFamily="34" charset="-122"/>
                          <a:ea typeface="微软雅黑" panose="020B0503020204020204" pitchFamily="34" charset="-122"/>
                        </a:rPr>
                        <a:t>   </a:t>
                      </a:r>
                      <a:r>
                        <a:rPr lang="zh-CN" altLang="en-US" sz="2000" dirty="0" smtClean="0">
                          <a:latin typeface="微软雅黑" panose="020B0503020204020204" pitchFamily="34" charset="-122"/>
                          <a:ea typeface="微软雅黑" panose="020B0503020204020204" pitchFamily="34" charset="-122"/>
                        </a:rPr>
                        <a:t>犯罪行为</a:t>
                      </a:r>
                      <a:r>
                        <a:rPr lang="zh-CN" altLang="en-US" sz="2000" dirty="0">
                          <a:latin typeface="微软雅黑" panose="020B0503020204020204" pitchFamily="34" charset="-122"/>
                          <a:ea typeface="微软雅黑" panose="020B0503020204020204" pitchFamily="34" charset="-122"/>
                        </a:rPr>
                        <a:t>或犯罪行为所触犯的不同罪名的竞合</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法律条文的竞合</a:t>
                      </a:r>
                    </a:p>
                  </a:txBody>
                  <a:tcPr anchor="ctr"/>
                </a:tc>
                <a:extLst>
                  <a:ext uri="{0D108BD9-81ED-4DB2-BD59-A6C34878D82A}">
                    <a16:rowId xmlns="" xmlns:a16="http://schemas.microsoft.com/office/drawing/2014/main" val="10002"/>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b.</a:t>
                      </a:r>
                      <a:r>
                        <a:rPr lang="zh-CN" altLang="en-US" sz="2000" dirty="0" smtClean="0">
                          <a:latin typeface="微软雅黑" panose="020B0503020204020204" pitchFamily="34" charset="-122"/>
                          <a:ea typeface="微软雅黑" panose="020B0503020204020204" pitchFamily="34" charset="-122"/>
                        </a:rPr>
                        <a:t>所</a:t>
                      </a:r>
                      <a:r>
                        <a:rPr lang="zh-CN" altLang="en-US" sz="2000" dirty="0">
                          <a:latin typeface="微软雅黑" panose="020B0503020204020204" pitchFamily="34" charset="-122"/>
                          <a:ea typeface="微软雅黑" panose="020B0503020204020204" pitchFamily="34" charset="-122"/>
                        </a:rPr>
                        <a:t>触犯的规定不同种罪名的数个法条之间，不存在重合或交叉关系</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所涉及的规定不同种罪名的数个法条之间，必然存在重合或交叉关系</a:t>
                      </a:r>
                    </a:p>
                  </a:txBody>
                  <a:tcPr anchor="ctr"/>
                </a:tc>
                <a:extLst>
                  <a:ext uri="{0D108BD9-81ED-4DB2-BD59-A6C34878D82A}">
                    <a16:rowId xmlns="" xmlns:a16="http://schemas.microsoft.com/office/drawing/2014/main" val="10003"/>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规定</a:t>
                      </a:r>
                      <a:r>
                        <a:rPr lang="zh-CN" altLang="en-US" sz="2000" dirty="0">
                          <a:latin typeface="微软雅黑" panose="020B0503020204020204" pitchFamily="34" charset="-122"/>
                          <a:ea typeface="微软雅黑" panose="020B0503020204020204" pitchFamily="34" charset="-122"/>
                        </a:rPr>
                        <a:t>不同种罪名的数个法条发生关联，以行为人实施特定的犯罪行为为前提或中介</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所涉及的规定不同种罪名的数个法条之间的重合或交叉关系，并不以犯罪行为的实际发生为转移</a:t>
                      </a:r>
                    </a:p>
                  </a:txBody>
                  <a:tcPr anchor="ctr"/>
                </a:tc>
                <a:extLst>
                  <a:ext uri="{0D108BD9-81ED-4DB2-BD59-A6C34878D82A}">
                    <a16:rowId xmlns="" xmlns:a16="http://schemas.microsoft.com/office/drawing/2014/main" val="10004"/>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d.</a:t>
                      </a:r>
                      <a:r>
                        <a:rPr lang="zh-CN" altLang="en-US" sz="2000" dirty="0" smtClean="0">
                          <a:latin typeface="微软雅黑" panose="020B0503020204020204" pitchFamily="34" charset="-122"/>
                          <a:ea typeface="微软雅黑" panose="020B0503020204020204" pitchFamily="34" charset="-122"/>
                        </a:rPr>
                        <a:t>行为</a:t>
                      </a:r>
                      <a:r>
                        <a:rPr lang="zh-CN" altLang="en-US" sz="2000" dirty="0">
                          <a:latin typeface="微软雅黑" panose="020B0503020204020204" pitchFamily="34" charset="-122"/>
                          <a:ea typeface="微软雅黑" panose="020B0503020204020204" pitchFamily="34" charset="-122"/>
                        </a:rPr>
                        <a:t>人实施了一个犯罪行为而触犯规定不同种罪名的数个法条</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所涉及的规定不同种罪名的数个法条之间存在复合或交叉关系，并不以犯罪行为的发生为前提</a:t>
                      </a:r>
                    </a:p>
                  </a:txBody>
                  <a:tcPr anchor="ctr"/>
                </a:tc>
                <a:extLst>
                  <a:ext uri="{0D108BD9-81ED-4DB2-BD59-A6C34878D82A}">
                    <a16:rowId xmlns="" xmlns:a16="http://schemas.microsoft.com/office/drawing/2014/main" val="10005"/>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e.</a:t>
                      </a:r>
                      <a:r>
                        <a:rPr lang="zh-CN" altLang="en-US" sz="2000" dirty="0" smtClean="0">
                          <a:latin typeface="微软雅黑" panose="020B0503020204020204" pitchFamily="34" charset="-122"/>
                          <a:ea typeface="微软雅黑" panose="020B0503020204020204" pitchFamily="34" charset="-122"/>
                        </a:rPr>
                        <a:t>在数</a:t>
                      </a:r>
                      <a:r>
                        <a:rPr lang="zh-CN" altLang="en-US" sz="2000" dirty="0">
                          <a:latin typeface="微软雅黑" panose="020B0503020204020204" pitchFamily="34" charset="-122"/>
                          <a:ea typeface="微软雅黑" panose="020B0503020204020204" pitchFamily="34" charset="-122"/>
                        </a:rPr>
                        <a:t>个不同的具体罪过支配下实施一个危害行为</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在一个具体罪过的支配下实施一个危害行为</a:t>
                      </a:r>
                    </a:p>
                  </a:txBody>
                  <a:tcPr anchor="ctr"/>
                </a:tc>
                <a:extLst>
                  <a:ext uri="{0D108BD9-81ED-4DB2-BD59-A6C34878D82A}">
                    <a16:rowId xmlns="" xmlns:a16="http://schemas.microsoft.com/office/drawing/2014/main" val="10006"/>
                  </a:ext>
                </a:extLst>
              </a:tr>
              <a:tr h="38100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f.</a:t>
                      </a:r>
                      <a:r>
                        <a:rPr lang="zh-CN" altLang="en-US" sz="2000" dirty="0" smtClean="0">
                          <a:latin typeface="微软雅黑" panose="020B0503020204020204" pitchFamily="34" charset="-122"/>
                          <a:ea typeface="微软雅黑" panose="020B0503020204020204" pitchFamily="34" charset="-122"/>
                        </a:rPr>
                        <a:t>犯罪行为</a:t>
                      </a:r>
                      <a:r>
                        <a:rPr lang="zh-CN" altLang="en-US" sz="2000" dirty="0">
                          <a:latin typeface="微软雅黑" panose="020B0503020204020204" pitchFamily="34" charset="-122"/>
                          <a:ea typeface="微软雅黑" panose="020B0503020204020204" pitchFamily="34" charset="-122"/>
                        </a:rPr>
                        <a:t>同时直接作用于体现不同直接客体的数个犯罪对象</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犯罪行为仅直接作用于体现一个直接客体的单一犯罪对象</a:t>
                      </a:r>
                    </a:p>
                  </a:txBody>
                  <a:tcPr anchor="ctr"/>
                </a:tc>
                <a:extLst>
                  <a:ext uri="{0D108BD9-81ED-4DB2-BD59-A6C34878D82A}">
                    <a16:rowId xmlns="" xmlns:a16="http://schemas.microsoft.com/office/drawing/2014/main" val="10007"/>
                  </a:ext>
                </a:extLst>
              </a:tr>
            </a:tbl>
          </a:graphicData>
        </a:graphic>
      </p:graphicFrame>
      <p:sp>
        <p:nvSpPr>
          <p:cNvPr id="3" name="文本框 2"/>
          <p:cNvSpPr txBox="1"/>
          <p:nvPr/>
        </p:nvSpPr>
        <p:spPr>
          <a:xfrm>
            <a:off x="515620" y="5733415"/>
            <a:ext cx="10831195" cy="615553"/>
          </a:xfrm>
          <a:prstGeom prst="rect">
            <a:avLst/>
          </a:prstGeom>
          <a:noFill/>
        </p:spPr>
        <p:txBody>
          <a:bodyPr wrap="square" rtlCol="0">
            <a:spAutoFit/>
          </a:bodyPr>
          <a:lstStyle/>
          <a:p>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4.想象竞合犯的处断原则</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：从一重处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断</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（在所触犯的数罪中，按最重的一罪处罚。在数罪中比较轻重时，以法定刑为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标准）</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48640"/>
            <a:ext cx="1065339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（三）结果加重犯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1.结果加重犯的概念。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所谓结果加重犯，亦称加重结果犯，是指实施基本犯罪构成要件的行为，由于发生了刑法规定的基本犯罪构成要件以外的重结果，刑法对其规定加重法定刑的犯罪形态。</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结果加重犯的构成特征。</a:t>
            </a:r>
          </a:p>
          <a:p>
            <a:pP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）行为人所实施的基本犯罪构成要件的</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（行为犯</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结果犯）</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客观地引发了基本犯罪构成要件以外的重结果，即符合基本犯罪构成要件的行为与加重结果之间具有因果</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联系</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（具有直接性</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关联）</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）基本犯罪构成要件以外的重结果或者加重结果，必须通过刑法明文规定的方式，成为依附于基本犯罪构成要件而存在的特定犯罪的有机</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组成部分</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（法定性）</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）行为人对其实施的基本犯罪构成要件的行为及其所引起的加重结果均有犯</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意</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故意</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故意；</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故意</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过失；</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c.</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过失</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过失）</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548640"/>
            <a:ext cx="10653395" cy="4448175"/>
          </a:xfrm>
          <a:prstGeom prst="rect">
            <a:avLst/>
          </a:prstGeom>
          <a:noFill/>
        </p:spPr>
        <p:txBody>
          <a:bodyPr wrap="square" rtlCol="0">
            <a:no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）刑法规定了加重法</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定刑</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结果加重犯的处断原则：应当按照刑法分则条款规定的加重法定刑处罚。</a:t>
            </a:r>
          </a:p>
        </p:txBody>
      </p:sp>
    </p:spTree>
    <p:extLst>
      <p:ext uri="{BB962C8B-B14F-4D97-AF65-F5344CB8AC3E}">
        <p14:creationId xmlns:p14="http://schemas.microsoft.com/office/powerpoint/2010/main" val="75559230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505" y="1204595"/>
            <a:ext cx="1113663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二、法定的一罪</a:t>
            </a:r>
          </a:p>
          <a:p>
            <a:pPr indent="0" fontAlgn="auto">
              <a:lnSpc>
                <a:spcPct val="150000"/>
              </a:lnSpc>
            </a:pP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（法定的一罪是指行为人实施数个犯罪行为，刑法规定将其作为一罪论处的罪数形态</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一）结合犯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1.结合犯的概念。</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结合犯，是指基于刑法明文规定的具有独立构成要件且性质各异的数个犯罪（即原罪或被结合之罪）之间的客观联系，依据刑事法律的明文规定，将其结合成另一个包含与原罪相对应且彼此相对独立的数个构成要件的犯罪（即新罪或结合之罪），而行为人以数个性质不同且能单独成罪的危害行为触犯这一新罪名的犯罪形态</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（行为人实施了数个独立的犯罪行为，刑法规定将其结合成为另一独立新罪的罪数</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形态）</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73100" y="1497330"/>
            <a:ext cx="1113663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（一）结合犯</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结合犯的构成特征。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）被结合之</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罪</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（原罪）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是刑法明文规定的具有独立构成要件且性质各异的数</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罪。</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）由数个原罪结合而成的新罪，必须含有与原罪相对应且彼此相对独立的数个犯罪的构成要件。</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）数个原罪必须基于一定程度的客观联系，并根据刑事法律的明文规定被结合为一个新</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罪</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甲罪</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乙罪</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甲乙罪；</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甲罪</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乙罪</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丙罪）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）必须以数个性质各异且足以单独构成犯罪的危害行为触犯由原罪结合而成的新罪。</a:t>
            </a:r>
          </a:p>
          <a:p>
            <a:pPr indent="0" algn="l" fontAlgn="auto">
              <a:lnSpc>
                <a:spcPct val="150000"/>
              </a:lnSpc>
              <a:buClrTx/>
              <a:buSzTx/>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结合犯的处断原则</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应按照刑法对结合犯所规定的相对较重的法定刑以一罪判处</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刑罚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239</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款</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0415" y="604520"/>
            <a:ext cx="1096772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（二）集合犯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1.集合犯的概念。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集合犯，是指行为人基于实施多次同种犯罪行为的意图而实际实施的数个同种犯罪行为，被刑法规定为一罪的犯罪形态。</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集合犯的构成特征。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）行为人以实施</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多次</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（如赌博罪）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或者</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不定</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次数</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（如非法行医罪）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同种犯罪行为为目的。</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）行为人通常实施了数个同种犯罪行为。</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）刑法分则将行为人可能实际实施的数个同种犯罪行为规定为一罪</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集合犯</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的种类</a:t>
            </a:r>
            <a:endParaRPr lang="en-US" altLang="zh-CN"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常习犯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：以反复实施同种犯罪行为为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要件</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0415" y="604520"/>
            <a:ext cx="10967720"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）营业犯：以一次实施某种犯罪行为或反复实施同种犯罪行为为要件</a:t>
            </a:r>
          </a:p>
          <a:p>
            <a:pPr indent="0" algn="l" fontAlgn="auto">
              <a:lnSpc>
                <a:spcPct val="150000"/>
              </a:lnSpc>
              <a:buClrTx/>
              <a:buSzTx/>
              <a:buFont typeface="Wingdings" panose="05000000000000000000" charset="0"/>
              <a:buNone/>
            </a:pPr>
            <a:r>
              <a:rPr lang="en-US" altLang="zh-CN"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集合犯的处断原则</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应当依据刑法分则的具体规定，以一罪论处，不实行数罪并罚。</a:t>
            </a:r>
          </a:p>
        </p:txBody>
      </p:sp>
    </p:spTree>
    <p:extLst>
      <p:ext uri="{BB962C8B-B14F-4D97-AF65-F5344CB8AC3E}">
        <p14:creationId xmlns:p14="http://schemas.microsoft.com/office/powerpoint/2010/main" val="285432643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9780" y="1717040"/>
            <a:ext cx="1081913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三、处断的一罪</a:t>
            </a:r>
          </a:p>
          <a:p>
            <a:pPr indent="0" fontAlgn="auto">
              <a:lnSpc>
                <a:spcPct val="150000"/>
              </a:lnSpc>
            </a:pPr>
            <a:r>
              <a:rPr lang="zh-CN" altLang="en-US" sz="1400" b="1" dirty="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（处断的一罪是指行为人实施数个犯罪行为，刑法将其作为一罪处断的罪数形态</a:t>
            </a:r>
            <a:r>
              <a:rPr lang="zh-CN" altLang="en-US"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1400" b="1"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一）连续犯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1.连续犯的概念。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所谓连续犯，是指行为人基于数个同一的犯罪故意，连续多次实施数个性质相同的犯罪行为，触犯同一罪名的犯罪形态</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（行为人基于同一或概括的犯罪故意，连续实施性质相同的、独立成罪的数个行为，触犯同一罪名的罪数形态）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indent="0" fontAlgn="auto">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49960" y="1204595"/>
            <a:ext cx="1079817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三、处断的一罪</a:t>
            </a: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（一）连续犯</a:t>
            </a: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连续犯的构成特征。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）连续犯必须基于连续意图支配下的数个同</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一或概括的犯罪</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故意。</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第一，行为人的数个犯罪故意</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必须具有同一性或概括性。</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第二，行为人数</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个犯罪故意，必须</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源于其连续实施某种犯罪的主观意图（简称</a:t>
            </a:r>
            <a:r>
              <a:rPr lang="zh-CN" altLang="en-US" sz="2000"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连续意图</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第三，由于连续意图必须在一系列呈连续状态的犯罪行为开始实行之前形成，因而特定连续意图制约的各个具体犯罪故意实际上都属于预谋故意。</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69035" y="1872615"/>
            <a:ext cx="10579100"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）连续犯必须实施数</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个性质相同</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独立成罪的</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危害行为。</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）连续犯构成的数个犯罪之间必须具有</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连续性</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（连续行为</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连续犯意）</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）连续犯实施的数个犯罪行为必须触犯同一</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罪名</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rPr>
              <a:t>（以是否符合同一犯罪构成为标准）</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①均符合同一犯罪的基本犯罪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构成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有的符合独立犯罪构成，有的符合派生犯罪构成</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③有的符合基本犯罪构成，有的符合修正犯罪构成</a:t>
            </a:r>
          </a:p>
          <a:p>
            <a:pPr>
              <a:lnSpc>
                <a:spcPct val="150000"/>
              </a:lnSpc>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9805" y="1464310"/>
            <a:ext cx="10838180"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连续犯与相关罪数形态的异同。</a:t>
            </a:r>
          </a:p>
          <a:p>
            <a:pPr indent="0" algn="l" fontAlgn="auto">
              <a:lnSpc>
                <a:spcPct val="150000"/>
              </a:lnSpc>
              <a:buClrTx/>
              <a:buSzTx/>
              <a:buFont typeface="Wingdings" panose="05000000000000000000" charset="0"/>
              <a:buNone/>
            </a:pP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犯与继续犯的异同。</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连续犯与继续犯的相同或相近之处表现为：</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①连续犯的犯罪行为和继续犯的犯罪行为均在一段时间之内处于相当程度的进行状态。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②连续犯的行为侵犯的必须是同一或相同的直接客体，继续犯的行为也必须持续侵犯同一或相同的直接客体。</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③虽然连续犯属于处断上的一罪，而继续犯属于实质的一罪，但对两者都不实行数罪并罚。</a:t>
            </a: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91490" y="613410"/>
            <a:ext cx="11409680" cy="4448175"/>
          </a:xfrm>
          <a:prstGeom prst="rect">
            <a:avLst/>
          </a:prstGeom>
          <a:noFill/>
        </p:spPr>
        <p:txBody>
          <a:bodyPr wrap="square" rtlCol="0">
            <a:noAutofit/>
          </a:bodyPr>
          <a:lstStyle/>
          <a:p>
            <a:pPr indent="0" algn="ctr"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连续犯与继续犯的主要区别</a:t>
            </a:r>
          </a:p>
        </p:txBody>
      </p:sp>
      <p:graphicFrame>
        <p:nvGraphicFramePr>
          <p:cNvPr id="2" name="表格 1"/>
          <p:cNvGraphicFramePr/>
          <p:nvPr>
            <p:custDataLst>
              <p:tags r:id="rId1"/>
            </p:custDataLst>
            <p:extLst>
              <p:ext uri="{D42A27DB-BD31-4B8C-83A1-F6EECF244321}">
                <p14:modId xmlns:p14="http://schemas.microsoft.com/office/powerpoint/2010/main" val="3347760084"/>
              </p:ext>
            </p:extLst>
          </p:nvPr>
        </p:nvGraphicFramePr>
        <p:xfrm>
          <a:off x="842645" y="1363980"/>
          <a:ext cx="10299065" cy="4509770"/>
        </p:xfrm>
        <a:graphic>
          <a:graphicData uri="http://schemas.openxmlformats.org/drawingml/2006/table">
            <a:tbl>
              <a:tblPr firstRow="1" bandRow="1">
                <a:tableStyleId>{21E4AEA4-8DFA-4A89-87EB-49C32662AFE0}</a:tableStyleId>
              </a:tblPr>
              <a:tblGrid>
                <a:gridCol w="5241290">
                  <a:extLst>
                    <a:ext uri="{9D8B030D-6E8A-4147-A177-3AD203B41FA5}">
                      <a16:colId xmlns="" xmlns:a16="http://schemas.microsoft.com/office/drawing/2014/main" val="20000"/>
                    </a:ext>
                  </a:extLst>
                </a:gridCol>
                <a:gridCol w="5057775">
                  <a:extLst>
                    <a:ext uri="{9D8B030D-6E8A-4147-A177-3AD203B41FA5}">
                      <a16:colId xmlns="" xmlns:a16="http://schemas.microsoft.com/office/drawing/2014/main" val="20001"/>
                    </a:ext>
                  </a:extLst>
                </a:gridCol>
              </a:tblGrid>
              <a:tr h="490220">
                <a:tc>
                  <a:txBody>
                    <a:bodyPr/>
                    <a:lstStyle/>
                    <a:p>
                      <a:pPr algn="ctr">
                        <a:buNone/>
                      </a:pPr>
                      <a:r>
                        <a:rPr lang="zh-CN" altLang="en-US" sz="2000" dirty="0">
                          <a:latin typeface="微软雅黑" panose="020B0503020204020204" pitchFamily="34" charset="-122"/>
                          <a:ea typeface="微软雅黑" panose="020B0503020204020204" pitchFamily="34" charset="-122"/>
                        </a:rPr>
                        <a:t>连续犯</a:t>
                      </a:r>
                    </a:p>
                  </a:txBody>
                  <a:tcPr/>
                </a:tc>
                <a:tc>
                  <a:txBody>
                    <a:bodyPr/>
                    <a:lstStyle/>
                    <a:p>
                      <a:pPr algn="ctr">
                        <a:buNone/>
                      </a:pPr>
                      <a:r>
                        <a:rPr lang="zh-CN" altLang="en-US" sz="2000">
                          <a:latin typeface="微软雅黑" panose="020B0503020204020204" pitchFamily="34" charset="-122"/>
                          <a:ea typeface="微软雅黑" panose="020B0503020204020204" pitchFamily="34" charset="-122"/>
                        </a:rPr>
                        <a:t>继续犯</a:t>
                      </a:r>
                    </a:p>
                  </a:txBody>
                  <a:tcPr/>
                </a:tc>
                <a:extLst>
                  <a:ext uri="{0D108BD9-81ED-4DB2-BD59-A6C34878D82A}">
                    <a16:rowId xmlns="" xmlns:a16="http://schemas.microsoft.com/office/drawing/2014/main" val="10000"/>
                  </a:ext>
                </a:extLst>
              </a:tr>
              <a:tr h="48895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a.</a:t>
                      </a:r>
                      <a:r>
                        <a:rPr lang="zh-CN" altLang="en-US" sz="2000" dirty="0" smtClean="0">
                          <a:latin typeface="微软雅黑" panose="020B0503020204020204" pitchFamily="34" charset="-122"/>
                          <a:ea typeface="微软雅黑" panose="020B0503020204020204" pitchFamily="34" charset="-122"/>
                        </a:rPr>
                        <a:t>数</a:t>
                      </a:r>
                      <a:r>
                        <a:rPr lang="zh-CN" altLang="en-US" sz="2000" dirty="0">
                          <a:latin typeface="微软雅黑" panose="020B0503020204020204" pitchFamily="34" charset="-122"/>
                          <a:ea typeface="微软雅黑" panose="020B0503020204020204" pitchFamily="34" charset="-122"/>
                        </a:rPr>
                        <a:t>个行为</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一个行为</a:t>
                      </a:r>
                    </a:p>
                  </a:txBody>
                  <a:tcPr anchor="ctr"/>
                </a:tc>
                <a:extLst>
                  <a:ext uri="{0D108BD9-81ED-4DB2-BD59-A6C34878D82A}">
                    <a16:rowId xmlns="" xmlns:a16="http://schemas.microsoft.com/office/drawing/2014/main" val="10001"/>
                  </a:ext>
                </a:extLst>
              </a:tr>
              <a:tr h="488950">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b.</a:t>
                      </a:r>
                      <a:r>
                        <a:rPr lang="zh-CN" altLang="en-US" sz="2000" dirty="0" smtClean="0">
                          <a:latin typeface="微软雅黑" panose="020B0503020204020204" pitchFamily="34" charset="-122"/>
                          <a:ea typeface="微软雅黑" panose="020B0503020204020204" pitchFamily="34" charset="-122"/>
                        </a:rPr>
                        <a:t>连续</a:t>
                      </a:r>
                      <a:r>
                        <a:rPr lang="zh-CN" altLang="en-US" sz="2000" dirty="0">
                          <a:latin typeface="微软雅黑" panose="020B0503020204020204" pitchFamily="34" charset="-122"/>
                          <a:ea typeface="微软雅黑" panose="020B0503020204020204" pitchFamily="34" charset="-122"/>
                        </a:rPr>
                        <a:t>意图</a:t>
                      </a:r>
                      <a:r>
                        <a:rPr lang="zh-CN" altLang="en-US" sz="2000" dirty="0" smtClean="0">
                          <a:latin typeface="微软雅黑" panose="020B0503020204020204" pitchFamily="34" charset="-122"/>
                          <a:ea typeface="微软雅黑" panose="020B0503020204020204" pitchFamily="34" charset="-122"/>
                        </a:rPr>
                        <a:t>支配数</a:t>
                      </a:r>
                      <a:r>
                        <a:rPr lang="zh-CN" altLang="en-US" sz="2000" dirty="0">
                          <a:latin typeface="微软雅黑" panose="020B0503020204020204" pitchFamily="34" charset="-122"/>
                          <a:ea typeface="微软雅黑" panose="020B0503020204020204" pitchFamily="34" charset="-122"/>
                        </a:rPr>
                        <a:t>个同一的犯罪故意</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一个犯罪故意</a:t>
                      </a:r>
                    </a:p>
                  </a:txBody>
                  <a:tcPr anchor="ctr"/>
                </a:tc>
                <a:extLst>
                  <a:ext uri="{0D108BD9-81ED-4DB2-BD59-A6C34878D82A}">
                    <a16:rowId xmlns="" xmlns:a16="http://schemas.microsoft.com/office/drawing/2014/main" val="10002"/>
                  </a:ext>
                </a:extLst>
              </a:tr>
              <a:tr h="1242695">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多次</a:t>
                      </a:r>
                      <a:r>
                        <a:rPr lang="zh-CN" altLang="en-US" sz="2000" dirty="0">
                          <a:latin typeface="微软雅黑" panose="020B0503020204020204" pitchFamily="34" charset="-122"/>
                          <a:ea typeface="微软雅黑" panose="020B0503020204020204" pitchFamily="34" charset="-122"/>
                        </a:rPr>
                        <a:t>实施的数个性质相同的犯罪行为虽然在一定时间之内具有连续进行的特征，但数个犯罪行为之间具有</a:t>
                      </a:r>
                      <a:r>
                        <a:rPr lang="zh-CN" altLang="en-US" sz="2000" dirty="0">
                          <a:solidFill>
                            <a:srgbClr val="00B0F0"/>
                          </a:solidFill>
                          <a:latin typeface="微软雅黑" panose="020B0503020204020204" pitchFamily="34" charset="-122"/>
                          <a:ea typeface="微软雅黑" panose="020B0503020204020204" pitchFamily="34" charset="-122"/>
                        </a:rPr>
                        <a:t>时间间隔性</a:t>
                      </a:r>
                      <a:r>
                        <a:rPr lang="zh-CN" altLang="en-US" sz="2000" dirty="0">
                          <a:latin typeface="微软雅黑" panose="020B0503020204020204" pitchFamily="34" charset="-122"/>
                          <a:ea typeface="微软雅黑" panose="020B0503020204020204" pitchFamily="34" charset="-122"/>
                        </a:rPr>
                        <a:t>或以时间为标准的可分离性</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实施的一个犯罪行为在一定时间之内处于不间断存在的状态，</a:t>
                      </a:r>
                      <a:r>
                        <a:rPr lang="zh-CN" altLang="en-US" sz="2000" dirty="0">
                          <a:solidFill>
                            <a:srgbClr val="00B0F0"/>
                          </a:solidFill>
                          <a:latin typeface="微软雅黑" panose="020B0503020204020204" pitchFamily="34" charset="-122"/>
                          <a:ea typeface="微软雅黑" panose="020B0503020204020204" pitchFamily="34" charset="-122"/>
                        </a:rPr>
                        <a:t>无时间间隔性</a:t>
                      </a:r>
                      <a:r>
                        <a:rPr lang="zh-CN" altLang="en-US" sz="2000" dirty="0">
                          <a:latin typeface="微软雅黑" panose="020B0503020204020204" pitchFamily="34" charset="-122"/>
                          <a:ea typeface="微软雅黑" panose="020B0503020204020204" pitchFamily="34" charset="-122"/>
                        </a:rPr>
                        <a:t>的特征</a:t>
                      </a:r>
                    </a:p>
                  </a:txBody>
                  <a:tcPr anchor="ctr"/>
                </a:tc>
                <a:extLst>
                  <a:ext uri="{0D108BD9-81ED-4DB2-BD59-A6C34878D82A}">
                    <a16:rowId xmlns="" xmlns:a16="http://schemas.microsoft.com/office/drawing/2014/main" val="10003"/>
                  </a:ext>
                </a:extLst>
              </a:tr>
              <a:tr h="865505">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d.</a:t>
                      </a:r>
                      <a:r>
                        <a:rPr lang="zh-CN" altLang="en-US" sz="2000" dirty="0" smtClean="0">
                          <a:latin typeface="微软雅黑" panose="020B0503020204020204" pitchFamily="34" charset="-122"/>
                          <a:ea typeface="微软雅黑" panose="020B0503020204020204" pitchFamily="34" charset="-122"/>
                        </a:rPr>
                        <a:t>实施</a:t>
                      </a:r>
                      <a:r>
                        <a:rPr lang="zh-CN" altLang="en-US" sz="2000" dirty="0">
                          <a:latin typeface="微软雅黑" panose="020B0503020204020204" pitchFamily="34" charset="-122"/>
                          <a:ea typeface="微软雅黑" panose="020B0503020204020204" pitchFamily="34" charset="-122"/>
                        </a:rPr>
                        <a:t>的具体犯罪行为必须终了之后，才可能使该行为单独构成的犯罪达到既遂</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犯罪构成既遂之后，犯罪行为及其所引起的不法状态，仍可能在一定时间内呈持续状态</a:t>
                      </a:r>
                    </a:p>
                  </a:txBody>
                  <a:tcPr anchor="ctr"/>
                </a:tc>
                <a:extLst>
                  <a:ext uri="{0D108BD9-81ED-4DB2-BD59-A6C34878D82A}">
                    <a16:rowId xmlns="" xmlns:a16="http://schemas.microsoft.com/office/drawing/2014/main" val="10004"/>
                  </a:ext>
                </a:extLst>
              </a:tr>
              <a:tr h="865505">
                <a:tc>
                  <a:txBody>
                    <a:bodyPr/>
                    <a:lstStyle/>
                    <a:p>
                      <a:pPr>
                        <a:buNone/>
                      </a:pPr>
                      <a:r>
                        <a:rPr lang="en-US" altLang="zh-CN" sz="2000" b="1" dirty="0" smtClean="0">
                          <a:solidFill>
                            <a:srgbClr val="00B0F0"/>
                          </a:solidFill>
                          <a:latin typeface="微软雅黑" panose="020B0503020204020204" pitchFamily="34" charset="-122"/>
                          <a:ea typeface="微软雅黑" panose="020B0503020204020204" pitchFamily="34" charset="-122"/>
                        </a:rPr>
                        <a:t>e.</a:t>
                      </a:r>
                      <a:r>
                        <a:rPr lang="zh-CN" altLang="en-US" sz="2000" dirty="0" smtClean="0">
                          <a:latin typeface="微软雅黑" panose="020B0503020204020204" pitchFamily="34" charset="-122"/>
                          <a:ea typeface="微软雅黑" panose="020B0503020204020204" pitchFamily="34" charset="-122"/>
                        </a:rPr>
                        <a:t>犯罪行为</a:t>
                      </a:r>
                      <a:r>
                        <a:rPr lang="zh-CN" altLang="en-US" sz="2000" dirty="0">
                          <a:latin typeface="微软雅黑" panose="020B0503020204020204" pitchFamily="34" charset="-122"/>
                          <a:ea typeface="微软雅黑" panose="020B0503020204020204" pitchFamily="34" charset="-122"/>
                        </a:rPr>
                        <a:t>与其可能造成的不法状态的产生、持续、终止是</a:t>
                      </a:r>
                      <a:r>
                        <a:rPr lang="zh-CN" altLang="en-US" sz="2000" dirty="0">
                          <a:solidFill>
                            <a:srgbClr val="00B0F0"/>
                          </a:solidFill>
                          <a:latin typeface="微软雅黑" panose="020B0503020204020204" pitchFamily="34" charset="-122"/>
                          <a:ea typeface="微软雅黑" panose="020B0503020204020204" pitchFamily="34" charset="-122"/>
                        </a:rPr>
                        <a:t>不同步</a:t>
                      </a:r>
                      <a:r>
                        <a:rPr lang="zh-CN" altLang="en-US" sz="2000" dirty="0">
                          <a:latin typeface="微软雅黑" panose="020B0503020204020204" pitchFamily="34" charset="-122"/>
                          <a:ea typeface="微软雅黑" panose="020B0503020204020204" pitchFamily="34" charset="-122"/>
                        </a:rPr>
                        <a:t>的</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犯罪行为与其必然引起的不法状态的产生、持续、终止是</a:t>
                      </a:r>
                      <a:r>
                        <a:rPr lang="zh-CN" altLang="en-US" sz="2000" dirty="0">
                          <a:solidFill>
                            <a:srgbClr val="00B0F0"/>
                          </a:solidFill>
                          <a:latin typeface="微软雅黑" panose="020B0503020204020204" pitchFamily="34" charset="-122"/>
                          <a:ea typeface="微软雅黑" panose="020B0503020204020204" pitchFamily="34" charset="-122"/>
                        </a:rPr>
                        <a:t>同步的</a:t>
                      </a:r>
                      <a:r>
                        <a:rPr lang="zh-CN" altLang="en-US" sz="2000" dirty="0">
                          <a:latin typeface="微软雅黑" panose="020B0503020204020204" pitchFamily="34" charset="-122"/>
                          <a:ea typeface="微软雅黑" panose="020B0503020204020204" pitchFamily="34" charset="-122"/>
                        </a:rPr>
                        <a:t>或</a:t>
                      </a:r>
                      <a:r>
                        <a:rPr lang="zh-CN" altLang="en-US" sz="2000" dirty="0">
                          <a:solidFill>
                            <a:srgbClr val="00B0F0"/>
                          </a:solidFill>
                          <a:latin typeface="微软雅黑" panose="020B0503020204020204" pitchFamily="34" charset="-122"/>
                          <a:ea typeface="微软雅黑" panose="020B0503020204020204" pitchFamily="34" charset="-122"/>
                        </a:rPr>
                        <a:t>基本同步</a:t>
                      </a:r>
                      <a:r>
                        <a:rPr lang="zh-CN" altLang="en-US" sz="2000" dirty="0">
                          <a:latin typeface="微软雅黑" panose="020B0503020204020204" pitchFamily="34" charset="-122"/>
                          <a:ea typeface="微软雅黑" panose="020B0503020204020204" pitchFamily="34" charset="-122"/>
                        </a:rPr>
                        <a:t>的</a:t>
                      </a:r>
                    </a:p>
                  </a:txBody>
                  <a:tcPr anchor="ctr"/>
                </a:tc>
                <a:extLst>
                  <a:ext uri="{0D108BD9-81ED-4DB2-BD59-A6C34878D82A}">
                    <a16:rowId xmlns=""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505" y="448310"/>
            <a:ext cx="11136630"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）连续犯与同种数罪的异同。</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同种数罪，是指触犯同一罪名的数罪即性质相同的数罪，是数罪的表现形式之一。</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连续犯与狭义同种数罪（不包括连续犯的同种数罪）之间的界限：</a:t>
            </a: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连续犯的处断原则</a:t>
            </a:r>
          </a:p>
          <a:p>
            <a:pPr indent="0" algn="l" fontAlgn="auto">
              <a:lnSpc>
                <a:spcPct val="150000"/>
              </a:lnSpc>
              <a:buClrTx/>
              <a:buSzTx/>
              <a:buFont typeface="Wingdings" panose="05000000000000000000" charset="0"/>
              <a:buNone/>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以</a:t>
            </a:r>
            <a:r>
              <a:rPr lang="en-US" altLang="zh-CN" sz="2000" dirty="0" err="1"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一罪从重处罚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（如多次拐骗儿童）</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加重</a:t>
            </a:r>
            <a:r>
              <a:rPr lang="zh-CN" altLang="en-US"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处罚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（如多次抢劫）</a:t>
            </a:r>
            <a:r>
              <a:rPr lang="en-US" altLang="zh-CN" sz="2000" dirty="0" smtClean="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表格 1"/>
          <p:cNvGraphicFramePr/>
          <p:nvPr>
            <p:custDataLst>
              <p:tags r:id="rId1"/>
            </p:custDataLst>
            <p:extLst>
              <p:ext uri="{D42A27DB-BD31-4B8C-83A1-F6EECF244321}">
                <p14:modId xmlns:p14="http://schemas.microsoft.com/office/powerpoint/2010/main" val="754939711"/>
              </p:ext>
            </p:extLst>
          </p:nvPr>
        </p:nvGraphicFramePr>
        <p:xfrm>
          <a:off x="121920" y="2035175"/>
          <a:ext cx="11757660" cy="3459480"/>
        </p:xfrm>
        <a:graphic>
          <a:graphicData uri="http://schemas.openxmlformats.org/drawingml/2006/table">
            <a:tbl>
              <a:tblPr firstRow="1" bandRow="1">
                <a:tableStyleId>{21E4AEA4-8DFA-4A89-87EB-49C32662AFE0}</a:tableStyleId>
              </a:tblPr>
              <a:tblGrid>
                <a:gridCol w="6249832">
                  <a:extLst>
                    <a:ext uri="{9D8B030D-6E8A-4147-A177-3AD203B41FA5}">
                      <a16:colId xmlns="" xmlns:a16="http://schemas.microsoft.com/office/drawing/2014/main" val="20000"/>
                    </a:ext>
                  </a:extLst>
                </a:gridCol>
                <a:gridCol w="5507828">
                  <a:extLst>
                    <a:ext uri="{9D8B030D-6E8A-4147-A177-3AD203B41FA5}">
                      <a16:colId xmlns="" xmlns:a16="http://schemas.microsoft.com/office/drawing/2014/main" val="20001"/>
                    </a:ext>
                  </a:extLst>
                </a:gridCol>
              </a:tblGrid>
              <a:tr h="490220">
                <a:tc>
                  <a:txBody>
                    <a:bodyPr/>
                    <a:lstStyle/>
                    <a:p>
                      <a:pPr algn="ctr">
                        <a:buNone/>
                      </a:pPr>
                      <a:r>
                        <a:rPr lang="zh-CN" altLang="en-US" sz="2000" dirty="0">
                          <a:latin typeface="微软雅黑" panose="020B0503020204020204" pitchFamily="34" charset="-122"/>
                          <a:ea typeface="微软雅黑" panose="020B0503020204020204" pitchFamily="34" charset="-122"/>
                        </a:rPr>
                        <a:t>连续犯</a:t>
                      </a:r>
                    </a:p>
                  </a:txBody>
                  <a:tcPr/>
                </a:tc>
                <a:tc>
                  <a:txBody>
                    <a:bodyPr/>
                    <a:lstStyle/>
                    <a:p>
                      <a:pPr algn="ctr">
                        <a:buNone/>
                      </a:pPr>
                      <a:r>
                        <a:rPr lang="zh-CN" altLang="en-US" sz="2000">
                          <a:latin typeface="微软雅黑" panose="020B0503020204020204" pitchFamily="34" charset="-122"/>
                          <a:ea typeface="微软雅黑" panose="020B0503020204020204" pitchFamily="34" charset="-122"/>
                        </a:rPr>
                        <a:t>狭义同种数罪</a:t>
                      </a:r>
                    </a:p>
                  </a:txBody>
                  <a:tcPr/>
                </a:tc>
                <a:extLst>
                  <a:ext uri="{0D108BD9-81ED-4DB2-BD59-A6C34878D82A}">
                    <a16:rowId xmlns="" xmlns:a16="http://schemas.microsoft.com/office/drawing/2014/main" val="10000"/>
                  </a:ext>
                </a:extLst>
              </a:tr>
              <a:tr h="488950">
                <a:tc>
                  <a:txBody>
                    <a:bodyPr/>
                    <a:lstStyle/>
                    <a:p>
                      <a:pPr algn="l">
                        <a:buNone/>
                      </a:pPr>
                      <a:r>
                        <a:rPr lang="en-US" altLang="zh-CN" sz="2000" b="1" dirty="0" smtClean="0">
                          <a:solidFill>
                            <a:srgbClr val="00B0F0"/>
                          </a:solidFill>
                          <a:latin typeface="微软雅黑" panose="020B0503020204020204" pitchFamily="34" charset="-122"/>
                          <a:ea typeface="微软雅黑" panose="020B0503020204020204" pitchFamily="34" charset="-122"/>
                        </a:rPr>
                        <a:t>a.</a:t>
                      </a:r>
                      <a:r>
                        <a:rPr lang="zh-CN" altLang="en-US" sz="2000" dirty="0" smtClean="0">
                          <a:latin typeface="微软雅黑" panose="020B0503020204020204" pitchFamily="34" charset="-122"/>
                          <a:ea typeface="微软雅黑" panose="020B0503020204020204" pitchFamily="34" charset="-122"/>
                        </a:rPr>
                        <a:t>必须基于连续意图支配下的数个同一的犯罪故意</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各个具体犯罪的罪过形式虽必须一致，但无需为同一的故意，且不受连续意图所支配</a:t>
                      </a:r>
                    </a:p>
                  </a:txBody>
                  <a:tcPr anchor="ctr"/>
                </a:tc>
                <a:extLst>
                  <a:ext uri="{0D108BD9-81ED-4DB2-BD59-A6C34878D82A}">
                    <a16:rowId xmlns="" xmlns:a16="http://schemas.microsoft.com/office/drawing/2014/main" val="10001"/>
                  </a:ext>
                </a:extLst>
              </a:tr>
              <a:tr h="488950">
                <a:tc>
                  <a:txBody>
                    <a:bodyPr/>
                    <a:lstStyle/>
                    <a:p>
                      <a:pPr algn="l">
                        <a:buNone/>
                      </a:pPr>
                      <a:r>
                        <a:rPr lang="en-US" altLang="zh-CN" sz="2000" b="1" dirty="0" smtClean="0">
                          <a:solidFill>
                            <a:srgbClr val="00B0F0"/>
                          </a:solidFill>
                          <a:latin typeface="微软雅黑" panose="020B0503020204020204" pitchFamily="34" charset="-122"/>
                          <a:ea typeface="微软雅黑" panose="020B0503020204020204" pitchFamily="34" charset="-122"/>
                        </a:rPr>
                        <a:t>b.</a:t>
                      </a:r>
                      <a:r>
                        <a:rPr lang="zh-CN" altLang="en-US" sz="2000" dirty="0" smtClean="0">
                          <a:latin typeface="微软雅黑" panose="020B0503020204020204" pitchFamily="34" charset="-122"/>
                          <a:ea typeface="微软雅黑" panose="020B0503020204020204" pitchFamily="34" charset="-122"/>
                        </a:rPr>
                        <a:t>数</a:t>
                      </a:r>
                      <a:r>
                        <a:rPr lang="zh-CN" altLang="en-US" sz="2000" dirty="0">
                          <a:latin typeface="微软雅黑" panose="020B0503020204020204" pitchFamily="34" charset="-122"/>
                          <a:ea typeface="微软雅黑" panose="020B0503020204020204" pitchFamily="34" charset="-122"/>
                        </a:rPr>
                        <a:t>个相对独立的犯罪之间</a:t>
                      </a:r>
                      <a:r>
                        <a:rPr lang="zh-CN" altLang="en-US" sz="2000" dirty="0">
                          <a:solidFill>
                            <a:srgbClr val="00B0F0"/>
                          </a:solidFill>
                          <a:latin typeface="微软雅黑" panose="020B0503020204020204" pitchFamily="34" charset="-122"/>
                          <a:ea typeface="微软雅黑" panose="020B0503020204020204" pitchFamily="34" charset="-122"/>
                        </a:rPr>
                        <a:t>必须有特定的连续性</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各个犯罪之间</a:t>
                      </a:r>
                      <a:r>
                        <a:rPr lang="zh-CN" altLang="en-US" sz="2000" dirty="0">
                          <a:solidFill>
                            <a:srgbClr val="00B0F0"/>
                          </a:solidFill>
                          <a:latin typeface="微软雅黑" panose="020B0503020204020204" pitchFamily="34" charset="-122"/>
                          <a:ea typeface="微软雅黑" panose="020B0503020204020204" pitchFamily="34" charset="-122"/>
                        </a:rPr>
                        <a:t>并不存在特定的连续性</a:t>
                      </a:r>
                    </a:p>
                  </a:txBody>
                  <a:tcPr anchor="ctr"/>
                </a:tc>
                <a:extLst>
                  <a:ext uri="{0D108BD9-81ED-4DB2-BD59-A6C34878D82A}">
                    <a16:rowId xmlns="" xmlns:a16="http://schemas.microsoft.com/office/drawing/2014/main" val="10002"/>
                  </a:ext>
                </a:extLst>
              </a:tr>
              <a:tr h="468630">
                <a:tc>
                  <a:txBody>
                    <a:bodyPr/>
                    <a:lstStyle/>
                    <a:p>
                      <a:pPr algn="l">
                        <a:buNone/>
                      </a:pPr>
                      <a:r>
                        <a:rPr lang="en-US" altLang="zh-CN" sz="2000" b="1" dirty="0" smtClean="0">
                          <a:solidFill>
                            <a:srgbClr val="00B0F0"/>
                          </a:solidFill>
                          <a:latin typeface="微软雅黑" panose="020B0503020204020204" pitchFamily="34" charset="-122"/>
                          <a:ea typeface="微软雅黑" panose="020B0503020204020204" pitchFamily="34" charset="-122"/>
                        </a:rPr>
                        <a:t>c.</a:t>
                      </a:r>
                      <a:r>
                        <a:rPr lang="zh-CN" altLang="en-US" sz="2000" dirty="0" smtClean="0">
                          <a:latin typeface="微软雅黑" panose="020B0503020204020204" pitchFamily="34" charset="-122"/>
                          <a:ea typeface="微软雅黑" panose="020B0503020204020204" pitchFamily="34" charset="-122"/>
                        </a:rPr>
                        <a:t>数</a:t>
                      </a:r>
                      <a:r>
                        <a:rPr lang="zh-CN" altLang="en-US" sz="2000" dirty="0">
                          <a:latin typeface="微软雅黑" panose="020B0503020204020204" pitchFamily="34" charset="-122"/>
                          <a:ea typeface="微软雅黑" panose="020B0503020204020204" pitchFamily="34" charset="-122"/>
                        </a:rPr>
                        <a:t>个犯罪必须是未经宣判的或在判决宣告之前实施的</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数个犯罪并非都是未经宣判的</a:t>
                      </a:r>
                    </a:p>
                  </a:txBody>
                  <a:tcPr anchor="ctr"/>
                </a:tc>
                <a:extLst>
                  <a:ext uri="{0D108BD9-81ED-4DB2-BD59-A6C34878D82A}">
                    <a16:rowId xmlns="" xmlns:a16="http://schemas.microsoft.com/office/drawing/2014/main" val="10003"/>
                  </a:ext>
                </a:extLst>
              </a:tr>
              <a:tr h="876935">
                <a:tc>
                  <a:txBody>
                    <a:bodyPr/>
                    <a:lstStyle/>
                    <a:p>
                      <a:pPr algn="l">
                        <a:buNone/>
                      </a:pPr>
                      <a:r>
                        <a:rPr lang="en-US" altLang="zh-CN" sz="2000" b="1" dirty="0" smtClean="0">
                          <a:solidFill>
                            <a:srgbClr val="00B0F0"/>
                          </a:solidFill>
                          <a:latin typeface="微软雅黑" panose="020B0503020204020204" pitchFamily="34" charset="-122"/>
                          <a:ea typeface="微软雅黑" panose="020B0503020204020204" pitchFamily="34" charset="-122"/>
                        </a:rPr>
                        <a:t>d.</a:t>
                      </a:r>
                      <a:r>
                        <a:rPr lang="zh-CN" altLang="en-US" sz="2000" dirty="0" smtClean="0">
                          <a:latin typeface="微软雅黑" panose="020B0503020204020204" pitchFamily="34" charset="-122"/>
                          <a:ea typeface="微软雅黑" panose="020B0503020204020204" pitchFamily="34" charset="-122"/>
                        </a:rPr>
                        <a:t>处</a:t>
                      </a:r>
                      <a:r>
                        <a:rPr lang="zh-CN" altLang="en-US" sz="2000" dirty="0">
                          <a:latin typeface="微软雅黑" panose="020B0503020204020204" pitchFamily="34" charset="-122"/>
                          <a:ea typeface="微软雅黑" panose="020B0503020204020204" pitchFamily="34" charset="-122"/>
                        </a:rPr>
                        <a:t>断上的一罪</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对于判决宣告以前一人所犯同种数罪原则上无须并罚，对于判决宣告以后刑罚执行完毕以前发现的同种漏罪和再犯的同种新罪应当实行并罚</a:t>
                      </a:r>
                    </a:p>
                  </a:txBody>
                  <a:tcPr anchor="ctr"/>
                </a:tc>
                <a:extLst>
                  <a:ext uri="{0D108BD9-81ED-4DB2-BD59-A6C34878D82A}">
                    <a16:rowId xmlns=""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7400" y="878205"/>
            <a:ext cx="1096073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（二）牵连犯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1.牵连犯的概念。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所谓牵连犯，是指行为人实施某种犯罪（即本罪），而方法行为或结果行为又触犯其他罪名（即他罪）的犯罪</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形态</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（行为人以实施某一犯罪为目的，其方法行为或结果行为又触犯其他罪名的罪数形态）</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牵连犯的构成特征。</a:t>
            </a:r>
          </a:p>
          <a:p>
            <a:pPr indent="0" algn="l" fontAlgn="auto">
              <a:lnSpc>
                <a:spcPct val="150000"/>
              </a:lnSpc>
              <a:buClrTx/>
              <a:buSzTx/>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）牵连犯必须基于一个最终犯罪目的。</a:t>
            </a:r>
          </a:p>
          <a:p>
            <a:pPr indent="0" algn="l" fontAlgn="auto">
              <a:lnSpc>
                <a:spcPct val="150000"/>
              </a:lnSpc>
              <a:buClrTx/>
              <a:buSzTx/>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）牵连犯必须具有两个以上相对独立的危害社会行为。</a:t>
            </a:r>
          </a:p>
          <a:p>
            <a:pPr indent="0" algn="l" fontAlgn="auto">
              <a:lnSpc>
                <a:spcPct val="150000"/>
              </a:lnSpc>
              <a:buClrTx/>
              <a:buSzTx/>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）牵连犯所包含的数个危害社会行为之间必须具有牵连关系。</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①主观上有牵连</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意思</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7400" y="878205"/>
            <a:ext cx="10960735" cy="4448175"/>
          </a:xfrm>
          <a:prstGeom prst="rect">
            <a:avLst/>
          </a:prstGeom>
          <a:noFill/>
        </p:spPr>
        <p:txBody>
          <a:bodyPr wrap="square" rtlCol="0">
            <a:no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②客观上有牵连</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事实</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方法行为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目的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（如为了骗取财物而伪造公文）</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个或多个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只能</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有一</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原因行为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结果</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（如意图盗窃财物而取得枪支进而私藏）</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只能</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有一个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一</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个或多</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个</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方法行为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目的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原因行为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结果</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（如为了破坏农业生产毁坏设备、向牛群下毒进而销售牛肉）</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                    ↓</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从</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    主</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           </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从行为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6876151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7400" y="878205"/>
            <a:ext cx="10960735" cy="4448175"/>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）牵连犯的数个行为必须触犯不同的罪名。</a:t>
            </a: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①</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方法行为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触犯此罪名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，目的行为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触犯彼罪名</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原因行为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触犯此罪名</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，结果行为</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触犯彼罪名</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牵连犯与继续犯的区别。</a:t>
            </a:r>
          </a:p>
          <a:p>
            <a:pPr>
              <a:lnSpc>
                <a:spcPct val="150000"/>
              </a:lnSpc>
            </a:pPr>
            <a:endPar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2"/>
          <a:stretch>
            <a:fillRect/>
          </a:stretch>
        </p:blipFill>
        <p:spPr>
          <a:xfrm>
            <a:off x="912185" y="2834257"/>
            <a:ext cx="11174937" cy="3133616"/>
          </a:xfrm>
          <a:prstGeom prst="rect">
            <a:avLst/>
          </a:prstGeom>
        </p:spPr>
      </p:pic>
    </p:spTree>
    <p:extLst>
      <p:ext uri="{BB962C8B-B14F-4D97-AF65-F5344CB8AC3E}">
        <p14:creationId xmlns:p14="http://schemas.microsoft.com/office/powerpoint/2010/main" val="256325333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18870" y="1492250"/>
            <a:ext cx="10629265" cy="3453130"/>
          </a:xfrm>
          <a:prstGeom prst="rect">
            <a:avLst/>
          </a:prstGeom>
          <a:noFill/>
        </p:spPr>
        <p:txBody>
          <a:bodyPr wrap="square" rtlCol="0">
            <a:noAutofit/>
          </a:bodyPr>
          <a:lstStyle/>
          <a:p>
            <a:pPr indent="0" algn="l" fontAlgn="auto">
              <a:lnSpc>
                <a:spcPct val="150000"/>
              </a:lnSpc>
              <a:buClrTx/>
              <a:buSzTx/>
              <a:buFont typeface="Wingdings" panose="05000000000000000000" charset="0"/>
              <a:buNone/>
            </a:pP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.牵连犯的处断原则。</a:t>
            </a:r>
          </a:p>
          <a:p>
            <a:pPr indent="0" algn="l" fontAlgn="auto">
              <a:lnSpc>
                <a:spcPct val="150000"/>
              </a:lnSpc>
              <a:buClrTx/>
              <a:buSzTx/>
              <a:buFont typeface="Wingdings" panose="05000000000000000000" charset="0"/>
              <a:buNone/>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凡刑法分则条款对特定犯罪的牵连犯明确规定了相应处断原则的，均应严格依照刑法分则条款的规定，对特定犯罪的牵连犯予以处断；凡刑法分则条款未明确规定处断原则的，应当适用从一重处断原则定罪处刑，不实行数罪并罚</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）从一重</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处罚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399</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款</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）从一重从重</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处罚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关于办理盗窃刑事案件适用法律</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若干问题的解释</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（法释</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[2013] </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号）</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款）</a:t>
            </a:r>
            <a:endPar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）数罪并罚</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刑法</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第</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198</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条第</a:t>
            </a:r>
            <a:r>
              <a:rPr lang="en-US" altLang="zh-CN"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款）</a:t>
            </a:r>
          </a:p>
          <a:p>
            <a:pPr indent="0" algn="l" fontAlgn="auto">
              <a:lnSpc>
                <a:spcPct val="150000"/>
              </a:lnSpc>
              <a:buClrTx/>
              <a:buSzTx/>
              <a:buFont typeface="Wingdings" panose="05000000000000000000" charset="0"/>
              <a:buNone/>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29005" y="1599565"/>
            <a:ext cx="1081913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（三）吸收犯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1.吸收犯的概念。</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所谓吸收犯，是指行为人实施数个犯罪行为，因其所符合的犯罪构成之间具有特定的依附关系，导致其中一个不具有独立性的犯罪，被另一个具有独立性的犯罪所吸收，对行为人仅以吸收之罪论处，而对被吸收之罪置之不论的犯罪</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形态</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人实施的数个犯罪行为中，一个犯罪行为吸收其他犯罪行为，仅成立吸收之罪的罪数形态）</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吸收犯的构成特征。</a:t>
            </a: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）行为人必须实施数个均符合犯罪构成要件且基本性质一致的危害行为。</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①均符合同一犯罪的基本犯罪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构成</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0105" y="1439545"/>
            <a:ext cx="10908030" cy="4448175"/>
          </a:xfrm>
          <a:prstGeom prst="rect">
            <a:avLst/>
          </a:prstGeom>
          <a:noFill/>
        </p:spPr>
        <p:txBody>
          <a:bodyPr wrap="square" rtlCol="0">
            <a:no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②有的符合独立犯罪构成，有的符合派生犯罪构成</a:t>
            </a:r>
          </a:p>
          <a:p>
            <a:pPr>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③</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有的符合基本犯罪构成，有的符合修正犯罪构成</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）行为人实施的数个犯罪行为，必须基于其内在的独立性与非独立性的对立统一</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特性</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（包容性）</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而彼此形成一种吸收关系</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①重行为吸收轻</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（如非法制造枪支后私藏家中）</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②实行行为吸收预备</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如伪造金融票证后诈骗财物）</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③主行为吸收从</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行为</a:t>
            </a:r>
            <a:r>
              <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如先望风后主动入户盗窃）</a:t>
            </a:r>
            <a:endParaRPr lang="zh-CN" altLang="en-US" sz="1400" b="1" dirty="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）行为人实施的数个犯罪行为必须侵犯同一或相同的直接客体，并且指向同一的具体犯罪</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对象。</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lnSpc>
                <a:spcPct val="150000"/>
              </a:lnSpc>
              <a:buClrTx/>
              <a:buSzTx/>
              <a:buFont typeface="Wingdings" panose="05000000000000000000" charse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）行为人必须基于一个犯</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意，为了</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实现一个具体的犯罪目的而实施数个犯罪行为。</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1855" y="1130935"/>
            <a:ext cx="10948035" cy="4448175"/>
          </a:xfrm>
          <a:prstGeom prst="rect">
            <a:avLst/>
          </a:prstGeom>
          <a:noFill/>
        </p:spPr>
        <p:txBody>
          <a:bodyPr wrap="square" rtlCol="0">
            <a:noAutofit/>
          </a:bodyPr>
          <a:lstStyle/>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吸收犯的形式</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（1）既遂犯吸收预备犯或未遂犯。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（2）未遂犯吸收预备犯。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（3）实行阶段的中止犯吸收预备犯。</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（4）符合主犯条件的实行犯构成之罪，吸收教唆犯、帮助犯、次要实行犯构成之罪。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（5）主犯构成之罪吸收从犯、胁从犯构成之罪。</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（6）符合加重犯罪构成之罪吸收符合普通犯罪构成之罪，或者符合普通犯罪构成之罪吸收符合减轻犯罪构成之罪。</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505" y="1605915"/>
            <a:ext cx="11136630" cy="4448175"/>
          </a:xfrm>
          <a:prstGeom prst="rect">
            <a:avLst/>
          </a:prstGeom>
          <a:noFill/>
        </p:spPr>
        <p:txBody>
          <a:bodyPr wrap="square" rtlCol="0">
            <a:noAutofit/>
          </a:bodyPr>
          <a:lstStyle/>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吸收犯的</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形式</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需要明确的几点：</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）吸收犯的形式必须以吸收之罪</a:t>
            </a:r>
            <a:r>
              <a:rPr lang="zh-CN" altLang="en-US" sz="2000"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重于</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被吸收之罪为必要条件。</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）吸收关系的认定必须以数个犯罪行为的主客观方面完全符合前述吸收犯的基本构成特征为必要前提。</a:t>
            </a: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）成立吸收犯所必需的吸收关系只能是</a:t>
            </a:r>
            <a:r>
              <a:rPr lang="zh-CN" altLang="en-US" sz="2000" dirty="0" smtClean="0">
                <a:solidFill>
                  <a:srgbClr val="00B0F0"/>
                </a:solidFill>
                <a:latin typeface="微软雅黑" panose="020B0503020204020204" pitchFamily="34" charset="-122"/>
                <a:ea typeface="微软雅黑" panose="020B0503020204020204" pitchFamily="34" charset="-122"/>
                <a:cs typeface="微软雅黑" panose="020B0503020204020204" pitchFamily="34" charset="-122"/>
                <a:sym typeface="+mn-ea"/>
              </a:rPr>
              <a:t>罪的吸收关系</a:t>
            </a:r>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1505" y="448945"/>
            <a:ext cx="11136630" cy="4448175"/>
          </a:xfrm>
          <a:prstGeom prst="rect">
            <a:avLst/>
          </a:prstGeom>
          <a:noFill/>
        </p:spPr>
        <p:txBody>
          <a:bodyPr wrap="square" rtlCol="0">
            <a:noAutofit/>
          </a:bodyPr>
          <a:lstStyle/>
          <a:p>
            <a:pPr indent="0" fontAlgn="auto">
              <a:lnSpc>
                <a:spcPct val="150000"/>
              </a:lnSpc>
            </a:pPr>
            <a:r>
              <a:rPr 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吸收犯与相关犯罪形态的区别。</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）吸收犯与想象竞合犯的区别。</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表格 1"/>
          <p:cNvGraphicFramePr/>
          <p:nvPr>
            <p:custDataLst>
              <p:tags r:id="rId1"/>
            </p:custDataLst>
            <p:extLst>
              <p:ext uri="{D42A27DB-BD31-4B8C-83A1-F6EECF244321}">
                <p14:modId xmlns:p14="http://schemas.microsoft.com/office/powerpoint/2010/main" val="734834621"/>
              </p:ext>
            </p:extLst>
          </p:nvPr>
        </p:nvGraphicFramePr>
        <p:xfrm>
          <a:off x="906780" y="1871345"/>
          <a:ext cx="10149205" cy="3596640"/>
        </p:xfrm>
        <a:graphic>
          <a:graphicData uri="http://schemas.openxmlformats.org/drawingml/2006/table">
            <a:tbl>
              <a:tblPr firstRow="1" bandRow="1">
                <a:tableStyleId>{21E4AEA4-8DFA-4A89-87EB-49C32662AFE0}</a:tableStyleId>
              </a:tblPr>
              <a:tblGrid>
                <a:gridCol w="5106670">
                  <a:extLst>
                    <a:ext uri="{9D8B030D-6E8A-4147-A177-3AD203B41FA5}">
                      <a16:colId xmlns="" xmlns:a16="http://schemas.microsoft.com/office/drawing/2014/main" val="20000"/>
                    </a:ext>
                  </a:extLst>
                </a:gridCol>
                <a:gridCol w="5042535">
                  <a:extLst>
                    <a:ext uri="{9D8B030D-6E8A-4147-A177-3AD203B41FA5}">
                      <a16:colId xmlns="" xmlns:a16="http://schemas.microsoft.com/office/drawing/2014/main" val="20001"/>
                    </a:ext>
                  </a:extLst>
                </a:gridCol>
              </a:tblGrid>
              <a:tr h="396240">
                <a:tc>
                  <a:txBody>
                    <a:bodyPr/>
                    <a:lstStyle/>
                    <a:p>
                      <a:pPr algn="ctr">
                        <a:buNone/>
                      </a:pPr>
                      <a:r>
                        <a:rPr lang="zh-CN" altLang="en-US" sz="2000" dirty="0">
                          <a:latin typeface="微软雅黑" panose="020B0503020204020204" pitchFamily="34" charset="-122"/>
                          <a:ea typeface="微软雅黑" panose="020B0503020204020204" pitchFamily="34" charset="-122"/>
                        </a:rPr>
                        <a:t>吸收犯</a:t>
                      </a:r>
                    </a:p>
                  </a:txBody>
                  <a:tcPr/>
                </a:tc>
                <a:tc>
                  <a:txBody>
                    <a:bodyPr/>
                    <a:lstStyle/>
                    <a:p>
                      <a:pPr algn="ctr">
                        <a:buNone/>
                      </a:pPr>
                      <a:r>
                        <a:rPr lang="zh-CN" altLang="en-US" sz="2000">
                          <a:latin typeface="微软雅黑" panose="020B0503020204020204" pitchFamily="34" charset="-122"/>
                          <a:ea typeface="微软雅黑" panose="020B0503020204020204" pitchFamily="34" charset="-122"/>
                        </a:rPr>
                        <a:t>想象竞合犯</a:t>
                      </a:r>
                    </a:p>
                  </a:txBody>
                  <a:tcPr/>
                </a:tc>
                <a:extLst>
                  <a:ext uri="{0D108BD9-81ED-4DB2-BD59-A6C34878D82A}">
                    <a16:rowId xmlns="" xmlns:a16="http://schemas.microsoft.com/office/drawing/2014/main" val="10000"/>
                  </a:ext>
                </a:extLst>
              </a:tr>
              <a:tr h="381000">
                <a:tc>
                  <a:txBody>
                    <a:bodyPr/>
                    <a:lstStyle/>
                    <a:p>
                      <a:pPr>
                        <a:buNone/>
                      </a:pPr>
                      <a:r>
                        <a:rPr lang="zh-CN" altLang="en-US" sz="2000" dirty="0" smtClean="0">
                          <a:latin typeface="微软雅黑" panose="020B0503020204020204" pitchFamily="34" charset="-122"/>
                          <a:ea typeface="微软雅黑" panose="020B0503020204020204" pitchFamily="34" charset="-122"/>
                        </a:rPr>
                        <a:t>以犯罪行为</a:t>
                      </a:r>
                      <a:r>
                        <a:rPr lang="zh-CN" altLang="en-US" sz="2000" dirty="0">
                          <a:latin typeface="微软雅黑" panose="020B0503020204020204" pitchFamily="34" charset="-122"/>
                          <a:ea typeface="微软雅黑" panose="020B0503020204020204" pitchFamily="34" charset="-122"/>
                        </a:rPr>
                        <a:t>的复数</a:t>
                      </a:r>
                      <a:r>
                        <a:rPr lang="zh-CN" altLang="en-US" sz="2000" dirty="0" smtClean="0">
                          <a:latin typeface="微软雅黑" panose="020B0503020204020204" pitchFamily="34" charset="-122"/>
                          <a:ea typeface="微软雅黑" panose="020B0503020204020204" pitchFamily="34" charset="-122"/>
                        </a:rPr>
                        <a:t>性为必备构成特征</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只实施了一个犯罪行为</a:t>
                      </a:r>
                    </a:p>
                  </a:txBody>
                  <a:tcPr anchor="ctr"/>
                </a:tc>
                <a:extLst>
                  <a:ext uri="{0D108BD9-81ED-4DB2-BD59-A6C34878D82A}">
                    <a16:rowId xmlns="" xmlns:a16="http://schemas.microsoft.com/office/drawing/2014/main" val="10001"/>
                  </a:ext>
                </a:extLst>
              </a:tr>
              <a:tr h="381000">
                <a:tc>
                  <a:txBody>
                    <a:bodyPr/>
                    <a:lstStyle/>
                    <a:p>
                      <a:pPr>
                        <a:buNone/>
                      </a:pPr>
                      <a:r>
                        <a:rPr lang="zh-CN" altLang="en-US" sz="2000" dirty="0">
                          <a:latin typeface="微软雅黑" panose="020B0503020204020204" pitchFamily="34" charset="-122"/>
                          <a:ea typeface="微软雅黑" panose="020B0503020204020204" pitchFamily="34" charset="-122"/>
                        </a:rPr>
                        <a:t>数个犯罪行为必须触犯数个基本性质相同的具体罪名</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一个犯罪行为必须触犯两个以上的不同种罪名</a:t>
                      </a:r>
                    </a:p>
                  </a:txBody>
                  <a:tcPr anchor="ctr"/>
                </a:tc>
                <a:extLst>
                  <a:ext uri="{0D108BD9-81ED-4DB2-BD59-A6C34878D82A}">
                    <a16:rowId xmlns="" xmlns:a16="http://schemas.microsoft.com/office/drawing/2014/main" val="10002"/>
                  </a:ext>
                </a:extLst>
              </a:tr>
              <a:tr h="381000">
                <a:tc>
                  <a:txBody>
                    <a:bodyPr/>
                    <a:lstStyle/>
                    <a:p>
                      <a:pPr>
                        <a:buNone/>
                      </a:pPr>
                      <a:r>
                        <a:rPr lang="zh-CN" altLang="en-US" sz="2000" dirty="0">
                          <a:latin typeface="微软雅黑" panose="020B0503020204020204" pitchFamily="34" charset="-122"/>
                          <a:ea typeface="微软雅黑" panose="020B0503020204020204" pitchFamily="34" charset="-122"/>
                        </a:rPr>
                        <a:t>基于一个确定的犯罪故意</a:t>
                      </a:r>
                    </a:p>
                  </a:txBody>
                  <a:tcPr anchor="ctr"/>
                </a:tc>
                <a:tc>
                  <a:txBody>
                    <a:bodyPr/>
                    <a:lstStyle/>
                    <a:p>
                      <a:pPr>
                        <a:buNone/>
                      </a:pPr>
                      <a:r>
                        <a:rPr lang="zh-CN" altLang="en-US" sz="2000" dirty="0" smtClean="0">
                          <a:latin typeface="微软雅黑" panose="020B0503020204020204" pitchFamily="34" charset="-122"/>
                          <a:ea typeface="微软雅黑" panose="020B0503020204020204" pitchFamily="34" charset="-122"/>
                        </a:rPr>
                        <a:t>主观方面表现为数</a:t>
                      </a:r>
                      <a:r>
                        <a:rPr lang="zh-CN" altLang="en-US" sz="2000" dirty="0">
                          <a:latin typeface="微软雅黑" panose="020B0503020204020204" pitchFamily="34" charset="-122"/>
                          <a:ea typeface="微软雅黑" panose="020B0503020204020204" pitchFamily="34" charset="-122"/>
                        </a:rPr>
                        <a:t>个不同的具体罪过</a:t>
                      </a:r>
                    </a:p>
                  </a:txBody>
                  <a:tcPr anchor="ctr"/>
                </a:tc>
                <a:extLst>
                  <a:ext uri="{0D108BD9-81ED-4DB2-BD59-A6C34878D82A}">
                    <a16:rowId xmlns="" xmlns:a16="http://schemas.microsoft.com/office/drawing/2014/main" val="10003"/>
                  </a:ext>
                </a:extLst>
              </a:tr>
              <a:tr h="381000">
                <a:tc>
                  <a:txBody>
                    <a:bodyPr/>
                    <a:lstStyle/>
                    <a:p>
                      <a:pPr>
                        <a:buNone/>
                      </a:pPr>
                      <a:r>
                        <a:rPr lang="zh-CN" altLang="en-US" sz="2000" dirty="0">
                          <a:latin typeface="微软雅黑" panose="020B0503020204020204" pitchFamily="34" charset="-122"/>
                          <a:ea typeface="微软雅黑" panose="020B0503020204020204" pitchFamily="34" charset="-122"/>
                        </a:rPr>
                        <a:t>侵犯同一或相同的直接客体，并且直接作用于同一的具体犯罪对象</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侵犯数个不同的直接客体，并且一般而言，同时直接作用于体现不同直接客体的数个犯罪对象</a:t>
                      </a:r>
                    </a:p>
                  </a:txBody>
                  <a:tcPr anchor="ctr"/>
                </a:tc>
                <a:extLst>
                  <a:ext uri="{0D108BD9-81ED-4DB2-BD59-A6C34878D82A}">
                    <a16:rowId xmlns="" xmlns:a16="http://schemas.microsoft.com/office/drawing/2014/main" val="10004"/>
                  </a:ext>
                </a:extLst>
              </a:tr>
              <a:tr h="381000">
                <a:tc>
                  <a:txBody>
                    <a:bodyPr/>
                    <a:lstStyle/>
                    <a:p>
                      <a:pPr>
                        <a:buNone/>
                      </a:pPr>
                      <a:r>
                        <a:rPr lang="zh-CN" altLang="en-US" sz="2000" dirty="0">
                          <a:latin typeface="微软雅黑" panose="020B0503020204020204" pitchFamily="34" charset="-122"/>
                          <a:ea typeface="微软雅黑" panose="020B0503020204020204" pitchFamily="34" charset="-122"/>
                        </a:rPr>
                        <a:t>实质上的数罪、处断上的一罪，对行为人仅以吸收之罪论处</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实质上的一罪，对想象竞合犯应适用从一重处断的原则</a:t>
                      </a:r>
                    </a:p>
                  </a:txBody>
                  <a:tcPr anchor="ctr"/>
                </a:tc>
                <a:extLst>
                  <a:ext uri="{0D108BD9-81ED-4DB2-BD59-A6C34878D82A}">
                    <a16:rowId xmlns=""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1230" y="865505"/>
            <a:ext cx="1079690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）吸收犯与牵连犯的区别。</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 name="表格 1"/>
          <p:cNvGraphicFramePr/>
          <p:nvPr>
            <p:custDataLst>
              <p:tags r:id="rId1"/>
            </p:custDataLst>
            <p:extLst>
              <p:ext uri="{D42A27DB-BD31-4B8C-83A1-F6EECF244321}">
                <p14:modId xmlns:p14="http://schemas.microsoft.com/office/powerpoint/2010/main" val="2443397603"/>
              </p:ext>
            </p:extLst>
          </p:nvPr>
        </p:nvGraphicFramePr>
        <p:xfrm>
          <a:off x="1643380" y="1557020"/>
          <a:ext cx="8940799" cy="4389120"/>
        </p:xfrm>
        <a:graphic>
          <a:graphicData uri="http://schemas.openxmlformats.org/drawingml/2006/table">
            <a:tbl>
              <a:tblPr firstRow="1" bandRow="1">
                <a:tableStyleId>{21E4AEA4-8DFA-4A89-87EB-49C32662AFE0}</a:tableStyleId>
              </a:tblPr>
              <a:tblGrid>
                <a:gridCol w="2323465">
                  <a:extLst>
                    <a:ext uri="{9D8B030D-6E8A-4147-A177-3AD203B41FA5}">
                      <a16:colId xmlns="" xmlns:a16="http://schemas.microsoft.com/office/drawing/2014/main" val="20000"/>
                    </a:ext>
                  </a:extLst>
                </a:gridCol>
                <a:gridCol w="3308667">
                  <a:extLst>
                    <a:ext uri="{9D8B030D-6E8A-4147-A177-3AD203B41FA5}">
                      <a16:colId xmlns="" xmlns:a16="http://schemas.microsoft.com/office/drawing/2014/main" val="20001"/>
                    </a:ext>
                  </a:extLst>
                </a:gridCol>
                <a:gridCol w="3308667">
                  <a:extLst>
                    <a:ext uri="{9D8B030D-6E8A-4147-A177-3AD203B41FA5}">
                      <a16:colId xmlns="" xmlns:a16="http://schemas.microsoft.com/office/drawing/2014/main" val="20002"/>
                    </a:ext>
                  </a:extLst>
                </a:gridCol>
              </a:tblGrid>
              <a:tr h="379730">
                <a:tc>
                  <a:txBody>
                    <a:bodyPr/>
                    <a:lstStyle/>
                    <a:p>
                      <a:pPr algn="ctr">
                        <a:buNone/>
                      </a:pPr>
                      <a:r>
                        <a:rPr lang="zh-CN" altLang="en-US" sz="2000" dirty="0">
                          <a:latin typeface="微软雅黑" panose="020B0503020204020204" pitchFamily="34" charset="-122"/>
                          <a:ea typeface="微软雅黑" panose="020B0503020204020204" pitchFamily="34" charset="-122"/>
                        </a:rPr>
                        <a:t>区别</a:t>
                      </a:r>
                    </a:p>
                  </a:txBody>
                  <a:tcPr anchor="ctr"/>
                </a:tc>
                <a:tc>
                  <a:txBody>
                    <a:bodyPr/>
                    <a:lstStyle/>
                    <a:p>
                      <a:pPr algn="ctr">
                        <a:buNone/>
                      </a:pPr>
                      <a:r>
                        <a:rPr lang="zh-CN" altLang="en-US" sz="2000">
                          <a:latin typeface="微软雅黑" panose="020B0503020204020204" pitchFamily="34" charset="-122"/>
                          <a:ea typeface="微软雅黑" panose="020B0503020204020204" pitchFamily="34" charset="-122"/>
                        </a:rPr>
                        <a:t>吸收犯</a:t>
                      </a:r>
                    </a:p>
                  </a:txBody>
                  <a:tcPr anchor="ctr"/>
                </a:tc>
                <a:tc>
                  <a:txBody>
                    <a:bodyPr/>
                    <a:lstStyle/>
                    <a:p>
                      <a:pPr algn="ctr">
                        <a:buNone/>
                      </a:pPr>
                      <a:r>
                        <a:rPr lang="zh-CN" altLang="en-US" sz="2000">
                          <a:latin typeface="微软雅黑" panose="020B0503020204020204" pitchFamily="34" charset="-122"/>
                          <a:ea typeface="微软雅黑" panose="020B0503020204020204" pitchFamily="34" charset="-122"/>
                        </a:rPr>
                        <a:t>牵连犯</a:t>
                      </a:r>
                    </a:p>
                  </a:txBody>
                  <a:tcPr anchor="ctr"/>
                </a:tc>
                <a:extLst>
                  <a:ext uri="{0D108BD9-81ED-4DB2-BD59-A6C34878D82A}">
                    <a16:rowId xmlns="" xmlns:a16="http://schemas.microsoft.com/office/drawing/2014/main" val="10000"/>
                  </a:ext>
                </a:extLst>
              </a:tr>
              <a:tr h="37973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主观方面</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犯意的</a:t>
                      </a:r>
                      <a:r>
                        <a:rPr lang="zh-CN" altLang="en-US" sz="2000" dirty="0">
                          <a:solidFill>
                            <a:srgbClr val="00B0F0"/>
                          </a:solidFill>
                          <a:latin typeface="微软雅黑" panose="020B0503020204020204" pitchFamily="34" charset="-122"/>
                          <a:ea typeface="微软雅黑" panose="020B0503020204020204" pitchFamily="34" charset="-122"/>
                        </a:rPr>
                        <a:t>同一性</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00B0F0"/>
                          </a:solidFill>
                          <a:latin typeface="微软雅黑" panose="020B0503020204020204" pitchFamily="34" charset="-122"/>
                          <a:ea typeface="微软雅黑" panose="020B0503020204020204" pitchFamily="34" charset="-122"/>
                        </a:rPr>
                        <a:t>单一性</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故意的异质性和复数性</a:t>
                      </a:r>
                    </a:p>
                  </a:txBody>
                  <a:tcPr anchor="ctr"/>
                </a:tc>
                <a:extLst>
                  <a:ext uri="{0D108BD9-81ED-4DB2-BD59-A6C34878D82A}">
                    <a16:rowId xmlns="" xmlns:a16="http://schemas.microsoft.com/office/drawing/2014/main" val="10001"/>
                  </a:ext>
                </a:extLst>
              </a:tr>
              <a:tr h="118872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数个犯罪行为特定联系的形成机制</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吸收关系的形成机制以刑事法律规定的犯罪构成之间的</a:t>
                      </a:r>
                      <a:r>
                        <a:rPr lang="zh-CN" altLang="en-US" sz="2000" dirty="0">
                          <a:solidFill>
                            <a:srgbClr val="00B0F0"/>
                          </a:solidFill>
                          <a:latin typeface="微软雅黑" panose="020B0503020204020204" pitchFamily="34" charset="-122"/>
                          <a:ea typeface="微软雅黑" panose="020B0503020204020204" pitchFamily="34" charset="-122"/>
                        </a:rPr>
                        <a:t>特定关联性</a:t>
                      </a:r>
                      <a:r>
                        <a:rPr lang="zh-CN" altLang="en-US" sz="2000" dirty="0">
                          <a:latin typeface="微软雅黑" panose="020B0503020204020204" pitchFamily="34" charset="-122"/>
                          <a:ea typeface="微软雅黑" panose="020B0503020204020204" pitchFamily="34" charset="-122"/>
                        </a:rPr>
                        <a:t>为条件</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牵连关系的形成机制并不以刑事法律规定的犯罪构成之间的特定关联性为条件</a:t>
                      </a:r>
                    </a:p>
                  </a:txBody>
                  <a:tcPr anchor="ctr"/>
                </a:tc>
                <a:extLst>
                  <a:ext uri="{0D108BD9-81ED-4DB2-BD59-A6C34878D82A}">
                    <a16:rowId xmlns="" xmlns:a16="http://schemas.microsoft.com/office/drawing/2014/main" val="10002"/>
                  </a:ext>
                </a:extLst>
              </a:tr>
              <a:tr h="640080">
                <a:tc>
                  <a:txBody>
                    <a:bodyPr/>
                    <a:lstStyle/>
                    <a:p>
                      <a:pPr>
                        <a:buNone/>
                      </a:pPr>
                      <a:r>
                        <a:rPr lang="zh-CN" altLang="en-US" sz="2000">
                          <a:latin typeface="微软雅黑" panose="020B0503020204020204" pitchFamily="34" charset="-122"/>
                          <a:ea typeface="微软雅黑" panose="020B0503020204020204" pitchFamily="34" charset="-122"/>
                        </a:rPr>
                        <a:t>触犯罪名的性质</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数个犯罪行为所触犯的罪名必须是</a:t>
                      </a:r>
                      <a:r>
                        <a:rPr lang="zh-CN" altLang="en-US" sz="2000" dirty="0">
                          <a:solidFill>
                            <a:srgbClr val="00B0F0"/>
                          </a:solidFill>
                          <a:latin typeface="微软雅黑" panose="020B0503020204020204" pitchFamily="34" charset="-122"/>
                          <a:ea typeface="微软雅黑" panose="020B0503020204020204" pitchFamily="34" charset="-122"/>
                        </a:rPr>
                        <a:t>一致</a:t>
                      </a:r>
                      <a:r>
                        <a:rPr lang="zh-CN" altLang="en-US" sz="2000" dirty="0">
                          <a:latin typeface="微软雅黑" panose="020B0503020204020204" pitchFamily="34" charset="-122"/>
                          <a:ea typeface="微软雅黑" panose="020B0503020204020204" pitchFamily="34" charset="-122"/>
                        </a:rPr>
                        <a:t>的</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数个犯罪行为所触犯的罪名必须是不同的</a:t>
                      </a:r>
                    </a:p>
                  </a:txBody>
                  <a:tcPr anchor="ctr"/>
                </a:tc>
                <a:extLst>
                  <a:ext uri="{0D108BD9-81ED-4DB2-BD59-A6C34878D82A}">
                    <a16:rowId xmlns="" xmlns:a16="http://schemas.microsoft.com/office/drawing/2014/main" val="10003"/>
                  </a:ext>
                </a:extLst>
              </a:tr>
              <a:tr h="37973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侵犯的客体和作用的对象</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数个犯罪行为必须侵犯</a:t>
                      </a:r>
                      <a:r>
                        <a:rPr lang="zh-CN" altLang="en-US" sz="2000" dirty="0">
                          <a:solidFill>
                            <a:srgbClr val="00B0F0"/>
                          </a:solidFill>
                          <a:latin typeface="微软雅黑" panose="020B0503020204020204" pitchFamily="34" charset="-122"/>
                          <a:ea typeface="微软雅黑" panose="020B0503020204020204" pitchFamily="34" charset="-122"/>
                        </a:rPr>
                        <a:t>同一</a:t>
                      </a:r>
                      <a:r>
                        <a:rPr lang="zh-CN" altLang="en-US" sz="2000" dirty="0">
                          <a:latin typeface="微软雅黑" panose="020B0503020204020204" pitchFamily="34" charset="-122"/>
                          <a:ea typeface="微软雅黑" panose="020B0503020204020204" pitchFamily="34" charset="-122"/>
                        </a:rPr>
                        <a:t>或</a:t>
                      </a:r>
                      <a:r>
                        <a:rPr lang="zh-CN" altLang="en-US" sz="2000" dirty="0">
                          <a:solidFill>
                            <a:srgbClr val="00B0F0"/>
                          </a:solidFill>
                          <a:latin typeface="微软雅黑" panose="020B0503020204020204" pitchFamily="34" charset="-122"/>
                          <a:ea typeface="微软雅黑" panose="020B0503020204020204" pitchFamily="34" charset="-122"/>
                        </a:rPr>
                        <a:t>相同的</a:t>
                      </a:r>
                      <a:r>
                        <a:rPr lang="zh-CN" altLang="en-US" sz="2000" dirty="0">
                          <a:latin typeface="微软雅黑" panose="020B0503020204020204" pitchFamily="34" charset="-122"/>
                          <a:ea typeface="微软雅黑" panose="020B0503020204020204" pitchFamily="34" charset="-122"/>
                        </a:rPr>
                        <a:t>直接客体，并且指向</a:t>
                      </a:r>
                      <a:r>
                        <a:rPr lang="zh-CN" altLang="en-US" sz="2000" dirty="0">
                          <a:solidFill>
                            <a:srgbClr val="00B0F0"/>
                          </a:solidFill>
                          <a:latin typeface="微软雅黑" panose="020B0503020204020204" pitchFamily="34" charset="-122"/>
                          <a:ea typeface="微软雅黑" panose="020B0503020204020204" pitchFamily="34" charset="-122"/>
                        </a:rPr>
                        <a:t>同一的</a:t>
                      </a:r>
                      <a:r>
                        <a:rPr lang="zh-CN" altLang="en-US" sz="2000" dirty="0">
                          <a:latin typeface="微软雅黑" panose="020B0503020204020204" pitchFamily="34" charset="-122"/>
                          <a:ea typeface="微软雅黑" panose="020B0503020204020204" pitchFamily="34" charset="-122"/>
                        </a:rPr>
                        <a:t>具体犯罪对象</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数个犯罪行为侵犯的直接客体必然是不同的，也不必作用于同一的具体犯罪对象</a:t>
                      </a:r>
                    </a:p>
                  </a:txBody>
                  <a:tcPr anchor="ctr"/>
                </a:tc>
                <a:extLst>
                  <a:ext uri="{0D108BD9-81ED-4DB2-BD59-A6C34878D82A}">
                    <a16:rowId xmlns="" xmlns:a16="http://schemas.microsoft.com/office/drawing/2014/main" val="10004"/>
                  </a:ext>
                </a:extLst>
              </a:tr>
              <a:tr h="37973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处断原则不同</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以吸收之罪论处，对被吸收之罪则置之不论</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一般为从一重处断</a:t>
                      </a:r>
                    </a:p>
                  </a:txBody>
                  <a:tcPr anchor="ctr"/>
                </a:tc>
                <a:extLst>
                  <a:ext uri="{0D108BD9-81ED-4DB2-BD59-A6C34878D82A}">
                    <a16:rowId xmlns=""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4415" y="555625"/>
            <a:ext cx="10713720" cy="5160010"/>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）吸收犯与连续犯的区别。</a:t>
            </a: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pP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50000"/>
              </a:lnSpc>
              <a:spcBef>
                <a:spcPts val="1200"/>
              </a:spcBef>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吸收犯的处断原则：应当仅按吸收之罪处断，不实行数罪并罚。</a:t>
            </a:r>
          </a:p>
        </p:txBody>
      </p:sp>
      <p:graphicFrame>
        <p:nvGraphicFramePr>
          <p:cNvPr id="3" name="表格 2"/>
          <p:cNvGraphicFramePr/>
          <p:nvPr>
            <p:custDataLst>
              <p:tags r:id="rId1"/>
            </p:custDataLst>
          </p:nvPr>
        </p:nvGraphicFramePr>
        <p:xfrm>
          <a:off x="745490" y="1310005"/>
          <a:ext cx="10184130" cy="4297680"/>
        </p:xfrm>
        <a:graphic>
          <a:graphicData uri="http://schemas.openxmlformats.org/drawingml/2006/table">
            <a:tbl>
              <a:tblPr firstRow="1" bandRow="1">
                <a:tableStyleId>{21E4AEA4-8DFA-4A89-87EB-49C32662AFE0}</a:tableStyleId>
              </a:tblPr>
              <a:tblGrid>
                <a:gridCol w="2012950">
                  <a:extLst>
                    <a:ext uri="{9D8B030D-6E8A-4147-A177-3AD203B41FA5}">
                      <a16:colId xmlns="" xmlns:a16="http://schemas.microsoft.com/office/drawing/2014/main" val="20000"/>
                    </a:ext>
                  </a:extLst>
                </a:gridCol>
                <a:gridCol w="4581525">
                  <a:extLst>
                    <a:ext uri="{9D8B030D-6E8A-4147-A177-3AD203B41FA5}">
                      <a16:colId xmlns="" xmlns:a16="http://schemas.microsoft.com/office/drawing/2014/main" val="20001"/>
                    </a:ext>
                  </a:extLst>
                </a:gridCol>
                <a:gridCol w="3589655">
                  <a:extLst>
                    <a:ext uri="{9D8B030D-6E8A-4147-A177-3AD203B41FA5}">
                      <a16:colId xmlns="" xmlns:a16="http://schemas.microsoft.com/office/drawing/2014/main" val="20002"/>
                    </a:ext>
                  </a:extLst>
                </a:gridCol>
              </a:tblGrid>
              <a:tr h="396240">
                <a:tc>
                  <a:txBody>
                    <a:bodyPr/>
                    <a:lstStyle/>
                    <a:p>
                      <a:pPr algn="ctr">
                        <a:buNone/>
                      </a:pPr>
                      <a:r>
                        <a:rPr lang="zh-CN" altLang="en-US" sz="2000" dirty="0">
                          <a:latin typeface="微软雅黑" panose="020B0503020204020204" pitchFamily="34" charset="-122"/>
                          <a:ea typeface="微软雅黑" panose="020B0503020204020204" pitchFamily="34" charset="-122"/>
                        </a:rPr>
                        <a:t>区别</a:t>
                      </a:r>
                    </a:p>
                  </a:txBody>
                  <a:tcPr anchor="ctr"/>
                </a:tc>
                <a:tc>
                  <a:txBody>
                    <a:bodyPr/>
                    <a:lstStyle/>
                    <a:p>
                      <a:pPr algn="ctr">
                        <a:buNone/>
                      </a:pPr>
                      <a:r>
                        <a:rPr lang="zh-CN" altLang="en-US" sz="2000">
                          <a:latin typeface="微软雅黑" panose="020B0503020204020204" pitchFamily="34" charset="-122"/>
                          <a:ea typeface="微软雅黑" panose="020B0503020204020204" pitchFamily="34" charset="-122"/>
                        </a:rPr>
                        <a:t>吸收犯</a:t>
                      </a:r>
                    </a:p>
                  </a:txBody>
                  <a:tcPr anchor="ctr"/>
                </a:tc>
                <a:tc>
                  <a:txBody>
                    <a:bodyPr/>
                    <a:lstStyle/>
                    <a:p>
                      <a:pPr algn="ctr">
                        <a:buNone/>
                      </a:pPr>
                      <a:r>
                        <a:rPr lang="zh-CN" altLang="en-US" sz="2000">
                          <a:latin typeface="微软雅黑" panose="020B0503020204020204" pitchFamily="34" charset="-122"/>
                          <a:ea typeface="微软雅黑" panose="020B0503020204020204" pitchFamily="34" charset="-122"/>
                        </a:rPr>
                        <a:t>连续犯</a:t>
                      </a:r>
                    </a:p>
                  </a:txBody>
                  <a:tcPr anchor="ctr"/>
                </a:tc>
                <a:extLst>
                  <a:ext uri="{0D108BD9-81ED-4DB2-BD59-A6C34878D82A}">
                    <a16:rowId xmlns="" xmlns:a16="http://schemas.microsoft.com/office/drawing/2014/main" val="10000"/>
                  </a:ext>
                </a:extLst>
              </a:tr>
              <a:tr h="37973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主观方面</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主观罪过以同一性和单一性为特征</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基于连续意图支配下的数个同一犯罪故意</a:t>
                      </a:r>
                    </a:p>
                  </a:txBody>
                  <a:tcPr anchor="ctr"/>
                </a:tc>
                <a:extLst>
                  <a:ext uri="{0D108BD9-81ED-4DB2-BD59-A6C34878D82A}">
                    <a16:rowId xmlns="" xmlns:a16="http://schemas.microsoft.com/office/drawing/2014/main" val="10001"/>
                  </a:ext>
                </a:extLst>
              </a:tr>
              <a:tr h="118872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加害对象</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数个犯罪行为必须作用于同一的具体犯罪对象</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并不以数个犯罪行为必须作用于同一的具体犯罪对象为必备条件</a:t>
                      </a:r>
                    </a:p>
                  </a:txBody>
                  <a:tcPr anchor="ctr"/>
                </a:tc>
                <a:extLst>
                  <a:ext uri="{0D108BD9-81ED-4DB2-BD59-A6C34878D82A}">
                    <a16:rowId xmlns="" xmlns:a16="http://schemas.microsoft.com/office/drawing/2014/main" val="10002"/>
                  </a:ext>
                </a:extLst>
              </a:tr>
              <a:tr h="640080">
                <a:tc>
                  <a:txBody>
                    <a:bodyPr/>
                    <a:lstStyle/>
                    <a:p>
                      <a:pPr>
                        <a:buNone/>
                      </a:pPr>
                      <a:r>
                        <a:rPr lang="zh-CN" altLang="en-US" sz="2000">
                          <a:latin typeface="微软雅黑" panose="020B0503020204020204" pitchFamily="34" charset="-122"/>
                          <a:ea typeface="微软雅黑" panose="020B0503020204020204" pitchFamily="34" charset="-122"/>
                        </a:rPr>
                        <a:t>数个犯罪行为之间的关系属性</a:t>
                      </a:r>
                    </a:p>
                  </a:txBody>
                  <a:tcPr anchor="ctr"/>
                </a:tc>
                <a:tc>
                  <a:txBody>
                    <a:bodyPr/>
                    <a:lstStyle/>
                    <a:p>
                      <a:pPr>
                        <a:buNone/>
                      </a:pPr>
                      <a:r>
                        <a:rPr lang="zh-CN" altLang="en-US" sz="2000" dirty="0">
                          <a:latin typeface="微软雅黑" panose="020B0503020204020204" pitchFamily="34" charset="-122"/>
                          <a:ea typeface="微软雅黑" panose="020B0503020204020204" pitchFamily="34" charset="-122"/>
                        </a:rPr>
                        <a:t>吸收关系取决于数个犯罪行为所符合的种类不同、基本性质一致的犯罪构成之间的依附与被依附的关系</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连续关系，取决于行为人犯罪的连续意图及其所制约的犯罪故意与犯罪行为的连续状态的有机统一</a:t>
                      </a:r>
                    </a:p>
                  </a:txBody>
                  <a:tcPr anchor="ctr"/>
                </a:tc>
                <a:extLst>
                  <a:ext uri="{0D108BD9-81ED-4DB2-BD59-A6C34878D82A}">
                    <a16:rowId xmlns="" xmlns:a16="http://schemas.microsoft.com/office/drawing/2014/main" val="10003"/>
                  </a:ext>
                </a:extLst>
              </a:tr>
              <a:tr h="379730">
                <a:tc>
                  <a:txBody>
                    <a:bodyPr/>
                    <a:lstStyle/>
                    <a:p>
                      <a:pPr>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处断原则</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仅以吸收之罪论处，对被吸收之罪则置之不论</a:t>
                      </a:r>
                    </a:p>
                  </a:txBody>
                  <a:tcPr anchor="ctr"/>
                </a:tc>
                <a:tc>
                  <a:txBody>
                    <a:bodyPr/>
                    <a:lstStyle/>
                    <a:p>
                      <a:pPr>
                        <a:buNone/>
                      </a:pPr>
                      <a:r>
                        <a:rPr lang="zh-CN" altLang="en-US" sz="2000">
                          <a:latin typeface="微软雅黑" panose="020B0503020204020204" pitchFamily="34" charset="-122"/>
                          <a:ea typeface="微软雅黑" panose="020B0503020204020204" pitchFamily="34" charset="-122"/>
                        </a:rPr>
                        <a:t>按一罪的从重处罚情节或加重构成情节处罚</a:t>
                      </a:r>
                    </a:p>
                  </a:txBody>
                  <a:tcPr anchor="ctr"/>
                </a:tc>
                <a:extLst>
                  <a:ext uri="{0D108BD9-81ED-4DB2-BD59-A6C34878D82A}">
                    <a16:rowId xmlns=""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第三节</a:t>
            </a: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数罪的类型</a:t>
            </a: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/12</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816948" y="775078"/>
            <a:ext cx="4230370"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第十二章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罪数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0250"/>
            <a:ext cx="1049909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一、异种数罪和同种数罪</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异种数罪和同种数罪，是以行为人的犯罪事实符合的数个犯罪构成的性质是否一致为标准，对数罪进行的分类。</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异种数罪是指行为人的犯罪事实符合数个性质不同的犯罪构成的犯罪形态。</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同种数罪是指行为人的犯罪事实符合数个性质相同的犯罪构成的犯罪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形态</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（如非连续性同种数罪）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将数罪分为异种数罪与同种数罪的意义在于：</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首先，异种数罪和同种数罪都是实质数罪的基本形式，不能因数罪的性质有别，而否认其中任何一种数罪作为实质数罪的法律地位。</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其次，无论是异种数罪还是同种数罪，均可被分为并罚的数罪和非并罚的数罪。</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最后，在相同的法律条件下，异种数罪和同种数罪被纳入并罚范围的机会不是均等的。</a:t>
            </a:r>
          </a:p>
          <a:p>
            <a:pPr algn="l" fontAlgn="auto">
              <a:lnSpc>
                <a:spcPct val="150000"/>
              </a:lnSpc>
              <a:buClrTx/>
              <a:buSzTx/>
              <a:buNone/>
            </a:pPr>
            <a:endParaRPr lang="zh-CN"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6455" y="1204912"/>
            <a:ext cx="1049909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二、并罚的数罪和非并罚的数罪</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并罚的数罪和非并罚的数罪，是以对行为人的犯罪事实已构成的实质数罪是否实行数罪并罚为标准，对数罪所进行的分类。</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并罚的数罪是指依照法律规定应当予以并罚的实质数罪；</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非并罚的数罪是指无须予以并罚，而应对其适用相应处断原则的实质数</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罪</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（如吸收犯）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Wingdings" panose="05000000000000000000" charset="0"/>
              <a:buChar char="p"/>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分类意义</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明辨实质数罪中应予并罚的数罪范围，并在此基础上，针对非并罚的实质数罪，确定与之相应的处断原则。</a:t>
            </a:r>
          </a:p>
          <a:p>
            <a:pPr indent="0" algn="l" fontAlgn="auto">
              <a:lnSpc>
                <a:spcPct val="150000"/>
              </a:lnSpc>
              <a:buClrTx/>
              <a:buSzTx/>
              <a:buFontTx/>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3807" y="1204912"/>
            <a:ext cx="1049909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三、判决宣告以前的数罪和刑罚执行期间的数罪</a:t>
            </a: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判决宣告以前的数罪和刑罚执行期间的数罪，是以实质数罪发生的时间条件为标准，对数罪所进行的分类。</a:t>
            </a: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判决宣告以前的数罪，是指行为人在判决宣告以前实施并被发现的数</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罪</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刑法</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第</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69</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条）</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刑罚执行期间的数罪，是指在刑罚执行期间因发现漏罪或再犯新罪而构成的数</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刑法</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第</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70</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71</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条</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Wingdings" panose="05000000000000000000" charset="0"/>
              <a:buChar char="p"/>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数罪的此种分类的意义</a:t>
            </a: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明确应予并罚的数罪实际发生的时间条件，并以此为基础，对发生于不同阶段或法律条件下的数罪，依法适用相应的法定并罚规则，决定应予执行的刑罚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将数罪区分为判决宣告以前的数罪和刑罚执行期间的数罪，是正确适用不同法定并罚规则的必要前提。</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40" y="2081530"/>
            <a:ext cx="9539605" cy="3061970"/>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2"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127820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思  考  题</a:t>
              </a:r>
            </a:p>
          </p:txBody>
        </p:sp>
      </p:grpSp>
      <p:sp>
        <p:nvSpPr>
          <p:cNvPr id="5" name="矩形 4"/>
          <p:cNvSpPr/>
          <p:nvPr/>
        </p:nvSpPr>
        <p:spPr>
          <a:xfrm>
            <a:off x="2037716" y="2476343"/>
            <a:ext cx="8697089" cy="2122805"/>
          </a:xfrm>
          <a:prstGeom prst="rect">
            <a:avLst/>
          </a:prstGeom>
        </p:spPr>
        <p:txBody>
          <a:bodyPr wrap="square">
            <a:spAutoFit/>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1.罪数的区分标准是什么？</a:t>
            </a:r>
          </a:p>
          <a:p>
            <a:pPr algn="just">
              <a:lnSpc>
                <a:spcPct val="150000"/>
              </a:lnSpc>
            </a:pPr>
            <a:r>
              <a:rPr lang="zh-CN" altLang="en-US" sz="2200" dirty="0">
                <a:latin typeface="微软雅黑" panose="020B0503020204020204" pitchFamily="34" charset="-122"/>
                <a:ea typeface="微软雅黑" panose="020B0503020204020204" pitchFamily="34" charset="-122"/>
              </a:rPr>
              <a:t>2</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如何区分想象竞合犯与法条竞合？</a:t>
            </a:r>
          </a:p>
          <a:p>
            <a:pPr algn="just">
              <a:lnSpc>
                <a:spcPct val="150000"/>
              </a:lnSpc>
            </a:pPr>
            <a:r>
              <a:rPr lang="zh-CN" altLang="en-US" sz="2200" dirty="0">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结果加重犯的成立条件是什么？</a:t>
            </a:r>
          </a:p>
          <a:p>
            <a:pPr algn="just">
              <a:lnSpc>
                <a:spcPct val="150000"/>
              </a:lnSpc>
            </a:pPr>
            <a:r>
              <a:rPr lang="zh-CN" altLang="en-US" sz="2200" dirty="0">
                <a:latin typeface="微软雅黑" panose="020B0503020204020204" pitchFamily="34" charset="-122"/>
                <a:ea typeface="微软雅黑" panose="020B0503020204020204" pitchFamily="34" charset="-122"/>
              </a:rPr>
              <a:t>4.如何区分牵连犯与吸收犯？</a:t>
            </a: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U3Zjg5ZjEwZjFiYjFiOTBkY2I5ZGU1ZDEwYzUyOTcifQ=="/>
  <p:tag name="KSO_WPP_MARK_KEY" val="93e14501-fa55-4713-a74b-7c984853f600"/>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41*196"/>
  <p:tag name="TABLE_ENDDRAG_RECT" val="55*242*841*196"/>
  <p:tag name="KSO_WM_BEAUTIFY_FLAG" val=""/>
  <p:tag name="KSO_WM_UNIT_TABLE_BEAUTIFY" val="smartTable{08687f6f-9755-4713-8195-2fbad4650f8d}"/>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857*417"/>
  <p:tag name="TABLE_ENDDRAG_RECT" val="50*83*857*417"/>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875*349"/>
  <p:tag name="TABLE_ENDDRAG_RECT" val="38*107*875*349"/>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899*290"/>
  <p:tag name="TABLE_ENDDRAG_RECT" val="25*151*899*290"/>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799*283"/>
  <p:tag name="TABLE_ENDDRAG_RECT" val="82*117*799*283"/>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TABLE_ENDDRAG_ORIGIN_RECT" val="671*233"/>
  <p:tag name="TABLE_ENDDRAG_RECT" val="144*195*671*233"/>
  <p:tag name="KSO_WM_UNIT_TABLE_BEAUTIFY" val="smartTable{f0df33fd-de58-4c6c-9587-4b3186b38670}"/>
</p:tagLst>
</file>

<file path=ppt/tags/tag8.xml><?xml version="1.0" encoding="utf-8"?>
<p:tagLst xmlns:a="http://schemas.openxmlformats.org/drawingml/2006/main" xmlns:r="http://schemas.openxmlformats.org/officeDocument/2006/relationships" xmlns:p="http://schemas.openxmlformats.org/presentationml/2006/main">
  <p:tag name="TABLE_ENDDRAG_ORIGIN_RECT" val="754*362"/>
  <p:tag name="TABLE_ENDDRAG_RECT" val="105*103*754*362"/>
  <p:tag name="KSO_WM_BEAUTIFY_FLAG" val=""/>
  <p:tag name="KSO_WM_UNIT_TABLE_BEAUTIFY" val="smartTable{7ae6238b-3025-4854-ba93-845949806d4d}"/>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5300</Words>
  <Application>Microsoft Office PowerPoint</Application>
  <PresentationFormat>宽屏</PresentationFormat>
  <Paragraphs>367</Paragraphs>
  <Slides>42</Slides>
  <Notes>0</Notes>
  <HiddenSlides>0</HiddenSlides>
  <MMClips>1</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42</vt:i4>
      </vt:variant>
    </vt:vector>
  </HeadingPairs>
  <TitlesOfParts>
    <vt:vector size="56" baseType="lpstr">
      <vt:lpstr>Roboto</vt:lpstr>
      <vt:lpstr>等线</vt:lpstr>
      <vt:lpstr>等线 Light</vt:lpstr>
      <vt:lpstr>黑体</vt:lpstr>
      <vt:lpstr>华文新魏</vt:lpstr>
      <vt:lpstr>华文中宋</vt:lpstr>
      <vt:lpstr>宋体</vt:lpstr>
      <vt:lpstr>微软雅黑</vt:lpstr>
      <vt:lpstr>Arial</vt:lpstr>
      <vt:lpstr>Calibri</vt:lpstr>
      <vt:lpstr>Impact</vt:lpstr>
      <vt:lpstr>Wingdings</vt:lpstr>
      <vt:lpstr>Office 主题​​</vt:lpstr>
      <vt:lpstr>2_Office 主题​​</vt:lpstr>
      <vt:lpstr>PowerPoint 演示文稿</vt:lpstr>
      <vt:lpstr>PowerPoint 演示文稿</vt:lpstr>
      <vt:lpstr>第一节</vt:lpstr>
      <vt:lpstr>PowerPoint 演示文稿</vt:lpstr>
      <vt:lpstr>PowerPoint 演示文稿</vt:lpstr>
      <vt:lpstr>PowerPoint 演示文稿</vt:lpstr>
      <vt:lpstr>PowerPoint 演示文稿</vt:lpstr>
      <vt:lpstr>第二节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LGY</cp:lastModifiedBy>
  <cp:revision>248</cp:revision>
  <dcterms:created xsi:type="dcterms:W3CDTF">2017-08-25T04:22:00Z</dcterms:created>
  <dcterms:modified xsi:type="dcterms:W3CDTF">2025-05-06T03:35:12Z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2052-11.1.0.14309</vt:lpwstr>
  </property>
</Properties>
</file>