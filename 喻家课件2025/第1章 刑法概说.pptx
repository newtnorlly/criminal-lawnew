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8"/>
  </p:handoutMasterIdLst>
  <p:sldIdLst>
    <p:sldId id="260" r:id="rId2"/>
    <p:sldId id="303" r:id="rId3"/>
    <p:sldId id="302" r:id="rId4"/>
    <p:sldId id="284" r:id="rId5"/>
    <p:sldId id="300" r:id="rId6"/>
    <p:sldId id="343" r:id="rId7"/>
    <p:sldId id="347" r:id="rId8"/>
    <p:sldId id="414" r:id="rId9"/>
    <p:sldId id="344" r:id="rId10"/>
    <p:sldId id="345" r:id="rId11"/>
    <p:sldId id="346" r:id="rId12"/>
    <p:sldId id="415" r:id="rId13"/>
    <p:sldId id="349" r:id="rId14"/>
    <p:sldId id="342" r:id="rId15"/>
    <p:sldId id="416" r:id="rId16"/>
    <p:sldId id="350" r:id="rId17"/>
    <p:sldId id="417" r:id="rId18"/>
    <p:sldId id="418" r:id="rId19"/>
    <p:sldId id="420" r:id="rId20"/>
    <p:sldId id="421" r:id="rId21"/>
    <p:sldId id="422" r:id="rId22"/>
    <p:sldId id="351" r:id="rId23"/>
    <p:sldId id="423" r:id="rId24"/>
    <p:sldId id="424" r:id="rId25"/>
    <p:sldId id="425" r:id="rId26"/>
    <p:sldId id="432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8DD"/>
    <a:srgbClr val="000000"/>
    <a:srgbClr val="D9793F"/>
    <a:srgbClr val="FFFFFF"/>
    <a:srgbClr val="BFBFBF"/>
    <a:srgbClr val="E6E6E6"/>
    <a:srgbClr val="0289D9"/>
    <a:srgbClr val="0F42E7"/>
    <a:srgbClr val="1D4BFF"/>
    <a:srgbClr val="5A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23" autoAdjust="0"/>
    <p:restoredTop sz="94225" autoAdjust="0"/>
  </p:normalViewPr>
  <p:slideViewPr>
    <p:cSldViewPr snapToGrid="0">
      <p:cViewPr varScale="1">
        <p:scale>
          <a:sx n="91" d="100"/>
          <a:sy n="91" d="100"/>
        </p:scale>
        <p:origin x="7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3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3F9F3-6723-4E3B-82A5-806A60DF3ADB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BFA49-FC84-4341-BDD0-4D1160FD6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03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223031" y="122345"/>
            <a:ext cx="11718488" cy="6610935"/>
            <a:chOff x="223031" y="122345"/>
            <a:chExt cx="11718488" cy="6610935"/>
          </a:xfrm>
        </p:grpSpPr>
        <p:grpSp>
          <p:nvGrpSpPr>
            <p:cNvPr id="6" name="组合 5"/>
            <p:cNvGrpSpPr/>
            <p:nvPr/>
          </p:nvGrpSpPr>
          <p:grpSpPr>
            <a:xfrm>
              <a:off x="223031" y="122345"/>
              <a:ext cx="934049" cy="265879"/>
              <a:chOff x="1643460" y="3128803"/>
              <a:chExt cx="3165103" cy="900953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1643460" y="3128803"/>
                <a:ext cx="900953" cy="900953"/>
              </a:xfrm>
              <a:prstGeom prst="ellipse">
                <a:avLst/>
              </a:prstGeom>
              <a:solidFill>
                <a:srgbClr val="D97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刑</a:t>
                </a: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775535" y="3128803"/>
                <a:ext cx="900953" cy="900953"/>
              </a:xfrm>
              <a:prstGeom prst="ellipse">
                <a:avLst/>
              </a:prstGeom>
              <a:solidFill>
                <a:srgbClr val="D97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法</a:t>
                </a: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3907610" y="3128803"/>
                <a:ext cx="900953" cy="900953"/>
              </a:xfrm>
              <a:prstGeom prst="ellipse">
                <a:avLst/>
              </a:prstGeom>
              <a:solidFill>
                <a:srgbClr val="D97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</a:t>
                </a: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44762" y="260131"/>
              <a:ext cx="10604860" cy="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endCxn id="9" idx="1"/>
            </p:cNvCxnSpPr>
            <p:nvPr/>
          </p:nvCxnSpPr>
          <p:spPr>
            <a:xfrm>
              <a:off x="397993" y="6558828"/>
              <a:ext cx="10738134" cy="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11135704" y="6384030"/>
              <a:ext cx="805815" cy="3492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b="1" dirty="0">
                  <a:solidFill>
                    <a:srgbClr val="D9793F"/>
                  </a:solidFill>
                  <a:latin typeface="华文新魏" panose="02010800040101010101" charset="-122"/>
                  <a:ea typeface="华文新魏" panose="02010800040101010101" charset="-122"/>
                  <a:sym typeface="+mn-ea"/>
                </a:rPr>
                <a:t>第一章  </a:t>
              </a:r>
              <a:endParaRPr lang="en-US" altLang="zh-CN" sz="14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" t="3696" r="7783" b="32380"/>
          <a:stretch>
            <a:fillRect/>
          </a:stretch>
        </p:blipFill>
        <p:spPr>
          <a:xfrm>
            <a:off x="0" y="-26894"/>
            <a:ext cx="12166899" cy="6895652"/>
          </a:xfrm>
          <a:prstGeom prst="rtTriangle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89568" y="278342"/>
            <a:ext cx="11212865" cy="6301317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75698" y="4223127"/>
            <a:ext cx="5419185" cy="8953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76814" y="5118477"/>
            <a:ext cx="5419185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1" b="37991"/>
          <a:stretch>
            <a:fillRect/>
          </a:stretch>
        </p:blipFill>
        <p:spPr>
          <a:xfrm>
            <a:off x="0" y="2269865"/>
            <a:ext cx="5203294" cy="1947134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8" t="67985"/>
          <a:stretch>
            <a:fillRect/>
          </a:stretch>
        </p:blipFill>
        <p:spPr>
          <a:xfrm>
            <a:off x="5162843" y="0"/>
            <a:ext cx="7036506" cy="685799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181601" y="2284576"/>
            <a:ext cx="7010398" cy="1940623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L 形 37"/>
          <p:cNvSpPr/>
          <p:nvPr/>
        </p:nvSpPr>
        <p:spPr>
          <a:xfrm>
            <a:off x="315078" y="0"/>
            <a:ext cx="719638" cy="863383"/>
          </a:xfrm>
          <a:prstGeom prst="corner">
            <a:avLst>
              <a:gd name="adj1" fmla="val 0"/>
              <a:gd name="adj2" fmla="val 38139"/>
            </a:avLst>
          </a:prstGeom>
          <a:solidFill>
            <a:srgbClr val="BFBFBF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Shape 749"/>
          <p:cNvSpPr txBox="1"/>
          <p:nvPr/>
        </p:nvSpPr>
        <p:spPr>
          <a:xfrm>
            <a:off x="613981" y="172463"/>
            <a:ext cx="3074101" cy="69092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rmAutofit fontScale="92500" lnSpcReduction="10000"/>
          </a:bodyPr>
          <a:lstStyle>
            <a:lvl1pPr marL="0" marR="0" indent="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1pPr>
            <a:lvl2pPr marL="0" marR="0" indent="2286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2pPr>
            <a:lvl3pPr marL="0" marR="0" indent="4572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3pPr>
            <a:lvl4pPr marL="0" marR="0" indent="6858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4pPr>
            <a:lvl5pPr marL="0" marR="0" indent="9144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5pPr>
            <a:lvl6pPr marL="0" marR="0" indent="11430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6pPr>
            <a:lvl7pPr marL="0" marR="0" indent="13716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7pPr>
            <a:lvl8pPr marL="0" marR="0" indent="16002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8pPr>
            <a:lvl9pPr marL="0" marR="0" indent="1828800" algn="l" defTabSz="825500" rtl="0" latinLnBrk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0" baseline="0">
                <a:ln>
                  <a:noFill/>
                </a:ln>
                <a:solidFill>
                  <a:srgbClr val="44474F"/>
                </a:solidFill>
                <a:uFillTx/>
                <a:latin typeface="+mn-lt"/>
                <a:ea typeface="+mn-ea"/>
                <a:cs typeface="+mn-cs"/>
                <a:sym typeface="Roboto" panose="02000000000000000000"/>
              </a:defRPr>
            </a:lvl9pPr>
          </a:lstStyle>
          <a:p>
            <a:pPr marL="0" marR="0" lvl="0" indent="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D9793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Roboto" panose="02000000000000000000"/>
              </a:rPr>
              <a:t>马克思主义理论研究</a:t>
            </a:r>
            <a:endParaRPr kumimoji="0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rgbClr val="D9793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sym typeface="Roboto" panose="02000000000000000000"/>
            </a:endParaRPr>
          </a:p>
          <a:p>
            <a:pPr marL="0" marR="0" lvl="0" indent="0" algn="l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D9793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Roboto" panose="02000000000000000000"/>
              </a:rPr>
              <a:t>和建设工程重点教材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D9793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sym typeface="Roboto" panose="02000000000000000000"/>
            </a:endParaRPr>
          </a:p>
        </p:txBody>
      </p:sp>
      <p:pic>
        <p:nvPicPr>
          <p:cNvPr id="41" name="Real - Capo Production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844947" y="6334038"/>
            <a:ext cx="487363" cy="48736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643460" y="2831304"/>
            <a:ext cx="3165103" cy="900953"/>
            <a:chOff x="1643460" y="3128803"/>
            <a:chExt cx="3165103" cy="900953"/>
          </a:xfrm>
        </p:grpSpPr>
        <p:sp>
          <p:nvSpPr>
            <p:cNvPr id="7" name="椭圆 6"/>
            <p:cNvSpPr/>
            <p:nvPr/>
          </p:nvSpPr>
          <p:spPr>
            <a:xfrm>
              <a:off x="1643460" y="3128803"/>
              <a:ext cx="900953" cy="9009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 dirty="0">
                  <a:solidFill>
                    <a:srgbClr val="D979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刑</a:t>
              </a:r>
            </a:p>
          </p:txBody>
        </p:sp>
        <p:sp>
          <p:nvSpPr>
            <p:cNvPr id="16" name="椭圆 15"/>
            <p:cNvSpPr/>
            <p:nvPr/>
          </p:nvSpPr>
          <p:spPr>
            <a:xfrm>
              <a:off x="2775535" y="3128803"/>
              <a:ext cx="900953" cy="9009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 dirty="0">
                  <a:solidFill>
                    <a:srgbClr val="D979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法</a:t>
              </a:r>
            </a:p>
          </p:txBody>
        </p:sp>
        <p:sp>
          <p:nvSpPr>
            <p:cNvPr id="17" name="椭圆 16"/>
            <p:cNvSpPr/>
            <p:nvPr/>
          </p:nvSpPr>
          <p:spPr>
            <a:xfrm>
              <a:off x="3907610" y="3128803"/>
              <a:ext cx="900953" cy="9009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800" dirty="0" smtClean="0">
                  <a:solidFill>
                    <a:srgbClr val="D9793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学</a:t>
              </a:r>
              <a:endParaRPr lang="zh-CN" altLang="en-US" sz="4800" dirty="0">
                <a:solidFill>
                  <a:srgbClr val="D979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828800" y="5521306"/>
            <a:ext cx="2979763" cy="341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刑法学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编写组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547957" y="6381378"/>
            <a:ext cx="1328652" cy="196341"/>
            <a:chOff x="4957648" y="5949625"/>
            <a:chExt cx="2301292" cy="340073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7648" y="5968939"/>
              <a:ext cx="311738" cy="320759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>
              <a:fillRect/>
            </a:stretch>
          </p:blipFill>
          <p:spPr>
            <a:xfrm>
              <a:off x="5400192" y="5949625"/>
              <a:ext cx="1858748" cy="334537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5547957" y="2498217"/>
            <a:ext cx="246634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第一章</a:t>
            </a:r>
          </a:p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刑法概说  </a:t>
            </a:r>
          </a:p>
        </p:txBody>
      </p:sp>
      <p:sp>
        <p:nvSpPr>
          <p:cNvPr id="3" name="矩形 2"/>
          <p:cNvSpPr/>
          <p:nvPr/>
        </p:nvSpPr>
        <p:spPr>
          <a:xfrm>
            <a:off x="1945341" y="4392707"/>
            <a:ext cx="174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D9793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（上册</a:t>
            </a:r>
            <a:r>
              <a:rPr lang="en-US" altLang="zh-CN" dirty="0">
                <a:solidFill>
                  <a:srgbClr val="D9793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rgbClr val="D9793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总论）</a:t>
            </a:r>
            <a:endParaRPr lang="en-US" altLang="zh-CN" dirty="0">
              <a:solidFill>
                <a:srgbClr val="D9793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D9793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（第二版）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7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9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  <p:bldLst>
      <p:bldP spid="5" grpId="0" animBg="1"/>
      <p:bldP spid="38" grpId="0" animBg="1"/>
      <p:bldP spid="28" grpId="0" animBg="1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04403" y="1955801"/>
            <a:ext cx="2206137" cy="1918154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29013" y="981453"/>
            <a:ext cx="2628900" cy="204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第一章</a:t>
            </a:r>
          </a:p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刑法概说</a:t>
            </a:r>
            <a:r>
              <a:rPr lang="en-US" altLang="zh-CN" sz="6600" b="1" dirty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</a:t>
            </a:r>
            <a:endParaRPr lang="zh-CN" altLang="en-US" sz="6600" b="1" dirty="0">
              <a:solidFill>
                <a:srgbClr val="D9793F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660400" y="1391446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ïşlîḑe"/>
          <p:cNvSpPr txBox="1"/>
          <p:nvPr/>
        </p:nvSpPr>
        <p:spPr>
          <a:xfrm>
            <a:off x="5195900" y="1135067"/>
            <a:ext cx="1800200" cy="512758"/>
          </a:xfrm>
          <a:prstGeom prst="roundRect">
            <a:avLst>
              <a:gd name="adj" fmla="val 50000"/>
            </a:avLst>
          </a:prstGeom>
          <a:solidFill>
            <a:srgbClr val="D9793F"/>
          </a:solidFill>
        </p:spPr>
        <p:txBody>
          <a:bodyPr wrap="square" lIns="91440" tIns="45720" rIns="91440" bIns="45720" anchor="ctr">
            <a:normAutofit lnSpcReduction="10000"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目录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8" name="îṧļïdè"/>
          <p:cNvSpPr txBox="1"/>
          <p:nvPr/>
        </p:nvSpPr>
        <p:spPr>
          <a:xfrm>
            <a:off x="1818781" y="2586113"/>
            <a:ext cx="748923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9" name="íṧļïdé"/>
          <p:cNvSpPr txBox="1"/>
          <p:nvPr/>
        </p:nvSpPr>
        <p:spPr>
          <a:xfrm>
            <a:off x="2754884" y="2460232"/>
            <a:ext cx="2843893" cy="368746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/>
          </a:bodyPr>
          <a:lstStyle/>
          <a:p>
            <a:r>
              <a:rPr lang="zh-CN" altLang="en-US" b="1" dirty="0" smtClean="0">
                <a:solidFill>
                  <a:srgbClr val="D9793F"/>
                </a:solidFill>
              </a:rPr>
              <a:t>第一节</a:t>
            </a:r>
            <a:endParaRPr lang="zh-CN" altLang="en-US" b="1" dirty="0">
              <a:solidFill>
                <a:srgbClr val="D9793F"/>
              </a:solidFill>
            </a:endParaRPr>
          </a:p>
        </p:txBody>
      </p:sp>
      <p:sp>
        <p:nvSpPr>
          <p:cNvPr id="10" name="ïśḷíďè"/>
          <p:cNvSpPr txBox="1"/>
          <p:nvPr/>
        </p:nvSpPr>
        <p:spPr>
          <a:xfrm>
            <a:off x="2754884" y="2828976"/>
            <a:ext cx="2843893" cy="588133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刑法的概念、性质与渊源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673781" y="2586113"/>
            <a:ext cx="0" cy="830997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îṩļïḑè"/>
          <p:cNvSpPr txBox="1"/>
          <p:nvPr/>
        </p:nvSpPr>
        <p:spPr>
          <a:xfrm>
            <a:off x="6593223" y="2586113"/>
            <a:ext cx="748923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3" name="ïṧḷïḓé"/>
          <p:cNvSpPr txBox="1"/>
          <p:nvPr/>
        </p:nvSpPr>
        <p:spPr>
          <a:xfrm>
            <a:off x="7529326" y="2460232"/>
            <a:ext cx="2843893" cy="368746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/>
          </a:bodyPr>
          <a:lstStyle/>
          <a:p>
            <a:r>
              <a:rPr lang="zh-CN" altLang="en-US" b="1" dirty="0" smtClean="0">
                <a:solidFill>
                  <a:srgbClr val="D9793F"/>
                </a:solidFill>
              </a:rPr>
              <a:t>第二节</a:t>
            </a:r>
            <a:endParaRPr lang="zh-CN" altLang="en-US" b="1" dirty="0">
              <a:solidFill>
                <a:srgbClr val="D9793F"/>
              </a:solidFill>
            </a:endParaRPr>
          </a:p>
        </p:txBody>
      </p:sp>
      <p:sp>
        <p:nvSpPr>
          <p:cNvPr id="14" name="íṩļíḋê"/>
          <p:cNvSpPr txBox="1"/>
          <p:nvPr/>
        </p:nvSpPr>
        <p:spPr>
          <a:xfrm>
            <a:off x="7529195" y="2828925"/>
            <a:ext cx="3225800" cy="58801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刑法的指导思想、根据与任务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448223" y="2586113"/>
            <a:ext cx="0" cy="830997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ïs1íḋè"/>
          <p:cNvSpPr txBox="1"/>
          <p:nvPr/>
        </p:nvSpPr>
        <p:spPr>
          <a:xfrm>
            <a:off x="1818781" y="3973171"/>
            <a:ext cx="748923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7" name="ísļîḑé"/>
          <p:cNvSpPr txBox="1"/>
          <p:nvPr/>
        </p:nvSpPr>
        <p:spPr>
          <a:xfrm>
            <a:off x="2754884" y="3847290"/>
            <a:ext cx="2843893" cy="368746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/>
          </a:bodyPr>
          <a:lstStyle/>
          <a:p>
            <a:r>
              <a:rPr lang="zh-CN" altLang="en-US" b="1" dirty="0" smtClean="0">
                <a:solidFill>
                  <a:srgbClr val="D9793F"/>
                </a:solidFill>
              </a:rPr>
              <a:t>第三节</a:t>
            </a:r>
            <a:endParaRPr lang="zh-CN" altLang="en-US" b="1" dirty="0">
              <a:solidFill>
                <a:srgbClr val="D9793F"/>
              </a:solidFill>
            </a:endParaRPr>
          </a:p>
        </p:txBody>
      </p:sp>
      <p:sp>
        <p:nvSpPr>
          <p:cNvPr id="18" name="ïṩ1ïďe"/>
          <p:cNvSpPr txBox="1"/>
          <p:nvPr/>
        </p:nvSpPr>
        <p:spPr>
          <a:xfrm>
            <a:off x="2754884" y="4216034"/>
            <a:ext cx="2843893" cy="588133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刑法的沿革与发展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673781" y="3973171"/>
            <a:ext cx="0" cy="830997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îŝlídè"/>
          <p:cNvSpPr txBox="1"/>
          <p:nvPr/>
        </p:nvSpPr>
        <p:spPr>
          <a:xfrm>
            <a:off x="6593223" y="3973171"/>
            <a:ext cx="748923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21" name="îṥ1ïḑé"/>
          <p:cNvSpPr txBox="1"/>
          <p:nvPr/>
        </p:nvSpPr>
        <p:spPr>
          <a:xfrm>
            <a:off x="7529326" y="3847290"/>
            <a:ext cx="2843893" cy="368746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rmAutofit/>
          </a:bodyPr>
          <a:lstStyle/>
          <a:p>
            <a:r>
              <a:rPr lang="zh-CN" altLang="en-US" b="1" dirty="0" smtClean="0">
                <a:solidFill>
                  <a:srgbClr val="D9793F"/>
                </a:solidFill>
              </a:rPr>
              <a:t>第四节</a:t>
            </a:r>
            <a:endParaRPr lang="zh-CN" altLang="en-US" b="1" dirty="0">
              <a:solidFill>
                <a:srgbClr val="D9793F"/>
              </a:solidFill>
            </a:endParaRPr>
          </a:p>
        </p:txBody>
      </p:sp>
      <p:sp>
        <p:nvSpPr>
          <p:cNvPr id="22" name="iṥḻïḍé"/>
          <p:cNvSpPr txBox="1"/>
          <p:nvPr/>
        </p:nvSpPr>
        <p:spPr>
          <a:xfrm>
            <a:off x="7529326" y="4216034"/>
            <a:ext cx="3042641" cy="588133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刑法的体系与解释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7448223" y="3973171"/>
            <a:ext cx="0" cy="830997"/>
          </a:xfrm>
          <a:prstGeom prst="line">
            <a:avLst/>
          </a:prstGeom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99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99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99"/>
                            </p:stCondLst>
                            <p:childTnLst>
                              <p:par>
                                <p:cTn id="3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99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199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3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8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3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75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250"/>
                            </p:stCondLst>
                            <p:childTnLst>
                              <p:par>
                                <p:cTn id="7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75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35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xão reta 34"/>
          <p:cNvCxnSpPr/>
          <p:nvPr/>
        </p:nvCxnSpPr>
        <p:spPr>
          <a:xfrm>
            <a:off x="0" y="2344738"/>
            <a:ext cx="5183859" cy="0"/>
          </a:xfrm>
          <a:prstGeom prst="line">
            <a:avLst/>
          </a:prstGeom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23"/>
          <p:cNvSpPr/>
          <p:nvPr/>
        </p:nvSpPr>
        <p:spPr>
          <a:xfrm rot="16200000">
            <a:off x="7844757" y="-279733"/>
            <a:ext cx="122920" cy="5444715"/>
          </a:xfrm>
          <a:prstGeom prst="rect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PA_文本框 3"/>
          <p:cNvSpPr txBox="1"/>
          <p:nvPr>
            <p:custDataLst>
              <p:tags r:id="rId1"/>
            </p:custDataLst>
          </p:nvPr>
        </p:nvSpPr>
        <p:spPr>
          <a:xfrm>
            <a:off x="5183859" y="2897002"/>
            <a:ext cx="557415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一、刑法的概念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二、刑法的性质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三、刑法的渊源</a:t>
            </a:r>
          </a:p>
        </p:txBody>
      </p:sp>
      <p:sp>
        <p:nvSpPr>
          <p:cNvPr id="23" name="矩形 22"/>
          <p:cNvSpPr/>
          <p:nvPr/>
        </p:nvSpPr>
        <p:spPr>
          <a:xfrm>
            <a:off x="2956566" y="791588"/>
            <a:ext cx="780161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第一节</a:t>
            </a:r>
            <a:r>
              <a:rPr lang="en-US" altLang="zh-CN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</a:t>
            </a: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刑法的概念、性质与渊源</a:t>
            </a: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395" y="2381250"/>
            <a:ext cx="4197985" cy="2506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056980" y="1767740"/>
            <a:ext cx="7248512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）广义刑法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广义刑法是指一切规定犯罪、刑事责任和刑罚的法律规范的总和。它主要包括刑法典、单行刑法与附属刑法。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）狭义刑法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     狭义刑法是指刑法典。</a:t>
            </a: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03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（一）刑法的概念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937775" y="103666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一、刑法的概念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92870" y="2257960"/>
            <a:ext cx="7248512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刑法的阶级性质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 产生和发展范畴的历史性、统治阶级的意志和利益的体现、由国家的阶级本质决定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刑法的法律性质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 内容的特定性、所保护社会关系范围的广泛性、强制方法的严厉性、谦抑性。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03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（二）刑法的性质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二、刑法的性质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257960"/>
            <a:ext cx="724851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刑法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典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（含十二个刑法修正案）</a:t>
            </a:r>
            <a:endParaRPr lang="zh-CN" altLang="en-US" sz="1400" b="1" dirty="0" smtClean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单行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（刑法修正案已成为刑法完善的常态）</a:t>
            </a:r>
            <a:endParaRPr lang="zh-CN" altLang="en-US" sz="1400" b="1" dirty="0" smtClean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附属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刑法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（不能规定独立的罪名和法定刑）</a:t>
            </a:r>
            <a:endParaRPr lang="zh-CN" altLang="en-US" sz="1400" b="1" dirty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08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（三）刑法的渊源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0154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三、刑法渊源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xão reta 34"/>
          <p:cNvCxnSpPr/>
          <p:nvPr/>
        </p:nvCxnSpPr>
        <p:spPr>
          <a:xfrm>
            <a:off x="0" y="2344738"/>
            <a:ext cx="5183859" cy="0"/>
          </a:xfrm>
          <a:prstGeom prst="line">
            <a:avLst/>
          </a:prstGeom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23"/>
          <p:cNvSpPr/>
          <p:nvPr/>
        </p:nvSpPr>
        <p:spPr>
          <a:xfrm rot="16200000">
            <a:off x="7844757" y="-279733"/>
            <a:ext cx="122920" cy="5444715"/>
          </a:xfrm>
          <a:prstGeom prst="rect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PA_文本框 3"/>
          <p:cNvSpPr txBox="1"/>
          <p:nvPr>
            <p:custDataLst>
              <p:tags r:id="rId1"/>
            </p:custDataLst>
          </p:nvPr>
        </p:nvSpPr>
        <p:spPr>
          <a:xfrm>
            <a:off x="5183859" y="2897002"/>
            <a:ext cx="557415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一、刑法的指导思想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二、刑法的根据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三、刑法的任务</a:t>
            </a:r>
          </a:p>
        </p:txBody>
      </p:sp>
      <p:sp>
        <p:nvSpPr>
          <p:cNvPr id="23" name="矩形 22"/>
          <p:cNvSpPr/>
          <p:nvPr/>
        </p:nvSpPr>
        <p:spPr>
          <a:xfrm>
            <a:off x="1809756" y="808733"/>
            <a:ext cx="88188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第二节</a:t>
            </a:r>
            <a:r>
              <a:rPr lang="en-US" altLang="zh-CN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</a:t>
            </a: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刑法的指导思想、根据和任务</a:t>
            </a: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395" y="2381250"/>
            <a:ext cx="4197985" cy="2506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065870" y="2217955"/>
            <a:ext cx="724851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◎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的指导思想是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指掌握了国家政权的统治阶级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用以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指导刑事立法和司法活动的思想理论体系。</a:t>
            </a:r>
          </a:p>
          <a:p>
            <a:pPr lvl="0">
              <a:lnSpc>
                <a:spcPct val="15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我国刑法的立法、司法与理论研究必须以马列主义、毛泽东思想和中国特色社会主义理论体系为指导，深入贯彻习近平法治思想。</a:t>
            </a: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L 形 19"/>
          <p:cNvSpPr/>
          <p:nvPr/>
        </p:nvSpPr>
        <p:spPr>
          <a:xfrm>
            <a:off x="760730" y="3235325"/>
            <a:ext cx="3177540" cy="1673860"/>
          </a:xfrm>
          <a:prstGeom prst="corner">
            <a:avLst>
              <a:gd name="adj1" fmla="val 8139"/>
              <a:gd name="adj2" fmla="val 15993"/>
            </a:avLst>
          </a:prstGeom>
          <a:solidFill>
            <a:srgbClr val="BFBFBF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77875" y="3095625"/>
            <a:ext cx="3288030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ctr">
              <a:lnSpc>
                <a:spcPct val="150000"/>
              </a:lnSpc>
            </a:pPr>
            <a:r>
              <a:rPr lang="zh-CN" altLang="en-US" sz="2200" b="1" dirty="0">
                <a:solidFill>
                  <a:srgbClr val="D9793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</a:rPr>
              <a:t>（一）刑法的指导思想</a:t>
            </a:r>
          </a:p>
        </p:txBody>
      </p:sp>
      <p:sp>
        <p:nvSpPr>
          <p:cNvPr id="3" name="矩形 2"/>
          <p:cNvSpPr/>
          <p:nvPr/>
        </p:nvSpPr>
        <p:spPr>
          <a:xfrm>
            <a:off x="4121785" y="1232535"/>
            <a:ext cx="35858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一、刑法的指导思想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603715" y="2410360"/>
            <a:ext cx="7248512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法律根据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★宪法序言或条文中全局性、方向性和根本性的规定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★宪法条文中保护性、义务性和禁止性的规定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★刑法的制定不得违背宪法的规定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实践根据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★我国在同犯罪作斗争中积累的非常丰富的经验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★我国的实际情况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基本国情、治安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情况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（增设终身监禁）</a:t>
            </a:r>
            <a:endParaRPr lang="en-US" altLang="zh-CN" sz="1400" b="1" dirty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09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（二）刑法的根据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二、刑法的根据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603715" y="2770405"/>
            <a:ext cx="724851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★保卫国家安全，保卫人民民主专政的政权和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社会主义制度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（国家法益） </a:t>
            </a:r>
            <a:endParaRPr lang="zh-CN" altLang="en-US" sz="1400" b="1" dirty="0" smtClean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★保护社会主义经济基础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★保护公民的人身权利、民主权利和其他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权利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（个人法益）</a:t>
            </a:r>
            <a:endParaRPr lang="zh-CN" altLang="en-US" sz="1400" b="1" dirty="0" smtClean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★维护社会秩序、经济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秩序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（社会法益）</a:t>
            </a:r>
            <a:endParaRPr lang="zh-CN" altLang="en-US" sz="1400" b="1" dirty="0" smtClean="0">
              <a:solidFill>
                <a:srgbClr val="0288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19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（三）刑法的任务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三、刑法的任务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xão reta 34"/>
          <p:cNvCxnSpPr/>
          <p:nvPr/>
        </p:nvCxnSpPr>
        <p:spPr>
          <a:xfrm>
            <a:off x="0" y="2344738"/>
            <a:ext cx="5183859" cy="0"/>
          </a:xfrm>
          <a:prstGeom prst="line">
            <a:avLst/>
          </a:prstGeom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23"/>
          <p:cNvSpPr/>
          <p:nvPr/>
        </p:nvSpPr>
        <p:spPr>
          <a:xfrm rot="16200000">
            <a:off x="7844757" y="-279733"/>
            <a:ext cx="122920" cy="5444715"/>
          </a:xfrm>
          <a:prstGeom prst="rect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PA_文本框 3"/>
          <p:cNvSpPr txBox="1"/>
          <p:nvPr>
            <p:custDataLst>
              <p:tags r:id="rId1"/>
            </p:custDataLst>
          </p:nvPr>
        </p:nvSpPr>
        <p:spPr>
          <a:xfrm>
            <a:off x="5183859" y="3127507"/>
            <a:ext cx="557415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一、中华人民共和国刑法的创制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二、中华人民共和国刑法的完善</a:t>
            </a:r>
          </a:p>
        </p:txBody>
      </p:sp>
      <p:sp>
        <p:nvSpPr>
          <p:cNvPr id="23" name="矩形 22"/>
          <p:cNvSpPr/>
          <p:nvPr/>
        </p:nvSpPr>
        <p:spPr>
          <a:xfrm>
            <a:off x="3270256" y="757933"/>
            <a:ext cx="627570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第三节</a:t>
            </a:r>
            <a:r>
              <a:rPr lang="en-US" altLang="zh-CN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</a:t>
            </a: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刑法的沿革与发展</a:t>
            </a: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395" y="2381250"/>
            <a:ext cx="4197985" cy="2506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382735" y="2356385"/>
            <a:ext cx="724851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1979年7月1日，《中华人民共和国刑法》在第五届全国人民代表大会第二次会议上获得一致通过。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我国第一部系统的刑法典正式诞生，我国刑事法制也从此步入了一个新的阶段。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15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（一）刑法的创制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44589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一、中华人民共和国刑法的创制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1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078703" y="2218366"/>
            <a:ext cx="7248512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 刑法的局部修改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主要通过单行刑法和附属刑法来实现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 刑法的全面修订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——1997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年《刑法》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 刑法的适时修正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20余年时间进行了多次修正</a:t>
            </a: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177303" cy="1813324"/>
            <a:chOff x="760461" y="3095936"/>
            <a:chExt cx="3177303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058003" y="3095936"/>
              <a:ext cx="2727960" cy="5988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（二）刑法的完善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44589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二、中华人民共和国刑法的完善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1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xão reta 34"/>
          <p:cNvCxnSpPr/>
          <p:nvPr/>
        </p:nvCxnSpPr>
        <p:spPr>
          <a:xfrm>
            <a:off x="0" y="2344738"/>
            <a:ext cx="5183859" cy="0"/>
          </a:xfrm>
          <a:prstGeom prst="line">
            <a:avLst/>
          </a:prstGeom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23"/>
          <p:cNvSpPr/>
          <p:nvPr/>
        </p:nvSpPr>
        <p:spPr>
          <a:xfrm rot="16200000">
            <a:off x="7844757" y="-279733"/>
            <a:ext cx="122920" cy="5444715"/>
          </a:xfrm>
          <a:prstGeom prst="rect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/>
          </a:p>
        </p:txBody>
      </p:sp>
      <p:sp>
        <p:nvSpPr>
          <p:cNvPr id="19" name="PA_文本框 3"/>
          <p:cNvSpPr txBox="1"/>
          <p:nvPr>
            <p:custDataLst>
              <p:tags r:id="rId1"/>
            </p:custDataLst>
          </p:nvPr>
        </p:nvSpPr>
        <p:spPr>
          <a:xfrm>
            <a:off x="5119089" y="3127507"/>
            <a:ext cx="557415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一、刑法的体系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二、刑法的解释</a:t>
            </a:r>
          </a:p>
        </p:txBody>
      </p:sp>
      <p:sp>
        <p:nvSpPr>
          <p:cNvPr id="23" name="矩形 22"/>
          <p:cNvSpPr/>
          <p:nvPr/>
        </p:nvSpPr>
        <p:spPr>
          <a:xfrm>
            <a:off x="3270256" y="757933"/>
            <a:ext cx="627570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第四节</a:t>
            </a:r>
            <a:r>
              <a:rPr lang="en-US" altLang="zh-CN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</a:t>
            </a:r>
            <a:r>
              <a:rPr lang="zh-CN" altLang="en-US" sz="4000" b="1" dirty="0" smtClean="0">
                <a:solidFill>
                  <a:srgbClr val="D9793F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刑法的体系与解释</a:t>
            </a: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395" y="2381250"/>
            <a:ext cx="4197985" cy="2506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229385"/>
            <a:ext cx="724851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★总则 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★分则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★附则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★总则与分则的关系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一般与特殊、抽象与具体。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（一）编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1989355"/>
            <a:ext cx="7248512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★总则 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——设5章，即刑法的任务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基本原则和适用范围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犯罪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刑罚，刑罚的具体运用，其他规定。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★分则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设10章，即危害国家安全罪，危害公共安全罪，破坏社会主义市场经济秩序罪，侵犯公民人身权利、民主权利罪，侵犯财产罪，妨害社会管理秩序罪，危害国防利益罪，贪污贿赂罪，渎职罪，军人违反职责罪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（二）章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295425"/>
            <a:ext cx="7248512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节是刑法总则和分则的某些章根据需要而设的单位，反映某章内部的有机联系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总则部分，除第一章和第五章外，其余各章下均设若干节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分则部分，大多数章下不设节，仅第三章“破坏社会主义市场经济秩序罪”和第六章“妨害社会管理秩序罪”因涉及的具体犯罪众多、内容庞杂而分设了若干节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（三）节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295425"/>
            <a:ext cx="7248512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★“条”是表达刑法规范的基本单位。刑法规范通常都是以条文形式出现的，因而条是刑法规范的基本构成元素。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刑法中有的条文在同一款中只表达一个意思，有的条文在同一款里包含两个或两个以上意思。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（四）条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628165"/>
            <a:ext cx="724851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★“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款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是设于某些条之下的单位。有些条文表达的内容比较简单，没有必要设款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但有些条文要表达的内容比较丰富，有若干层意思，需要分为若干款。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（五）款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529105"/>
            <a:ext cx="724851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★条与款之下还有项，项是某些条或款之下设立的单位。</a:t>
            </a: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095936"/>
            <a:ext cx="3361055" cy="1813324"/>
            <a:chOff x="760461" y="3095936"/>
            <a:chExt cx="3361055" cy="1813324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97976" y="3095936"/>
              <a:ext cx="2923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（六）项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9304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一、刑法的体系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279" y="2266123"/>
            <a:ext cx="7248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刑法条文的抽象性 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刑法条文的稳定性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刑法条文的含糊性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129591"/>
            <a:ext cx="3361055" cy="1779669"/>
            <a:chOff x="760461" y="3129591"/>
            <a:chExt cx="3361055" cy="1779669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943976" y="3129591"/>
              <a:ext cx="3177540" cy="598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（一）解释的必要性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二、刑法的解释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353845"/>
            <a:ext cx="7248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立法解释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由立法机关对刑法的含义所作的解释，包括以条文的形式、以起草说明与修订说明的形式以及全国人大常委会做的解释。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司法解释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由司法机关对刑法的含义所作的解释。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学理解释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由专家、学者从学理上对刑法含义所作的解释，如刑法教科书、专著、论文、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案例分析中对刑法规范的含义所作的解释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（冒充军警人员抢劫）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129591"/>
            <a:ext cx="3361055" cy="1779669"/>
            <a:chOff x="760461" y="3129591"/>
            <a:chExt cx="3361055" cy="1779669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943976" y="3129591"/>
              <a:ext cx="3177540" cy="1106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（二）立法解释、司法解释和学理解释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二、刑法的解释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2353845"/>
            <a:ext cx="7248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扩张解释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根据立法原意，对刑法条文所作的超过字面意思的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解释</a:t>
            </a:r>
            <a:r>
              <a:rPr lang="zh-CN" altLang="en-US" sz="1400" b="1" dirty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（审判的时候怀孕的妇女）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限制解释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根据立法原意，对刑法条文所作的狭于字面意思的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解释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（入户抢劫）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当然解释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——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刑法条文虽没有明确规定，但已包含在法律条文的含义中，依据理所当然的方式，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对刑法条文所作的解释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（特殊防卫）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129591"/>
            <a:ext cx="3361055" cy="1779669"/>
            <a:chOff x="760461" y="3129591"/>
            <a:chExt cx="3361055" cy="1779669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943976" y="3129591"/>
              <a:ext cx="3177540" cy="1106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（三）扩张解释、限制解释和当然解释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123224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二、刑法的解释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3"/>
          <p:cNvSpPr txBox="1"/>
          <p:nvPr>
            <p:custDataLst>
              <p:tags r:id="rId1"/>
            </p:custDataLst>
          </p:nvPr>
        </p:nvSpPr>
        <p:spPr>
          <a:xfrm>
            <a:off x="4121750" y="1989355"/>
            <a:ext cx="7248512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1.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文义解释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对刑法条文的字义，包括词语、概念、术语，从文理上所作的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解释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（组织卖淫罪）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体系解释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将待解释的刑法条文置于整个刑法规范体系中，基于该条文本身所处语境以及与其他条文之间的相互联系，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确定其含义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（强制猥亵罪）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历史解释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根据刑法条文制定的历史背景及其发展演变的情况，阐明条文含义的解释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方法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（虚报注册资本罪）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4.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目的解释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根据刑法规范目的或者刑法规范所要实现的宗旨，阐明刑法条文实质含义的具体解释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方法</a:t>
            </a:r>
            <a:r>
              <a:rPr lang="zh-CN" altLang="en-US" sz="1400" b="1" dirty="0" smtClean="0">
                <a:solidFill>
                  <a:srgbClr val="0288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（非法经营罪）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2315879" y="948160"/>
            <a:ext cx="1039187" cy="1039187"/>
          </a:xfrm>
          <a:prstGeom prst="diamond">
            <a:avLst/>
          </a:prstGeom>
          <a:solidFill>
            <a:srgbClr val="D97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菱形 7"/>
          <p:cNvSpPr/>
          <p:nvPr/>
        </p:nvSpPr>
        <p:spPr>
          <a:xfrm>
            <a:off x="1549020" y="936415"/>
            <a:ext cx="1053326" cy="1053325"/>
          </a:xfrm>
          <a:prstGeom prst="diamond">
            <a:avLst/>
          </a:prstGeom>
          <a:noFill/>
          <a:ln>
            <a:solidFill>
              <a:srgbClr val="D97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60461" y="3129591"/>
            <a:ext cx="3361055" cy="1779669"/>
            <a:chOff x="760461" y="3129591"/>
            <a:chExt cx="3361055" cy="1779669"/>
          </a:xfrm>
        </p:grpSpPr>
        <p:sp>
          <p:nvSpPr>
            <p:cNvPr id="20" name="L 形 19"/>
            <p:cNvSpPr/>
            <p:nvPr/>
          </p:nvSpPr>
          <p:spPr>
            <a:xfrm>
              <a:off x="760461" y="3235128"/>
              <a:ext cx="3177303" cy="1674132"/>
            </a:xfrm>
            <a:prstGeom prst="corner">
              <a:avLst>
                <a:gd name="adj1" fmla="val 8139"/>
                <a:gd name="adj2" fmla="val 15993"/>
              </a:avLst>
            </a:prstGeom>
            <a:solidFill>
              <a:srgbClr val="BFBFB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943976" y="3129591"/>
              <a:ext cx="3177540" cy="1614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04800" algn="ctr">
                <a:lnSpc>
                  <a:spcPct val="150000"/>
                </a:lnSpc>
              </a:pPr>
              <a:r>
                <a:rPr lang="zh-CN" altLang="en-US" sz="2200" b="1" dirty="0">
                  <a:solidFill>
                    <a:srgbClr val="D9793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宋体" panose="02010600030101010101" pitchFamily="2" charset="-122"/>
                </a:rPr>
                <a:t>（四）文义解释、体系解释、目的解释和历史解释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121925" y="947764"/>
            <a:ext cx="23209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二、刑法的解释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9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ldLvl="0" animBg="1"/>
      <p:bldP spid="8" grpId="0" bldLvl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dea_301807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1077900" y="1081362"/>
            <a:ext cx="529201" cy="609685"/>
          </a:xfrm>
          <a:custGeom>
            <a:avLst/>
            <a:gdLst>
              <a:gd name="connsiteX0" fmla="*/ 139184 w 526630"/>
              <a:gd name="connsiteY0" fmla="*/ 367044 h 606722"/>
              <a:gd name="connsiteX1" fmla="*/ 90404 w 526630"/>
              <a:gd name="connsiteY1" fmla="*/ 401702 h 606722"/>
              <a:gd name="connsiteX2" fmla="*/ 65124 w 526630"/>
              <a:gd name="connsiteY2" fmla="*/ 472708 h 606722"/>
              <a:gd name="connsiteX3" fmla="*/ 65124 w 526630"/>
              <a:gd name="connsiteY3" fmla="*/ 570641 h 606722"/>
              <a:gd name="connsiteX4" fmla="*/ 159034 w 526630"/>
              <a:gd name="connsiteY4" fmla="*/ 570641 h 606722"/>
              <a:gd name="connsiteX5" fmla="*/ 155563 w 526630"/>
              <a:gd name="connsiteY5" fmla="*/ 551535 h 606722"/>
              <a:gd name="connsiteX6" fmla="*/ 159034 w 526630"/>
              <a:gd name="connsiteY6" fmla="*/ 532428 h 606722"/>
              <a:gd name="connsiteX7" fmla="*/ 107495 w 526630"/>
              <a:gd name="connsiteY7" fmla="*/ 532428 h 606722"/>
              <a:gd name="connsiteX8" fmla="*/ 107495 w 526630"/>
              <a:gd name="connsiteY8" fmla="*/ 462311 h 606722"/>
              <a:gd name="connsiteX9" fmla="*/ 143546 w 526630"/>
              <a:gd name="connsiteY9" fmla="*/ 462311 h 606722"/>
              <a:gd name="connsiteX10" fmla="*/ 143546 w 526630"/>
              <a:gd name="connsiteY10" fmla="*/ 496347 h 606722"/>
              <a:gd name="connsiteX11" fmla="*/ 210841 w 526630"/>
              <a:gd name="connsiteY11" fmla="*/ 496347 h 606722"/>
              <a:gd name="connsiteX12" fmla="*/ 383084 w 526630"/>
              <a:gd name="connsiteY12" fmla="*/ 496347 h 606722"/>
              <a:gd name="connsiteX13" fmla="*/ 383084 w 526630"/>
              <a:gd name="connsiteY13" fmla="*/ 462311 h 606722"/>
              <a:gd name="connsiteX14" fmla="*/ 419135 w 526630"/>
              <a:gd name="connsiteY14" fmla="*/ 462311 h 606722"/>
              <a:gd name="connsiteX15" fmla="*/ 419135 w 526630"/>
              <a:gd name="connsiteY15" fmla="*/ 532428 h 606722"/>
              <a:gd name="connsiteX16" fmla="*/ 210841 w 526630"/>
              <a:gd name="connsiteY16" fmla="*/ 532428 h 606722"/>
              <a:gd name="connsiteX17" fmla="*/ 191703 w 526630"/>
              <a:gd name="connsiteY17" fmla="*/ 551535 h 606722"/>
              <a:gd name="connsiteX18" fmla="*/ 210841 w 526630"/>
              <a:gd name="connsiteY18" fmla="*/ 570641 h 606722"/>
              <a:gd name="connsiteX19" fmla="*/ 461417 w 526630"/>
              <a:gd name="connsiteY19" fmla="*/ 570641 h 606722"/>
              <a:gd name="connsiteX20" fmla="*/ 461506 w 526630"/>
              <a:gd name="connsiteY20" fmla="*/ 570641 h 606722"/>
              <a:gd name="connsiteX21" fmla="*/ 461506 w 526630"/>
              <a:gd name="connsiteY21" fmla="*/ 472708 h 606722"/>
              <a:gd name="connsiteX22" fmla="*/ 436137 w 526630"/>
              <a:gd name="connsiteY22" fmla="*/ 401702 h 606722"/>
              <a:gd name="connsiteX23" fmla="*/ 387357 w 526630"/>
              <a:gd name="connsiteY23" fmla="*/ 367044 h 606722"/>
              <a:gd name="connsiteX24" fmla="*/ 294693 w 526630"/>
              <a:gd name="connsiteY24" fmla="*/ 441516 h 606722"/>
              <a:gd name="connsiteX25" fmla="*/ 294159 w 526630"/>
              <a:gd name="connsiteY25" fmla="*/ 441604 h 606722"/>
              <a:gd name="connsiteX26" fmla="*/ 291399 w 526630"/>
              <a:gd name="connsiteY26" fmla="*/ 442226 h 606722"/>
              <a:gd name="connsiteX27" fmla="*/ 289797 w 526630"/>
              <a:gd name="connsiteY27" fmla="*/ 442582 h 606722"/>
              <a:gd name="connsiteX28" fmla="*/ 286770 w 526630"/>
              <a:gd name="connsiteY28" fmla="*/ 443115 h 606722"/>
              <a:gd name="connsiteX29" fmla="*/ 283744 w 526630"/>
              <a:gd name="connsiteY29" fmla="*/ 443560 h 606722"/>
              <a:gd name="connsiteX30" fmla="*/ 282053 w 526630"/>
              <a:gd name="connsiteY30" fmla="*/ 443826 h 606722"/>
              <a:gd name="connsiteX31" fmla="*/ 279204 w 526630"/>
              <a:gd name="connsiteY31" fmla="*/ 444182 h 606722"/>
              <a:gd name="connsiteX32" fmla="*/ 277780 w 526630"/>
              <a:gd name="connsiteY32" fmla="*/ 444359 h 606722"/>
              <a:gd name="connsiteX33" fmla="*/ 273596 w 526630"/>
              <a:gd name="connsiteY33" fmla="*/ 444715 h 606722"/>
              <a:gd name="connsiteX34" fmla="*/ 272528 w 526630"/>
              <a:gd name="connsiteY34" fmla="*/ 444804 h 606722"/>
              <a:gd name="connsiteX35" fmla="*/ 269056 w 526630"/>
              <a:gd name="connsiteY35" fmla="*/ 444981 h 606722"/>
              <a:gd name="connsiteX36" fmla="*/ 267810 w 526630"/>
              <a:gd name="connsiteY36" fmla="*/ 445070 h 606722"/>
              <a:gd name="connsiteX37" fmla="*/ 263271 w 526630"/>
              <a:gd name="connsiteY37" fmla="*/ 445159 h 606722"/>
              <a:gd name="connsiteX38" fmla="*/ 258820 w 526630"/>
              <a:gd name="connsiteY38" fmla="*/ 445070 h 606722"/>
              <a:gd name="connsiteX39" fmla="*/ 257574 w 526630"/>
              <a:gd name="connsiteY39" fmla="*/ 444981 h 606722"/>
              <a:gd name="connsiteX40" fmla="*/ 254013 w 526630"/>
              <a:gd name="connsiteY40" fmla="*/ 444804 h 606722"/>
              <a:gd name="connsiteX41" fmla="*/ 253034 w 526630"/>
              <a:gd name="connsiteY41" fmla="*/ 444715 h 606722"/>
              <a:gd name="connsiteX42" fmla="*/ 248850 w 526630"/>
              <a:gd name="connsiteY42" fmla="*/ 444359 h 606722"/>
              <a:gd name="connsiteX43" fmla="*/ 247426 w 526630"/>
              <a:gd name="connsiteY43" fmla="*/ 444182 h 606722"/>
              <a:gd name="connsiteX44" fmla="*/ 244577 w 526630"/>
              <a:gd name="connsiteY44" fmla="*/ 443826 h 606722"/>
              <a:gd name="connsiteX45" fmla="*/ 242797 w 526630"/>
              <a:gd name="connsiteY45" fmla="*/ 443560 h 606722"/>
              <a:gd name="connsiteX46" fmla="*/ 239860 w 526630"/>
              <a:gd name="connsiteY46" fmla="*/ 443115 h 606722"/>
              <a:gd name="connsiteX47" fmla="*/ 236833 w 526630"/>
              <a:gd name="connsiteY47" fmla="*/ 442582 h 606722"/>
              <a:gd name="connsiteX48" fmla="*/ 235231 w 526630"/>
              <a:gd name="connsiteY48" fmla="*/ 442226 h 606722"/>
              <a:gd name="connsiteX49" fmla="*/ 232471 w 526630"/>
              <a:gd name="connsiteY49" fmla="*/ 441604 h 606722"/>
              <a:gd name="connsiteX50" fmla="*/ 231937 w 526630"/>
              <a:gd name="connsiteY50" fmla="*/ 441516 h 606722"/>
              <a:gd name="connsiteX51" fmla="*/ 139184 w 526630"/>
              <a:gd name="connsiteY51" fmla="*/ 367044 h 606722"/>
              <a:gd name="connsiteX52" fmla="*/ 439552 w 526630"/>
              <a:gd name="connsiteY52" fmla="*/ 244933 h 606722"/>
              <a:gd name="connsiteX53" fmla="*/ 526630 w 526630"/>
              <a:gd name="connsiteY53" fmla="*/ 244933 h 606722"/>
              <a:gd name="connsiteX54" fmla="*/ 526630 w 526630"/>
              <a:gd name="connsiteY54" fmla="*/ 280921 h 606722"/>
              <a:gd name="connsiteX55" fmla="*/ 439552 w 526630"/>
              <a:gd name="connsiteY55" fmla="*/ 280921 h 606722"/>
              <a:gd name="connsiteX56" fmla="*/ 0 w 526630"/>
              <a:gd name="connsiteY56" fmla="*/ 244933 h 606722"/>
              <a:gd name="connsiteX57" fmla="*/ 87007 w 526630"/>
              <a:gd name="connsiteY57" fmla="*/ 244933 h 606722"/>
              <a:gd name="connsiteX58" fmla="*/ 87007 w 526630"/>
              <a:gd name="connsiteY58" fmla="*/ 280921 h 606722"/>
              <a:gd name="connsiteX59" fmla="*/ 0 w 526630"/>
              <a:gd name="connsiteY59" fmla="*/ 280921 h 606722"/>
              <a:gd name="connsiteX60" fmla="*/ 170161 w 526630"/>
              <a:gd name="connsiteY60" fmla="*/ 223166 h 606722"/>
              <a:gd name="connsiteX61" fmla="*/ 161972 w 526630"/>
              <a:gd name="connsiteY61" fmla="*/ 262890 h 606722"/>
              <a:gd name="connsiteX62" fmla="*/ 161972 w 526630"/>
              <a:gd name="connsiteY62" fmla="*/ 307857 h 606722"/>
              <a:gd name="connsiteX63" fmla="*/ 237901 w 526630"/>
              <a:gd name="connsiteY63" fmla="*/ 405879 h 606722"/>
              <a:gd name="connsiteX64" fmla="*/ 238079 w 526630"/>
              <a:gd name="connsiteY64" fmla="*/ 405879 h 606722"/>
              <a:gd name="connsiteX65" fmla="*/ 247693 w 526630"/>
              <a:gd name="connsiteY65" fmla="*/ 407834 h 606722"/>
              <a:gd name="connsiteX66" fmla="*/ 248494 w 526630"/>
              <a:gd name="connsiteY66" fmla="*/ 408012 h 606722"/>
              <a:gd name="connsiteX67" fmla="*/ 252322 w 526630"/>
              <a:gd name="connsiteY67" fmla="*/ 408456 h 606722"/>
              <a:gd name="connsiteX68" fmla="*/ 253746 w 526630"/>
              <a:gd name="connsiteY68" fmla="*/ 408634 h 606722"/>
              <a:gd name="connsiteX69" fmla="*/ 257128 w 526630"/>
              <a:gd name="connsiteY69" fmla="*/ 408901 h 606722"/>
              <a:gd name="connsiteX70" fmla="*/ 258553 w 526630"/>
              <a:gd name="connsiteY70" fmla="*/ 408990 h 606722"/>
              <a:gd name="connsiteX71" fmla="*/ 263271 w 526630"/>
              <a:gd name="connsiteY71" fmla="*/ 409079 h 606722"/>
              <a:gd name="connsiteX72" fmla="*/ 268077 w 526630"/>
              <a:gd name="connsiteY72" fmla="*/ 408990 h 606722"/>
              <a:gd name="connsiteX73" fmla="*/ 269502 w 526630"/>
              <a:gd name="connsiteY73" fmla="*/ 408901 h 606722"/>
              <a:gd name="connsiteX74" fmla="*/ 272884 w 526630"/>
              <a:gd name="connsiteY74" fmla="*/ 408634 h 606722"/>
              <a:gd name="connsiteX75" fmla="*/ 274308 w 526630"/>
              <a:gd name="connsiteY75" fmla="*/ 408456 h 606722"/>
              <a:gd name="connsiteX76" fmla="*/ 278136 w 526630"/>
              <a:gd name="connsiteY76" fmla="*/ 408012 h 606722"/>
              <a:gd name="connsiteX77" fmla="*/ 278937 w 526630"/>
              <a:gd name="connsiteY77" fmla="*/ 407834 h 606722"/>
              <a:gd name="connsiteX78" fmla="*/ 288551 w 526630"/>
              <a:gd name="connsiteY78" fmla="*/ 405879 h 606722"/>
              <a:gd name="connsiteX79" fmla="*/ 288640 w 526630"/>
              <a:gd name="connsiteY79" fmla="*/ 405879 h 606722"/>
              <a:gd name="connsiteX80" fmla="*/ 364658 w 526630"/>
              <a:gd name="connsiteY80" fmla="*/ 307857 h 606722"/>
              <a:gd name="connsiteX81" fmla="*/ 364658 w 526630"/>
              <a:gd name="connsiteY81" fmla="*/ 262890 h 606722"/>
              <a:gd name="connsiteX82" fmla="*/ 356469 w 526630"/>
              <a:gd name="connsiteY82" fmla="*/ 223166 h 606722"/>
              <a:gd name="connsiteX83" fmla="*/ 263271 w 526630"/>
              <a:gd name="connsiteY83" fmla="*/ 258180 h 606722"/>
              <a:gd name="connsiteX84" fmla="*/ 170161 w 526630"/>
              <a:gd name="connsiteY84" fmla="*/ 223166 h 606722"/>
              <a:gd name="connsiteX85" fmla="*/ 263271 w 526630"/>
              <a:gd name="connsiteY85" fmla="*/ 161758 h 606722"/>
              <a:gd name="connsiteX86" fmla="*/ 190368 w 526630"/>
              <a:gd name="connsiteY86" fmla="*/ 192773 h 606722"/>
              <a:gd name="connsiteX87" fmla="*/ 263271 w 526630"/>
              <a:gd name="connsiteY87" fmla="*/ 222099 h 606722"/>
              <a:gd name="connsiteX88" fmla="*/ 336263 w 526630"/>
              <a:gd name="connsiteY88" fmla="*/ 192773 h 606722"/>
              <a:gd name="connsiteX89" fmla="*/ 263271 w 526630"/>
              <a:gd name="connsiteY89" fmla="*/ 161758 h 606722"/>
              <a:gd name="connsiteX90" fmla="*/ 263271 w 526630"/>
              <a:gd name="connsiteY90" fmla="*/ 125677 h 606722"/>
              <a:gd name="connsiteX91" fmla="*/ 400798 w 526630"/>
              <a:gd name="connsiteY91" fmla="*/ 262890 h 606722"/>
              <a:gd name="connsiteX92" fmla="*/ 400798 w 526630"/>
              <a:gd name="connsiteY92" fmla="*/ 307857 h 606722"/>
              <a:gd name="connsiteX93" fmla="*/ 398484 w 526630"/>
              <a:gd name="connsiteY93" fmla="*/ 332652 h 606722"/>
              <a:gd name="connsiteX94" fmla="*/ 464177 w 526630"/>
              <a:gd name="connsiteY94" fmla="*/ 378863 h 606722"/>
              <a:gd name="connsiteX95" fmla="*/ 497557 w 526630"/>
              <a:gd name="connsiteY95" fmla="*/ 472708 h 606722"/>
              <a:gd name="connsiteX96" fmla="*/ 497557 w 526630"/>
              <a:gd name="connsiteY96" fmla="*/ 606722 h 606722"/>
              <a:gd name="connsiteX97" fmla="*/ 29073 w 526630"/>
              <a:gd name="connsiteY97" fmla="*/ 606722 h 606722"/>
              <a:gd name="connsiteX98" fmla="*/ 29073 w 526630"/>
              <a:gd name="connsiteY98" fmla="*/ 472708 h 606722"/>
              <a:gd name="connsiteX99" fmla="*/ 62453 w 526630"/>
              <a:gd name="connsiteY99" fmla="*/ 378863 h 606722"/>
              <a:gd name="connsiteX100" fmla="*/ 128057 w 526630"/>
              <a:gd name="connsiteY100" fmla="*/ 332652 h 606722"/>
              <a:gd name="connsiteX101" fmla="*/ 125832 w 526630"/>
              <a:gd name="connsiteY101" fmla="*/ 307857 h 606722"/>
              <a:gd name="connsiteX102" fmla="*/ 125832 w 526630"/>
              <a:gd name="connsiteY102" fmla="*/ 262890 h 606722"/>
              <a:gd name="connsiteX103" fmla="*/ 263271 w 526630"/>
              <a:gd name="connsiteY103" fmla="*/ 125677 h 606722"/>
              <a:gd name="connsiteX104" fmla="*/ 436739 w 526630"/>
              <a:gd name="connsiteY104" fmla="*/ 64285 h 606722"/>
              <a:gd name="connsiteX105" fmla="*/ 462204 w 526630"/>
              <a:gd name="connsiteY105" fmla="*/ 89776 h 606722"/>
              <a:gd name="connsiteX106" fmla="*/ 400680 w 526630"/>
              <a:gd name="connsiteY106" fmla="*/ 151151 h 606722"/>
              <a:gd name="connsiteX107" fmla="*/ 375126 w 526630"/>
              <a:gd name="connsiteY107" fmla="*/ 125660 h 606722"/>
              <a:gd name="connsiteX108" fmla="*/ 89889 w 526630"/>
              <a:gd name="connsiteY108" fmla="*/ 64285 h 606722"/>
              <a:gd name="connsiteX109" fmla="*/ 151363 w 526630"/>
              <a:gd name="connsiteY109" fmla="*/ 125660 h 606722"/>
              <a:gd name="connsiteX110" fmla="*/ 125830 w 526630"/>
              <a:gd name="connsiteY110" fmla="*/ 151151 h 606722"/>
              <a:gd name="connsiteX111" fmla="*/ 64356 w 526630"/>
              <a:gd name="connsiteY111" fmla="*/ 89776 h 606722"/>
              <a:gd name="connsiteX112" fmla="*/ 245286 w 526630"/>
              <a:gd name="connsiteY112" fmla="*/ 0 h 606722"/>
              <a:gd name="connsiteX113" fmla="*/ 281345 w 526630"/>
              <a:gd name="connsiteY113" fmla="*/ 0 h 606722"/>
              <a:gd name="connsiteX114" fmla="*/ 281345 w 526630"/>
              <a:gd name="connsiteY114" fmla="*/ 86937 h 606722"/>
              <a:gd name="connsiteX115" fmla="*/ 245286 w 526630"/>
              <a:gd name="connsiteY115" fmla="*/ 86937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526630" h="606722">
                <a:moveTo>
                  <a:pt x="139184" y="367044"/>
                </a:moveTo>
                <a:cubicBezTo>
                  <a:pt x="120313" y="373887"/>
                  <a:pt x="103311" y="385884"/>
                  <a:pt x="90404" y="401702"/>
                </a:cubicBezTo>
                <a:cubicBezTo>
                  <a:pt x="74114" y="421609"/>
                  <a:pt x="65124" y="446848"/>
                  <a:pt x="65124" y="472708"/>
                </a:cubicBezTo>
                <a:lnTo>
                  <a:pt x="65124" y="570641"/>
                </a:lnTo>
                <a:lnTo>
                  <a:pt x="159034" y="570641"/>
                </a:lnTo>
                <a:cubicBezTo>
                  <a:pt x="156809" y="564687"/>
                  <a:pt x="155563" y="558289"/>
                  <a:pt x="155563" y="551535"/>
                </a:cubicBezTo>
                <a:cubicBezTo>
                  <a:pt x="155563" y="544781"/>
                  <a:pt x="156809" y="538382"/>
                  <a:pt x="159034" y="532428"/>
                </a:cubicBezTo>
                <a:lnTo>
                  <a:pt x="107495" y="532428"/>
                </a:lnTo>
                <a:lnTo>
                  <a:pt x="107495" y="462311"/>
                </a:lnTo>
                <a:lnTo>
                  <a:pt x="143546" y="462311"/>
                </a:lnTo>
                <a:lnTo>
                  <a:pt x="143546" y="496347"/>
                </a:lnTo>
                <a:lnTo>
                  <a:pt x="210841" y="496347"/>
                </a:lnTo>
                <a:lnTo>
                  <a:pt x="383084" y="496347"/>
                </a:lnTo>
                <a:lnTo>
                  <a:pt x="383084" y="462311"/>
                </a:lnTo>
                <a:lnTo>
                  <a:pt x="419135" y="462311"/>
                </a:lnTo>
                <a:lnTo>
                  <a:pt x="419135" y="532428"/>
                </a:lnTo>
                <a:lnTo>
                  <a:pt x="210841" y="532428"/>
                </a:lnTo>
                <a:cubicBezTo>
                  <a:pt x="200248" y="532428"/>
                  <a:pt x="191703" y="540959"/>
                  <a:pt x="191703" y="551535"/>
                </a:cubicBezTo>
                <a:cubicBezTo>
                  <a:pt x="191703" y="562110"/>
                  <a:pt x="200248" y="570641"/>
                  <a:pt x="210841" y="570641"/>
                </a:cubicBezTo>
                <a:lnTo>
                  <a:pt x="461417" y="570641"/>
                </a:lnTo>
                <a:lnTo>
                  <a:pt x="461506" y="570641"/>
                </a:lnTo>
                <a:lnTo>
                  <a:pt x="461506" y="472708"/>
                </a:lnTo>
                <a:cubicBezTo>
                  <a:pt x="461506" y="446848"/>
                  <a:pt x="452516" y="421609"/>
                  <a:pt x="436137" y="401702"/>
                </a:cubicBezTo>
                <a:cubicBezTo>
                  <a:pt x="423319" y="385884"/>
                  <a:pt x="406317" y="373887"/>
                  <a:pt x="387357" y="367044"/>
                </a:cubicBezTo>
                <a:cubicBezTo>
                  <a:pt x="369376" y="404902"/>
                  <a:pt x="335105" y="432095"/>
                  <a:pt x="294693" y="441516"/>
                </a:cubicBezTo>
                <a:cubicBezTo>
                  <a:pt x="294515" y="441516"/>
                  <a:pt x="294337" y="441604"/>
                  <a:pt x="294159" y="441604"/>
                </a:cubicBezTo>
                <a:cubicBezTo>
                  <a:pt x="293268" y="441871"/>
                  <a:pt x="292289" y="442049"/>
                  <a:pt x="291399" y="442226"/>
                </a:cubicBezTo>
                <a:cubicBezTo>
                  <a:pt x="290865" y="442315"/>
                  <a:pt x="290331" y="442404"/>
                  <a:pt x="289797" y="442582"/>
                </a:cubicBezTo>
                <a:cubicBezTo>
                  <a:pt x="288818" y="442760"/>
                  <a:pt x="287839" y="442937"/>
                  <a:pt x="286770" y="443115"/>
                </a:cubicBezTo>
                <a:cubicBezTo>
                  <a:pt x="285791" y="443293"/>
                  <a:pt x="284812" y="443471"/>
                  <a:pt x="283744" y="443560"/>
                </a:cubicBezTo>
                <a:cubicBezTo>
                  <a:pt x="283210" y="443648"/>
                  <a:pt x="282676" y="443737"/>
                  <a:pt x="282053" y="443826"/>
                </a:cubicBezTo>
                <a:cubicBezTo>
                  <a:pt x="281073" y="444004"/>
                  <a:pt x="280183" y="444093"/>
                  <a:pt x="279204" y="444182"/>
                </a:cubicBezTo>
                <a:cubicBezTo>
                  <a:pt x="278670" y="444270"/>
                  <a:pt x="278225" y="444270"/>
                  <a:pt x="277780" y="444359"/>
                </a:cubicBezTo>
                <a:cubicBezTo>
                  <a:pt x="276356" y="444537"/>
                  <a:pt x="274931" y="444626"/>
                  <a:pt x="273596" y="444715"/>
                </a:cubicBezTo>
                <a:cubicBezTo>
                  <a:pt x="273240" y="444804"/>
                  <a:pt x="272884" y="444804"/>
                  <a:pt x="272528" y="444804"/>
                </a:cubicBezTo>
                <a:cubicBezTo>
                  <a:pt x="271371" y="444893"/>
                  <a:pt x="270214" y="444981"/>
                  <a:pt x="269056" y="444981"/>
                </a:cubicBezTo>
                <a:cubicBezTo>
                  <a:pt x="268611" y="444981"/>
                  <a:pt x="268166" y="445070"/>
                  <a:pt x="267810" y="445070"/>
                </a:cubicBezTo>
                <a:cubicBezTo>
                  <a:pt x="266297" y="445070"/>
                  <a:pt x="264784" y="445159"/>
                  <a:pt x="263271" y="445159"/>
                </a:cubicBezTo>
                <a:cubicBezTo>
                  <a:pt x="261846" y="445159"/>
                  <a:pt x="260333" y="445070"/>
                  <a:pt x="258820" y="445070"/>
                </a:cubicBezTo>
                <a:cubicBezTo>
                  <a:pt x="258464" y="444981"/>
                  <a:pt x="258019" y="444981"/>
                  <a:pt x="257574" y="444981"/>
                </a:cubicBezTo>
                <a:cubicBezTo>
                  <a:pt x="256416" y="444981"/>
                  <a:pt x="255259" y="444893"/>
                  <a:pt x="254013" y="444804"/>
                </a:cubicBezTo>
                <a:cubicBezTo>
                  <a:pt x="253746" y="444804"/>
                  <a:pt x="253390" y="444804"/>
                  <a:pt x="253034" y="444715"/>
                </a:cubicBezTo>
                <a:cubicBezTo>
                  <a:pt x="251610" y="444626"/>
                  <a:pt x="250274" y="444537"/>
                  <a:pt x="248850" y="444359"/>
                </a:cubicBezTo>
                <a:cubicBezTo>
                  <a:pt x="248405" y="444270"/>
                  <a:pt x="247871" y="444270"/>
                  <a:pt x="247426" y="444182"/>
                </a:cubicBezTo>
                <a:cubicBezTo>
                  <a:pt x="246447" y="444093"/>
                  <a:pt x="245468" y="444004"/>
                  <a:pt x="244577" y="443826"/>
                </a:cubicBezTo>
                <a:cubicBezTo>
                  <a:pt x="243954" y="443737"/>
                  <a:pt x="243420" y="443648"/>
                  <a:pt x="242797" y="443560"/>
                </a:cubicBezTo>
                <a:cubicBezTo>
                  <a:pt x="241818" y="443471"/>
                  <a:pt x="240839" y="443293"/>
                  <a:pt x="239860" y="443115"/>
                </a:cubicBezTo>
                <a:cubicBezTo>
                  <a:pt x="238791" y="442937"/>
                  <a:pt x="237812" y="442760"/>
                  <a:pt x="236833" y="442582"/>
                </a:cubicBezTo>
                <a:cubicBezTo>
                  <a:pt x="236299" y="442404"/>
                  <a:pt x="235765" y="442315"/>
                  <a:pt x="235231" y="442226"/>
                </a:cubicBezTo>
                <a:cubicBezTo>
                  <a:pt x="234252" y="442049"/>
                  <a:pt x="233362" y="441871"/>
                  <a:pt x="232471" y="441604"/>
                </a:cubicBezTo>
                <a:cubicBezTo>
                  <a:pt x="232293" y="441604"/>
                  <a:pt x="232115" y="441516"/>
                  <a:pt x="231937" y="441516"/>
                </a:cubicBezTo>
                <a:cubicBezTo>
                  <a:pt x="191525" y="432095"/>
                  <a:pt x="157254" y="404902"/>
                  <a:pt x="139184" y="367044"/>
                </a:cubicBezTo>
                <a:close/>
                <a:moveTo>
                  <a:pt x="439552" y="244933"/>
                </a:moveTo>
                <a:lnTo>
                  <a:pt x="526630" y="244933"/>
                </a:lnTo>
                <a:lnTo>
                  <a:pt x="526630" y="280921"/>
                </a:lnTo>
                <a:lnTo>
                  <a:pt x="439552" y="280921"/>
                </a:lnTo>
                <a:close/>
                <a:moveTo>
                  <a:pt x="0" y="244933"/>
                </a:moveTo>
                <a:lnTo>
                  <a:pt x="87007" y="244933"/>
                </a:lnTo>
                <a:lnTo>
                  <a:pt x="87007" y="280921"/>
                </a:lnTo>
                <a:lnTo>
                  <a:pt x="0" y="280921"/>
                </a:lnTo>
                <a:close/>
                <a:moveTo>
                  <a:pt x="170161" y="223166"/>
                </a:moveTo>
                <a:cubicBezTo>
                  <a:pt x="164909" y="235341"/>
                  <a:pt x="161972" y="248760"/>
                  <a:pt x="161972" y="262890"/>
                </a:cubicBezTo>
                <a:lnTo>
                  <a:pt x="161972" y="307857"/>
                </a:lnTo>
                <a:cubicBezTo>
                  <a:pt x="161972" y="354958"/>
                  <a:pt x="194284" y="394593"/>
                  <a:pt x="237901" y="405879"/>
                </a:cubicBezTo>
                <a:cubicBezTo>
                  <a:pt x="237990" y="405879"/>
                  <a:pt x="237990" y="405879"/>
                  <a:pt x="238079" y="405879"/>
                </a:cubicBezTo>
                <a:cubicBezTo>
                  <a:pt x="241195" y="406679"/>
                  <a:pt x="244399" y="407390"/>
                  <a:pt x="247693" y="407834"/>
                </a:cubicBezTo>
                <a:cubicBezTo>
                  <a:pt x="247960" y="407923"/>
                  <a:pt x="248227" y="407923"/>
                  <a:pt x="248494" y="408012"/>
                </a:cubicBezTo>
                <a:cubicBezTo>
                  <a:pt x="249740" y="408190"/>
                  <a:pt x="250986" y="408368"/>
                  <a:pt x="252322" y="408456"/>
                </a:cubicBezTo>
                <a:cubicBezTo>
                  <a:pt x="252767" y="408545"/>
                  <a:pt x="253212" y="408545"/>
                  <a:pt x="253746" y="408634"/>
                </a:cubicBezTo>
                <a:cubicBezTo>
                  <a:pt x="254903" y="408723"/>
                  <a:pt x="255971" y="408812"/>
                  <a:pt x="257128" y="408901"/>
                </a:cubicBezTo>
                <a:cubicBezTo>
                  <a:pt x="257574" y="408901"/>
                  <a:pt x="258108" y="408901"/>
                  <a:pt x="258553" y="408990"/>
                </a:cubicBezTo>
                <a:cubicBezTo>
                  <a:pt x="260155" y="408990"/>
                  <a:pt x="261668" y="409079"/>
                  <a:pt x="263271" y="409079"/>
                </a:cubicBezTo>
                <a:cubicBezTo>
                  <a:pt x="264873" y="409079"/>
                  <a:pt x="266475" y="408990"/>
                  <a:pt x="268077" y="408990"/>
                </a:cubicBezTo>
                <a:cubicBezTo>
                  <a:pt x="268522" y="408901"/>
                  <a:pt x="268967" y="408901"/>
                  <a:pt x="269502" y="408901"/>
                </a:cubicBezTo>
                <a:cubicBezTo>
                  <a:pt x="270570" y="408812"/>
                  <a:pt x="271727" y="408723"/>
                  <a:pt x="272884" y="408634"/>
                </a:cubicBezTo>
                <a:cubicBezTo>
                  <a:pt x="273329" y="408545"/>
                  <a:pt x="273863" y="408545"/>
                  <a:pt x="274308" y="408456"/>
                </a:cubicBezTo>
                <a:cubicBezTo>
                  <a:pt x="275555" y="408368"/>
                  <a:pt x="276890" y="408190"/>
                  <a:pt x="278136" y="408012"/>
                </a:cubicBezTo>
                <a:cubicBezTo>
                  <a:pt x="278403" y="407923"/>
                  <a:pt x="278670" y="407923"/>
                  <a:pt x="278937" y="407834"/>
                </a:cubicBezTo>
                <a:cubicBezTo>
                  <a:pt x="282142" y="407390"/>
                  <a:pt x="285435" y="406679"/>
                  <a:pt x="288551" y="405879"/>
                </a:cubicBezTo>
                <a:cubicBezTo>
                  <a:pt x="288551" y="405879"/>
                  <a:pt x="288640" y="405879"/>
                  <a:pt x="288640" y="405879"/>
                </a:cubicBezTo>
                <a:cubicBezTo>
                  <a:pt x="332346" y="394593"/>
                  <a:pt x="364658" y="354958"/>
                  <a:pt x="364658" y="307857"/>
                </a:cubicBezTo>
                <a:lnTo>
                  <a:pt x="364658" y="262890"/>
                </a:lnTo>
                <a:cubicBezTo>
                  <a:pt x="364658" y="248760"/>
                  <a:pt x="361721" y="235341"/>
                  <a:pt x="356469" y="223166"/>
                </a:cubicBezTo>
                <a:cubicBezTo>
                  <a:pt x="330922" y="245649"/>
                  <a:pt x="298075" y="258180"/>
                  <a:pt x="263271" y="258180"/>
                </a:cubicBezTo>
                <a:cubicBezTo>
                  <a:pt x="228466" y="258180"/>
                  <a:pt x="195708" y="245649"/>
                  <a:pt x="170161" y="223166"/>
                </a:cubicBezTo>
                <a:close/>
                <a:moveTo>
                  <a:pt x="263271" y="161758"/>
                </a:moveTo>
                <a:cubicBezTo>
                  <a:pt x="234697" y="161758"/>
                  <a:pt x="208794" y="173666"/>
                  <a:pt x="190368" y="192773"/>
                </a:cubicBezTo>
                <a:cubicBezTo>
                  <a:pt x="209862" y="211524"/>
                  <a:pt x="235765" y="222099"/>
                  <a:pt x="263271" y="222099"/>
                </a:cubicBezTo>
                <a:cubicBezTo>
                  <a:pt x="290865" y="222099"/>
                  <a:pt x="316768" y="211524"/>
                  <a:pt x="336263" y="192773"/>
                </a:cubicBezTo>
                <a:cubicBezTo>
                  <a:pt x="317747" y="173666"/>
                  <a:pt x="291933" y="161758"/>
                  <a:pt x="263271" y="161758"/>
                </a:cubicBezTo>
                <a:close/>
                <a:moveTo>
                  <a:pt x="263271" y="125677"/>
                </a:moveTo>
                <a:cubicBezTo>
                  <a:pt x="339111" y="125677"/>
                  <a:pt x="400798" y="187263"/>
                  <a:pt x="400798" y="262890"/>
                </a:cubicBezTo>
                <a:lnTo>
                  <a:pt x="400798" y="307857"/>
                </a:lnTo>
                <a:cubicBezTo>
                  <a:pt x="400798" y="316389"/>
                  <a:pt x="399997" y="324654"/>
                  <a:pt x="398484" y="332652"/>
                </a:cubicBezTo>
                <a:cubicBezTo>
                  <a:pt x="424031" y="341716"/>
                  <a:pt x="446908" y="357713"/>
                  <a:pt x="464177" y="378863"/>
                </a:cubicBezTo>
                <a:cubicBezTo>
                  <a:pt x="485718" y="405257"/>
                  <a:pt x="497557" y="438583"/>
                  <a:pt x="497557" y="472708"/>
                </a:cubicBezTo>
                <a:lnTo>
                  <a:pt x="497557" y="606722"/>
                </a:lnTo>
                <a:lnTo>
                  <a:pt x="29073" y="606722"/>
                </a:lnTo>
                <a:lnTo>
                  <a:pt x="29073" y="472708"/>
                </a:lnTo>
                <a:cubicBezTo>
                  <a:pt x="29073" y="438583"/>
                  <a:pt x="40912" y="405257"/>
                  <a:pt x="62453" y="378863"/>
                </a:cubicBezTo>
                <a:cubicBezTo>
                  <a:pt x="79722" y="357713"/>
                  <a:pt x="102599" y="341716"/>
                  <a:pt x="128057" y="332652"/>
                </a:cubicBezTo>
                <a:cubicBezTo>
                  <a:pt x="126633" y="324654"/>
                  <a:pt x="125832" y="316389"/>
                  <a:pt x="125832" y="307857"/>
                </a:cubicBezTo>
                <a:lnTo>
                  <a:pt x="125832" y="262890"/>
                </a:lnTo>
                <a:cubicBezTo>
                  <a:pt x="125832" y="187263"/>
                  <a:pt x="187519" y="125677"/>
                  <a:pt x="263271" y="125677"/>
                </a:cubicBezTo>
                <a:close/>
                <a:moveTo>
                  <a:pt x="436739" y="64285"/>
                </a:moveTo>
                <a:lnTo>
                  <a:pt x="462204" y="89776"/>
                </a:lnTo>
                <a:lnTo>
                  <a:pt x="400680" y="151151"/>
                </a:lnTo>
                <a:lnTo>
                  <a:pt x="375126" y="125660"/>
                </a:lnTo>
                <a:close/>
                <a:moveTo>
                  <a:pt x="89889" y="64285"/>
                </a:moveTo>
                <a:lnTo>
                  <a:pt x="151363" y="125660"/>
                </a:lnTo>
                <a:lnTo>
                  <a:pt x="125830" y="151151"/>
                </a:lnTo>
                <a:lnTo>
                  <a:pt x="64356" y="89776"/>
                </a:lnTo>
                <a:close/>
                <a:moveTo>
                  <a:pt x="245286" y="0"/>
                </a:moveTo>
                <a:lnTo>
                  <a:pt x="281345" y="0"/>
                </a:lnTo>
                <a:lnTo>
                  <a:pt x="281345" y="86937"/>
                </a:lnTo>
                <a:lnTo>
                  <a:pt x="245286" y="86937"/>
                </a:lnTo>
                <a:close/>
              </a:path>
            </a:pathLst>
          </a:custGeom>
          <a:solidFill>
            <a:srgbClr val="D9793F"/>
          </a:solidFill>
          <a:ln>
            <a:noFill/>
          </a:ln>
        </p:spPr>
      </p:sp>
      <p:sp>
        <p:nvSpPr>
          <p:cNvPr id="3" name="文本框 2"/>
          <p:cNvSpPr txBox="1"/>
          <p:nvPr/>
        </p:nvSpPr>
        <p:spPr>
          <a:xfrm>
            <a:off x="2383790" y="2211705"/>
            <a:ext cx="7285355" cy="2572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什么是刑法?</a:t>
            </a:r>
          </a:p>
          <a:p>
            <a:pPr indent="0"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如何理解刑法的任务?</a:t>
            </a:r>
          </a:p>
          <a:p>
            <a:pPr indent="0"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具体阐述刑法解释的种类及其内容。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26590" y="1230630"/>
            <a:ext cx="1208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思考题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E4YWE2NWM2NjkyMzUxOGRkNDNkNjJlMmYxYjJlZ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1210</Words>
  <Application>Microsoft Office PowerPoint</Application>
  <PresentationFormat>宽屏</PresentationFormat>
  <Paragraphs>152</Paragraphs>
  <Slides>26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Roboto</vt:lpstr>
      <vt:lpstr>等线</vt:lpstr>
      <vt:lpstr>等线 Light</vt:lpstr>
      <vt:lpstr>黑体</vt:lpstr>
      <vt:lpstr>华文新魏</vt:lpstr>
      <vt:lpstr>华文中宋</vt:lpstr>
      <vt:lpstr>宋体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yujie zhang</dc:creator>
  <cp:lastModifiedBy>LGY</cp:lastModifiedBy>
  <cp:revision>234</cp:revision>
  <dcterms:created xsi:type="dcterms:W3CDTF">2023-08-16T10:33:00Z</dcterms:created>
  <dcterms:modified xsi:type="dcterms:W3CDTF">2025-02-18T03:30:24Z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A030562AC211470FBEED3EE9BD1E1E04_12</vt:lpwstr>
  </property>
  <property fmtid="{D5CDD505-2E9C-101B-9397-08002B2CF9AE}" pid="3" name="KSOProductBuildVer">
    <vt:lpwstr>2052-12.1.0.15120</vt:lpwstr>
  </property>
</Properties>
</file>