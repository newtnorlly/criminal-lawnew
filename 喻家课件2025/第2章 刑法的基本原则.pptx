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8"/>
  </p:handoutMasterIdLst>
  <p:sldIdLst>
    <p:sldId id="260" r:id="rId2"/>
    <p:sldId id="483" r:id="rId3"/>
    <p:sldId id="523" r:id="rId4"/>
    <p:sldId id="300" r:id="rId5"/>
    <p:sldId id="484" r:id="rId6"/>
    <p:sldId id="524" r:id="rId7"/>
    <p:sldId id="347" r:id="rId8"/>
    <p:sldId id="486" r:id="rId9"/>
    <p:sldId id="490" r:id="rId10"/>
    <p:sldId id="491" r:id="rId11"/>
    <p:sldId id="493" r:id="rId12"/>
    <p:sldId id="494" r:id="rId13"/>
    <p:sldId id="525" r:id="rId14"/>
    <p:sldId id="496" r:id="rId15"/>
    <p:sldId id="497" r:id="rId16"/>
    <p:sldId id="498" r:id="rId17"/>
    <p:sldId id="500" r:id="rId18"/>
    <p:sldId id="502" r:id="rId19"/>
    <p:sldId id="526" r:id="rId20"/>
    <p:sldId id="504" r:id="rId21"/>
    <p:sldId id="344" r:id="rId22"/>
    <p:sldId id="527" r:id="rId23"/>
    <p:sldId id="506" r:id="rId24"/>
    <p:sldId id="507" r:id="rId25"/>
    <p:sldId id="508" r:id="rId26"/>
    <p:sldId id="528" r:id="rId27"/>
    <p:sldId id="512" r:id="rId28"/>
    <p:sldId id="513" r:id="rId29"/>
    <p:sldId id="514" r:id="rId30"/>
    <p:sldId id="529" r:id="rId31"/>
    <p:sldId id="516" r:id="rId32"/>
    <p:sldId id="517" r:id="rId33"/>
    <p:sldId id="518" r:id="rId34"/>
    <p:sldId id="520" r:id="rId35"/>
    <p:sldId id="521" r:id="rId36"/>
    <p:sldId id="397" r:id="rId37"/>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000000"/>
    <a:srgbClr val="D9793F"/>
    <a:srgbClr val="FFFFFF"/>
    <a:srgbClr val="BFBFBF"/>
    <a:srgbClr val="E6E6E6"/>
    <a:srgbClr val="0289D9"/>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23" autoAdjust="0"/>
    <p:restoredTop sz="94225" autoAdjust="0"/>
  </p:normalViewPr>
  <p:slideViewPr>
    <p:cSldViewPr snapToGrid="0">
      <p:cViewPr varScale="1">
        <p:scale>
          <a:sx n="91" d="100"/>
          <a:sy n="91" d="100"/>
        </p:scale>
        <p:origin x="72" y="57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t>2025/2/24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t>‹#›</a:t>
            </a:fld>
            <a:endParaRPr lang="zh-CN" altLang="en-US"/>
          </a:p>
        </p:txBody>
      </p:sp>
    </p:spTree>
    <p:extLst>
      <p:ext uri="{BB962C8B-B14F-4D97-AF65-F5344CB8AC3E}">
        <p14:creationId xmlns:p14="http://schemas.microsoft.com/office/powerpoint/2010/main" val="384714930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第二章  </a:t>
              </a:r>
              <a:endParaRPr lang="en-US" altLang="zh-CN" sz="1400" b="1" dirty="0" smtClean="0">
                <a:solidFill>
                  <a:srgbClr val="D9793F"/>
                </a:solidFill>
                <a:latin typeface="华文新魏" panose="02010800040101010101" charset="-122"/>
                <a:ea typeface="华文新魏" panose="02010800040101010101" charset="-122"/>
                <a:sym typeface="+mn-ea"/>
              </a:endParaRPr>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image" Target="../media/image5.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马克思主义理论研究</a:t>
            </a:r>
            <a:endParaRPr kumimoji="0" lang="en-US" altLang="zh-CN"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smtClean="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9" name="文本框 8"/>
          <p:cNvSpPr txBox="1"/>
          <p:nvPr/>
        </p:nvSpPr>
        <p:spPr>
          <a:xfrm>
            <a:off x="1643460" y="5826106"/>
            <a:ext cx="2657532" cy="337185"/>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刑法学</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编写组</a:t>
            </a:r>
            <a:endParaRPr lang="zh-CN" altLang="en-US" sz="16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547957" y="2589022"/>
            <a:ext cx="3992245" cy="1568450"/>
          </a:xfrm>
          <a:prstGeom prst="rect">
            <a:avLst/>
          </a:prstGeom>
        </p:spPr>
        <p:txBody>
          <a:bodyPr wrap="none">
            <a:spAutoFit/>
          </a:bodyPr>
          <a:lstStyle/>
          <a:p>
            <a:pPr>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第二章</a:t>
            </a:r>
          </a:p>
          <a:p>
            <a:pPr>
              <a:lnSpc>
                <a:spcPct val="120000"/>
              </a:lnSpc>
            </a:pPr>
            <a:r>
              <a:rPr lang="zh-CN" altLang="en-US" sz="4000" b="1" dirty="0">
                <a:solidFill>
                  <a:srgbClr val="D9793F"/>
                </a:solidFill>
                <a:latin typeface="华文新魏" panose="02010800040101010101" charset="-122"/>
                <a:ea typeface="华文新魏" panose="02010800040101010101" charset="-122"/>
                <a:sym typeface="+mn-ea"/>
              </a:rPr>
              <a:t>刑法的基本原则  </a:t>
            </a:r>
          </a:p>
        </p:txBody>
      </p:sp>
      <p:sp>
        <p:nvSpPr>
          <p:cNvPr id="3" name="矩形 2"/>
          <p:cNvSpPr/>
          <p:nvPr/>
        </p:nvSpPr>
        <p:spPr>
          <a:xfrm>
            <a:off x="1763797" y="4240894"/>
            <a:ext cx="1676945"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4050"/>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4900"/>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660400" y="1391446"/>
            <a:ext cx="108585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7" name="ïşlîḑe"/>
          <p:cNvSpPr txBox="1"/>
          <p:nvPr/>
        </p:nvSpPr>
        <p:spPr>
          <a:xfrm>
            <a:off x="5195900" y="1135067"/>
            <a:ext cx="1800200" cy="512758"/>
          </a:xfrm>
          <a:prstGeom prst="roundRect">
            <a:avLst>
              <a:gd name="adj" fmla="val 50000"/>
            </a:avLst>
          </a:prstGeom>
          <a:solidFill>
            <a:srgbClr val="D9793F"/>
          </a:solidFill>
        </p:spPr>
        <p:txBody>
          <a:bodyPr wrap="square" lIns="91440" tIns="45720" rIns="91440" bIns="45720" anchor="ctr">
            <a:normAutofit lnSpcReduction="10000"/>
          </a:bodyPr>
          <a:lstStyle/>
          <a:p>
            <a:pPr algn="ctr"/>
            <a:r>
              <a:rPr lang="zh-CN" altLang="en-US" b="1" dirty="0">
                <a:solidFill>
                  <a:schemeClr val="bg1"/>
                </a:solidFill>
              </a:rPr>
              <a:t>目录</a:t>
            </a:r>
            <a:endParaRPr lang="en-US" altLang="zh-CN" b="1" dirty="0">
              <a:solidFill>
                <a:schemeClr val="bg1"/>
              </a:solidFill>
            </a:endParaRPr>
          </a:p>
        </p:txBody>
      </p:sp>
      <p:sp>
        <p:nvSpPr>
          <p:cNvPr id="8" name="îṧļïdè"/>
          <p:cNvSpPr txBox="1"/>
          <p:nvPr/>
        </p:nvSpPr>
        <p:spPr>
          <a:xfrm>
            <a:off x="1818781" y="2586113"/>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01</a:t>
            </a:r>
          </a:p>
        </p:txBody>
      </p:sp>
      <p:sp>
        <p:nvSpPr>
          <p:cNvPr id="9" name="íṧļïdé"/>
          <p:cNvSpPr txBox="1"/>
          <p:nvPr/>
        </p:nvSpPr>
        <p:spPr>
          <a:xfrm>
            <a:off x="2754884" y="2460232"/>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第一节</a:t>
            </a:r>
            <a:endParaRPr lang="zh-CN" altLang="en-US" b="1" dirty="0">
              <a:solidFill>
                <a:srgbClr val="D9793F"/>
              </a:solidFill>
            </a:endParaRPr>
          </a:p>
        </p:txBody>
      </p:sp>
      <p:sp>
        <p:nvSpPr>
          <p:cNvPr id="10" name="ïśḷíďè"/>
          <p:cNvSpPr txBox="1"/>
          <p:nvPr/>
        </p:nvSpPr>
        <p:spPr>
          <a:xfrm>
            <a:off x="2754884" y="282897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刑法的基本原则概述</a:t>
            </a:r>
          </a:p>
        </p:txBody>
      </p:sp>
      <p:cxnSp>
        <p:nvCxnSpPr>
          <p:cNvPr id="11" name="直接连接符 10"/>
          <p:cNvCxnSpPr/>
          <p:nvPr/>
        </p:nvCxnSpPr>
        <p:spPr>
          <a:xfrm>
            <a:off x="2673781" y="258611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 name="îṩļïḑè"/>
          <p:cNvSpPr txBox="1"/>
          <p:nvPr/>
        </p:nvSpPr>
        <p:spPr>
          <a:xfrm>
            <a:off x="6593223" y="2586113"/>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02</a:t>
            </a:r>
          </a:p>
        </p:txBody>
      </p:sp>
      <p:sp>
        <p:nvSpPr>
          <p:cNvPr id="13" name="ïṧḷïḓé"/>
          <p:cNvSpPr txBox="1"/>
          <p:nvPr/>
        </p:nvSpPr>
        <p:spPr>
          <a:xfrm>
            <a:off x="7529326" y="2460232"/>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第二节</a:t>
            </a:r>
            <a:endParaRPr lang="zh-CN" altLang="en-US" b="1" dirty="0">
              <a:solidFill>
                <a:srgbClr val="D9793F"/>
              </a:solidFill>
            </a:endParaRPr>
          </a:p>
        </p:txBody>
      </p:sp>
      <p:sp>
        <p:nvSpPr>
          <p:cNvPr id="14" name="íṩļíḋê"/>
          <p:cNvSpPr txBox="1"/>
          <p:nvPr/>
        </p:nvSpPr>
        <p:spPr>
          <a:xfrm>
            <a:off x="7529326" y="282897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保障人权原则</a:t>
            </a:r>
          </a:p>
        </p:txBody>
      </p:sp>
      <p:cxnSp>
        <p:nvCxnSpPr>
          <p:cNvPr id="15" name="直接连接符 14"/>
          <p:cNvCxnSpPr/>
          <p:nvPr/>
        </p:nvCxnSpPr>
        <p:spPr>
          <a:xfrm>
            <a:off x="7448223" y="258611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818640" y="3847465"/>
            <a:ext cx="3779520" cy="956310"/>
            <a:chOff x="2864" y="6059"/>
            <a:chExt cx="5952" cy="1506"/>
          </a:xfrm>
        </p:grpSpPr>
        <p:sp>
          <p:nvSpPr>
            <p:cNvPr id="16" name="ïs1íḋè"/>
            <p:cNvSpPr txBox="1"/>
            <p:nvPr/>
          </p:nvSpPr>
          <p:spPr>
            <a:xfrm>
              <a:off x="2864" y="6257"/>
              <a:ext cx="1179" cy="1309"/>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03</a:t>
              </a:r>
            </a:p>
          </p:txBody>
        </p:sp>
        <p:sp>
          <p:nvSpPr>
            <p:cNvPr id="17" name="ísļîḑé"/>
            <p:cNvSpPr txBox="1"/>
            <p:nvPr/>
          </p:nvSpPr>
          <p:spPr>
            <a:xfrm>
              <a:off x="4338" y="6059"/>
              <a:ext cx="4479" cy="581"/>
            </a:xfrm>
            <a:prstGeom prst="rect">
              <a:avLst/>
            </a:prstGeom>
            <a:noFill/>
          </p:spPr>
          <p:txBody>
            <a:bodyPr wrap="square" lIns="91440" tIns="45720" rIns="91440" bIns="45720" anchor="b" anchorCtr="0">
              <a:normAutofit/>
            </a:bodyPr>
            <a:lstStyle/>
            <a:p>
              <a:r>
                <a:rPr lang="zh-CN" altLang="en-US" b="1" dirty="0" smtClean="0">
                  <a:solidFill>
                    <a:srgbClr val="D9793F"/>
                  </a:solidFill>
                </a:rPr>
                <a:t>第三节</a:t>
              </a:r>
              <a:endParaRPr lang="zh-CN" altLang="en-US" b="1" dirty="0">
                <a:solidFill>
                  <a:srgbClr val="D9793F"/>
                </a:solidFill>
              </a:endParaRPr>
            </a:p>
          </p:txBody>
        </p:sp>
        <p:sp>
          <p:nvSpPr>
            <p:cNvPr id="18" name="ïṩ1ïďe"/>
            <p:cNvSpPr txBox="1"/>
            <p:nvPr/>
          </p:nvSpPr>
          <p:spPr>
            <a:xfrm>
              <a:off x="4338" y="6639"/>
              <a:ext cx="4479" cy="926"/>
            </a:xfrm>
            <a:prstGeom prst="rect">
              <a:avLst/>
            </a:prstGeom>
          </p:spPr>
          <p:txBody>
            <a:bodyPr vert="horz" wrap="square" lIns="91440" tIns="45720" rIns="91440" bIns="45720" anchor="t" anchorCtr="0">
              <a:noAutofit/>
            </a:bodyPr>
            <a:lstStyle/>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罪刑法定原则</a:t>
              </a:r>
            </a:p>
          </p:txBody>
        </p:sp>
        <p:cxnSp>
          <p:nvCxnSpPr>
            <p:cNvPr id="19" name="直接连接符 18"/>
            <p:cNvCxnSpPr/>
            <p:nvPr/>
          </p:nvCxnSpPr>
          <p:spPr>
            <a:xfrm>
              <a:off x="4211" y="6257"/>
              <a:ext cx="0" cy="1309"/>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20" name="îŝlídè"/>
          <p:cNvSpPr txBox="1"/>
          <p:nvPr/>
        </p:nvSpPr>
        <p:spPr>
          <a:xfrm>
            <a:off x="6593223" y="3973171"/>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04</a:t>
            </a:r>
          </a:p>
        </p:txBody>
      </p:sp>
      <p:sp>
        <p:nvSpPr>
          <p:cNvPr id="21" name="îṥ1ïḑé"/>
          <p:cNvSpPr txBox="1"/>
          <p:nvPr/>
        </p:nvSpPr>
        <p:spPr>
          <a:xfrm>
            <a:off x="7529326" y="3847290"/>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第四节</a:t>
            </a:r>
            <a:endParaRPr lang="zh-CN" altLang="en-US" b="1" dirty="0">
              <a:solidFill>
                <a:srgbClr val="D9793F"/>
              </a:solidFill>
            </a:endParaRPr>
          </a:p>
        </p:txBody>
      </p:sp>
      <p:sp>
        <p:nvSpPr>
          <p:cNvPr id="22" name="iṥḻïḍé"/>
          <p:cNvSpPr txBox="1"/>
          <p:nvPr/>
        </p:nvSpPr>
        <p:spPr>
          <a:xfrm>
            <a:off x="7529326" y="4216034"/>
            <a:ext cx="3042641" cy="588133"/>
          </a:xfrm>
          <a:prstGeom prst="rect">
            <a:avLst/>
          </a:prstGeom>
        </p:spPr>
        <p:txBody>
          <a:bodyPr vert="horz" wrap="square" lIns="91440" tIns="45720" rIns="91440" bIns="45720" anchor="t" anchorCtr="0">
            <a:noAutofit/>
          </a:bodyPr>
          <a:lstStyle/>
          <a:p>
            <a:pPr algn="just" eaLnBrk="0" fontAlgn="base" hangingPunct="0">
              <a:lnSpc>
                <a:spcPct val="120000"/>
              </a:lnSpc>
              <a:spcBef>
                <a:spcPct val="0"/>
              </a:spcBef>
              <a:spcAft>
                <a:spcPct val="0"/>
              </a:spcAft>
              <a:defRPr/>
            </a:pPr>
            <a:r>
              <a:rPr lang="zh-CN" altLang="en-US" dirty="0" err="1">
                <a:latin typeface="微软雅黑" panose="020B0503020204020204" pitchFamily="34" charset="-122"/>
                <a:ea typeface="微软雅黑" panose="020B0503020204020204" pitchFamily="34" charset="-122"/>
              </a:rPr>
              <a:t>适用刑法人人平等原则</a:t>
            </a:r>
          </a:p>
        </p:txBody>
      </p:sp>
      <p:cxnSp>
        <p:nvCxnSpPr>
          <p:cNvPr id="23" name="直接连接符 22"/>
          <p:cNvCxnSpPr/>
          <p:nvPr/>
        </p:nvCxnSpPr>
        <p:spPr>
          <a:xfrm>
            <a:off x="7448223" y="3973171"/>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818640" y="5234305"/>
            <a:ext cx="3779520" cy="956310"/>
            <a:chOff x="2864" y="6059"/>
            <a:chExt cx="5952" cy="1506"/>
          </a:xfrm>
        </p:grpSpPr>
        <p:sp>
          <p:nvSpPr>
            <p:cNvPr id="4" name="ïs1íḋè"/>
            <p:cNvSpPr txBox="1"/>
            <p:nvPr>
              <p:custDataLst>
                <p:tags r:id="rId5"/>
              </p:custDataLst>
            </p:nvPr>
          </p:nvSpPr>
          <p:spPr>
            <a:xfrm>
              <a:off x="2864" y="6257"/>
              <a:ext cx="1179" cy="1309"/>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05</a:t>
              </a:r>
            </a:p>
          </p:txBody>
        </p:sp>
        <p:sp>
          <p:nvSpPr>
            <p:cNvPr id="5" name="ísļîḑé"/>
            <p:cNvSpPr txBox="1"/>
            <p:nvPr>
              <p:custDataLst>
                <p:tags r:id="rId6"/>
              </p:custDataLst>
            </p:nvPr>
          </p:nvSpPr>
          <p:spPr>
            <a:xfrm>
              <a:off x="4338" y="6059"/>
              <a:ext cx="4479" cy="581"/>
            </a:xfrm>
            <a:prstGeom prst="rect">
              <a:avLst/>
            </a:prstGeom>
            <a:noFill/>
          </p:spPr>
          <p:txBody>
            <a:bodyPr wrap="square" lIns="91440" tIns="45720" rIns="91440" bIns="45720" anchor="b" anchorCtr="0">
              <a:normAutofit/>
            </a:bodyPr>
            <a:lstStyle/>
            <a:p>
              <a:r>
                <a:rPr lang="zh-CN" altLang="en-US" b="1" dirty="0" smtClean="0">
                  <a:solidFill>
                    <a:srgbClr val="D9793F"/>
                  </a:solidFill>
                </a:rPr>
                <a:t>第五节</a:t>
              </a:r>
              <a:endParaRPr lang="zh-CN" altLang="en-US" b="1" dirty="0">
                <a:solidFill>
                  <a:srgbClr val="D9793F"/>
                </a:solidFill>
              </a:endParaRPr>
            </a:p>
          </p:txBody>
        </p:sp>
        <p:sp>
          <p:nvSpPr>
            <p:cNvPr id="24" name="ïṩ1ïďe"/>
            <p:cNvSpPr txBox="1"/>
            <p:nvPr>
              <p:custDataLst>
                <p:tags r:id="rId7"/>
              </p:custDataLst>
            </p:nvPr>
          </p:nvSpPr>
          <p:spPr>
            <a:xfrm>
              <a:off x="4338" y="6639"/>
              <a:ext cx="4479" cy="926"/>
            </a:xfrm>
            <a:prstGeom prst="rect">
              <a:avLst/>
            </a:prstGeom>
          </p:spPr>
          <p:txBody>
            <a:bodyPr vert="horz" wrap="square" lIns="91440" tIns="45720" rIns="91440" bIns="45720" anchor="t" anchorCtr="0">
              <a:noAutofit/>
            </a:bodyPr>
            <a:lstStyle/>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罪责刑相适应原则</a:t>
              </a:r>
            </a:p>
          </p:txBody>
        </p:sp>
        <p:cxnSp>
          <p:nvCxnSpPr>
            <p:cNvPr id="25" name="直接连接符 24"/>
            <p:cNvCxnSpPr/>
            <p:nvPr>
              <p:custDataLst>
                <p:tags r:id="rId8"/>
              </p:custDataLst>
            </p:nvPr>
          </p:nvCxnSpPr>
          <p:spPr>
            <a:xfrm>
              <a:off x="4211" y="6257"/>
              <a:ext cx="0" cy="1309"/>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593205" y="5234305"/>
            <a:ext cx="3779520" cy="956310"/>
            <a:chOff x="2864" y="6059"/>
            <a:chExt cx="5952" cy="1506"/>
          </a:xfrm>
        </p:grpSpPr>
        <p:sp>
          <p:nvSpPr>
            <p:cNvPr id="27" name="ïs1íḋè"/>
            <p:cNvSpPr txBox="1"/>
            <p:nvPr>
              <p:custDataLst>
                <p:tags r:id="rId1"/>
              </p:custDataLst>
            </p:nvPr>
          </p:nvSpPr>
          <p:spPr>
            <a:xfrm>
              <a:off x="2864" y="6257"/>
              <a:ext cx="1179" cy="1309"/>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06</a:t>
              </a:r>
            </a:p>
          </p:txBody>
        </p:sp>
        <p:sp>
          <p:nvSpPr>
            <p:cNvPr id="28" name="ísļîḑé"/>
            <p:cNvSpPr txBox="1"/>
            <p:nvPr>
              <p:custDataLst>
                <p:tags r:id="rId2"/>
              </p:custDataLst>
            </p:nvPr>
          </p:nvSpPr>
          <p:spPr>
            <a:xfrm>
              <a:off x="4338" y="6059"/>
              <a:ext cx="4479" cy="581"/>
            </a:xfrm>
            <a:prstGeom prst="rect">
              <a:avLst/>
            </a:prstGeom>
            <a:noFill/>
          </p:spPr>
          <p:txBody>
            <a:bodyPr wrap="square" lIns="91440" tIns="45720" rIns="91440" bIns="45720" anchor="b" anchorCtr="0">
              <a:normAutofit/>
            </a:bodyPr>
            <a:lstStyle/>
            <a:p>
              <a:r>
                <a:rPr lang="zh-CN" altLang="en-US" b="1" dirty="0" smtClean="0">
                  <a:solidFill>
                    <a:srgbClr val="D9793F"/>
                  </a:solidFill>
                </a:rPr>
                <a:t>第六节</a:t>
              </a:r>
              <a:endParaRPr lang="zh-CN" altLang="en-US" b="1" dirty="0">
                <a:solidFill>
                  <a:srgbClr val="D9793F"/>
                </a:solidFill>
              </a:endParaRPr>
            </a:p>
          </p:txBody>
        </p:sp>
        <p:sp>
          <p:nvSpPr>
            <p:cNvPr id="29" name="ïṩ1ïďe"/>
            <p:cNvSpPr txBox="1"/>
            <p:nvPr>
              <p:custDataLst>
                <p:tags r:id="rId3"/>
              </p:custDataLst>
            </p:nvPr>
          </p:nvSpPr>
          <p:spPr>
            <a:xfrm>
              <a:off x="4338" y="6639"/>
              <a:ext cx="4479" cy="926"/>
            </a:xfrm>
            <a:prstGeom prst="rect">
              <a:avLst/>
            </a:prstGeom>
          </p:spPr>
          <p:txBody>
            <a:bodyPr vert="horz" wrap="square" lIns="91440" tIns="45720" rIns="91440" bIns="45720" anchor="t" anchorCtr="0">
              <a:noAutofit/>
            </a:bodyPr>
            <a:lstStyle/>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刑法的其他基本原则</a:t>
              </a:r>
            </a:p>
          </p:txBody>
        </p:sp>
        <p:cxnSp>
          <p:nvCxnSpPr>
            <p:cNvPr id="30" name="直接连接符 29"/>
            <p:cNvCxnSpPr/>
            <p:nvPr>
              <p:custDataLst>
                <p:tags r:id="rId4"/>
              </p:custDataLst>
            </p:nvPr>
          </p:nvCxnSpPr>
          <p:spPr>
            <a:xfrm>
              <a:off x="4211" y="6257"/>
              <a:ext cx="0" cy="1309"/>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1500"/>
                            </p:stCondLst>
                            <p:childTnLst>
                              <p:par>
                                <p:cTn id="21" presetID="16" presetClass="entr" presetSubtype="42"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outHorizontal)">
                                      <p:cBhvr>
                                        <p:cTn id="23" dur="500"/>
                                        <p:tgtEl>
                                          <p:spTgt spid="11"/>
                                        </p:tgtEl>
                                      </p:cBhvr>
                                    </p:animEffect>
                                  </p:childTnLst>
                                </p:cTn>
                              </p:par>
                            </p:childTnLst>
                          </p:cTn>
                        </p:par>
                        <p:par>
                          <p:cTn id="24" fill="hold">
                            <p:stCondLst>
                              <p:cond delay="2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2599"/>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500"/>
                            </p:stCondLst>
                            <p:childTnLst>
                              <p:par>
                                <p:cTn id="33" presetID="53" presetClass="entr" presetSubtype="16"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par>
                          <p:cTn id="38" fill="hold">
                            <p:stCondLst>
                              <p:cond delay="4000"/>
                            </p:stCondLst>
                            <p:childTnLst>
                              <p:par>
                                <p:cTn id="39" presetID="16" presetClass="entr" presetSubtype="42"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arn(outHorizontal)">
                                      <p:cBhvr>
                                        <p:cTn id="41" dur="500"/>
                                        <p:tgtEl>
                                          <p:spTgt spid="15"/>
                                        </p:tgtEl>
                                      </p:cBhvr>
                                    </p:animEffect>
                                  </p:childTnLst>
                                </p:cTn>
                              </p:par>
                            </p:childTnLst>
                          </p:cTn>
                        </p:par>
                        <p:par>
                          <p:cTn id="42" fill="hold">
                            <p:stCondLst>
                              <p:cond delay="4500"/>
                            </p:stCondLst>
                            <p:childTnLst>
                              <p:par>
                                <p:cTn id="43" presetID="10" presetClass="entr" presetSubtype="0" fill="hold" grpId="0" nodeType="afterEffect">
                                  <p:stCondLst>
                                    <p:cond delay="0"/>
                                  </p:stCondLst>
                                  <p:iterate type="wd">
                                    <p:tmPct val="10000"/>
                                  </p:iterate>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par>
                          <p:cTn id="46" fill="hold">
                            <p:stCondLst>
                              <p:cond delay="5099"/>
                            </p:stCondLst>
                            <p:childTnLst>
                              <p:par>
                                <p:cTn id="47" presetID="10" presetClass="entr" presetSubtype="0" fill="hold" grpId="0" nodeType="afterEffect">
                                  <p:stCondLst>
                                    <p:cond delay="0"/>
                                  </p:stCondLst>
                                  <p:iterate type="wd">
                                    <p:tmPct val="10000"/>
                                  </p:iterate>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par>
                          <p:cTn id="50" fill="hold">
                            <p:stCondLst>
                              <p:cond delay="5849"/>
                            </p:stCondLst>
                            <p:childTnLst>
                              <p:par>
                                <p:cTn id="51" presetID="53" presetClass="entr" presetSubtype="16" fill="hold" grpId="0" nodeType="after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p:cTn id="53" dur="500" fill="hold"/>
                                        <p:tgtEl>
                                          <p:spTgt spid="20"/>
                                        </p:tgtEl>
                                        <p:attrNameLst>
                                          <p:attrName>ppt_w</p:attrName>
                                        </p:attrNameLst>
                                      </p:cBhvr>
                                      <p:tavLst>
                                        <p:tav tm="0">
                                          <p:val>
                                            <p:fltVal val="0"/>
                                          </p:val>
                                        </p:tav>
                                        <p:tav tm="100000">
                                          <p:val>
                                            <p:strVal val="#ppt_w"/>
                                          </p:val>
                                        </p:tav>
                                      </p:tavLst>
                                    </p:anim>
                                    <p:anim calcmode="lin" valueType="num">
                                      <p:cBhvr>
                                        <p:cTn id="54" dur="500" fill="hold"/>
                                        <p:tgtEl>
                                          <p:spTgt spid="20"/>
                                        </p:tgtEl>
                                        <p:attrNameLst>
                                          <p:attrName>ppt_h</p:attrName>
                                        </p:attrNameLst>
                                      </p:cBhvr>
                                      <p:tavLst>
                                        <p:tav tm="0">
                                          <p:val>
                                            <p:fltVal val="0"/>
                                          </p:val>
                                        </p:tav>
                                        <p:tav tm="100000">
                                          <p:val>
                                            <p:strVal val="#ppt_h"/>
                                          </p:val>
                                        </p:tav>
                                      </p:tavLst>
                                    </p:anim>
                                    <p:animEffect transition="in" filter="fade">
                                      <p:cBhvr>
                                        <p:cTn id="55" dur="500"/>
                                        <p:tgtEl>
                                          <p:spTgt spid="20"/>
                                        </p:tgtEl>
                                      </p:cBhvr>
                                    </p:animEffect>
                                  </p:childTnLst>
                                </p:cTn>
                              </p:par>
                            </p:childTnLst>
                          </p:cTn>
                        </p:par>
                        <p:par>
                          <p:cTn id="56" fill="hold">
                            <p:stCondLst>
                              <p:cond delay="6349"/>
                            </p:stCondLst>
                            <p:childTnLst>
                              <p:par>
                                <p:cTn id="57" presetID="16" presetClass="entr" presetSubtype="42" fill="hold"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barn(outHorizontal)">
                                      <p:cBhvr>
                                        <p:cTn id="59" dur="500"/>
                                        <p:tgtEl>
                                          <p:spTgt spid="23"/>
                                        </p:tgtEl>
                                      </p:cBhvr>
                                    </p:animEffect>
                                  </p:childTnLst>
                                </p:cTn>
                              </p:par>
                            </p:childTnLst>
                          </p:cTn>
                        </p:par>
                        <p:par>
                          <p:cTn id="60" fill="hold">
                            <p:stCondLst>
                              <p:cond delay="6849"/>
                            </p:stCondLst>
                            <p:childTnLst>
                              <p:par>
                                <p:cTn id="61" presetID="10" presetClass="entr" presetSubtype="0" fill="hold" grpId="0" nodeType="afterEffect">
                                  <p:stCondLst>
                                    <p:cond delay="0"/>
                                  </p:stCondLst>
                                  <p:iterate type="wd">
                                    <p:tmPct val="10000"/>
                                  </p:iterate>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childTnLst>
                          </p:cTn>
                        </p:par>
                        <p:par>
                          <p:cTn id="64" fill="hold">
                            <p:stCondLst>
                              <p:cond delay="7449"/>
                            </p:stCondLst>
                            <p:childTnLst>
                              <p:par>
                                <p:cTn id="65" presetID="10" presetClass="entr" presetSubtype="0" fill="hold" grpId="0" nodeType="afterEffect">
                                  <p:stCondLst>
                                    <p:cond delay="0"/>
                                  </p:stCondLst>
                                  <p:iterate type="wd">
                                    <p:tmPct val="10000"/>
                                  </p:iterate>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p:bldP spid="9" grpId="0"/>
      <p:bldP spid="10" grpId="0"/>
      <p:bldP spid="12" grpId="0"/>
      <p:bldP spid="13" grpId="0"/>
      <p:bldP spid="14" grpId="0"/>
      <p:bldP spid="20" grpId="0"/>
      <p:bldP spid="21"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一、刑法基本原则的概念</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二、刑法基本原则的确定</a:t>
            </a:r>
          </a:p>
          <a:p>
            <a:pPr>
              <a:lnSpc>
                <a:spcPct val="150000"/>
              </a:lnSpc>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930781" y="775078"/>
            <a:ext cx="6535420" cy="829945"/>
          </a:xfrm>
          <a:prstGeom prst="rect">
            <a:avLst/>
          </a:prstGeom>
        </p:spPr>
        <p:txBody>
          <a:bodyPr wrap="non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第一节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刑法的基本原则概述</a:t>
            </a:r>
            <a:endParaRPr lang="zh-CN" altLang="en-US" sz="4000" b="1" dirty="0">
              <a:solidFill>
                <a:srgbClr val="D9793F"/>
              </a:solidFill>
              <a:latin typeface="华文新魏" panose="02010800040101010101" charset="-122"/>
              <a:ea typeface="华文新魏" panose="02010800040101010101" charset="-122"/>
              <a:sym typeface="+mn-ea"/>
            </a:endParaRP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481480"/>
            <a:ext cx="7248512" cy="3322955"/>
          </a:xfrm>
          <a:prstGeom prst="rect">
            <a:avLst/>
          </a:prstGeom>
          <a:noFill/>
        </p:spPr>
        <p:txBody>
          <a:bodyPr wrap="square" rtlCol="0">
            <a:spAutoFit/>
          </a:bodyPr>
          <a:lstStyle/>
          <a:p>
            <a:pPr>
              <a:lnSpc>
                <a:spcPct val="150000"/>
              </a:lnSpc>
            </a:pP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 首先，刑法基本原则必须贯穿全部刑法规范，具有指导和制约全部刑事立法和刑事司法的作用。</a:t>
            </a:r>
          </a:p>
          <a:p>
            <a:pPr>
              <a:lnSpc>
                <a:spcPct val="150000"/>
              </a:lnSpc>
            </a:pPr>
            <a:endPar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sym typeface="+mn-ea"/>
              </a:rPr>
              <a:t>★ 其次，刑法基本原则必须体现我国刑事法治的基本精神，这就是：坚持法治，摒弃人治；坚持平等，反对特权；讲求公正，反对徇私。</a:t>
            </a: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37956" y="3095936"/>
            <a:ext cx="3568065" cy="1813324"/>
            <a:chOff x="637956" y="3095936"/>
            <a:chExt cx="356806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37956" y="3095936"/>
              <a:ext cx="3568065" cy="1614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刑法基本原则，是指</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全部刑事立法和司法</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活动均应当遵循的准则。</a:t>
              </a:r>
            </a:p>
          </p:txBody>
        </p:sp>
      </p:grpSp>
      <p:sp>
        <p:nvSpPr>
          <p:cNvPr id="3" name="矩形 2"/>
          <p:cNvSpPr/>
          <p:nvPr/>
        </p:nvSpPr>
        <p:spPr>
          <a:xfrm>
            <a:off x="4121925" y="1232244"/>
            <a:ext cx="35356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一、刑法基本原则的概念</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733099" y="1880352"/>
            <a:ext cx="5090926" cy="3322955"/>
          </a:xfrm>
          <a:prstGeom prst="rect">
            <a:avLst/>
          </a:prstGeom>
          <a:noFill/>
        </p:spPr>
        <p:txBody>
          <a:bodyPr wrap="square" rtlCol="0">
            <a:spAutoFit/>
          </a:bodyPr>
          <a:lstStyle/>
          <a:p>
            <a:pPr indent="508000" algn="just" fontAlgn="auto">
              <a:lnSpc>
                <a:spcPct val="150000"/>
              </a:lnSpc>
              <a:extLst>
                <a:ext uri="{35155182-B16C-46BC-9424-99874614C6A1}">
                  <wpsdc:indentchars xmln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1979 年《刑法》并未明确规定刑法的基本原则。</a:t>
            </a:r>
          </a:p>
          <a:p>
            <a:pPr indent="508000" algn="just" fontAlgn="auto">
              <a:lnSpc>
                <a:spcPct val="150000"/>
              </a:lnSpc>
              <a:extLst>
                <a:ext uri="{35155182-B16C-46BC-9424-99874614C6A1}">
                  <wpsdc:indentchars xmln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1997 年《刑法》在广泛听取讨论意见的基础上，在第3、4、5条确定了三项刑法基本原则，即</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罪刑法定原则、适用法人人平等原则、罪责刑相适应原则</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p>
          <a:p>
            <a:pPr lvl="0" algn="just">
              <a:lnSpc>
                <a:spcPct val="150000"/>
              </a:lnSpc>
            </a:pPr>
            <a:endParaRPr lang="en-US" altLang="zh-CN" sz="2000" dirty="0">
              <a:solidFill>
                <a:srgbClr val="FFFFFF"/>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733099" y="1221195"/>
            <a:ext cx="926894" cy="540585"/>
            <a:chOff x="620553" y="1178992"/>
            <a:chExt cx="1806046" cy="1053325"/>
          </a:xfrm>
        </p:grpSpPr>
        <p:sp>
          <p:nvSpPr>
            <p:cNvPr id="7" name="菱形 6"/>
            <p:cNvSpPr/>
            <p:nvPr/>
          </p:nvSpPr>
          <p:spPr>
            <a:xfrm>
              <a:off x="1387412" y="1190737"/>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620553" y="1178992"/>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矩形 2"/>
          <p:cNvSpPr/>
          <p:nvPr/>
        </p:nvSpPr>
        <p:spPr>
          <a:xfrm>
            <a:off x="2721092" y="57665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二、刑法基本原则的确定</a:t>
            </a:r>
          </a:p>
        </p:txBody>
      </p:sp>
      <p:sp>
        <p:nvSpPr>
          <p:cNvPr id="13" name="PA_文本框 3"/>
          <p:cNvSpPr txBox="1"/>
          <p:nvPr>
            <p:custDataLst>
              <p:tags r:id="rId2"/>
            </p:custDataLst>
          </p:nvPr>
        </p:nvSpPr>
        <p:spPr>
          <a:xfrm>
            <a:off x="6266081" y="1880352"/>
            <a:ext cx="5127181" cy="3784600"/>
          </a:xfrm>
          <a:prstGeom prst="rect">
            <a:avLst/>
          </a:prstGeom>
          <a:noFill/>
        </p:spPr>
        <p:txBody>
          <a:bodyPr wrap="square" rtlCol="0">
            <a:spAutoFit/>
          </a:bodyPr>
          <a:lstStyle/>
          <a:p>
            <a:pPr lvl="0" algn="just">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刑法学界普遍认为，刑法的基本原则并不限于《刑法》明文规定的上述三项原则。以下原则也应被视为刑法的基本原则：</a:t>
            </a:r>
          </a:p>
          <a:p>
            <a:pPr lvl="0"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保障人权原则</a:t>
            </a:r>
          </a:p>
          <a:p>
            <a:pPr lvl="0"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罪责自负原则</a:t>
            </a:r>
          </a:p>
          <a:p>
            <a:pPr lvl="0"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主客观相统一原则</a:t>
            </a:r>
          </a:p>
          <a:p>
            <a:pPr algn="just">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endParaRPr lang="zh-CN" altLang="en-US" sz="2000" dirty="0">
              <a:latin typeface="微软雅黑" panose="020B0503020204020204" pitchFamily="34" charset="-122"/>
              <a:ea typeface="微软雅黑" panose="020B0503020204020204" pitchFamily="34" charset="-122"/>
            </a:endParaRPr>
          </a:p>
          <a:p>
            <a:pPr lvl="0" algn="just">
              <a:lnSpc>
                <a:spcPct val="150000"/>
              </a:lnSpc>
            </a:pPr>
            <a:endParaRPr lang="zh-CN" altLang="en-US" sz="2000" dirty="0">
              <a:latin typeface="微软雅黑" panose="020B0503020204020204" pitchFamily="34" charset="-122"/>
              <a:ea typeface="微软雅黑" panose="020B0503020204020204" pitchFamily="34" charset="-122"/>
            </a:endParaRPr>
          </a:p>
        </p:txBody>
      </p:sp>
      <p:cxnSp>
        <p:nvCxnSpPr>
          <p:cNvPr id="14" name="直接连接符 13"/>
          <p:cNvCxnSpPr/>
          <p:nvPr/>
        </p:nvCxnSpPr>
        <p:spPr>
          <a:xfrm>
            <a:off x="6045079" y="1880352"/>
            <a:ext cx="0" cy="4266976"/>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6199"/>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par>
                          <p:cTn id="16" fill="hold">
                            <p:stCondLst>
                              <p:cond delay="6699"/>
                            </p:stCondLst>
                            <p:childTnLst>
                              <p:par>
                                <p:cTn id="17" presetID="16" presetClass="entr" presetSubtype="42"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arn(outHorizontal)">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一、保障人权原则的含义</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二、保障人权原则的具体体现</a:t>
            </a:r>
          </a:p>
          <a:p>
            <a:pPr>
              <a:lnSpc>
                <a:spcPct val="150000"/>
              </a:lnSpc>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930781" y="775078"/>
            <a:ext cx="5009515" cy="829945"/>
          </a:xfrm>
          <a:prstGeom prst="rect">
            <a:avLst/>
          </a:prstGeom>
        </p:spPr>
        <p:txBody>
          <a:bodyPr wrap="non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第二节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保障人权原则</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2315547" y="2875280"/>
            <a:ext cx="7387889" cy="1674259"/>
            <a:chOff x="-493618" y="3123241"/>
            <a:chExt cx="5296124" cy="1674259"/>
          </a:xfrm>
        </p:grpSpPr>
        <p:sp>
          <p:nvSpPr>
            <p:cNvPr id="20" name="L 形 19"/>
            <p:cNvSpPr/>
            <p:nvPr/>
          </p:nvSpPr>
          <p:spPr>
            <a:xfrm>
              <a:off x="-493618" y="312336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370042" y="3123241"/>
              <a:ext cx="5172548" cy="1048044"/>
            </a:xfrm>
            <a:prstGeom prst="rect">
              <a:avLst/>
            </a:prstGeom>
          </p:spPr>
          <p:txBody>
            <a:bodyPr wrap="square">
              <a:spAutoFit/>
            </a:bodyPr>
            <a:lstStyle/>
            <a:p>
              <a:pPr indent="304800">
                <a:lnSpc>
                  <a:spcPct val="150000"/>
                </a:lnSpc>
              </a:pPr>
              <a:r>
                <a:rPr lang="en-US" altLang="zh-CN"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   </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保障</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人权原则是指刑法实施的全过程</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及刑事</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立法和刑事司法的各个环节都要体现对人权的保障。</a:t>
              </a:r>
            </a:p>
          </p:txBody>
        </p:sp>
      </p:grpSp>
      <p:sp>
        <p:nvSpPr>
          <p:cNvPr id="3" name="矩形 2"/>
          <p:cNvSpPr/>
          <p:nvPr/>
        </p:nvSpPr>
        <p:spPr>
          <a:xfrm>
            <a:off x="4121925" y="1232244"/>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一、保障人权原则的含义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33099" y="1221195"/>
            <a:ext cx="926894" cy="540585"/>
            <a:chOff x="620553" y="1178992"/>
            <a:chExt cx="1806046" cy="1053325"/>
          </a:xfrm>
        </p:grpSpPr>
        <p:sp>
          <p:nvSpPr>
            <p:cNvPr id="7" name="菱形 6"/>
            <p:cNvSpPr/>
            <p:nvPr/>
          </p:nvSpPr>
          <p:spPr>
            <a:xfrm>
              <a:off x="1387412" y="1190737"/>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620553" y="1178992"/>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矩形 2"/>
          <p:cNvSpPr/>
          <p:nvPr/>
        </p:nvSpPr>
        <p:spPr>
          <a:xfrm>
            <a:off x="2721092" y="57665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一、保障人权原则的含义</a:t>
            </a:r>
          </a:p>
        </p:txBody>
      </p:sp>
      <p:sp>
        <p:nvSpPr>
          <p:cNvPr id="13" name="PA_文本框 3"/>
          <p:cNvSpPr txBox="1"/>
          <p:nvPr>
            <p:custDataLst>
              <p:tags r:id="rId1"/>
            </p:custDataLst>
          </p:nvPr>
        </p:nvSpPr>
        <p:spPr>
          <a:xfrm>
            <a:off x="6266081" y="1831457"/>
            <a:ext cx="5127181" cy="3738245"/>
          </a:xfrm>
          <a:prstGeom prst="rect">
            <a:avLst/>
          </a:prstGeom>
          <a:noFill/>
        </p:spPr>
        <p:txBody>
          <a:bodyPr wrap="square" rtlCol="0">
            <a:spAutoFit/>
          </a:bodyPr>
          <a:lstStyle/>
          <a:p>
            <a:pPr lvl="0" algn="just">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将保障人权原则确立为刑法的基本原则，主要基于以下几点：</a:t>
            </a:r>
          </a:p>
          <a:p>
            <a:pPr lvl="0"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对宪法人权条款的积极贯彻与回应</a:t>
            </a:r>
          </a:p>
          <a:p>
            <a:pPr lvl="0"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在刑法中贯落实近平法治思想的重要体现</a:t>
            </a:r>
          </a:p>
          <a:p>
            <a:pPr lvl="0"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鲜明展现了刑法自身的根本要求</a:t>
            </a:r>
          </a:p>
          <a:p>
            <a:pPr lvl="0" algn="just">
              <a:lnSpc>
                <a:spcPct val="150000"/>
              </a:lnSpc>
            </a:pPr>
            <a:endParaRPr lang="zh-CN" altLang="en-US" sz="1800" dirty="0">
              <a:latin typeface="微软雅黑" panose="020B0503020204020204" pitchFamily="34" charset="-122"/>
              <a:ea typeface="微软雅黑" panose="020B0503020204020204" pitchFamily="34" charset="-122"/>
              <a:cs typeface="宋体" panose="02010600030101010101" pitchFamily="2" charset="-122"/>
              <a:sym typeface="+mn-ea"/>
            </a:endParaRPr>
          </a:p>
          <a:p>
            <a:pPr lvl="0" algn="just">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endParaRPr lang="zh-CN" altLang="en-US" sz="2000" dirty="0">
              <a:latin typeface="微软雅黑" panose="020B0503020204020204" pitchFamily="34" charset="-122"/>
              <a:ea typeface="微软雅黑" panose="020B0503020204020204" pitchFamily="34" charset="-122"/>
            </a:endParaRPr>
          </a:p>
          <a:p>
            <a:pPr lvl="0" algn="just">
              <a:lnSpc>
                <a:spcPct val="150000"/>
              </a:lnSpc>
            </a:pPr>
            <a:endParaRPr lang="zh-CN" altLang="en-US" sz="2000" dirty="0">
              <a:latin typeface="微软雅黑" panose="020B0503020204020204" pitchFamily="34" charset="-122"/>
              <a:ea typeface="微软雅黑" panose="020B0503020204020204" pitchFamily="34" charset="-122"/>
            </a:endParaRPr>
          </a:p>
        </p:txBody>
      </p:sp>
      <p:cxnSp>
        <p:nvCxnSpPr>
          <p:cNvPr id="14" name="直接连接符 13"/>
          <p:cNvCxnSpPr/>
          <p:nvPr/>
        </p:nvCxnSpPr>
        <p:spPr>
          <a:xfrm>
            <a:off x="6045079" y="1880352"/>
            <a:ext cx="0" cy="4266976"/>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357630" y="3106420"/>
            <a:ext cx="4250690" cy="1106805"/>
          </a:xfrm>
          <a:prstGeom prst="rect">
            <a:avLst/>
          </a:prstGeom>
          <a:noFill/>
        </p:spPr>
        <p:txBody>
          <a:bodyPr wrap="square" rtlCol="0" anchor="t">
            <a:spAutoFit/>
          </a:bodyPr>
          <a:lstStyle/>
          <a:p>
            <a:pPr indent="0" fontAlgn="auto">
              <a:lnSpc>
                <a:spcPct val="150000"/>
              </a:lnSpc>
            </a:pPr>
            <a:r>
              <a:rPr lang="zh-CN" altLang="en-US" sz="2200" dirty="0" smtClean="0">
                <a:solidFill>
                  <a:srgbClr val="D9793F"/>
                </a:solidFill>
                <a:latin typeface="华文中宋" panose="02010600040101010101" pitchFamily="2" charset="-122"/>
                <a:ea typeface="华文中宋" panose="02010600040101010101" pitchFamily="2" charset="-122"/>
                <a:cs typeface="华文中宋" panose="02010600040101010101" pitchFamily="2" charset="-122"/>
                <a:sym typeface="+mn-ea"/>
              </a:rPr>
              <a:t>刑法既是犯罪人的大宪章，</a:t>
            </a:r>
          </a:p>
          <a:p>
            <a:pPr indent="0" fontAlgn="auto">
              <a:lnSpc>
                <a:spcPct val="150000"/>
              </a:lnSpc>
            </a:pPr>
            <a:r>
              <a:rPr lang="en-US" altLang="zh-CN" sz="2200" dirty="0" smtClean="0">
                <a:solidFill>
                  <a:srgbClr val="D9793F"/>
                </a:solidFill>
                <a:latin typeface="华文中宋" panose="02010600040101010101" pitchFamily="2" charset="-122"/>
                <a:ea typeface="华文中宋" panose="02010600040101010101" pitchFamily="2" charset="-122"/>
                <a:cs typeface="华文中宋" panose="02010600040101010101" pitchFamily="2" charset="-122"/>
                <a:sym typeface="+mn-ea"/>
              </a:rPr>
              <a:t>          </a:t>
            </a:r>
            <a:r>
              <a:rPr lang="zh-CN" altLang="en-US" sz="2200" dirty="0" smtClean="0">
                <a:solidFill>
                  <a:srgbClr val="D9793F"/>
                </a:solidFill>
                <a:latin typeface="华文中宋" panose="02010600040101010101" pitchFamily="2" charset="-122"/>
                <a:ea typeface="华文中宋" panose="02010600040101010101" pitchFamily="2" charset="-122"/>
                <a:cs typeface="华文中宋" panose="02010600040101010101" pitchFamily="2" charset="-122"/>
                <a:sym typeface="+mn-ea"/>
              </a:rPr>
              <a:t>也是善良公民的大宪章。</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500"/>
                            </p:stCondLst>
                            <p:childTnLst>
                              <p:par>
                                <p:cTn id="13" presetID="16" presetClass="entr" presetSubtype="42"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arn(outHorizontal)">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911534"/>
            <a:ext cx="7151870" cy="1476375"/>
          </a:xfrm>
          <a:prstGeom prst="rect">
            <a:avLst/>
          </a:prstGeom>
          <a:noFill/>
        </p:spPr>
        <p:txBody>
          <a:bodyPr wrap="square" rtlCol="0">
            <a:spAutoFit/>
          </a:bodyPr>
          <a:lstStyle/>
          <a:p>
            <a:pPr lvl="0">
              <a:lnSpc>
                <a:spcPct val="150000"/>
              </a:lnSpc>
            </a:pPr>
            <a:r>
              <a:rPr lang="zh-CN" altLang="en-US" sz="2000" b="1" dirty="0">
                <a:latin typeface="微软雅黑" panose="020B0503020204020204" pitchFamily="34" charset="-122"/>
                <a:ea typeface="微软雅黑" panose="020B0503020204020204" pitchFamily="34" charset="-122"/>
              </a:rPr>
              <a:t>第一，确立了罪刑法定原则。</a:t>
            </a:r>
            <a:r>
              <a:rPr lang="zh-CN" altLang="en-US" sz="2000" dirty="0">
                <a:latin typeface="微软雅黑" panose="020B0503020204020204" pitchFamily="34" charset="-122"/>
                <a:ea typeface="微软雅黑" panose="020B0503020204020204" pitchFamily="34" charset="-122"/>
              </a:rPr>
              <a:t>罪刑法定原则的本质是限制国家的刑罚权、保障人权，只有坚持罪刑法定原则、禁止罪刑擅断，公民的自由才能获得</a:t>
            </a:r>
            <a:r>
              <a:rPr lang="zh-CN" altLang="en-US" sz="2000" dirty="0" smtClean="0">
                <a:latin typeface="微软雅黑" panose="020B0503020204020204" pitchFamily="34" charset="-122"/>
                <a:ea typeface="微软雅黑" panose="020B0503020204020204" pitchFamily="34" charset="-122"/>
              </a:rPr>
              <a:t>保障</a:t>
            </a:r>
            <a:r>
              <a:rPr lang="zh-CN" altLang="en-US" sz="1400" b="1" dirty="0" smtClean="0">
                <a:solidFill>
                  <a:srgbClr val="0288DD"/>
                </a:solidFill>
                <a:latin typeface="微软雅黑" panose="020B0503020204020204" pitchFamily="34" charset="-122"/>
                <a:ea typeface="微软雅黑" panose="020B0503020204020204" pitchFamily="34" charset="-122"/>
              </a:rPr>
              <a:t>（拐卖妇女罪）</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2" name="矩形 1"/>
          <p:cNvSpPr/>
          <p:nvPr/>
        </p:nvSpPr>
        <p:spPr>
          <a:xfrm>
            <a:off x="2610318" y="684820"/>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二、保障人权原则的具体体现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228909"/>
            <a:ext cx="7151870" cy="2399665"/>
          </a:xfrm>
          <a:prstGeom prst="rect">
            <a:avLst/>
          </a:prstGeom>
          <a:noFill/>
        </p:spPr>
        <p:txBody>
          <a:bodyPr wrap="square" rtlCol="0">
            <a:spAutoFit/>
          </a:bodyPr>
          <a:lstStyle/>
          <a:p>
            <a:pPr lvl="0">
              <a:lnSpc>
                <a:spcPct val="150000"/>
              </a:lnSpc>
            </a:pPr>
            <a:r>
              <a:rPr lang="zh-CN" altLang="en-US" sz="2000" b="1" dirty="0">
                <a:latin typeface="微软雅黑" panose="020B0503020204020204" pitchFamily="34" charset="-122"/>
                <a:ea typeface="微软雅黑" panose="020B0503020204020204" pitchFamily="34" charset="-122"/>
              </a:rPr>
              <a:t>第二，确立了罪责刑相适应原则。</a:t>
            </a:r>
            <a:r>
              <a:rPr lang="zh-CN" altLang="en-US" sz="2000" dirty="0">
                <a:latin typeface="微软雅黑" panose="020B0503020204020204" pitchFamily="34" charset="-122"/>
                <a:ea typeface="微软雅黑" panose="020B0503020204020204" pitchFamily="34" charset="-122"/>
              </a:rPr>
              <a:t>罪责刑相适应原则旨在保障人权，是对保障人权原则的进一步贯彻。轻罪重罚是对犯罪人人权的侵害，重罪轻罚是对善良公民人权的忽视，二者都明显有违公平正义。</a:t>
            </a:r>
          </a:p>
          <a:p>
            <a:pPr lvl="0">
              <a:lnSpc>
                <a:spcPct val="150000"/>
              </a:lnSpc>
            </a:pPr>
            <a:r>
              <a:rPr lang="zh-CN" altLang="en-US" sz="2000" b="1" dirty="0">
                <a:latin typeface="微软雅黑" panose="020B0503020204020204" pitchFamily="34" charset="-122"/>
                <a:ea typeface="微软雅黑" panose="020B0503020204020204" pitchFamily="34" charset="-122"/>
                <a:sym typeface="+mn-ea"/>
              </a:rPr>
              <a:t>第三，确立了少捕慎诉慎押的刑事司法政策。</a:t>
            </a:r>
            <a:endParaRPr lang="zh-CN" altLang="en-US" sz="2000" dirty="0">
              <a:latin typeface="微软雅黑" panose="020B0503020204020204" pitchFamily="34" charset="-122"/>
              <a:ea typeface="微软雅黑" panose="020B0503020204020204" pitchFamily="34" charset="-122"/>
            </a:endParaRPr>
          </a:p>
        </p:txBody>
      </p:sp>
      <p:sp>
        <p:nvSpPr>
          <p:cNvPr id="2" name="矩形 1"/>
          <p:cNvSpPr/>
          <p:nvPr/>
        </p:nvSpPr>
        <p:spPr>
          <a:xfrm>
            <a:off x="2610318" y="684820"/>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二、保障人权原则的具体体现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35750" y="1998404"/>
            <a:ext cx="7151870" cy="2861310"/>
          </a:xfrm>
          <a:prstGeom prst="rect">
            <a:avLst/>
          </a:prstGeom>
          <a:noFill/>
        </p:spPr>
        <p:txBody>
          <a:bodyPr wrap="square" rtlCol="0">
            <a:spAutoFit/>
          </a:bodyPr>
          <a:lstStyle/>
          <a:p>
            <a:pPr lvl="0">
              <a:lnSpc>
                <a:spcPct val="150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第四，促进了刑罚的人道化。</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以死刑为例，一方面，在保障人权原则的指导下，我国刑事立法进一步减少了死刑罪名。</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另一方面，在不得适用死刑的对象上，增加规定了“审判的时候已满七十五周岁的人，不适用死刑，但以特别残忍手段致人死亡的除外”。</a:t>
            </a:r>
          </a:p>
        </p:txBody>
      </p:sp>
      <p:sp>
        <p:nvSpPr>
          <p:cNvPr id="2" name="矩形 1"/>
          <p:cNvSpPr/>
          <p:nvPr/>
        </p:nvSpPr>
        <p:spPr>
          <a:xfrm>
            <a:off x="2610318" y="684820"/>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二、保障人权原则的具体体现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35750" y="2680394"/>
            <a:ext cx="7151870" cy="1938020"/>
          </a:xfrm>
          <a:prstGeom prst="rect">
            <a:avLst/>
          </a:prstGeom>
          <a:noFill/>
        </p:spPr>
        <p:txBody>
          <a:bodyPr wrap="square" rtlCol="0">
            <a:spAutoFit/>
          </a:bodyPr>
          <a:lstStyle/>
          <a:p>
            <a:pPr lvl="0">
              <a:lnSpc>
                <a:spcPct val="150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第五，强化了对被害人权利的依法保护。</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例如，《刑法修正案 (九)》增加规定，通过信息网络公然侮辱他人或者捏造事实诽谤他人，被害人向人民法院告诉时，如果提供证据确有困难，人民法院可以要求公安机关提供协助。</a:t>
            </a:r>
          </a:p>
        </p:txBody>
      </p:sp>
      <p:sp>
        <p:nvSpPr>
          <p:cNvPr id="2" name="矩形 1"/>
          <p:cNvSpPr/>
          <p:nvPr/>
        </p:nvSpPr>
        <p:spPr>
          <a:xfrm>
            <a:off x="2610318" y="684820"/>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二、保障人权原则的具体体现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一、罪刑法定原则的含义</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二、罪刑法定原则的立法体现</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三、罪刑法定原则的司法适用</a:t>
            </a:r>
          </a:p>
        </p:txBody>
      </p:sp>
      <p:sp>
        <p:nvSpPr>
          <p:cNvPr id="23" name="矩形 22"/>
          <p:cNvSpPr/>
          <p:nvPr/>
        </p:nvSpPr>
        <p:spPr>
          <a:xfrm>
            <a:off x="4930781" y="775078"/>
            <a:ext cx="5009515" cy="829945"/>
          </a:xfrm>
          <a:prstGeom prst="rect">
            <a:avLst/>
          </a:prstGeom>
        </p:spPr>
        <p:txBody>
          <a:bodyPr wrap="non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第三节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罪刑法定原则</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2487931" y="2875280"/>
            <a:ext cx="7215505" cy="1674259"/>
            <a:chOff x="-370042" y="3123241"/>
            <a:chExt cx="5172548" cy="1674259"/>
          </a:xfrm>
        </p:grpSpPr>
        <p:sp>
          <p:nvSpPr>
            <p:cNvPr id="20" name="L 形 19"/>
            <p:cNvSpPr/>
            <p:nvPr/>
          </p:nvSpPr>
          <p:spPr>
            <a:xfrm>
              <a:off x="-128084" y="312336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370042" y="3123241"/>
              <a:ext cx="5172548" cy="598805"/>
            </a:xfrm>
            <a:prstGeom prst="rect">
              <a:avLst/>
            </a:prstGeom>
          </p:spPr>
          <p:txBody>
            <a:bodyPr wrap="square">
              <a:spAutoFit/>
            </a:bodyPr>
            <a:lstStyle/>
            <a:p>
              <a:pPr indent="304800" algn="ctr">
                <a:lnSpc>
                  <a:spcPct val="150000"/>
                </a:lnSpc>
              </a:pPr>
              <a:r>
                <a:rPr lang="en-US" altLang="zh-CN"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      </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法</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无明文规定不为罪，法无明文规定不</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处罚</a:t>
              </a: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一、罪刑法定原则的含义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33099" y="1221195"/>
            <a:ext cx="926894" cy="540585"/>
            <a:chOff x="620553" y="1178992"/>
            <a:chExt cx="1806046" cy="1053325"/>
          </a:xfrm>
        </p:grpSpPr>
        <p:sp>
          <p:nvSpPr>
            <p:cNvPr id="7" name="菱形 6"/>
            <p:cNvSpPr/>
            <p:nvPr/>
          </p:nvSpPr>
          <p:spPr>
            <a:xfrm>
              <a:off x="1387412" y="1190737"/>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620553" y="1178992"/>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矩形 2"/>
          <p:cNvSpPr/>
          <p:nvPr/>
        </p:nvSpPr>
        <p:spPr>
          <a:xfrm>
            <a:off x="2721092" y="57665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一、罪刑法定原则的含义</a:t>
            </a:r>
          </a:p>
        </p:txBody>
      </p:sp>
      <p:sp>
        <p:nvSpPr>
          <p:cNvPr id="13" name="PA_文本框 3"/>
          <p:cNvSpPr txBox="1"/>
          <p:nvPr>
            <p:custDataLst>
              <p:tags r:id="rId1"/>
            </p:custDataLst>
          </p:nvPr>
        </p:nvSpPr>
        <p:spPr>
          <a:xfrm>
            <a:off x="6266081" y="2023862"/>
            <a:ext cx="5127181" cy="1891665"/>
          </a:xfrm>
          <a:prstGeom prst="rect">
            <a:avLst/>
          </a:prstGeom>
          <a:noFill/>
        </p:spPr>
        <p:txBody>
          <a:bodyPr wrap="square" rtlCol="0">
            <a:spAutoFit/>
          </a:bodyPr>
          <a:lstStyle/>
          <a:p>
            <a:pPr lvl="0" algn="just">
              <a:lnSpc>
                <a:spcPct val="150000"/>
              </a:lnSpc>
            </a:pPr>
            <a:endParaRPr lang="zh-CN" altLang="en-US" sz="1800" dirty="0">
              <a:latin typeface="微软雅黑" panose="020B0503020204020204" pitchFamily="34" charset="-122"/>
              <a:ea typeface="微软雅黑" panose="020B0503020204020204" pitchFamily="34" charset="-122"/>
              <a:cs typeface="宋体" panose="02010600030101010101" pitchFamily="2" charset="-122"/>
              <a:sym typeface="+mn-ea"/>
            </a:endParaRPr>
          </a:p>
          <a:p>
            <a:pPr lvl="0" algn="just">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罪刑法定原则的两个新的派生原则：</a:t>
            </a:r>
          </a:p>
          <a:p>
            <a:pPr lvl="1"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明确性</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原则</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（组织传销活动罪）</a:t>
            </a:r>
            <a:endPar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1"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适当性</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原则</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（高空抛物罪）</a:t>
            </a:r>
            <a:endParaRPr lang="zh-CN" altLang="en-US" sz="1400" b="1" dirty="0">
              <a:solidFill>
                <a:srgbClr val="0288DD"/>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a:xfrm>
            <a:off x="6045079" y="1880352"/>
            <a:ext cx="0" cy="4266976"/>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126490" y="2466975"/>
            <a:ext cx="4406900" cy="4154984"/>
          </a:xfrm>
          <a:prstGeom prst="rect">
            <a:avLst/>
          </a:prstGeom>
          <a:noFill/>
        </p:spPr>
        <p:txBody>
          <a:bodyPr wrap="square" rtlCol="0" anchor="t">
            <a:spAutoFit/>
          </a:bodyPr>
          <a:lstStyle/>
          <a:p>
            <a:pPr lvl="0" algn="just">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罪刑法定原则包含四个传统的派生原则：</a:t>
            </a:r>
          </a:p>
          <a:p>
            <a:pPr lvl="1"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成文法主义原则</a:t>
            </a:r>
          </a:p>
          <a:p>
            <a:pPr lvl="1"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禁止重法溯及既往</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原则</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lvl="1" algn="just">
              <a:lnSpc>
                <a:spcPct val="150000"/>
              </a:lnSpc>
            </a:pP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  （允许轻法溯及既往）</a:t>
            </a:r>
            <a:endPar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1"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禁止有罪类推</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原则</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lvl="1" algn="just">
              <a:lnSpc>
                <a:spcPct val="150000"/>
              </a:lnSpc>
            </a:pP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  （允许有利于被告人的类推）</a:t>
            </a:r>
            <a:endPar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1" algn="just">
              <a:lnSpc>
                <a:spcPct val="150000"/>
              </a:lnSpc>
            </a:pPr>
            <a:r>
              <a:rPr lang="zh-CN" altLang="en-US" sz="2000" dirty="0" smtClean="0">
                <a:solidFill>
                  <a:srgbClr val="D9793F"/>
                </a:solidFill>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禁止绝对不确定刑</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原则</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lvl="1" algn="just">
              <a:lnSpc>
                <a:spcPct val="150000"/>
              </a:lnSpc>
            </a:pPr>
            <a:r>
              <a:rPr lang="en-US" altLang="zh-CN"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（允许规定相对确定的法定刑以及个别绝对确</a:t>
            </a:r>
            <a:endParaRPr lang="en-US" altLang="zh-CN"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1" algn="just">
              <a:lnSpc>
                <a:spcPct val="150000"/>
              </a:lnSpc>
            </a:pPr>
            <a:r>
              <a:rPr lang="en-US" altLang="zh-CN"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en-US" altLang="zh-CN"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定的法定刑）</a:t>
            </a:r>
            <a:endPar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500"/>
                            </p:stCondLst>
                            <p:childTnLst>
                              <p:par>
                                <p:cTn id="13" presetID="16" presetClass="entr" presetSubtype="42"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arn(outHorizontal)">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35750" y="1526599"/>
            <a:ext cx="7151870" cy="4246245"/>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第一，1997 年《刑法》实现了犯罪的法定化和刑罚的法定化。</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第二，1997 年《刑法》取消了 1979 年《刑法》第79 条规定的类推制度。</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第三，1997年《刑法》重申了 1979 年《刑法》第9条规定的刑法在溯及力问题上从旧兼从轻的原则。</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第四，在分则罪名的规定方面，1997 年《刑法》已相当详备。</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第五，在具体犯罪的罪状以及各种犯罪的法定刑设置方面，1997 年《刑法》增强了法条的明确性和可操作性。</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2610318" y="684820"/>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二、罪刑法定原则的立法体现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35750" y="2263834"/>
            <a:ext cx="7151870" cy="2399665"/>
          </a:xfrm>
          <a:prstGeom prst="rect">
            <a:avLst/>
          </a:prstGeom>
          <a:noFill/>
        </p:spPr>
        <p:txBody>
          <a:bodyPr wrap="square" rtlCol="0">
            <a:spAutoFit/>
          </a:bodyPr>
          <a:lstStyle/>
          <a:p>
            <a:pPr lvl="0">
              <a:lnSpc>
                <a:spcPct val="150000"/>
              </a:lnSpc>
            </a:pPr>
            <a:r>
              <a:rPr lang="zh-CN" altLang="en-US" sz="2000" b="1" dirty="0">
                <a:latin typeface="微软雅黑" panose="020B0503020204020204" pitchFamily="34" charset="-122"/>
                <a:ea typeface="微软雅黑" panose="020B0503020204020204" pitchFamily="34" charset="-122"/>
              </a:rPr>
              <a:t>第一，罪刑法定与司法适用。</a:t>
            </a:r>
            <a:r>
              <a:rPr lang="zh-CN" altLang="en-US" sz="2000" dirty="0">
                <a:latin typeface="微软雅黑" panose="020B0503020204020204" pitchFamily="34" charset="-122"/>
                <a:ea typeface="微软雅黑" panose="020B0503020204020204" pitchFamily="34" charset="-122"/>
              </a:rPr>
              <a:t>罪刑法定原则是衡量刑法适用是否合理的根本标准。</a:t>
            </a:r>
          </a:p>
          <a:p>
            <a:pPr lvl="0">
              <a:lnSpc>
                <a:spcPct val="150000"/>
              </a:lnSpc>
            </a:pPr>
            <a:r>
              <a:rPr lang="zh-CN" altLang="en-US" sz="2000" dirty="0">
                <a:latin typeface="微软雅黑" panose="020B0503020204020204" pitchFamily="34" charset="-122"/>
                <a:ea typeface="微软雅黑" panose="020B0503020204020204" pitchFamily="34" charset="-122"/>
              </a:rPr>
              <a:t>刑法适用必须在罪刑法定原则的前提下进行，司法工作人员不得超出刑法文本可能具有的含义范围适用刑法。刑法通过文字表述指引、指示人们的行为。</a:t>
            </a:r>
          </a:p>
        </p:txBody>
      </p:sp>
      <p:sp>
        <p:nvSpPr>
          <p:cNvPr id="2" name="矩形 1"/>
          <p:cNvSpPr/>
          <p:nvPr/>
        </p:nvSpPr>
        <p:spPr>
          <a:xfrm>
            <a:off x="2610318" y="684820"/>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三、罪刑法定原则的司法适用</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063995" y="2690554"/>
            <a:ext cx="7151870" cy="1938992"/>
          </a:xfrm>
          <a:prstGeom prst="rect">
            <a:avLst/>
          </a:prstGeom>
          <a:noFill/>
        </p:spPr>
        <p:txBody>
          <a:bodyPr wrap="square" rtlCol="0">
            <a:spAutoFit/>
          </a:bodyPr>
          <a:lstStyle/>
          <a:p>
            <a:pPr lvl="0">
              <a:lnSpc>
                <a:spcPct val="150000"/>
              </a:lnSpc>
            </a:pPr>
            <a:r>
              <a:rPr lang="zh-CN" altLang="en-US" sz="2000" b="1" dirty="0">
                <a:latin typeface="微软雅黑" panose="020B0503020204020204" pitchFamily="34" charset="-122"/>
                <a:ea typeface="微软雅黑" panose="020B0503020204020204" pitchFamily="34" charset="-122"/>
              </a:rPr>
              <a:t>第二，罪刑法定与司法解释。</a:t>
            </a:r>
            <a:r>
              <a:rPr lang="zh-CN" altLang="en-US" sz="2000" dirty="0">
                <a:latin typeface="微软雅黑" panose="020B0503020204020204" pitchFamily="34" charset="-122"/>
                <a:ea typeface="微软雅黑" panose="020B0503020204020204" pitchFamily="34" charset="-122"/>
              </a:rPr>
              <a:t>对于刑法规定不够具体的犯罪，最高司法机关通过司法解释指导具体的定罪量刑活动，这对于统一规范适用和正确指导司法实践，具有重要的</a:t>
            </a:r>
            <a:r>
              <a:rPr lang="zh-CN" altLang="en-US" sz="2000" dirty="0" smtClean="0">
                <a:latin typeface="微软雅黑" panose="020B0503020204020204" pitchFamily="34" charset="-122"/>
                <a:ea typeface="微软雅黑" panose="020B0503020204020204" pitchFamily="34" charset="-122"/>
              </a:rPr>
              <a:t>意义</a:t>
            </a:r>
            <a:r>
              <a:rPr lang="zh-CN" altLang="en-US" sz="1400" b="1" dirty="0" smtClean="0">
                <a:solidFill>
                  <a:srgbClr val="0288DD"/>
                </a:solidFill>
                <a:latin typeface="微软雅黑" panose="020B0503020204020204" pitchFamily="34" charset="-122"/>
                <a:ea typeface="微软雅黑" panose="020B0503020204020204" pitchFamily="34" charset="-122"/>
              </a:rPr>
              <a:t>（</a:t>
            </a:r>
            <a:r>
              <a:rPr lang="en-US" altLang="zh-CN" sz="1400" b="1" dirty="0" smtClean="0">
                <a:solidFill>
                  <a:srgbClr val="0288DD"/>
                </a:solidFill>
                <a:latin typeface="微软雅黑" panose="020B0503020204020204" pitchFamily="34" charset="-122"/>
                <a:ea typeface="微软雅黑" panose="020B0503020204020204" pitchFamily="34" charset="-122"/>
              </a:rPr>
              <a:t>《</a:t>
            </a:r>
            <a:r>
              <a:rPr lang="zh-CN" altLang="en-US" sz="1400" b="1" dirty="0">
                <a:solidFill>
                  <a:srgbClr val="0288DD"/>
                </a:solidFill>
                <a:latin typeface="微软雅黑" panose="020B0503020204020204" pitchFamily="34" charset="-122"/>
                <a:ea typeface="微软雅黑" panose="020B0503020204020204" pitchFamily="34" charset="-122"/>
              </a:rPr>
              <a:t>关于审理交通肇事刑事案件具体应用法律若干问题的解释</a:t>
            </a:r>
            <a:r>
              <a:rPr lang="en-US" altLang="zh-CN" sz="1400" b="1" dirty="0" smtClean="0">
                <a:solidFill>
                  <a:srgbClr val="0288DD"/>
                </a:solidFill>
                <a:latin typeface="微软雅黑" panose="020B0503020204020204" pitchFamily="34" charset="-122"/>
                <a:ea typeface="微软雅黑" panose="020B0503020204020204" pitchFamily="34"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2" name="矩形 1"/>
          <p:cNvSpPr/>
          <p:nvPr/>
        </p:nvSpPr>
        <p:spPr>
          <a:xfrm>
            <a:off x="2610318" y="684820"/>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三、罪刑法定原则的司法适用</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198880"/>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适用刑法人人平等原则的含义</a:t>
            </a:r>
            <a:endPar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适用刑法人人平等原则的具体体现</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717421" y="775078"/>
            <a:ext cx="7044055" cy="829945"/>
          </a:xfrm>
          <a:prstGeom prst="rect">
            <a:avLst/>
          </a:prstGeom>
        </p:spPr>
        <p:txBody>
          <a:bodyPr wrap="non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第四节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适用刑法人人平等原则</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2825453" y="2651125"/>
            <a:ext cx="7809528" cy="2599454"/>
            <a:chOff x="-128084" y="2899086"/>
            <a:chExt cx="5598383" cy="2599454"/>
          </a:xfrm>
        </p:grpSpPr>
        <p:sp>
          <p:nvSpPr>
            <p:cNvPr id="20" name="L 形 19"/>
            <p:cNvSpPr/>
            <p:nvPr/>
          </p:nvSpPr>
          <p:spPr>
            <a:xfrm>
              <a:off x="-128084" y="382440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97751" y="2899086"/>
              <a:ext cx="5172548" cy="2122805"/>
            </a:xfrm>
            <a:prstGeom prst="rect">
              <a:avLst/>
            </a:prstGeom>
          </p:spPr>
          <p:txBody>
            <a:bodyPr wrap="square">
              <a:spAutoFit/>
            </a:bodyPr>
            <a:lstStyle/>
            <a:p>
              <a:pPr indent="304800" algn="just">
                <a:lnSpc>
                  <a:spcPct val="150000"/>
                </a:lnSpc>
              </a:pPr>
              <a:r>
                <a:rPr lang="en-US" altLang="zh-CN"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  </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对</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任何人犯罪，不论犯罪人的民族</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身份、家庭出身</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、社会地位、职业性质、财产状况、政治面貌、才能业绩如何，都应追究刑事责任，一律平等地适用刑法，依法定罪、量刑和行刑，不允许任何人有超越法律的特权。</a:t>
              </a:r>
            </a:p>
          </p:txBody>
        </p:sp>
      </p:grpSp>
      <p:sp>
        <p:nvSpPr>
          <p:cNvPr id="3" name="矩形 2"/>
          <p:cNvSpPr/>
          <p:nvPr/>
        </p:nvSpPr>
        <p:spPr>
          <a:xfrm>
            <a:off x="4121925" y="1232244"/>
            <a:ext cx="47548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一、适用刑法人人平等原则的含义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2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1750" y="2179855"/>
            <a:ext cx="7248512" cy="2861310"/>
          </a:xfrm>
          <a:prstGeom prst="rect">
            <a:avLst/>
          </a:prstGeom>
          <a:noFill/>
        </p:spPr>
        <p:txBody>
          <a:bodyPr wrap="square" rtlCol="0">
            <a:spAutoFit/>
          </a:bodyPr>
          <a:lstStyle/>
          <a:p>
            <a:pPr lvl="0">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定罪上一律平等。</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任何人犯罪，无论其身份、地位等如何，一律平等对待，适用相同的定罪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标准</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（故意伤害罪）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lvl="0">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量刑上一律平等。</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犯相同的罪且有相同的犯罪情节的，应做到同罪同</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罚</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（一般累犯）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lvl="0">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行刑上一律平等。</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在执行刑罚时，对于所有的受刑人都应平等</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对待</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（假释）</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235128"/>
            <a:ext cx="3177303" cy="1674132"/>
            <a:chOff x="760461" y="3235128"/>
            <a:chExt cx="3177303"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5798" y="3429311"/>
              <a:ext cx="261620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定罪</a:t>
              </a:r>
              <a:r>
                <a:rPr lang="en-US" altLang="zh-CN"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&amp;</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量刑</a:t>
              </a:r>
              <a:r>
                <a:rPr lang="en-US" altLang="zh-CN"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&amp;</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行刑</a:t>
              </a:r>
            </a:p>
          </p:txBody>
        </p:sp>
      </p:grpSp>
      <p:sp>
        <p:nvSpPr>
          <p:cNvPr id="3" name="矩形 2"/>
          <p:cNvSpPr/>
          <p:nvPr/>
        </p:nvSpPr>
        <p:spPr>
          <a:xfrm>
            <a:off x="4121925" y="1232244"/>
            <a:ext cx="53644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二、适用刑法人人平等原则的具体体现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2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2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一、罪责刑相适应</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原则的含义</a:t>
            </a:r>
            <a:endPar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二、罪责刑相适应原则的立法</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体现</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三、罪责刑相适应原则的司法适用</a:t>
            </a:r>
          </a:p>
        </p:txBody>
      </p:sp>
      <p:sp>
        <p:nvSpPr>
          <p:cNvPr id="23" name="矩形 22"/>
          <p:cNvSpPr/>
          <p:nvPr/>
        </p:nvSpPr>
        <p:spPr>
          <a:xfrm>
            <a:off x="4930781" y="775078"/>
            <a:ext cx="6026785" cy="829945"/>
          </a:xfrm>
          <a:prstGeom prst="rect">
            <a:avLst/>
          </a:prstGeom>
        </p:spPr>
        <p:txBody>
          <a:bodyPr wrap="non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第五节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罪责刑相适应原则</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3355043" y="3054477"/>
            <a:ext cx="7215803" cy="1674132"/>
            <a:chOff x="251561" y="3302438"/>
            <a:chExt cx="5172762" cy="1674132"/>
          </a:xfrm>
        </p:grpSpPr>
        <p:sp>
          <p:nvSpPr>
            <p:cNvPr id="20" name="L 形 19"/>
            <p:cNvSpPr/>
            <p:nvPr/>
          </p:nvSpPr>
          <p:spPr>
            <a:xfrm>
              <a:off x="251561" y="330243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251775" y="3377876"/>
              <a:ext cx="5172548" cy="598805"/>
            </a:xfrm>
            <a:prstGeom prst="rect">
              <a:avLst/>
            </a:prstGeom>
          </p:spPr>
          <p:txBody>
            <a:bodyPr wrap="square">
              <a:spAutoFit/>
            </a:bodyPr>
            <a:lstStyle/>
            <a:p>
              <a:pPr indent="304800" algn="just">
                <a:lnSpc>
                  <a:spcPct val="150000"/>
                </a:lnSpc>
              </a:pPr>
              <a:r>
                <a:rPr lang="en-US" altLang="zh-CN"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      </a:t>
              </a: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重罪重罚，轻罪轻罚，罪刑相称，罚当其罪。</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一、罪责刑相适应原则的含义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35750" y="1632644"/>
            <a:ext cx="7151870" cy="4247317"/>
          </a:xfrm>
          <a:prstGeom prst="rect">
            <a:avLst/>
          </a:prstGeom>
          <a:noFill/>
        </p:spPr>
        <p:txBody>
          <a:bodyPr wrap="square" rtlCol="0">
            <a:spAutoFit/>
          </a:bodyPr>
          <a:lstStyle/>
          <a:p>
            <a:pPr lvl="0">
              <a:lnSpc>
                <a:spcPct val="150000"/>
              </a:lnSpc>
            </a:pPr>
            <a:r>
              <a:rPr lang="zh-CN" altLang="en-US" sz="2000" b="1" dirty="0">
                <a:latin typeface="微软雅黑" panose="020B0503020204020204" pitchFamily="34" charset="-122"/>
                <a:ea typeface="微软雅黑" panose="020B0503020204020204" pitchFamily="34" charset="-122"/>
              </a:rPr>
              <a:t>第一，确立了科学严密的刑罚体系。</a:t>
            </a:r>
            <a:r>
              <a:rPr lang="zh-CN" altLang="en-US" sz="2000" dirty="0">
                <a:latin typeface="微软雅黑" panose="020B0503020204020204" pitchFamily="34" charset="-122"/>
                <a:ea typeface="微软雅黑" panose="020B0503020204020204" pitchFamily="34" charset="-122"/>
              </a:rPr>
              <a:t>我国刑法总则确定了一个科学的刑罚体系，这一体系由不同的刑罚方式</a:t>
            </a:r>
            <a:r>
              <a:rPr lang="zh-CN" altLang="en-US" sz="2000" dirty="0" smtClean="0">
                <a:latin typeface="微软雅黑" panose="020B0503020204020204" pitchFamily="34" charset="-122"/>
                <a:ea typeface="微软雅黑" panose="020B0503020204020204" pitchFamily="34" charset="-122"/>
              </a:rPr>
              <a:t>构成</a:t>
            </a:r>
            <a:r>
              <a:rPr lang="zh-CN" altLang="en-US" sz="1400" b="1" dirty="0" smtClean="0">
                <a:solidFill>
                  <a:srgbClr val="0288DD"/>
                </a:solidFill>
                <a:latin typeface="微软雅黑" panose="020B0503020204020204" pitchFamily="34" charset="-122"/>
                <a:ea typeface="微软雅黑" panose="020B0503020204020204" pitchFamily="34" charset="-122"/>
              </a:rPr>
              <a:t>（主刑体系）</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0">
              <a:lnSpc>
                <a:spcPct val="150000"/>
              </a:lnSpc>
            </a:pPr>
            <a:r>
              <a:rPr lang="zh-CN" altLang="en-US" sz="2000" b="1" dirty="0">
                <a:latin typeface="微软雅黑" panose="020B0503020204020204" pitchFamily="34" charset="-122"/>
                <a:ea typeface="微软雅黑" panose="020B0503020204020204" pitchFamily="34" charset="-122"/>
              </a:rPr>
              <a:t>第二，规定了区别对待的处罚原则。</a:t>
            </a:r>
            <a:r>
              <a:rPr lang="zh-CN" altLang="en-US" sz="2000" dirty="0">
                <a:latin typeface="微软雅黑" panose="020B0503020204020204" pitchFamily="34" charset="-122"/>
                <a:ea typeface="微软雅黑" panose="020B0503020204020204" pitchFamily="34" charset="-122"/>
              </a:rPr>
              <a:t>我国刑法总则根据各种行为的社会危害程度和行为人人身危险性的大小，规定了不同的处罚</a:t>
            </a:r>
            <a:r>
              <a:rPr lang="zh-CN" altLang="en-US" sz="2000" dirty="0" smtClean="0">
                <a:latin typeface="微软雅黑" panose="020B0503020204020204" pitchFamily="34" charset="-122"/>
                <a:ea typeface="微软雅黑" panose="020B0503020204020204" pitchFamily="34" charset="-122"/>
              </a:rPr>
              <a:t>原则</a:t>
            </a:r>
            <a:r>
              <a:rPr lang="zh-CN" altLang="en-US" sz="1400" b="1" dirty="0" smtClean="0">
                <a:solidFill>
                  <a:srgbClr val="0288DD"/>
                </a:solidFill>
                <a:latin typeface="微软雅黑" panose="020B0503020204020204" pitchFamily="34" charset="-122"/>
                <a:ea typeface="微软雅黑" panose="020B0503020204020204" pitchFamily="34" charset="-122"/>
              </a:rPr>
              <a:t>（未成年人犯罪的从宽处罚原则）</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lvl="0">
              <a:lnSpc>
                <a:spcPct val="150000"/>
              </a:lnSpc>
            </a:pPr>
            <a:r>
              <a:rPr lang="zh-CN" altLang="en-US" sz="2000" b="1" dirty="0">
                <a:latin typeface="微软雅黑" panose="020B0503020204020204" pitchFamily="34" charset="-122"/>
                <a:ea typeface="微软雅黑" panose="020B0503020204020204" pitchFamily="34" charset="-122"/>
              </a:rPr>
              <a:t>第三，设置了轻重不同的法定刑幅度。</a:t>
            </a:r>
            <a:r>
              <a:rPr lang="zh-CN" altLang="en-US" sz="2000" dirty="0">
                <a:latin typeface="微软雅黑" panose="020B0503020204020204" pitchFamily="34" charset="-122"/>
                <a:ea typeface="微软雅黑" panose="020B0503020204020204" pitchFamily="34" charset="-122"/>
              </a:rPr>
              <a:t>我国刑法分则不仅根据犯罪的性质和危害程度建立了一个犯罪体系，还为各种具体犯罪规定了可以分割、能够</a:t>
            </a:r>
            <a:r>
              <a:rPr lang="zh-CN" altLang="en-US" sz="2000" dirty="0" smtClean="0">
                <a:latin typeface="微软雅黑" panose="020B0503020204020204" pitchFamily="34" charset="-122"/>
                <a:ea typeface="微软雅黑" panose="020B0503020204020204" pitchFamily="34" charset="-122"/>
              </a:rPr>
              <a:t>伸缩、幅度</a:t>
            </a:r>
            <a:r>
              <a:rPr lang="zh-CN" altLang="en-US" sz="2000" dirty="0">
                <a:latin typeface="微软雅黑" panose="020B0503020204020204" pitchFamily="34" charset="-122"/>
                <a:ea typeface="微软雅黑" panose="020B0503020204020204" pitchFamily="34" charset="-122"/>
              </a:rPr>
              <a:t>较大的法</a:t>
            </a:r>
            <a:r>
              <a:rPr lang="zh-CN" altLang="en-US" sz="2000" dirty="0">
                <a:latin typeface="微软雅黑" panose="020B0503020204020204" pitchFamily="34" charset="-122"/>
                <a:ea typeface="微软雅黑" panose="020B0503020204020204" pitchFamily="34" charset="-122"/>
              </a:rPr>
              <a:t>定刑</a:t>
            </a:r>
            <a:r>
              <a:rPr lang="zh-CN" altLang="en-US" sz="1400" b="1" dirty="0">
                <a:solidFill>
                  <a:srgbClr val="0288DD"/>
                </a:solidFill>
                <a:latin typeface="微软雅黑" panose="020B0503020204020204" pitchFamily="34" charset="-122"/>
                <a:ea typeface="微软雅黑" panose="020B0503020204020204" pitchFamily="34" charset="-122"/>
              </a:rPr>
              <a:t>（走私、贩卖、运输、制造毒品罪）</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2" name="矩形 1"/>
          <p:cNvSpPr/>
          <p:nvPr/>
        </p:nvSpPr>
        <p:spPr>
          <a:xfrm>
            <a:off x="2610318" y="684820"/>
            <a:ext cx="47548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二、罪责刑相适应原则的立法体现</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2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7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2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35750" y="1632644"/>
            <a:ext cx="7151870" cy="4247317"/>
          </a:xfrm>
          <a:prstGeom prst="rect">
            <a:avLst/>
          </a:prstGeom>
          <a:noFill/>
        </p:spPr>
        <p:txBody>
          <a:bodyPr wrap="square" rtlCol="0">
            <a:spAutoFit/>
          </a:bodyPr>
          <a:lstStyle/>
          <a:p>
            <a:pPr lvl="0">
              <a:lnSpc>
                <a:spcPct val="150000"/>
              </a:lnSpc>
            </a:pPr>
            <a:r>
              <a:rPr lang="zh-CN" altLang="en-US" sz="2000" b="1" dirty="0">
                <a:latin typeface="微软雅黑" panose="020B0503020204020204" pitchFamily="34" charset="-122"/>
                <a:ea typeface="微软雅黑" panose="020B0503020204020204" pitchFamily="34" charset="-122"/>
              </a:rPr>
              <a:t>第一，作为刑法基本原则，罪责刑相适应原则具有指导刑法适用、制约定罪的功能。</a:t>
            </a:r>
          </a:p>
          <a:p>
            <a:pPr lvl="0">
              <a:lnSpc>
                <a:spcPct val="150000"/>
              </a:lnSpc>
            </a:pPr>
            <a:r>
              <a:rPr sz="2000" b="1" dirty="0">
                <a:latin typeface="微软雅黑" panose="020B0503020204020204" pitchFamily="34" charset="-122"/>
                <a:ea typeface="微软雅黑" panose="020B0503020204020204" pitchFamily="34" charset="-122"/>
                <a:sym typeface="+mn-ea"/>
              </a:rPr>
              <a:t>第二，要正确处理好罪、责、刑之间的关系。</a:t>
            </a:r>
            <a:r>
              <a:rPr sz="2000" dirty="0">
                <a:latin typeface="微软雅黑" panose="020B0503020204020204" pitchFamily="34" charset="-122"/>
                <a:ea typeface="微软雅黑" panose="020B0503020204020204" pitchFamily="34" charset="-122"/>
                <a:sym typeface="+mn-ea"/>
              </a:rPr>
              <a:t>一方面，罪行是刑事责任的前提，罪行的存在与否决定着刑事责任的存在与否，刑事责任的大小也主要由罪</a:t>
            </a:r>
            <a:r>
              <a:rPr lang="zh-CN" sz="2000" dirty="0">
                <a:latin typeface="微软雅黑" panose="020B0503020204020204" pitchFamily="34" charset="-122"/>
                <a:ea typeface="微软雅黑" panose="020B0503020204020204" pitchFamily="34" charset="-122"/>
                <a:sym typeface="+mn-ea"/>
              </a:rPr>
              <a:t>行</a:t>
            </a:r>
            <a:r>
              <a:rPr sz="2000" dirty="0" err="1" smtClean="0">
                <a:latin typeface="微软雅黑" panose="020B0503020204020204" pitchFamily="34" charset="-122"/>
                <a:ea typeface="微软雅黑" panose="020B0503020204020204" pitchFamily="34" charset="-122"/>
                <a:sym typeface="+mn-ea"/>
              </a:rPr>
              <a:t>的危害程度</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（客观危害</a:t>
            </a:r>
            <a:r>
              <a:rPr lang="en-US" altLang="zh-CN" sz="1400" b="1" dirty="0" smtClean="0">
                <a:solidFill>
                  <a:srgbClr val="0288DD"/>
                </a:solidFill>
                <a:latin typeface="微软雅黑" panose="020B0503020204020204" pitchFamily="34" charset="-122"/>
                <a:ea typeface="微软雅黑" panose="020B0503020204020204" pitchFamily="34" charset="-122"/>
                <a:sym typeface="+mn-ea"/>
              </a:rPr>
              <a:t>+</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主观恶性）</a:t>
            </a:r>
            <a:r>
              <a:rPr sz="2000" dirty="0" err="1" smtClean="0">
                <a:latin typeface="微软雅黑" panose="020B0503020204020204" pitchFamily="34" charset="-122"/>
                <a:ea typeface="微软雅黑" panose="020B0503020204020204" pitchFamily="34" charset="-122"/>
                <a:sym typeface="+mn-ea"/>
              </a:rPr>
              <a:t>决定</a:t>
            </a:r>
            <a:r>
              <a:rPr sz="2000" dirty="0" err="1">
                <a:latin typeface="微软雅黑" panose="020B0503020204020204" pitchFamily="34" charset="-122"/>
                <a:ea typeface="微软雅黑" panose="020B0503020204020204" pitchFamily="34" charset="-122"/>
                <a:sym typeface="+mn-ea"/>
              </a:rPr>
              <a:t>。另一方面，刑事责任是刑罚适用的根据，</a:t>
            </a:r>
            <a:r>
              <a:rPr sz="2000" dirty="0" err="1" smtClean="0">
                <a:latin typeface="微软雅黑" panose="020B0503020204020204" pitchFamily="34" charset="-122"/>
                <a:ea typeface="微软雅黑" panose="020B0503020204020204" pitchFamily="34" charset="-122"/>
                <a:sym typeface="+mn-ea"/>
              </a:rPr>
              <a:t>刑事责任的大小直接决定了刑罚的轻重</a:t>
            </a:r>
            <a:r>
              <a:rPr lang="zh-CN" altLang="en-US" sz="2000" dirty="0" smtClean="0">
                <a:latin typeface="微软雅黑" panose="020B0503020204020204" pitchFamily="34" charset="-122"/>
                <a:ea typeface="微软雅黑" panose="020B0503020204020204" pitchFamily="34" charset="-122"/>
                <a:sym typeface="+mn-ea"/>
              </a:rPr>
              <a:t>：</a:t>
            </a:r>
            <a:r>
              <a:rPr sz="2000" dirty="0" err="1" smtClean="0">
                <a:latin typeface="微软雅黑" panose="020B0503020204020204" pitchFamily="34" charset="-122"/>
                <a:ea typeface="微软雅黑" panose="020B0503020204020204" pitchFamily="34" charset="-122"/>
                <a:sym typeface="+mn-ea"/>
              </a:rPr>
              <a:t>刑事责任重则刑罚重</a:t>
            </a:r>
            <a:r>
              <a:rPr sz="2000" dirty="0" err="1">
                <a:latin typeface="微软雅黑" panose="020B0503020204020204" pitchFamily="34" charset="-122"/>
                <a:ea typeface="微软雅黑" panose="020B0503020204020204" pitchFamily="34" charset="-122"/>
                <a:sym typeface="+mn-ea"/>
              </a:rPr>
              <a:t>，刑事责任轻则刑罚轻，刑事责任很轻时，</a:t>
            </a:r>
            <a:r>
              <a:rPr sz="2000" dirty="0" err="1" smtClean="0">
                <a:latin typeface="微软雅黑" panose="020B0503020204020204" pitchFamily="34" charset="-122"/>
                <a:ea typeface="微软雅黑" panose="020B0503020204020204" pitchFamily="34" charset="-122"/>
                <a:sym typeface="+mn-ea"/>
              </a:rPr>
              <a:t>还可免予刑事处罚</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（电信网络诈骗犯罪）</a:t>
            </a:r>
            <a:r>
              <a:rPr sz="2000" dirty="0" smtClean="0">
                <a:latin typeface="微软雅黑" panose="020B0503020204020204" pitchFamily="34" charset="-122"/>
                <a:ea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endParaRPr>
          </a:p>
        </p:txBody>
      </p:sp>
      <p:sp>
        <p:nvSpPr>
          <p:cNvPr id="2" name="矩形 1"/>
          <p:cNvSpPr/>
          <p:nvPr/>
        </p:nvSpPr>
        <p:spPr>
          <a:xfrm>
            <a:off x="2610318" y="684820"/>
            <a:ext cx="47548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三、罪责刑相适应原则的司法适用</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2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7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2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198880"/>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一、罪责自负原则</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二、主客观相统一原则</a:t>
            </a:r>
          </a:p>
        </p:txBody>
      </p:sp>
      <p:sp>
        <p:nvSpPr>
          <p:cNvPr id="23" name="矩形 22"/>
          <p:cNvSpPr/>
          <p:nvPr/>
        </p:nvSpPr>
        <p:spPr>
          <a:xfrm>
            <a:off x="4930781" y="775078"/>
            <a:ext cx="6535420" cy="829945"/>
          </a:xfrm>
          <a:prstGeom prst="rect">
            <a:avLst/>
          </a:prstGeom>
        </p:spPr>
        <p:txBody>
          <a:bodyPr wrap="non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第六节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刑法的其他基本原则</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2400657"/>
          </a:xfrm>
          <a:prstGeom prst="rect">
            <a:avLst/>
          </a:prstGeom>
          <a:noFill/>
        </p:spPr>
        <p:txBody>
          <a:bodyPr wrap="square" rtlCol="0">
            <a:spAutoFit/>
          </a:bodyPr>
          <a:lstStyle/>
          <a:p>
            <a:pPr lvl="0" indent="508000" fontAlgn="auto">
              <a:lnSpc>
                <a:spcPct val="150000"/>
              </a:lnSpc>
              <a:extLst>
                <a:ext uri="{35155182-B16C-46BC-9424-99874614C6A1}">
                  <wpsdc:indentchars xmlns="" xmlns:wpsdc="http://www.wps.cn/officeDocument/2017/drawingmlCustomData" val="200" checksum="282533468"/>
                </a:ext>
              </a:extLst>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罪责自负原则的含义是：谁犯了罪，就应当由谁承担责任；刑罚只及于犯罪者本人，任何人不因他人的犯罪行为而受处罚。罪责自负与罪责株连根本</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对立</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（责任主义</a:t>
            </a:r>
            <a:r>
              <a:rPr lang="en-US" altLang="zh-CN"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个人责任</a:t>
            </a:r>
            <a:r>
              <a:rPr lang="en-US" altLang="zh-CN"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主观责任</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indent="508000" fontAlgn="auto">
              <a:lnSpc>
                <a:spcPct val="150000"/>
              </a:lnSpc>
              <a:extLst>
                <a:ext uri="{35155182-B16C-46BC-9424-99874614C6A1}">
                  <wpsdc:indentchars xmlns="" xmlns:wpsdc="http://www.wps.cn/officeDocument/2017/drawingmlCustomData" val="200" checksum="282533468"/>
                </a:ext>
              </a:extLst>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资产阶级革命胜利后，罪责自负正式成为刑法的基本原则，宣告了株连无辜的专制主义刑罚制度彻底崩溃。</a:t>
            </a: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一、罪责自负原则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（一）罪责自负原则的含义</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89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39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289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333684"/>
            <a:ext cx="7151870" cy="3785652"/>
          </a:xfrm>
          <a:prstGeom prst="rect">
            <a:avLst/>
          </a:prstGeom>
          <a:noFill/>
        </p:spPr>
        <p:txBody>
          <a:bodyPr wrap="square" rtlCol="0">
            <a:spAutoFit/>
          </a:bodyPr>
          <a:lstStyle/>
          <a:p>
            <a:pPr lvl="0">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1.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明确规定了犯罪的概念和犯罪构成的共同要件，原则上划清了罪与非罪的界限。</a:t>
            </a:r>
          </a:p>
          <a:p>
            <a:pPr lvl="0">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2.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明确规定了共同犯罪的条件和处罚原则，对于主犯、从犯、胁从犯和教唆犯，应当根据他们在共同犯罪中的实际地位和作用进行处罚。</a:t>
            </a:r>
          </a:p>
          <a:p>
            <a:pPr lvl="0">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3.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明确规定了各种刑罚的适用对象，从根本上排除了株连无辜的可能。</a:t>
            </a:r>
          </a:p>
          <a:p>
            <a:pPr lvl="0">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4.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明确规定了各种犯罪的主体范围，以防止株连</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无辜</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（个人责任）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一、罪责自负原则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（二）罪责自负原则的立法体现</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3785652"/>
          </a:xfrm>
          <a:prstGeom prst="rect">
            <a:avLst/>
          </a:prstGeom>
          <a:noFill/>
        </p:spPr>
        <p:txBody>
          <a:bodyPr wrap="square" rtlCol="0">
            <a:spAutoFit/>
          </a:bodyPr>
          <a:lstStyle/>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1. </a:t>
            </a:r>
            <a:r>
              <a:rPr sz="2000" dirty="0" smtClean="0">
                <a:latin typeface="微软雅黑" panose="020B0503020204020204" pitchFamily="34" charset="-122"/>
                <a:ea typeface="微软雅黑" panose="020B0503020204020204" pitchFamily="34" charset="-122"/>
                <a:cs typeface="宋体" panose="02010600030101010101" pitchFamily="2" charset="-122"/>
              </a:rPr>
              <a:t> 对所有刑事案件的侦查、起诉和审判，都必须深入实际调查研究，做到事实清楚、证据确实充分，防止错捕、错判，切实保障无罪者不受刑事追究。</a:t>
            </a: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2.</a:t>
            </a:r>
            <a:r>
              <a:rPr sz="2000" dirty="0" smtClean="0">
                <a:latin typeface="微软雅黑" panose="020B0503020204020204" pitchFamily="34" charset="-122"/>
                <a:ea typeface="微软雅黑" panose="020B0503020204020204" pitchFamily="34" charset="-122"/>
                <a:cs typeface="宋体" panose="02010600030101010101" pitchFamily="2" charset="-122"/>
              </a:rPr>
              <a:t> </a:t>
            </a:r>
            <a:r>
              <a:rPr sz="2000" dirty="0" err="1" smtClean="0">
                <a:latin typeface="微软雅黑" panose="020B0503020204020204" pitchFamily="34" charset="-122"/>
                <a:ea typeface="微软雅黑" panose="020B0503020204020204" pitchFamily="34" charset="-122"/>
                <a:cs typeface="宋体" panose="02010600030101010101" pitchFamily="2" charset="-122"/>
              </a:rPr>
              <a:t>对共同犯罪案件中各被告人刑事责任的确定，应当以共同犯罪人预谋范围内的犯罪为依据，</a:t>
            </a:r>
            <a:r>
              <a:rPr sz="2000" dirty="0" err="1" smtClean="0">
                <a:latin typeface="微软雅黑" panose="020B0503020204020204" pitchFamily="34" charset="-122"/>
                <a:ea typeface="微软雅黑" panose="020B0503020204020204" pitchFamily="34" charset="-122"/>
                <a:cs typeface="宋体" panose="02010600030101010101" pitchFamily="2" charset="-122"/>
              </a:rPr>
              <a:t>令被告人承担共同犯罪的刑事责任</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rPr>
              <a:t>（主观责任）</a:t>
            </a:r>
            <a:r>
              <a:rPr lang="zh-CN"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对超出共同预谋范围的犯罪，应当由实行者本人对该罪独立承担责任</a:t>
            </a:r>
            <a:r>
              <a:rPr lang="zh-CN"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err="1" smtClean="0">
                <a:latin typeface="微软雅黑" panose="020B0503020204020204" pitchFamily="34" charset="-122"/>
                <a:ea typeface="微软雅黑" panose="020B0503020204020204" pitchFamily="34" charset="-122"/>
                <a:cs typeface="宋体" panose="02010600030101010101" pitchFamily="2" charset="-122"/>
              </a:rPr>
              <a:t>其他未参与此罪的人，不应对该罪负责</a:t>
            </a:r>
            <a:r>
              <a:rPr sz="2000" dirty="0" smtClean="0">
                <a:latin typeface="微软雅黑" panose="020B0503020204020204" pitchFamily="34" charset="-122"/>
                <a:ea typeface="微软雅黑" panose="020B0503020204020204" pitchFamily="34" charset="-122"/>
                <a:cs typeface="宋体" panose="02010600030101010101" pitchFamily="2" charset="-122"/>
              </a:rPr>
              <a:t>。</a:t>
            </a: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一、罪责自负原则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（三）罪责自负原则的司法适用</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2400657"/>
          </a:xfrm>
          <a:prstGeom prst="rect">
            <a:avLst/>
          </a:prstGeom>
          <a:noFill/>
        </p:spPr>
        <p:txBody>
          <a:bodyPr wrap="square" rtlCol="0">
            <a:spAutoFit/>
          </a:bodyPr>
          <a:lstStyle/>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3.</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对单位犯罪案件的处理，应严格依照刑法的规定追究单位及其直接负责的主管人员和其他直接责任人员的刑事责任，不能把单位的其他成员作为承担形式责任的主体，对其定罪判刑。</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4.</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对于法律明文规定犯罪主体范围的犯罪，要严格依法办案，不能随意扩大犯罪主体的范围，以防累及无辜。</a:t>
            </a: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2" name="矩形 1"/>
          <p:cNvSpPr/>
          <p:nvPr/>
        </p:nvSpPr>
        <p:spPr>
          <a:xfrm>
            <a:off x="3143083" y="1119160"/>
            <a:ext cx="26212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一、罪责自负原则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（三）罪责自负原则的司法适用</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3125567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85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449889"/>
            <a:ext cx="7151870" cy="1477328"/>
          </a:xfrm>
          <a:prstGeom prst="rect">
            <a:avLst/>
          </a:prstGeom>
          <a:noFill/>
        </p:spPr>
        <p:txBody>
          <a:bodyPr wrap="square" rtlCol="0">
            <a:spAutoFit/>
          </a:bodyPr>
          <a:lstStyle/>
          <a:p>
            <a:pPr lvl="0" indent="457200">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rPr>
              <a:t>对被告人追究刑事责任，必须同时具备主客观两方面条件</a:t>
            </a:r>
            <a:r>
              <a:rPr sz="2000" dirty="0" smtClean="0">
                <a:latin typeface="微软雅黑" panose="020B0503020204020204" pitchFamily="34" charset="-122"/>
                <a:ea typeface="微软雅黑" panose="020B0503020204020204" pitchFamily="34" charset="-122"/>
                <a:cs typeface="宋体" panose="02010600030101010101" pitchFamily="2" charset="-122"/>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并要求主客观两方面条件有机统一</a:t>
            </a:r>
            <a:r>
              <a:rPr sz="2000" dirty="0" smtClean="0">
                <a:latin typeface="微软雅黑" panose="020B0503020204020204" pitchFamily="34" charset="-122"/>
                <a:ea typeface="微软雅黑" panose="020B0503020204020204" pitchFamily="34" charset="-122"/>
                <a:cs typeface="宋体" panose="02010600030101010101" pitchFamily="2" charset="-122"/>
              </a:rPr>
              <a:t>。缺少其中任何一方面的条件，犯罪就不能成立，就不能要求被告人承担刑事责任。</a:t>
            </a:r>
          </a:p>
        </p:txBody>
      </p:sp>
      <p:sp>
        <p:nvSpPr>
          <p:cNvPr id="2" name="矩形 1"/>
          <p:cNvSpPr/>
          <p:nvPr/>
        </p:nvSpPr>
        <p:spPr>
          <a:xfrm>
            <a:off x="3143083" y="1119160"/>
            <a:ext cx="32308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二、主客观相统一原则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（一）主客观相统一原则的含义</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9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9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9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9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34455" y="2214304"/>
            <a:ext cx="7151870" cy="4246245"/>
          </a:xfrm>
          <a:prstGeom prst="rect">
            <a:avLst/>
          </a:prstGeom>
          <a:noFill/>
        </p:spPr>
        <p:txBody>
          <a:bodyPr wrap="square" rtlCol="0">
            <a:spAutoFit/>
          </a:bodyPr>
          <a:lstStyle/>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1. </a:t>
            </a:r>
            <a:r>
              <a:rPr sz="2000" dirty="0" smtClean="0">
                <a:latin typeface="微软雅黑" panose="020B0503020204020204" pitchFamily="34" charset="-122"/>
                <a:ea typeface="微软雅黑" panose="020B0503020204020204" pitchFamily="34" charset="-122"/>
                <a:cs typeface="宋体" panose="02010600030101010101" pitchFamily="2" charset="-122"/>
              </a:rPr>
              <a:t>《刑法》第 14 条和第 15 条文规定了</a:t>
            </a:r>
            <a:r>
              <a:rPr lang="zh-CN" sz="2000" dirty="0" smtClean="0">
                <a:latin typeface="微软雅黑" panose="020B0503020204020204" pitchFamily="34" charset="-122"/>
                <a:ea typeface="微软雅黑" panose="020B0503020204020204" pitchFamily="34" charset="-122"/>
                <a:cs typeface="宋体" panose="02010600030101010101" pitchFamily="2" charset="-122"/>
              </a:rPr>
              <a:t>故意犯罪</a:t>
            </a:r>
            <a:r>
              <a:rPr sz="2000" dirty="0" smtClean="0">
                <a:latin typeface="微软雅黑" panose="020B0503020204020204" pitchFamily="34" charset="-122"/>
                <a:ea typeface="微软雅黑" panose="020B0503020204020204" pitchFamily="34" charset="-122"/>
                <a:cs typeface="宋体" panose="02010600030101010101" pitchFamily="2" charset="-122"/>
              </a:rPr>
              <a:t>和过失犯罪的概念，说明任何一种犯罪的成立，都必须具备故意或过失的心态。</a:t>
            </a: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2. </a:t>
            </a:r>
            <a:r>
              <a:rPr sz="2000" dirty="0" smtClean="0">
                <a:latin typeface="微软雅黑" panose="020B0503020204020204" pitchFamily="34" charset="-122"/>
                <a:ea typeface="微软雅黑" panose="020B0503020204020204" pitchFamily="34" charset="-122"/>
                <a:cs typeface="宋体" panose="02010600030101010101" pitchFamily="2" charset="-122"/>
              </a:rPr>
              <a:t>《刑法》 第 16 </a:t>
            </a:r>
            <a:r>
              <a:rPr sz="2000" dirty="0" err="1" smtClean="0">
                <a:latin typeface="微软雅黑" panose="020B0503020204020204" pitchFamily="34" charset="-122"/>
                <a:ea typeface="微软雅黑" panose="020B0503020204020204" pitchFamily="34" charset="-122"/>
                <a:cs typeface="宋体" panose="02010600030101010101" pitchFamily="2" charset="-122"/>
              </a:rPr>
              <a:t>条进一步明确了对缺乏犯罪主观要件的不可抗力事件与意外事件，不能加以客观归罪</a:t>
            </a:r>
            <a:r>
              <a:rPr sz="2000" dirty="0" smtClean="0">
                <a:latin typeface="微软雅黑" panose="020B0503020204020204" pitchFamily="34" charset="-122"/>
                <a:ea typeface="微软雅黑" panose="020B0503020204020204" pitchFamily="34" charset="-122"/>
                <a:cs typeface="宋体" panose="02010600030101010101" pitchFamily="2" charset="-122"/>
              </a:rPr>
              <a:t>。</a:t>
            </a: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rPr>
              <a:t>3. </a:t>
            </a:r>
            <a:r>
              <a:rPr sz="2000" dirty="0" smtClean="0">
                <a:latin typeface="微软雅黑" panose="020B0503020204020204" pitchFamily="34" charset="-122"/>
                <a:ea typeface="微软雅黑" panose="020B0503020204020204" pitchFamily="34" charset="-122"/>
                <a:cs typeface="宋体" panose="02010600030101010101" pitchFamily="2" charset="-122"/>
              </a:rPr>
              <a:t>《刑法》第18条第1款明文</a:t>
            </a:r>
            <a:r>
              <a:rPr lang="zh-CN" sz="2000" dirty="0" smtClean="0">
                <a:latin typeface="微软雅黑" panose="020B0503020204020204" pitchFamily="34" charset="-122"/>
                <a:ea typeface="微软雅黑" panose="020B0503020204020204" pitchFamily="34" charset="-122"/>
                <a:cs typeface="宋体" panose="02010600030101010101" pitchFamily="2" charset="-122"/>
              </a:rPr>
              <a:t>规</a:t>
            </a:r>
            <a:r>
              <a:rPr sz="2000" dirty="0" smtClean="0">
                <a:latin typeface="微软雅黑" panose="020B0503020204020204" pitchFamily="34" charset="-122"/>
                <a:ea typeface="微软雅黑" panose="020B0503020204020204" pitchFamily="34" charset="-122"/>
                <a:cs typeface="宋体" panose="02010600030101010101" pitchFamily="2" charset="-122"/>
              </a:rPr>
              <a:t>定:“精病人在不能认或者不能控制自已行为的时候造成危害结果，经法定程序鉴定确认的，不负刑事责任</a:t>
            </a:r>
            <a:r>
              <a:rPr lang="zh-CN"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a:t>
            </a:r>
            <a:r>
              <a:rPr lang="en-US" sz="2000" dirty="0" smtClean="0">
                <a:latin typeface="微软雅黑" panose="020B0503020204020204" pitchFamily="34" charset="-122"/>
                <a:ea typeface="微软雅黑" panose="020B0503020204020204" pitchFamily="34" charset="-122"/>
                <a:cs typeface="宋体" panose="02010600030101010101" pitchFamily="2" charset="-122"/>
              </a:rPr>
              <a:t>.</a:t>
            </a:r>
            <a:r>
              <a:rPr sz="2000" dirty="0" smtClean="0">
                <a:latin typeface="微软雅黑" panose="020B0503020204020204" pitchFamily="34" charset="-122"/>
                <a:ea typeface="微软雅黑" panose="020B0503020204020204" pitchFamily="34" charset="-122"/>
                <a:cs typeface="宋体" panose="02010600030101010101" pitchFamily="2" charset="-122"/>
              </a:rPr>
              <a:t>..”其根据就在于精神病人在主观上没有犯罪的故意或过失。</a:t>
            </a:r>
          </a:p>
        </p:txBody>
      </p:sp>
      <p:sp>
        <p:nvSpPr>
          <p:cNvPr id="2" name="矩形 1"/>
          <p:cNvSpPr/>
          <p:nvPr/>
        </p:nvSpPr>
        <p:spPr>
          <a:xfrm>
            <a:off x="3143083" y="1119160"/>
            <a:ext cx="32308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二、主客观相统一原则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（二）主客观相统一原则的立法体现</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9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2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7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2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594846" y="2348289"/>
            <a:ext cx="7906871" cy="3785652"/>
          </a:xfrm>
          <a:prstGeom prst="rect">
            <a:avLst/>
          </a:prstGeom>
          <a:noFill/>
        </p:spPr>
        <p:txBody>
          <a:bodyPr wrap="square" rtlCol="0">
            <a:spAutoFit/>
          </a:bodyPr>
          <a:lstStyle/>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4. </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《刑法》第 20 条</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和</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第 21 条分别规定了正当防卫和紧急避险行为不负刑事责任，原因在于这两种行为客观上没有社会危害性，行为人主观上也没有犯罪的故意或过失，而是基于正当合法的目的进行防卫或避险。</a:t>
            </a: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5. </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《刑法》第 22一24 条规定了预备犯、未遂犯和中止犯，排除了犯意表示行为的犯罪性，表明了我国刑法不惩罚思想犯的立场。</a:t>
            </a:r>
          </a:p>
          <a:p>
            <a:pPr lvl="0">
              <a:lnSpc>
                <a:spcPct val="150000"/>
              </a:lnSpc>
            </a:pPr>
            <a:r>
              <a:rPr 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6. </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刑法分则条文明确规定了各种具体犯罪构成在主客观方面的条件</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（教育设施重大安全事故罪）</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2" name="矩形 1"/>
          <p:cNvSpPr/>
          <p:nvPr/>
        </p:nvSpPr>
        <p:spPr>
          <a:xfrm>
            <a:off x="3143083" y="1119160"/>
            <a:ext cx="32308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二、主客观相统一原则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（二）主客观相统一原则的立法体现</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9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2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7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2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851275" y="2680335"/>
            <a:ext cx="7522845" cy="2400657"/>
          </a:xfrm>
          <a:prstGeom prst="rect">
            <a:avLst/>
          </a:prstGeom>
          <a:noFill/>
        </p:spPr>
        <p:txBody>
          <a:bodyPr wrap="square" rtlCol="0">
            <a:spAutoFit/>
          </a:bodyPr>
          <a:lstStyle/>
          <a:p>
            <a:pPr lvl="0">
              <a:lnSpc>
                <a:spcPct val="150000"/>
              </a:lnSpc>
            </a:pPr>
            <a:r>
              <a:rPr sz="2000" b="1" dirty="0" err="1" smtClean="0">
                <a:latin typeface="微软雅黑" panose="020B0503020204020204" pitchFamily="34" charset="-122"/>
                <a:ea typeface="微软雅黑" panose="020B0503020204020204" pitchFamily="34" charset="-122"/>
                <a:cs typeface="宋体" panose="02010600030101010101" pitchFamily="2" charset="-122"/>
                <a:sym typeface="+mn-ea"/>
              </a:rPr>
              <a:t>坚决反对主观归罪</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288DD"/>
                </a:solidFill>
                <a:latin typeface="宋体" panose="02010600030101010101" pitchFamily="2" charset="-122"/>
                <a:ea typeface="宋体" panose="02010600030101010101" pitchFamily="2" charset="-122"/>
                <a:cs typeface="宋体" panose="02010600030101010101" pitchFamily="2" charset="-122"/>
                <a:sym typeface="+mn-ea"/>
              </a:rPr>
              <a:t>≠主观主义</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主观归罪在司法实践中主要有两种表现形式</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p>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一是把错误思想或犯意表示当作犯罪处理，如对声言要报复杀人但尚未实施任何杀害行为的人以故意杀人罪予以逮捕等。</a:t>
            </a:r>
          </a:p>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二是把事前的犯意当作事中的犯意，以事前的犯意定罪判刑。</a:t>
            </a:r>
          </a:p>
        </p:txBody>
      </p:sp>
      <p:sp>
        <p:nvSpPr>
          <p:cNvPr id="2" name="矩形 1"/>
          <p:cNvSpPr/>
          <p:nvPr/>
        </p:nvSpPr>
        <p:spPr>
          <a:xfrm>
            <a:off x="3143083" y="1119160"/>
            <a:ext cx="32308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二、主客观相统一原则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（三）主客观相统一原则的司法适用</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9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2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7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2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8905" y="2680394"/>
            <a:ext cx="7151870" cy="2862322"/>
          </a:xfrm>
          <a:prstGeom prst="rect">
            <a:avLst/>
          </a:prstGeom>
          <a:noFill/>
        </p:spPr>
        <p:txBody>
          <a:bodyPr wrap="square" rtlCol="0">
            <a:spAutoFit/>
          </a:bodyPr>
          <a:lstStyle/>
          <a:p>
            <a:pPr lvl="0">
              <a:lnSpc>
                <a:spcPct val="150000"/>
              </a:lnSpc>
            </a:pPr>
            <a:r>
              <a:rPr sz="2000" b="1" dirty="0" err="1" smtClean="0">
                <a:latin typeface="微软雅黑" panose="020B0503020204020204" pitchFamily="34" charset="-122"/>
                <a:ea typeface="微软雅黑" panose="020B0503020204020204" pitchFamily="34" charset="-122"/>
                <a:cs typeface="宋体" panose="02010600030101010101" pitchFamily="2" charset="-122"/>
                <a:sym typeface="+mn-ea"/>
              </a:rPr>
              <a:t>坚决反对客观归罪</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288DD"/>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1400" b="1" dirty="0">
                <a:solidFill>
                  <a:srgbClr val="0288DD"/>
                </a:solidFill>
                <a:latin typeface="宋体" panose="02010600030101010101" pitchFamily="2" charset="-122"/>
                <a:ea typeface="宋体" panose="02010600030101010101" pitchFamily="2" charset="-122"/>
                <a:cs typeface="宋体" panose="02010600030101010101" pitchFamily="2" charset="-122"/>
                <a:sym typeface="+mn-ea"/>
              </a:rPr>
              <a:t>客观</a:t>
            </a:r>
            <a:r>
              <a:rPr lang="zh-CN" altLang="en-US" sz="1400" b="1" dirty="0" smtClean="0">
                <a:solidFill>
                  <a:srgbClr val="0288DD"/>
                </a:solidFill>
                <a:latin typeface="宋体" panose="02010600030101010101" pitchFamily="2" charset="-122"/>
                <a:ea typeface="宋体" panose="02010600030101010101" pitchFamily="2" charset="-122"/>
                <a:cs typeface="宋体" panose="02010600030101010101" pitchFamily="2" charset="-122"/>
                <a:sym typeface="+mn-ea"/>
              </a:rPr>
              <a:t>主义</a:t>
            </a:r>
            <a:r>
              <a:rPr lang="zh-CN" altLang="en-US" sz="1400" b="1" dirty="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 </a:t>
            </a:r>
            <a:r>
              <a:rPr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客观归罪在司法实践中有两种表现形式</a:t>
            </a:r>
            <a:r>
              <a:rPr 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lvl="0">
              <a:lnSpc>
                <a:spcPct val="150000"/>
              </a:lnSpc>
            </a:pP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一是一味强调行为</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、结果的客观危害性</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将缺乏犯罪主观要件的意外事件认定为过失犯罪</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p>
          <a:p>
            <a:pPr lvl="0">
              <a:lnSpc>
                <a:spcPct val="150000"/>
              </a:lnSpc>
            </a:pP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二是依行为造成的实际结果确定犯罪性质，而忽视行为人对结果所持的真实心理状态。</a:t>
            </a:r>
          </a:p>
        </p:txBody>
      </p:sp>
      <p:sp>
        <p:nvSpPr>
          <p:cNvPr id="2" name="矩形 1"/>
          <p:cNvSpPr/>
          <p:nvPr/>
        </p:nvSpPr>
        <p:spPr>
          <a:xfrm>
            <a:off x="3143083" y="1119160"/>
            <a:ext cx="2976880" cy="429895"/>
          </a:xfrm>
          <a:prstGeom prst="rect">
            <a:avLst/>
          </a:prstGeom>
        </p:spPr>
        <p:txBody>
          <a:bodyPr wrap="none">
            <a:spAutoFit/>
          </a:bodyPr>
          <a:lstStyle/>
          <a:p>
            <a:pPr algn="l"/>
            <a:r>
              <a:rPr lang="zh-CN" altLang="en-US" sz="2200" b="1" dirty="0">
                <a:latin typeface="微软雅黑" panose="020B0503020204020204" pitchFamily="34" charset="-122"/>
                <a:ea typeface="微软雅黑" panose="020B0503020204020204" pitchFamily="34" charset="-122"/>
                <a:cs typeface="宋体" panose="02010600030101010101" pitchFamily="2" charset="-122"/>
                <a:sym typeface="+mn-ea"/>
              </a:rPr>
              <a:t>二、主客观相统一原则</a:t>
            </a:r>
          </a:p>
        </p:txBody>
      </p:sp>
      <p:sp>
        <p:nvSpPr>
          <p:cNvPr id="3" name="矩形 2"/>
          <p:cNvSpPr/>
          <p:nvPr/>
        </p:nvSpPr>
        <p:spPr>
          <a:xfrm>
            <a:off x="2991722" y="1784615"/>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（三）主客观相统一原则的司法适用</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9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2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7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2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dea_301807"/>
          <p:cNvSpPr>
            <a:spLocks noChangeAspect="1"/>
          </p:cNvSpPr>
          <p:nvPr>
            <p:custDataLst>
              <p:tags r:id="rId1"/>
            </p:custDataLst>
          </p:nvPr>
        </p:nvSpPr>
        <p:spPr bwMode="auto">
          <a:xfrm>
            <a:off x="1077900" y="1081362"/>
            <a:ext cx="529201" cy="609685"/>
          </a:xfrm>
          <a:custGeom>
            <a:avLst/>
            <a:gdLst>
              <a:gd name="connsiteX0" fmla="*/ 139184 w 526630"/>
              <a:gd name="connsiteY0" fmla="*/ 367044 h 606722"/>
              <a:gd name="connsiteX1" fmla="*/ 90404 w 526630"/>
              <a:gd name="connsiteY1" fmla="*/ 401702 h 606722"/>
              <a:gd name="connsiteX2" fmla="*/ 65124 w 526630"/>
              <a:gd name="connsiteY2" fmla="*/ 472708 h 606722"/>
              <a:gd name="connsiteX3" fmla="*/ 65124 w 526630"/>
              <a:gd name="connsiteY3" fmla="*/ 570641 h 606722"/>
              <a:gd name="connsiteX4" fmla="*/ 159034 w 526630"/>
              <a:gd name="connsiteY4" fmla="*/ 570641 h 606722"/>
              <a:gd name="connsiteX5" fmla="*/ 155563 w 526630"/>
              <a:gd name="connsiteY5" fmla="*/ 551535 h 606722"/>
              <a:gd name="connsiteX6" fmla="*/ 159034 w 526630"/>
              <a:gd name="connsiteY6" fmla="*/ 532428 h 606722"/>
              <a:gd name="connsiteX7" fmla="*/ 107495 w 526630"/>
              <a:gd name="connsiteY7" fmla="*/ 532428 h 606722"/>
              <a:gd name="connsiteX8" fmla="*/ 107495 w 526630"/>
              <a:gd name="connsiteY8" fmla="*/ 462311 h 606722"/>
              <a:gd name="connsiteX9" fmla="*/ 143546 w 526630"/>
              <a:gd name="connsiteY9" fmla="*/ 462311 h 606722"/>
              <a:gd name="connsiteX10" fmla="*/ 143546 w 526630"/>
              <a:gd name="connsiteY10" fmla="*/ 496347 h 606722"/>
              <a:gd name="connsiteX11" fmla="*/ 210841 w 526630"/>
              <a:gd name="connsiteY11" fmla="*/ 496347 h 606722"/>
              <a:gd name="connsiteX12" fmla="*/ 383084 w 526630"/>
              <a:gd name="connsiteY12" fmla="*/ 496347 h 606722"/>
              <a:gd name="connsiteX13" fmla="*/ 383084 w 526630"/>
              <a:gd name="connsiteY13" fmla="*/ 462311 h 606722"/>
              <a:gd name="connsiteX14" fmla="*/ 419135 w 526630"/>
              <a:gd name="connsiteY14" fmla="*/ 462311 h 606722"/>
              <a:gd name="connsiteX15" fmla="*/ 419135 w 526630"/>
              <a:gd name="connsiteY15" fmla="*/ 532428 h 606722"/>
              <a:gd name="connsiteX16" fmla="*/ 210841 w 526630"/>
              <a:gd name="connsiteY16" fmla="*/ 532428 h 606722"/>
              <a:gd name="connsiteX17" fmla="*/ 191703 w 526630"/>
              <a:gd name="connsiteY17" fmla="*/ 551535 h 606722"/>
              <a:gd name="connsiteX18" fmla="*/ 210841 w 526630"/>
              <a:gd name="connsiteY18" fmla="*/ 570641 h 606722"/>
              <a:gd name="connsiteX19" fmla="*/ 461417 w 526630"/>
              <a:gd name="connsiteY19" fmla="*/ 570641 h 606722"/>
              <a:gd name="connsiteX20" fmla="*/ 461506 w 526630"/>
              <a:gd name="connsiteY20" fmla="*/ 570641 h 606722"/>
              <a:gd name="connsiteX21" fmla="*/ 461506 w 526630"/>
              <a:gd name="connsiteY21" fmla="*/ 472708 h 606722"/>
              <a:gd name="connsiteX22" fmla="*/ 436137 w 526630"/>
              <a:gd name="connsiteY22" fmla="*/ 401702 h 606722"/>
              <a:gd name="connsiteX23" fmla="*/ 387357 w 526630"/>
              <a:gd name="connsiteY23" fmla="*/ 367044 h 606722"/>
              <a:gd name="connsiteX24" fmla="*/ 294693 w 526630"/>
              <a:gd name="connsiteY24" fmla="*/ 441516 h 606722"/>
              <a:gd name="connsiteX25" fmla="*/ 294159 w 526630"/>
              <a:gd name="connsiteY25" fmla="*/ 441604 h 606722"/>
              <a:gd name="connsiteX26" fmla="*/ 291399 w 526630"/>
              <a:gd name="connsiteY26" fmla="*/ 442226 h 606722"/>
              <a:gd name="connsiteX27" fmla="*/ 289797 w 526630"/>
              <a:gd name="connsiteY27" fmla="*/ 442582 h 606722"/>
              <a:gd name="connsiteX28" fmla="*/ 286770 w 526630"/>
              <a:gd name="connsiteY28" fmla="*/ 443115 h 606722"/>
              <a:gd name="connsiteX29" fmla="*/ 283744 w 526630"/>
              <a:gd name="connsiteY29" fmla="*/ 443560 h 606722"/>
              <a:gd name="connsiteX30" fmla="*/ 282053 w 526630"/>
              <a:gd name="connsiteY30" fmla="*/ 443826 h 606722"/>
              <a:gd name="connsiteX31" fmla="*/ 279204 w 526630"/>
              <a:gd name="connsiteY31" fmla="*/ 444182 h 606722"/>
              <a:gd name="connsiteX32" fmla="*/ 277780 w 526630"/>
              <a:gd name="connsiteY32" fmla="*/ 444359 h 606722"/>
              <a:gd name="connsiteX33" fmla="*/ 273596 w 526630"/>
              <a:gd name="connsiteY33" fmla="*/ 444715 h 606722"/>
              <a:gd name="connsiteX34" fmla="*/ 272528 w 526630"/>
              <a:gd name="connsiteY34" fmla="*/ 444804 h 606722"/>
              <a:gd name="connsiteX35" fmla="*/ 269056 w 526630"/>
              <a:gd name="connsiteY35" fmla="*/ 444981 h 606722"/>
              <a:gd name="connsiteX36" fmla="*/ 267810 w 526630"/>
              <a:gd name="connsiteY36" fmla="*/ 445070 h 606722"/>
              <a:gd name="connsiteX37" fmla="*/ 263271 w 526630"/>
              <a:gd name="connsiteY37" fmla="*/ 445159 h 606722"/>
              <a:gd name="connsiteX38" fmla="*/ 258820 w 526630"/>
              <a:gd name="connsiteY38" fmla="*/ 445070 h 606722"/>
              <a:gd name="connsiteX39" fmla="*/ 257574 w 526630"/>
              <a:gd name="connsiteY39" fmla="*/ 444981 h 606722"/>
              <a:gd name="connsiteX40" fmla="*/ 254013 w 526630"/>
              <a:gd name="connsiteY40" fmla="*/ 444804 h 606722"/>
              <a:gd name="connsiteX41" fmla="*/ 253034 w 526630"/>
              <a:gd name="connsiteY41" fmla="*/ 444715 h 606722"/>
              <a:gd name="connsiteX42" fmla="*/ 248850 w 526630"/>
              <a:gd name="connsiteY42" fmla="*/ 444359 h 606722"/>
              <a:gd name="connsiteX43" fmla="*/ 247426 w 526630"/>
              <a:gd name="connsiteY43" fmla="*/ 444182 h 606722"/>
              <a:gd name="connsiteX44" fmla="*/ 244577 w 526630"/>
              <a:gd name="connsiteY44" fmla="*/ 443826 h 606722"/>
              <a:gd name="connsiteX45" fmla="*/ 242797 w 526630"/>
              <a:gd name="connsiteY45" fmla="*/ 443560 h 606722"/>
              <a:gd name="connsiteX46" fmla="*/ 239860 w 526630"/>
              <a:gd name="connsiteY46" fmla="*/ 443115 h 606722"/>
              <a:gd name="connsiteX47" fmla="*/ 236833 w 526630"/>
              <a:gd name="connsiteY47" fmla="*/ 442582 h 606722"/>
              <a:gd name="connsiteX48" fmla="*/ 235231 w 526630"/>
              <a:gd name="connsiteY48" fmla="*/ 442226 h 606722"/>
              <a:gd name="connsiteX49" fmla="*/ 232471 w 526630"/>
              <a:gd name="connsiteY49" fmla="*/ 441604 h 606722"/>
              <a:gd name="connsiteX50" fmla="*/ 231937 w 526630"/>
              <a:gd name="connsiteY50" fmla="*/ 441516 h 606722"/>
              <a:gd name="connsiteX51" fmla="*/ 139184 w 526630"/>
              <a:gd name="connsiteY51" fmla="*/ 367044 h 606722"/>
              <a:gd name="connsiteX52" fmla="*/ 439552 w 526630"/>
              <a:gd name="connsiteY52" fmla="*/ 244933 h 606722"/>
              <a:gd name="connsiteX53" fmla="*/ 526630 w 526630"/>
              <a:gd name="connsiteY53" fmla="*/ 244933 h 606722"/>
              <a:gd name="connsiteX54" fmla="*/ 526630 w 526630"/>
              <a:gd name="connsiteY54" fmla="*/ 280921 h 606722"/>
              <a:gd name="connsiteX55" fmla="*/ 439552 w 526630"/>
              <a:gd name="connsiteY55" fmla="*/ 280921 h 606722"/>
              <a:gd name="connsiteX56" fmla="*/ 0 w 526630"/>
              <a:gd name="connsiteY56" fmla="*/ 244933 h 606722"/>
              <a:gd name="connsiteX57" fmla="*/ 87007 w 526630"/>
              <a:gd name="connsiteY57" fmla="*/ 244933 h 606722"/>
              <a:gd name="connsiteX58" fmla="*/ 87007 w 526630"/>
              <a:gd name="connsiteY58" fmla="*/ 280921 h 606722"/>
              <a:gd name="connsiteX59" fmla="*/ 0 w 526630"/>
              <a:gd name="connsiteY59" fmla="*/ 280921 h 606722"/>
              <a:gd name="connsiteX60" fmla="*/ 170161 w 526630"/>
              <a:gd name="connsiteY60" fmla="*/ 223166 h 606722"/>
              <a:gd name="connsiteX61" fmla="*/ 161972 w 526630"/>
              <a:gd name="connsiteY61" fmla="*/ 262890 h 606722"/>
              <a:gd name="connsiteX62" fmla="*/ 161972 w 526630"/>
              <a:gd name="connsiteY62" fmla="*/ 307857 h 606722"/>
              <a:gd name="connsiteX63" fmla="*/ 237901 w 526630"/>
              <a:gd name="connsiteY63" fmla="*/ 405879 h 606722"/>
              <a:gd name="connsiteX64" fmla="*/ 238079 w 526630"/>
              <a:gd name="connsiteY64" fmla="*/ 405879 h 606722"/>
              <a:gd name="connsiteX65" fmla="*/ 247693 w 526630"/>
              <a:gd name="connsiteY65" fmla="*/ 407834 h 606722"/>
              <a:gd name="connsiteX66" fmla="*/ 248494 w 526630"/>
              <a:gd name="connsiteY66" fmla="*/ 408012 h 606722"/>
              <a:gd name="connsiteX67" fmla="*/ 252322 w 526630"/>
              <a:gd name="connsiteY67" fmla="*/ 408456 h 606722"/>
              <a:gd name="connsiteX68" fmla="*/ 253746 w 526630"/>
              <a:gd name="connsiteY68" fmla="*/ 408634 h 606722"/>
              <a:gd name="connsiteX69" fmla="*/ 257128 w 526630"/>
              <a:gd name="connsiteY69" fmla="*/ 408901 h 606722"/>
              <a:gd name="connsiteX70" fmla="*/ 258553 w 526630"/>
              <a:gd name="connsiteY70" fmla="*/ 408990 h 606722"/>
              <a:gd name="connsiteX71" fmla="*/ 263271 w 526630"/>
              <a:gd name="connsiteY71" fmla="*/ 409079 h 606722"/>
              <a:gd name="connsiteX72" fmla="*/ 268077 w 526630"/>
              <a:gd name="connsiteY72" fmla="*/ 408990 h 606722"/>
              <a:gd name="connsiteX73" fmla="*/ 269502 w 526630"/>
              <a:gd name="connsiteY73" fmla="*/ 408901 h 606722"/>
              <a:gd name="connsiteX74" fmla="*/ 272884 w 526630"/>
              <a:gd name="connsiteY74" fmla="*/ 408634 h 606722"/>
              <a:gd name="connsiteX75" fmla="*/ 274308 w 526630"/>
              <a:gd name="connsiteY75" fmla="*/ 408456 h 606722"/>
              <a:gd name="connsiteX76" fmla="*/ 278136 w 526630"/>
              <a:gd name="connsiteY76" fmla="*/ 408012 h 606722"/>
              <a:gd name="connsiteX77" fmla="*/ 278937 w 526630"/>
              <a:gd name="connsiteY77" fmla="*/ 407834 h 606722"/>
              <a:gd name="connsiteX78" fmla="*/ 288551 w 526630"/>
              <a:gd name="connsiteY78" fmla="*/ 405879 h 606722"/>
              <a:gd name="connsiteX79" fmla="*/ 288640 w 526630"/>
              <a:gd name="connsiteY79" fmla="*/ 405879 h 606722"/>
              <a:gd name="connsiteX80" fmla="*/ 364658 w 526630"/>
              <a:gd name="connsiteY80" fmla="*/ 307857 h 606722"/>
              <a:gd name="connsiteX81" fmla="*/ 364658 w 526630"/>
              <a:gd name="connsiteY81" fmla="*/ 262890 h 606722"/>
              <a:gd name="connsiteX82" fmla="*/ 356469 w 526630"/>
              <a:gd name="connsiteY82" fmla="*/ 223166 h 606722"/>
              <a:gd name="connsiteX83" fmla="*/ 263271 w 526630"/>
              <a:gd name="connsiteY83" fmla="*/ 258180 h 606722"/>
              <a:gd name="connsiteX84" fmla="*/ 170161 w 526630"/>
              <a:gd name="connsiteY84" fmla="*/ 223166 h 606722"/>
              <a:gd name="connsiteX85" fmla="*/ 263271 w 526630"/>
              <a:gd name="connsiteY85" fmla="*/ 161758 h 606722"/>
              <a:gd name="connsiteX86" fmla="*/ 190368 w 526630"/>
              <a:gd name="connsiteY86" fmla="*/ 192773 h 606722"/>
              <a:gd name="connsiteX87" fmla="*/ 263271 w 526630"/>
              <a:gd name="connsiteY87" fmla="*/ 222099 h 606722"/>
              <a:gd name="connsiteX88" fmla="*/ 336263 w 526630"/>
              <a:gd name="connsiteY88" fmla="*/ 192773 h 606722"/>
              <a:gd name="connsiteX89" fmla="*/ 263271 w 526630"/>
              <a:gd name="connsiteY89" fmla="*/ 161758 h 606722"/>
              <a:gd name="connsiteX90" fmla="*/ 263271 w 526630"/>
              <a:gd name="connsiteY90" fmla="*/ 125677 h 606722"/>
              <a:gd name="connsiteX91" fmla="*/ 400798 w 526630"/>
              <a:gd name="connsiteY91" fmla="*/ 262890 h 606722"/>
              <a:gd name="connsiteX92" fmla="*/ 400798 w 526630"/>
              <a:gd name="connsiteY92" fmla="*/ 307857 h 606722"/>
              <a:gd name="connsiteX93" fmla="*/ 398484 w 526630"/>
              <a:gd name="connsiteY93" fmla="*/ 332652 h 606722"/>
              <a:gd name="connsiteX94" fmla="*/ 464177 w 526630"/>
              <a:gd name="connsiteY94" fmla="*/ 378863 h 606722"/>
              <a:gd name="connsiteX95" fmla="*/ 497557 w 526630"/>
              <a:gd name="connsiteY95" fmla="*/ 472708 h 606722"/>
              <a:gd name="connsiteX96" fmla="*/ 497557 w 526630"/>
              <a:gd name="connsiteY96" fmla="*/ 606722 h 606722"/>
              <a:gd name="connsiteX97" fmla="*/ 29073 w 526630"/>
              <a:gd name="connsiteY97" fmla="*/ 606722 h 606722"/>
              <a:gd name="connsiteX98" fmla="*/ 29073 w 526630"/>
              <a:gd name="connsiteY98" fmla="*/ 472708 h 606722"/>
              <a:gd name="connsiteX99" fmla="*/ 62453 w 526630"/>
              <a:gd name="connsiteY99" fmla="*/ 378863 h 606722"/>
              <a:gd name="connsiteX100" fmla="*/ 128057 w 526630"/>
              <a:gd name="connsiteY100" fmla="*/ 332652 h 606722"/>
              <a:gd name="connsiteX101" fmla="*/ 125832 w 526630"/>
              <a:gd name="connsiteY101" fmla="*/ 307857 h 606722"/>
              <a:gd name="connsiteX102" fmla="*/ 125832 w 526630"/>
              <a:gd name="connsiteY102" fmla="*/ 262890 h 606722"/>
              <a:gd name="connsiteX103" fmla="*/ 263271 w 526630"/>
              <a:gd name="connsiteY103" fmla="*/ 125677 h 606722"/>
              <a:gd name="connsiteX104" fmla="*/ 436739 w 526630"/>
              <a:gd name="connsiteY104" fmla="*/ 64285 h 606722"/>
              <a:gd name="connsiteX105" fmla="*/ 462204 w 526630"/>
              <a:gd name="connsiteY105" fmla="*/ 89776 h 606722"/>
              <a:gd name="connsiteX106" fmla="*/ 400680 w 526630"/>
              <a:gd name="connsiteY106" fmla="*/ 151151 h 606722"/>
              <a:gd name="connsiteX107" fmla="*/ 375126 w 526630"/>
              <a:gd name="connsiteY107" fmla="*/ 125660 h 606722"/>
              <a:gd name="connsiteX108" fmla="*/ 89889 w 526630"/>
              <a:gd name="connsiteY108" fmla="*/ 64285 h 606722"/>
              <a:gd name="connsiteX109" fmla="*/ 151363 w 526630"/>
              <a:gd name="connsiteY109" fmla="*/ 125660 h 606722"/>
              <a:gd name="connsiteX110" fmla="*/ 125830 w 526630"/>
              <a:gd name="connsiteY110" fmla="*/ 151151 h 606722"/>
              <a:gd name="connsiteX111" fmla="*/ 64356 w 526630"/>
              <a:gd name="connsiteY111" fmla="*/ 89776 h 606722"/>
              <a:gd name="connsiteX112" fmla="*/ 245286 w 526630"/>
              <a:gd name="connsiteY112" fmla="*/ 0 h 606722"/>
              <a:gd name="connsiteX113" fmla="*/ 281345 w 526630"/>
              <a:gd name="connsiteY113" fmla="*/ 0 h 606722"/>
              <a:gd name="connsiteX114" fmla="*/ 281345 w 526630"/>
              <a:gd name="connsiteY114" fmla="*/ 86937 h 606722"/>
              <a:gd name="connsiteX115" fmla="*/ 245286 w 526630"/>
              <a:gd name="connsiteY115" fmla="*/ 86937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26630" h="606722">
                <a:moveTo>
                  <a:pt x="139184" y="367044"/>
                </a:moveTo>
                <a:cubicBezTo>
                  <a:pt x="120313" y="373887"/>
                  <a:pt x="103311" y="385884"/>
                  <a:pt x="90404" y="401702"/>
                </a:cubicBezTo>
                <a:cubicBezTo>
                  <a:pt x="74114" y="421609"/>
                  <a:pt x="65124" y="446848"/>
                  <a:pt x="65124" y="472708"/>
                </a:cubicBezTo>
                <a:lnTo>
                  <a:pt x="65124" y="570641"/>
                </a:lnTo>
                <a:lnTo>
                  <a:pt x="159034" y="570641"/>
                </a:lnTo>
                <a:cubicBezTo>
                  <a:pt x="156809" y="564687"/>
                  <a:pt x="155563" y="558289"/>
                  <a:pt x="155563" y="551535"/>
                </a:cubicBezTo>
                <a:cubicBezTo>
                  <a:pt x="155563" y="544781"/>
                  <a:pt x="156809" y="538382"/>
                  <a:pt x="159034" y="532428"/>
                </a:cubicBezTo>
                <a:lnTo>
                  <a:pt x="107495" y="532428"/>
                </a:lnTo>
                <a:lnTo>
                  <a:pt x="107495" y="462311"/>
                </a:lnTo>
                <a:lnTo>
                  <a:pt x="143546" y="462311"/>
                </a:lnTo>
                <a:lnTo>
                  <a:pt x="143546" y="496347"/>
                </a:lnTo>
                <a:lnTo>
                  <a:pt x="210841" y="496347"/>
                </a:lnTo>
                <a:lnTo>
                  <a:pt x="383084" y="496347"/>
                </a:lnTo>
                <a:lnTo>
                  <a:pt x="383084" y="462311"/>
                </a:lnTo>
                <a:lnTo>
                  <a:pt x="419135" y="462311"/>
                </a:lnTo>
                <a:lnTo>
                  <a:pt x="419135" y="532428"/>
                </a:lnTo>
                <a:lnTo>
                  <a:pt x="210841" y="532428"/>
                </a:lnTo>
                <a:cubicBezTo>
                  <a:pt x="200248" y="532428"/>
                  <a:pt x="191703" y="540959"/>
                  <a:pt x="191703" y="551535"/>
                </a:cubicBezTo>
                <a:cubicBezTo>
                  <a:pt x="191703" y="562110"/>
                  <a:pt x="200248" y="570641"/>
                  <a:pt x="210841" y="570641"/>
                </a:cubicBezTo>
                <a:lnTo>
                  <a:pt x="461417" y="570641"/>
                </a:lnTo>
                <a:lnTo>
                  <a:pt x="461506" y="570641"/>
                </a:lnTo>
                <a:lnTo>
                  <a:pt x="461506" y="472708"/>
                </a:lnTo>
                <a:cubicBezTo>
                  <a:pt x="461506" y="446848"/>
                  <a:pt x="452516" y="421609"/>
                  <a:pt x="436137" y="401702"/>
                </a:cubicBezTo>
                <a:cubicBezTo>
                  <a:pt x="423319" y="385884"/>
                  <a:pt x="406317" y="373887"/>
                  <a:pt x="387357" y="367044"/>
                </a:cubicBezTo>
                <a:cubicBezTo>
                  <a:pt x="369376" y="404902"/>
                  <a:pt x="335105" y="432095"/>
                  <a:pt x="294693" y="441516"/>
                </a:cubicBezTo>
                <a:cubicBezTo>
                  <a:pt x="294515" y="441516"/>
                  <a:pt x="294337" y="441604"/>
                  <a:pt x="294159" y="441604"/>
                </a:cubicBezTo>
                <a:cubicBezTo>
                  <a:pt x="293268" y="441871"/>
                  <a:pt x="292289" y="442049"/>
                  <a:pt x="291399" y="442226"/>
                </a:cubicBezTo>
                <a:cubicBezTo>
                  <a:pt x="290865" y="442315"/>
                  <a:pt x="290331" y="442404"/>
                  <a:pt x="289797" y="442582"/>
                </a:cubicBezTo>
                <a:cubicBezTo>
                  <a:pt x="288818" y="442760"/>
                  <a:pt x="287839" y="442937"/>
                  <a:pt x="286770" y="443115"/>
                </a:cubicBezTo>
                <a:cubicBezTo>
                  <a:pt x="285791" y="443293"/>
                  <a:pt x="284812" y="443471"/>
                  <a:pt x="283744" y="443560"/>
                </a:cubicBezTo>
                <a:cubicBezTo>
                  <a:pt x="283210" y="443648"/>
                  <a:pt x="282676" y="443737"/>
                  <a:pt x="282053" y="443826"/>
                </a:cubicBezTo>
                <a:cubicBezTo>
                  <a:pt x="281073" y="444004"/>
                  <a:pt x="280183" y="444093"/>
                  <a:pt x="279204" y="444182"/>
                </a:cubicBezTo>
                <a:cubicBezTo>
                  <a:pt x="278670" y="444270"/>
                  <a:pt x="278225" y="444270"/>
                  <a:pt x="277780" y="444359"/>
                </a:cubicBezTo>
                <a:cubicBezTo>
                  <a:pt x="276356" y="444537"/>
                  <a:pt x="274931" y="444626"/>
                  <a:pt x="273596" y="444715"/>
                </a:cubicBezTo>
                <a:cubicBezTo>
                  <a:pt x="273240" y="444804"/>
                  <a:pt x="272884" y="444804"/>
                  <a:pt x="272528" y="444804"/>
                </a:cubicBezTo>
                <a:cubicBezTo>
                  <a:pt x="271371" y="444893"/>
                  <a:pt x="270214" y="444981"/>
                  <a:pt x="269056" y="444981"/>
                </a:cubicBezTo>
                <a:cubicBezTo>
                  <a:pt x="268611" y="444981"/>
                  <a:pt x="268166" y="445070"/>
                  <a:pt x="267810" y="445070"/>
                </a:cubicBezTo>
                <a:cubicBezTo>
                  <a:pt x="266297" y="445070"/>
                  <a:pt x="264784" y="445159"/>
                  <a:pt x="263271" y="445159"/>
                </a:cubicBezTo>
                <a:cubicBezTo>
                  <a:pt x="261846" y="445159"/>
                  <a:pt x="260333" y="445070"/>
                  <a:pt x="258820" y="445070"/>
                </a:cubicBezTo>
                <a:cubicBezTo>
                  <a:pt x="258464" y="444981"/>
                  <a:pt x="258019" y="444981"/>
                  <a:pt x="257574" y="444981"/>
                </a:cubicBezTo>
                <a:cubicBezTo>
                  <a:pt x="256416" y="444981"/>
                  <a:pt x="255259" y="444893"/>
                  <a:pt x="254013" y="444804"/>
                </a:cubicBezTo>
                <a:cubicBezTo>
                  <a:pt x="253746" y="444804"/>
                  <a:pt x="253390" y="444804"/>
                  <a:pt x="253034" y="444715"/>
                </a:cubicBezTo>
                <a:cubicBezTo>
                  <a:pt x="251610" y="444626"/>
                  <a:pt x="250274" y="444537"/>
                  <a:pt x="248850" y="444359"/>
                </a:cubicBezTo>
                <a:cubicBezTo>
                  <a:pt x="248405" y="444270"/>
                  <a:pt x="247871" y="444270"/>
                  <a:pt x="247426" y="444182"/>
                </a:cubicBezTo>
                <a:cubicBezTo>
                  <a:pt x="246447" y="444093"/>
                  <a:pt x="245468" y="444004"/>
                  <a:pt x="244577" y="443826"/>
                </a:cubicBezTo>
                <a:cubicBezTo>
                  <a:pt x="243954" y="443737"/>
                  <a:pt x="243420" y="443648"/>
                  <a:pt x="242797" y="443560"/>
                </a:cubicBezTo>
                <a:cubicBezTo>
                  <a:pt x="241818" y="443471"/>
                  <a:pt x="240839" y="443293"/>
                  <a:pt x="239860" y="443115"/>
                </a:cubicBezTo>
                <a:cubicBezTo>
                  <a:pt x="238791" y="442937"/>
                  <a:pt x="237812" y="442760"/>
                  <a:pt x="236833" y="442582"/>
                </a:cubicBezTo>
                <a:cubicBezTo>
                  <a:pt x="236299" y="442404"/>
                  <a:pt x="235765" y="442315"/>
                  <a:pt x="235231" y="442226"/>
                </a:cubicBezTo>
                <a:cubicBezTo>
                  <a:pt x="234252" y="442049"/>
                  <a:pt x="233362" y="441871"/>
                  <a:pt x="232471" y="441604"/>
                </a:cubicBezTo>
                <a:cubicBezTo>
                  <a:pt x="232293" y="441604"/>
                  <a:pt x="232115" y="441516"/>
                  <a:pt x="231937" y="441516"/>
                </a:cubicBezTo>
                <a:cubicBezTo>
                  <a:pt x="191525" y="432095"/>
                  <a:pt x="157254" y="404902"/>
                  <a:pt x="139184" y="367044"/>
                </a:cubicBezTo>
                <a:close/>
                <a:moveTo>
                  <a:pt x="439552" y="244933"/>
                </a:moveTo>
                <a:lnTo>
                  <a:pt x="526630" y="244933"/>
                </a:lnTo>
                <a:lnTo>
                  <a:pt x="526630" y="280921"/>
                </a:lnTo>
                <a:lnTo>
                  <a:pt x="439552" y="280921"/>
                </a:lnTo>
                <a:close/>
                <a:moveTo>
                  <a:pt x="0" y="244933"/>
                </a:moveTo>
                <a:lnTo>
                  <a:pt x="87007" y="244933"/>
                </a:lnTo>
                <a:lnTo>
                  <a:pt x="87007" y="280921"/>
                </a:lnTo>
                <a:lnTo>
                  <a:pt x="0" y="280921"/>
                </a:lnTo>
                <a:close/>
                <a:moveTo>
                  <a:pt x="170161" y="223166"/>
                </a:moveTo>
                <a:cubicBezTo>
                  <a:pt x="164909" y="235341"/>
                  <a:pt x="161972" y="248760"/>
                  <a:pt x="161972" y="262890"/>
                </a:cubicBezTo>
                <a:lnTo>
                  <a:pt x="161972" y="307857"/>
                </a:lnTo>
                <a:cubicBezTo>
                  <a:pt x="161972" y="354958"/>
                  <a:pt x="194284" y="394593"/>
                  <a:pt x="237901" y="405879"/>
                </a:cubicBezTo>
                <a:cubicBezTo>
                  <a:pt x="237990" y="405879"/>
                  <a:pt x="237990" y="405879"/>
                  <a:pt x="238079" y="405879"/>
                </a:cubicBezTo>
                <a:cubicBezTo>
                  <a:pt x="241195" y="406679"/>
                  <a:pt x="244399" y="407390"/>
                  <a:pt x="247693" y="407834"/>
                </a:cubicBezTo>
                <a:cubicBezTo>
                  <a:pt x="247960" y="407923"/>
                  <a:pt x="248227" y="407923"/>
                  <a:pt x="248494" y="408012"/>
                </a:cubicBezTo>
                <a:cubicBezTo>
                  <a:pt x="249740" y="408190"/>
                  <a:pt x="250986" y="408368"/>
                  <a:pt x="252322" y="408456"/>
                </a:cubicBezTo>
                <a:cubicBezTo>
                  <a:pt x="252767" y="408545"/>
                  <a:pt x="253212" y="408545"/>
                  <a:pt x="253746" y="408634"/>
                </a:cubicBezTo>
                <a:cubicBezTo>
                  <a:pt x="254903" y="408723"/>
                  <a:pt x="255971" y="408812"/>
                  <a:pt x="257128" y="408901"/>
                </a:cubicBezTo>
                <a:cubicBezTo>
                  <a:pt x="257574" y="408901"/>
                  <a:pt x="258108" y="408901"/>
                  <a:pt x="258553" y="408990"/>
                </a:cubicBezTo>
                <a:cubicBezTo>
                  <a:pt x="260155" y="408990"/>
                  <a:pt x="261668" y="409079"/>
                  <a:pt x="263271" y="409079"/>
                </a:cubicBezTo>
                <a:cubicBezTo>
                  <a:pt x="264873" y="409079"/>
                  <a:pt x="266475" y="408990"/>
                  <a:pt x="268077" y="408990"/>
                </a:cubicBezTo>
                <a:cubicBezTo>
                  <a:pt x="268522" y="408901"/>
                  <a:pt x="268967" y="408901"/>
                  <a:pt x="269502" y="408901"/>
                </a:cubicBezTo>
                <a:cubicBezTo>
                  <a:pt x="270570" y="408812"/>
                  <a:pt x="271727" y="408723"/>
                  <a:pt x="272884" y="408634"/>
                </a:cubicBezTo>
                <a:cubicBezTo>
                  <a:pt x="273329" y="408545"/>
                  <a:pt x="273863" y="408545"/>
                  <a:pt x="274308" y="408456"/>
                </a:cubicBezTo>
                <a:cubicBezTo>
                  <a:pt x="275555" y="408368"/>
                  <a:pt x="276890" y="408190"/>
                  <a:pt x="278136" y="408012"/>
                </a:cubicBezTo>
                <a:cubicBezTo>
                  <a:pt x="278403" y="407923"/>
                  <a:pt x="278670" y="407923"/>
                  <a:pt x="278937" y="407834"/>
                </a:cubicBezTo>
                <a:cubicBezTo>
                  <a:pt x="282142" y="407390"/>
                  <a:pt x="285435" y="406679"/>
                  <a:pt x="288551" y="405879"/>
                </a:cubicBezTo>
                <a:cubicBezTo>
                  <a:pt x="288551" y="405879"/>
                  <a:pt x="288640" y="405879"/>
                  <a:pt x="288640" y="405879"/>
                </a:cubicBezTo>
                <a:cubicBezTo>
                  <a:pt x="332346" y="394593"/>
                  <a:pt x="364658" y="354958"/>
                  <a:pt x="364658" y="307857"/>
                </a:cubicBezTo>
                <a:lnTo>
                  <a:pt x="364658" y="262890"/>
                </a:lnTo>
                <a:cubicBezTo>
                  <a:pt x="364658" y="248760"/>
                  <a:pt x="361721" y="235341"/>
                  <a:pt x="356469" y="223166"/>
                </a:cubicBezTo>
                <a:cubicBezTo>
                  <a:pt x="330922" y="245649"/>
                  <a:pt x="298075" y="258180"/>
                  <a:pt x="263271" y="258180"/>
                </a:cubicBezTo>
                <a:cubicBezTo>
                  <a:pt x="228466" y="258180"/>
                  <a:pt x="195708" y="245649"/>
                  <a:pt x="170161" y="223166"/>
                </a:cubicBezTo>
                <a:close/>
                <a:moveTo>
                  <a:pt x="263271" y="161758"/>
                </a:moveTo>
                <a:cubicBezTo>
                  <a:pt x="234697" y="161758"/>
                  <a:pt x="208794" y="173666"/>
                  <a:pt x="190368" y="192773"/>
                </a:cubicBezTo>
                <a:cubicBezTo>
                  <a:pt x="209862" y="211524"/>
                  <a:pt x="235765" y="222099"/>
                  <a:pt x="263271" y="222099"/>
                </a:cubicBezTo>
                <a:cubicBezTo>
                  <a:pt x="290865" y="222099"/>
                  <a:pt x="316768" y="211524"/>
                  <a:pt x="336263" y="192773"/>
                </a:cubicBezTo>
                <a:cubicBezTo>
                  <a:pt x="317747" y="173666"/>
                  <a:pt x="291933" y="161758"/>
                  <a:pt x="263271" y="161758"/>
                </a:cubicBezTo>
                <a:close/>
                <a:moveTo>
                  <a:pt x="263271" y="125677"/>
                </a:moveTo>
                <a:cubicBezTo>
                  <a:pt x="339111" y="125677"/>
                  <a:pt x="400798" y="187263"/>
                  <a:pt x="400798" y="262890"/>
                </a:cubicBezTo>
                <a:lnTo>
                  <a:pt x="400798" y="307857"/>
                </a:lnTo>
                <a:cubicBezTo>
                  <a:pt x="400798" y="316389"/>
                  <a:pt x="399997" y="324654"/>
                  <a:pt x="398484" y="332652"/>
                </a:cubicBezTo>
                <a:cubicBezTo>
                  <a:pt x="424031" y="341716"/>
                  <a:pt x="446908" y="357713"/>
                  <a:pt x="464177" y="378863"/>
                </a:cubicBezTo>
                <a:cubicBezTo>
                  <a:pt x="485718" y="405257"/>
                  <a:pt x="497557" y="438583"/>
                  <a:pt x="497557" y="472708"/>
                </a:cubicBezTo>
                <a:lnTo>
                  <a:pt x="497557" y="606722"/>
                </a:lnTo>
                <a:lnTo>
                  <a:pt x="29073" y="606722"/>
                </a:lnTo>
                <a:lnTo>
                  <a:pt x="29073" y="472708"/>
                </a:lnTo>
                <a:cubicBezTo>
                  <a:pt x="29073" y="438583"/>
                  <a:pt x="40912" y="405257"/>
                  <a:pt x="62453" y="378863"/>
                </a:cubicBezTo>
                <a:cubicBezTo>
                  <a:pt x="79722" y="357713"/>
                  <a:pt x="102599" y="341716"/>
                  <a:pt x="128057" y="332652"/>
                </a:cubicBezTo>
                <a:cubicBezTo>
                  <a:pt x="126633" y="324654"/>
                  <a:pt x="125832" y="316389"/>
                  <a:pt x="125832" y="307857"/>
                </a:cubicBezTo>
                <a:lnTo>
                  <a:pt x="125832" y="262890"/>
                </a:lnTo>
                <a:cubicBezTo>
                  <a:pt x="125832" y="187263"/>
                  <a:pt x="187519" y="125677"/>
                  <a:pt x="263271" y="125677"/>
                </a:cubicBezTo>
                <a:close/>
                <a:moveTo>
                  <a:pt x="436739" y="64285"/>
                </a:moveTo>
                <a:lnTo>
                  <a:pt x="462204" y="89776"/>
                </a:lnTo>
                <a:lnTo>
                  <a:pt x="400680" y="151151"/>
                </a:lnTo>
                <a:lnTo>
                  <a:pt x="375126" y="125660"/>
                </a:lnTo>
                <a:close/>
                <a:moveTo>
                  <a:pt x="89889" y="64285"/>
                </a:moveTo>
                <a:lnTo>
                  <a:pt x="151363" y="125660"/>
                </a:lnTo>
                <a:lnTo>
                  <a:pt x="125830" y="151151"/>
                </a:lnTo>
                <a:lnTo>
                  <a:pt x="64356" y="89776"/>
                </a:lnTo>
                <a:close/>
                <a:moveTo>
                  <a:pt x="245286" y="0"/>
                </a:moveTo>
                <a:lnTo>
                  <a:pt x="281345" y="0"/>
                </a:lnTo>
                <a:lnTo>
                  <a:pt x="281345" y="86937"/>
                </a:lnTo>
                <a:lnTo>
                  <a:pt x="245286" y="86937"/>
                </a:lnTo>
                <a:close/>
              </a:path>
            </a:pathLst>
          </a:custGeom>
          <a:solidFill>
            <a:srgbClr val="D9793F"/>
          </a:solidFill>
          <a:ln>
            <a:noFill/>
          </a:ln>
        </p:spPr>
      </p:sp>
      <p:sp>
        <p:nvSpPr>
          <p:cNvPr id="3" name="文本框 2"/>
          <p:cNvSpPr txBox="1"/>
          <p:nvPr/>
        </p:nvSpPr>
        <p:spPr>
          <a:xfrm>
            <a:off x="2383790" y="2211705"/>
            <a:ext cx="7285355" cy="2572385"/>
          </a:xfrm>
          <a:prstGeom prst="rect">
            <a:avLst/>
          </a:prstGeom>
          <a:noFill/>
        </p:spPr>
        <p:txBody>
          <a:bodyPr wrap="square" rtlCol="0" anchor="t">
            <a:noAutofit/>
          </a:bodyPr>
          <a:lstStyle/>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1. 如何理解刑法基本原则的概念与意义?</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2.</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为什么说保障人权原则也是刑法的基本原则?</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3.</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什么是罪刑法定原则? 如何贯彻落实罪刑法定原则?</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4.</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适用刑法人人平等原则的基本要求有哪些?</a:t>
            </a:r>
          </a:p>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5. </a:t>
            </a:r>
            <a:r>
              <a:rPr sz="2000" dirty="0">
                <a:latin typeface="微软雅黑" panose="020B0503020204020204" pitchFamily="34" charset="-122"/>
                <a:ea typeface="微软雅黑" panose="020B0503020204020204" pitchFamily="34" charset="-122"/>
                <a:cs typeface="微软雅黑" panose="020B0503020204020204" pitchFamily="34" charset="-122"/>
              </a:rPr>
              <a:t>如何在立法和司法实践中贯彻罪责刑相适应原则?</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6.</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如何理解罪责自负原则?</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7.</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如何理解主客观相统一原则?</a:t>
            </a:r>
          </a:p>
        </p:txBody>
      </p:sp>
      <p:sp>
        <p:nvSpPr>
          <p:cNvPr id="4" name="文本框 3"/>
          <p:cNvSpPr txBox="1"/>
          <p:nvPr/>
        </p:nvSpPr>
        <p:spPr>
          <a:xfrm>
            <a:off x="1926590" y="1230630"/>
            <a:ext cx="1208405"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rPr>
              <a:t>思考题</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E4YWE2NWM2NjkyMzUxOGRkNDNkNjJlMmYxYjJlZD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PA" val="v3.2.0"/>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PA" val="v3.2.0"/>
</p:tagLst>
</file>

<file path=ppt/tags/tag13.xml><?xml version="1.0" encoding="utf-8"?>
<p:tagLst xmlns:a="http://schemas.openxmlformats.org/drawingml/2006/main" xmlns:r="http://schemas.openxmlformats.org/officeDocument/2006/relationships" xmlns:p="http://schemas.openxmlformats.org/presentationml/2006/main">
  <p:tag name="PA" val="v3.2.0"/>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PA" val="v3.2.0"/>
</p:tagLst>
</file>

<file path=ppt/tags/tag18.xml><?xml version="1.0" encoding="utf-8"?>
<p:tagLst xmlns:a="http://schemas.openxmlformats.org/drawingml/2006/main" xmlns:r="http://schemas.openxmlformats.org/officeDocument/2006/relationships" xmlns:p="http://schemas.openxmlformats.org/presentationml/2006/main">
  <p:tag name="PA" val="v3.2.0"/>
</p:tagLst>
</file>

<file path=ppt/tags/tag19.xml><?xml version="1.0" encoding="utf-8"?>
<p:tagLst xmlns:a="http://schemas.openxmlformats.org/drawingml/2006/main" xmlns:r="http://schemas.openxmlformats.org/officeDocument/2006/relationships" xmlns:p="http://schemas.openxmlformats.org/presentationml/2006/main">
  <p:tag name="PA" val="v3.2.0"/>
</p:tagLst>
</file>

<file path=ppt/tags/tag20.xml><?xml version="1.0" encoding="utf-8"?>
<p:tagLst xmlns:a="http://schemas.openxmlformats.org/drawingml/2006/main" xmlns:r="http://schemas.openxmlformats.org/officeDocument/2006/relationships" xmlns:p="http://schemas.openxmlformats.org/presentationml/2006/main">
  <p:tag name="PA" val="v3.2.0"/>
</p:tagLst>
</file>

<file path=ppt/tags/tag21.xml><?xml version="1.0" encoding="utf-8"?>
<p:tagLst xmlns:a="http://schemas.openxmlformats.org/drawingml/2006/main" xmlns:r="http://schemas.openxmlformats.org/officeDocument/2006/relationships" xmlns:p="http://schemas.openxmlformats.org/presentationml/2006/main">
  <p:tag name="PA" val="v3.2.0"/>
</p:tagLst>
</file>

<file path=ppt/tags/tag22.xml><?xml version="1.0" encoding="utf-8"?>
<p:tagLst xmlns:a="http://schemas.openxmlformats.org/drawingml/2006/main" xmlns:r="http://schemas.openxmlformats.org/officeDocument/2006/relationships" xmlns:p="http://schemas.openxmlformats.org/presentationml/2006/main">
  <p:tag name="PA" val="v3.2.0"/>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PA" val="v3.2.0"/>
</p:tagLst>
</file>

<file path=ppt/tags/tag25.xml><?xml version="1.0" encoding="utf-8"?>
<p:tagLst xmlns:a="http://schemas.openxmlformats.org/drawingml/2006/main" xmlns:r="http://schemas.openxmlformats.org/officeDocument/2006/relationships" xmlns:p="http://schemas.openxmlformats.org/presentationml/2006/main">
  <p:tag name="PA" val="v3.2.0"/>
</p:tagLst>
</file>

<file path=ppt/tags/tag26.xml><?xml version="1.0" encoding="utf-8"?>
<p:tagLst xmlns:a="http://schemas.openxmlformats.org/drawingml/2006/main" xmlns:r="http://schemas.openxmlformats.org/officeDocument/2006/relationships" xmlns:p="http://schemas.openxmlformats.org/presentationml/2006/main">
  <p:tag name="PA" val="v3.2.0"/>
</p:tagLst>
</file>

<file path=ppt/tags/tag27.xml><?xml version="1.0" encoding="utf-8"?>
<p:tagLst xmlns:a="http://schemas.openxmlformats.org/drawingml/2006/main" xmlns:r="http://schemas.openxmlformats.org/officeDocument/2006/relationships" xmlns:p="http://schemas.openxmlformats.org/presentationml/2006/main">
  <p:tag name="PA" val="v3.2.0"/>
</p:tagLst>
</file>

<file path=ppt/tags/tag28.xml><?xml version="1.0" encoding="utf-8"?>
<p:tagLst xmlns:a="http://schemas.openxmlformats.org/drawingml/2006/main" xmlns:r="http://schemas.openxmlformats.org/officeDocument/2006/relationships" xmlns:p="http://schemas.openxmlformats.org/presentationml/2006/main">
  <p:tag name="PA" val="v3.2.0"/>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PA" val="v3.2.0"/>
</p:tagLst>
</file>

<file path=ppt/tags/tag31.xml><?xml version="1.0" encoding="utf-8"?>
<p:tagLst xmlns:a="http://schemas.openxmlformats.org/drawingml/2006/main" xmlns:r="http://schemas.openxmlformats.org/officeDocument/2006/relationships" xmlns:p="http://schemas.openxmlformats.org/presentationml/2006/main">
  <p:tag name="PA" val="v3.2.0"/>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PA" val="v3.2.0"/>
</p:tagLst>
</file>

<file path=ppt/tags/tag34.xml><?xml version="1.0" encoding="utf-8"?>
<p:tagLst xmlns:a="http://schemas.openxmlformats.org/drawingml/2006/main" xmlns:r="http://schemas.openxmlformats.org/officeDocument/2006/relationships" xmlns:p="http://schemas.openxmlformats.org/presentationml/2006/main">
  <p:tag name="PA" val="v3.2.0"/>
</p:tagLst>
</file>

<file path=ppt/tags/tag35.xml><?xml version="1.0" encoding="utf-8"?>
<p:tagLst xmlns:a="http://schemas.openxmlformats.org/drawingml/2006/main" xmlns:r="http://schemas.openxmlformats.org/officeDocument/2006/relationships" xmlns:p="http://schemas.openxmlformats.org/presentationml/2006/main">
  <p:tag name="PA" val="v3.2.0"/>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PA" val="v3.2.0"/>
</p:tagLst>
</file>

<file path=ppt/tags/tag38.xml><?xml version="1.0" encoding="utf-8"?>
<p:tagLst xmlns:a="http://schemas.openxmlformats.org/drawingml/2006/main" xmlns:r="http://schemas.openxmlformats.org/officeDocument/2006/relationships" xmlns:p="http://schemas.openxmlformats.org/presentationml/2006/main">
  <p:tag name="PA" val="v3.2.0"/>
</p:tagLst>
</file>

<file path=ppt/tags/tag39.xml><?xml version="1.0" encoding="utf-8"?>
<p:tagLst xmlns:a="http://schemas.openxmlformats.org/drawingml/2006/main" xmlns:r="http://schemas.openxmlformats.org/officeDocument/2006/relationships" xmlns:p="http://schemas.openxmlformats.org/presentationml/2006/main">
  <p:tag name="PA" val="v3.2.0"/>
</p:tagLst>
</file>

<file path=ppt/tags/tag40.xml><?xml version="1.0" encoding="utf-8"?>
<p:tagLst xmlns:a="http://schemas.openxmlformats.org/drawingml/2006/main" xmlns:r="http://schemas.openxmlformats.org/officeDocument/2006/relationships" xmlns:p="http://schemas.openxmlformats.org/presentationml/2006/main">
  <p:tag name="PA" val="v3.2.0"/>
</p:tagLst>
</file>

<file path=ppt/tags/tag41.xml><?xml version="1.0" encoding="utf-8"?>
<p:tagLst xmlns:a="http://schemas.openxmlformats.org/drawingml/2006/main" xmlns:r="http://schemas.openxmlformats.org/officeDocument/2006/relationships" xmlns:p="http://schemas.openxmlformats.org/presentationml/2006/main">
  <p:tag name="PA" val="v3.2.0"/>
</p:tagLst>
</file>

<file path=ppt/tags/tag42.xml><?xml version="1.0" encoding="utf-8"?>
<p:tagLst xmlns:a="http://schemas.openxmlformats.org/drawingml/2006/main" xmlns:r="http://schemas.openxmlformats.org/officeDocument/2006/relationships" xmlns:p="http://schemas.openxmlformats.org/presentationml/2006/main">
  <p:tag name="PA" val="v3.2.0"/>
</p:tagLst>
</file>

<file path=ppt/tags/tag43.xml><?xml version="1.0" encoding="utf-8"?>
<p:tagLst xmlns:a="http://schemas.openxmlformats.org/drawingml/2006/main" xmlns:r="http://schemas.openxmlformats.org/officeDocument/2006/relationships" xmlns:p="http://schemas.openxmlformats.org/presentationml/2006/main">
  <p:tag name="PA" val="v3.2.0"/>
</p:tagLst>
</file>

<file path=ppt/tags/tag44.xml><?xml version="1.0" encoding="utf-8"?>
<p:tagLst xmlns:a="http://schemas.openxmlformats.org/drawingml/2006/main" xmlns:r="http://schemas.openxmlformats.org/officeDocument/2006/relationships" xmlns:p="http://schemas.openxmlformats.org/presentationml/2006/main">
  <p:tag name="PA" val="v3.2.0"/>
</p:tagLst>
</file>

<file path=ppt/tags/tag45.xml><?xml version="1.0" encoding="utf-8"?>
<p:tagLst xmlns:a="http://schemas.openxmlformats.org/drawingml/2006/main" xmlns:r="http://schemas.openxmlformats.org/officeDocument/2006/relationships" xmlns:p="http://schemas.openxmlformats.org/presentationml/2006/main">
  <p:tag name="PA" val="v3.2.0"/>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2189</Words>
  <Application>Microsoft Office PowerPoint</Application>
  <PresentationFormat>宽屏</PresentationFormat>
  <Paragraphs>178</Paragraphs>
  <Slides>36</Slides>
  <Notes>0</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36</vt:i4>
      </vt:variant>
    </vt:vector>
  </HeadingPairs>
  <TitlesOfParts>
    <vt:vector size="48" baseType="lpstr">
      <vt:lpstr>Roboto</vt:lpstr>
      <vt:lpstr>等线</vt:lpstr>
      <vt:lpstr>等线 Light</vt:lpstr>
      <vt:lpstr>黑体</vt:lpstr>
      <vt:lpstr>华文新魏</vt:lpstr>
      <vt:lpstr>华文中宋</vt:lpstr>
      <vt:lpstr>宋体</vt:lpstr>
      <vt:lpstr>微软雅黑</vt:lpstr>
      <vt:lpstr>Arial</vt:lpstr>
      <vt:lpstr>Calibri</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LGY</cp:lastModifiedBy>
  <cp:revision>236</cp:revision>
  <dcterms:created xsi:type="dcterms:W3CDTF">2017-08-25T04:22:00Z</dcterms:created>
  <dcterms:modified xsi:type="dcterms:W3CDTF">2025-02-24T03:14:36Z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88B88690EC924D9ABADBF9641D54E1A9_12</vt:lpwstr>
  </property>
  <property fmtid="{D5CDD505-2E9C-101B-9397-08002B2CF9AE}" pid="3" name="KSOProductBuildVer">
    <vt:lpwstr>2052-12.1.0.15120</vt:lpwstr>
  </property>
</Properties>
</file>