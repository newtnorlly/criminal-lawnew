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48"/>
  </p:handoutMasterIdLst>
  <p:sldIdLst>
    <p:sldId id="260" r:id="rId2"/>
    <p:sldId id="295" r:id="rId3"/>
    <p:sldId id="303" r:id="rId4"/>
    <p:sldId id="305" r:id="rId5"/>
    <p:sldId id="457" r:id="rId6"/>
    <p:sldId id="296" r:id="rId7"/>
    <p:sldId id="454" r:id="rId8"/>
    <p:sldId id="419" r:id="rId9"/>
    <p:sldId id="458" r:id="rId10"/>
    <p:sldId id="420" r:id="rId11"/>
    <p:sldId id="455" r:id="rId12"/>
    <p:sldId id="421" r:id="rId13"/>
    <p:sldId id="423" r:id="rId14"/>
    <p:sldId id="439" r:id="rId15"/>
    <p:sldId id="424" r:id="rId16"/>
    <p:sldId id="440" r:id="rId17"/>
    <p:sldId id="425" r:id="rId18"/>
    <p:sldId id="426" r:id="rId19"/>
    <p:sldId id="428" r:id="rId20"/>
    <p:sldId id="456" r:id="rId21"/>
    <p:sldId id="429" r:id="rId22"/>
    <p:sldId id="430" r:id="rId23"/>
    <p:sldId id="459" r:id="rId24"/>
    <p:sldId id="460" r:id="rId25"/>
    <p:sldId id="431" r:id="rId26"/>
    <p:sldId id="432" r:id="rId27"/>
    <p:sldId id="433" r:id="rId28"/>
    <p:sldId id="461" r:id="rId29"/>
    <p:sldId id="462" r:id="rId30"/>
    <p:sldId id="434" r:id="rId31"/>
    <p:sldId id="463" r:id="rId32"/>
    <p:sldId id="464" r:id="rId33"/>
    <p:sldId id="465" r:id="rId34"/>
    <p:sldId id="435" r:id="rId35"/>
    <p:sldId id="467" r:id="rId36"/>
    <p:sldId id="436" r:id="rId37"/>
    <p:sldId id="468" r:id="rId38"/>
    <p:sldId id="469" r:id="rId39"/>
    <p:sldId id="470" r:id="rId40"/>
    <p:sldId id="466" r:id="rId41"/>
    <p:sldId id="471" r:id="rId42"/>
    <p:sldId id="472" r:id="rId43"/>
    <p:sldId id="473" r:id="rId44"/>
    <p:sldId id="474" r:id="rId45"/>
    <p:sldId id="475" r:id="rId46"/>
    <p:sldId id="280" r:id="rId47"/>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9D9"/>
    <a:srgbClr val="0288DD"/>
    <a:srgbClr val="000000"/>
    <a:srgbClr val="D9793F"/>
    <a:srgbClr val="FFFFFF"/>
    <a:srgbClr val="BFBFBF"/>
    <a:srgbClr val="E6E6E6"/>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3" autoAdjust="0"/>
    <p:restoredTop sz="94225" autoAdjust="0"/>
  </p:normalViewPr>
  <p:slideViewPr>
    <p:cSldViewPr snapToGrid="0">
      <p:cViewPr>
        <p:scale>
          <a:sx n="100" d="100"/>
          <a:sy n="100" d="100"/>
        </p:scale>
        <p:origin x="-211" y="63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2025/4/29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307676981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19558" y="122345"/>
            <a:ext cx="11721961" cy="6610935"/>
            <a:chOff x="219558" y="122345"/>
            <a:chExt cx="11721961"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219558"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0957269" y="6384030"/>
              <a:ext cx="984250"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第十一章  </a:t>
              </a:r>
              <a:endParaRPr lang="en-US" altLang="zh-CN" sz="1400" b="1" dirty="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马克思主义理论研究</a:t>
            </a:r>
            <a:endParaRPr kumimoji="0" lang="en-US" altLang="zh-CN"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p>
          </p:txBody>
        </p:sp>
      </p:grpSp>
      <p:sp>
        <p:nvSpPr>
          <p:cNvPr id="9" name="文本框 8"/>
          <p:cNvSpPr txBox="1"/>
          <p:nvPr/>
        </p:nvSpPr>
        <p:spPr>
          <a:xfrm>
            <a:off x="1700554" y="5808464"/>
            <a:ext cx="2657532" cy="33718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刑法学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编写组</a:t>
            </a: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803227" y="2438527"/>
            <a:ext cx="5372100" cy="1322070"/>
          </a:xfrm>
          <a:prstGeom prst="rect">
            <a:avLst/>
          </a:prstGeom>
        </p:spPr>
        <p:txBody>
          <a:bodyPr wrap="none">
            <a:spAutoFit/>
          </a:bodyPr>
          <a:lstStyle/>
          <a:p>
            <a:pPr indent="0" algn="l" fontAlgn="auto">
              <a:lnSpc>
                <a:spcPct val="200000"/>
              </a:lnSpc>
              <a:spcBef>
                <a:spcPts val="1200"/>
              </a:spcBef>
            </a:pP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第十一章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共同犯罪</a:t>
            </a:r>
          </a:p>
        </p:txBody>
      </p:sp>
      <p:sp>
        <p:nvSpPr>
          <p:cNvPr id="3" name="矩形 2"/>
          <p:cNvSpPr/>
          <p:nvPr/>
        </p:nvSpPr>
        <p:spPr>
          <a:xfrm>
            <a:off x="1850376" y="4293696"/>
            <a:ext cx="1850317"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30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150"/>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4807024" y="2769892"/>
            <a:ext cx="6427334" cy="922020"/>
            <a:chOff x="6063487" y="808531"/>
            <a:chExt cx="5374980" cy="844706"/>
          </a:xfrm>
        </p:grpSpPr>
        <p:sp>
          <p:nvSpPr>
            <p:cNvPr id="4" name="椭圆 3"/>
            <p:cNvSpPr/>
            <p:nvPr/>
          </p:nvSpPr>
          <p:spPr>
            <a:xfrm>
              <a:off x="6063487" y="942228"/>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6819327" y="808531"/>
              <a:ext cx="4619140" cy="844706"/>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第一节</a:t>
              </a:r>
            </a:p>
            <a:p>
              <a:pPr lvl="0" algn="just" eaLnBrk="0" fontAlgn="base" hangingPunct="0">
                <a:lnSpc>
                  <a:spcPct val="15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共同犯罪</a:t>
              </a:r>
              <a:r>
                <a:rPr lang="en-US" altLang="zh-CN" dirty="0" err="1">
                  <a:latin typeface="微软雅黑" panose="020B0503020204020204" pitchFamily="34" charset="-122"/>
                  <a:ea typeface="微软雅黑" panose="020B0503020204020204" pitchFamily="34" charset="-122"/>
                </a:rPr>
                <a:t>概述</a:t>
              </a:r>
            </a:p>
          </p:txBody>
        </p:sp>
      </p:grpSp>
      <p:grpSp>
        <p:nvGrpSpPr>
          <p:cNvPr id="14" name="组合 13"/>
          <p:cNvGrpSpPr/>
          <p:nvPr/>
        </p:nvGrpSpPr>
        <p:grpSpPr>
          <a:xfrm>
            <a:off x="5394844" y="3909082"/>
            <a:ext cx="6427334" cy="783590"/>
            <a:chOff x="6063487" y="2021055"/>
            <a:chExt cx="5374980" cy="717884"/>
          </a:xfrm>
        </p:grpSpPr>
        <p:sp>
          <p:nvSpPr>
            <p:cNvPr id="3" name="椭圆 2"/>
            <p:cNvSpPr/>
            <p:nvPr/>
          </p:nvSpPr>
          <p:spPr>
            <a:xfrm>
              <a:off x="6063487" y="2057930"/>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2</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 name="矩形 8"/>
            <p:cNvSpPr/>
            <p:nvPr/>
          </p:nvSpPr>
          <p:spPr>
            <a:xfrm>
              <a:off x="6819327" y="2021055"/>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第二节</a:t>
              </a:r>
            </a:p>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共同犯罪的形式</a:t>
              </a:r>
            </a:p>
          </p:txBody>
        </p:sp>
      </p:grpSp>
      <p:grpSp>
        <p:nvGrpSpPr>
          <p:cNvPr id="15" name="组合 14"/>
          <p:cNvGrpSpPr/>
          <p:nvPr/>
        </p:nvGrpSpPr>
        <p:grpSpPr>
          <a:xfrm>
            <a:off x="5982663" y="4851859"/>
            <a:ext cx="6427334" cy="783590"/>
            <a:chOff x="6063487" y="3115241"/>
            <a:chExt cx="5374980" cy="717884"/>
          </a:xfrm>
        </p:grpSpPr>
        <p:sp>
          <p:nvSpPr>
            <p:cNvPr id="5" name="椭圆 4"/>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第三节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共同犯罪人及其刑事责任</a:t>
              </a:r>
            </a:p>
          </p:txBody>
        </p:sp>
      </p:grpSp>
      <p:cxnSp>
        <p:nvCxnSpPr>
          <p:cNvPr id="23" name="Conexão reta 24"/>
          <p:cNvCxnSpPr/>
          <p:nvPr/>
        </p:nvCxnSpPr>
        <p:spPr>
          <a:xfrm>
            <a:off x="4596826" y="2052232"/>
            <a:ext cx="7514492" cy="16829"/>
          </a:xfrm>
          <a:prstGeom prst="line">
            <a:avLst/>
          </a:prstGeom>
          <a:ln>
            <a:solidFill>
              <a:srgbClr val="D9793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714853" y="1239877"/>
            <a:ext cx="1225015" cy="523220"/>
          </a:xfrm>
          <a:prstGeom prst="rect">
            <a:avLst/>
          </a:prstGeom>
          <a:noFill/>
        </p:spPr>
        <p:txBody>
          <a:bodyPr wrap="none" rtlCol="0">
            <a:spAutoFit/>
          </a:bodyPr>
          <a:lstStyle/>
          <a:p>
            <a:r>
              <a:rPr lang="zh-CN" altLang="en-US" sz="2800" b="1" dirty="0">
                <a:solidFill>
                  <a:srgbClr val="D9793F"/>
                </a:solidFill>
                <a:latin typeface="微软雅黑" panose="020B0503020204020204" pitchFamily="34" charset="-122"/>
                <a:ea typeface="微软雅黑" panose="020B0503020204020204" pitchFamily="34" charset="-122"/>
              </a:rPr>
              <a:t>目   录</a:t>
            </a:r>
          </a:p>
        </p:txBody>
      </p:sp>
      <p:pic>
        <p:nvPicPr>
          <p:cNvPr id="20" name="图片 19"/>
          <p:cNvPicPr>
            <a:picLocks noChangeAspect="1"/>
          </p:cNvPicPr>
          <p:nvPr/>
        </p:nvPicPr>
        <p:blipFill rotWithShape="1">
          <a:blip r:embed="rId2">
            <a:extLst>
              <a:ext uri="{28A0092B-C50C-407E-A947-70E740481C1C}">
                <a14:useLocalDpi xmlns:a14="http://schemas.microsoft.com/office/drawing/2010/main" val="0"/>
              </a:ext>
            </a:extLst>
          </a:blip>
          <a:srcRect l="7624" t="3696" r="7783" b="32380"/>
          <a:stretch>
            <a:fillRect/>
          </a:stretch>
        </p:blipFill>
        <p:spPr>
          <a:xfrm flipH="1">
            <a:off x="211767" y="545933"/>
            <a:ext cx="5673915" cy="6013129"/>
          </a:xfrm>
          <a:prstGeom prst="parallelogram">
            <a:avLst>
              <a:gd name="adj" fmla="val 63902"/>
            </a:avLst>
          </a:prstGeom>
        </p:spPr>
      </p:pic>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第一节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err="1">
                <a:latin typeface="微软雅黑" panose="020B0503020204020204" pitchFamily="34" charset="-122"/>
                <a:ea typeface="微软雅黑" panose="020B0503020204020204" pitchFamily="34" charset="-122"/>
              </a:rPr>
              <a:t>共同犯罪</a:t>
            </a:r>
            <a:r>
              <a:rPr lang="en-US" altLang="zh-CN" sz="2400" b="1" dirty="0" err="1">
                <a:latin typeface="微软雅黑" panose="020B0503020204020204" pitchFamily="34" charset="-122"/>
                <a:ea typeface="微软雅黑" panose="020B0503020204020204" pitchFamily="34" charset="-122"/>
              </a:rPr>
              <a:t>概述</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/11</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609938" y="775078"/>
            <a:ext cx="487426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第十一章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共同犯罪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755374" y="1311964"/>
            <a:ext cx="10821724" cy="5170646"/>
          </a:xfrm>
          <a:prstGeom prst="rect">
            <a:avLst/>
          </a:prstGeom>
          <a:noFill/>
        </p:spPr>
        <p:txBody>
          <a:bodyPr wrap="square" rtlCol="0">
            <a:spAutoFit/>
          </a:bodyPr>
          <a:lstStyle/>
          <a:p>
            <a:pPr algn="just">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 </a:t>
            </a:r>
            <a:r>
              <a:rPr lang="zh-CN" altLang="en-US" sz="2000" dirty="0" smtClean="0">
                <a:solidFill>
                  <a:srgbClr val="000000"/>
                </a:solidFill>
                <a:latin typeface="微软雅黑" panose="020B0503020204020204" pitchFamily="34" charset="-122"/>
                <a:ea typeface="微软雅黑" panose="020B0503020204020204" pitchFamily="34" charset="-122"/>
              </a:rPr>
              <a:t>   共同</a:t>
            </a:r>
            <a:r>
              <a:rPr lang="zh-CN" altLang="en-US" sz="2000" dirty="0">
                <a:solidFill>
                  <a:srgbClr val="000000"/>
                </a:solidFill>
                <a:latin typeface="微软雅黑" panose="020B0503020204020204" pitchFamily="34" charset="-122"/>
                <a:ea typeface="微软雅黑" panose="020B0503020204020204" pitchFamily="34" charset="-122"/>
              </a:rPr>
              <a:t>犯罪简称“共犯”，是单独犯（即“正犯”）的对称，同未完成之罪一样，也符合修正的犯罪构成。在司法实践中，大多数犯罪是一人单独实施，但也有不少犯罪是二人以上共同实施。在此过程中，各个共犯者的参与方式和介入程度是不同的。对其中的某一共犯者而言，不过是利用了和他人一起行动的契机，实现自己的犯罪目的而已。因此，需要区分共犯者的类型，合理地追究其刑事责任</a:t>
            </a:r>
            <a:r>
              <a:rPr lang="zh-CN" altLang="en-US" sz="2000" dirty="0" smtClean="0">
                <a:solidFill>
                  <a:srgbClr val="000000"/>
                </a:solidFill>
                <a:latin typeface="微软雅黑" panose="020B0503020204020204" pitchFamily="34" charset="-122"/>
                <a:ea typeface="微软雅黑" panose="020B0503020204020204" pitchFamily="34" charset="-122"/>
              </a:rPr>
              <a:t>。</a:t>
            </a:r>
            <a:endParaRPr lang="en-US" altLang="zh-CN" sz="2000"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pPr>
            <a:endParaRPr lang="en-US" altLang="zh-CN" sz="2000" dirty="0">
              <a:solidFill>
                <a:srgbClr val="000000"/>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smtClean="0">
                <a:solidFill>
                  <a:srgbClr val="000000"/>
                </a:solidFill>
                <a:latin typeface="微软雅黑" panose="020B0503020204020204" pitchFamily="34" charset="-122"/>
                <a:ea typeface="微软雅黑" panose="020B0503020204020204" pitchFamily="34" charset="-122"/>
              </a:rPr>
              <a:t>    </a:t>
            </a:r>
            <a:r>
              <a:rPr lang="zh-CN" altLang="en-US" sz="2000" b="1" dirty="0" smtClean="0">
                <a:solidFill>
                  <a:srgbClr val="0289D9"/>
                </a:solidFill>
                <a:latin typeface="微软雅黑" panose="020B0503020204020204" pitchFamily="34" charset="-122"/>
                <a:ea typeface="微软雅黑" panose="020B0503020204020204" pitchFamily="34" charset="-122"/>
              </a:rPr>
              <a:t>大陆法系国家刑法理论认为，</a:t>
            </a:r>
            <a:r>
              <a:rPr lang="zh-CN" altLang="en-US" sz="2000" dirty="0" smtClean="0">
                <a:solidFill>
                  <a:srgbClr val="000000"/>
                </a:solidFill>
                <a:latin typeface="微软雅黑" panose="020B0503020204020204" pitchFamily="34" charset="-122"/>
                <a:ea typeface="微软雅黑" panose="020B0503020204020204" pitchFamily="34" charset="-122"/>
              </a:rPr>
              <a:t>共同</a:t>
            </a:r>
            <a:r>
              <a:rPr lang="zh-CN" altLang="en-US" sz="2000" dirty="0">
                <a:solidFill>
                  <a:srgbClr val="000000"/>
                </a:solidFill>
                <a:latin typeface="微软雅黑" panose="020B0503020204020204" pitchFamily="34" charset="-122"/>
                <a:ea typeface="微软雅黑" panose="020B0503020204020204" pitchFamily="34" charset="-122"/>
              </a:rPr>
              <a:t>犯罪的</a:t>
            </a:r>
            <a:r>
              <a:rPr lang="zh-CN" altLang="en-US" sz="2000" dirty="0" smtClean="0">
                <a:solidFill>
                  <a:srgbClr val="000000"/>
                </a:solidFill>
                <a:latin typeface="微软雅黑" panose="020B0503020204020204" pitchFamily="34" charset="-122"/>
                <a:ea typeface="微软雅黑" panose="020B0503020204020204" pitchFamily="34" charset="-122"/>
              </a:rPr>
              <a:t>本质在于</a:t>
            </a:r>
            <a:r>
              <a:rPr lang="zh-CN" altLang="en-US"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20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）违法是连带的，责任是个别</a:t>
            </a:r>
            <a:r>
              <a:rPr lang="zh-CN" altLang="en-US"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的；（</a:t>
            </a:r>
            <a:r>
              <a:rPr lang="en-US" altLang="zh-CN"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2</a:t>
            </a:r>
            <a:r>
              <a:rPr lang="zh-CN" altLang="en-US" sz="20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）共同犯罪首先是违法层面的“共同犯罪”，其次才是违法且有责意义上的</a:t>
            </a:r>
            <a:r>
              <a:rPr lang="zh-CN" altLang="en-US"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“共同犯罪”</a:t>
            </a:r>
            <a:r>
              <a:rPr lang="zh-CN" altLang="en-US" sz="1400" b="1" dirty="0" smtClean="0">
                <a:solidFill>
                  <a:srgbClr val="0288DD"/>
                </a:solidFill>
                <a:latin typeface="微软雅黑" panose="020B0503020204020204" pitchFamily="34" charset="-122"/>
                <a:ea typeface="微软雅黑" panose="020B0503020204020204" pitchFamily="34" charset="-122"/>
                <a:sym typeface="Wingdings" panose="05000000000000000000" pitchFamily="2" charset="2"/>
              </a:rPr>
              <a:t>（如</a:t>
            </a:r>
            <a:r>
              <a:rPr lang="en-US" altLang="zh-CN" sz="1400" b="1" dirty="0" smtClean="0">
                <a:solidFill>
                  <a:srgbClr val="0288DD"/>
                </a:solidFill>
                <a:latin typeface="微软雅黑" panose="020B0503020204020204" pitchFamily="34" charset="-122"/>
                <a:ea typeface="微软雅黑" panose="020B0503020204020204" pitchFamily="34" charset="-122"/>
                <a:sym typeface="Wingdings" panose="05000000000000000000" pitchFamily="2" charset="2"/>
              </a:rPr>
              <a:t>16</a:t>
            </a:r>
            <a:r>
              <a:rPr lang="zh-CN" altLang="en-US" sz="1400" b="1" dirty="0" smtClean="0">
                <a:solidFill>
                  <a:srgbClr val="0288DD"/>
                </a:solidFill>
                <a:latin typeface="微软雅黑" panose="020B0503020204020204" pitchFamily="34" charset="-122"/>
                <a:ea typeface="微软雅黑" panose="020B0503020204020204" pitchFamily="34" charset="-122"/>
                <a:sym typeface="Wingdings" panose="05000000000000000000" pitchFamily="2" charset="2"/>
              </a:rPr>
              <a:t>周岁的甲和</a:t>
            </a:r>
            <a:r>
              <a:rPr lang="en-US" altLang="zh-CN" sz="1400" b="1" dirty="0" smtClean="0">
                <a:solidFill>
                  <a:srgbClr val="0288DD"/>
                </a:solidFill>
                <a:latin typeface="微软雅黑" panose="020B0503020204020204" pitchFamily="34" charset="-122"/>
                <a:ea typeface="微软雅黑" panose="020B0503020204020204" pitchFamily="34" charset="-122"/>
                <a:sym typeface="Wingdings" panose="05000000000000000000" pitchFamily="2" charset="2"/>
              </a:rPr>
              <a:t>13</a:t>
            </a:r>
            <a:r>
              <a:rPr lang="zh-CN" altLang="en-US" sz="1400" b="1" dirty="0" smtClean="0">
                <a:solidFill>
                  <a:srgbClr val="0288DD"/>
                </a:solidFill>
                <a:latin typeface="微软雅黑" panose="020B0503020204020204" pitchFamily="34" charset="-122"/>
                <a:ea typeface="微软雅黑" panose="020B0503020204020204" pitchFamily="34" charset="-122"/>
                <a:sym typeface="Wingdings" panose="05000000000000000000" pitchFamily="2" charset="2"/>
              </a:rPr>
              <a:t>周岁的乙轮奸丙）</a:t>
            </a:r>
            <a:r>
              <a:rPr lang="zh-CN" altLang="en-US"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3</a:t>
            </a:r>
            <a:r>
              <a:rPr lang="zh-CN" altLang="en-US" sz="20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）根据行为共同说，之所以处罚共犯，是因为各人为了实现自己的犯罪，利用他人扩张了自己的因果</a:t>
            </a:r>
            <a:r>
              <a:rPr lang="zh-CN" altLang="en-US"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影响力；（</a:t>
            </a:r>
            <a:r>
              <a:rPr lang="en-US" altLang="zh-CN"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4</a:t>
            </a:r>
            <a:r>
              <a:rPr lang="zh-CN" altLang="en-US" sz="200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）否定罪名从属性，广泛承认片面共犯、过失共犯</a:t>
            </a:r>
            <a:r>
              <a:rPr lang="zh-CN" altLang="en-US" sz="2000" dirty="0" smtClean="0">
                <a:solidFill>
                  <a:srgbClr val="000000"/>
                </a:solidFill>
                <a:latin typeface="微软雅黑" panose="020B0503020204020204" pitchFamily="34" charset="-122"/>
                <a:ea typeface="微软雅黑" panose="020B0503020204020204" pitchFamily="34" charset="-122"/>
                <a:sym typeface="Wingdings" panose="05000000000000000000" pitchFamily="2" charset="2"/>
              </a:rPr>
              <a:t>等。</a:t>
            </a:r>
            <a:endParaRPr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3" name="矩形 2"/>
          <p:cNvSpPr/>
          <p:nvPr/>
        </p:nvSpPr>
        <p:spPr>
          <a:xfrm>
            <a:off x="4633077" y="576650"/>
            <a:ext cx="2926080" cy="46037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一、共同犯罪的概念</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7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733734" y="1310122"/>
            <a:ext cx="5090926" cy="4615815"/>
          </a:xfrm>
          <a:prstGeom prst="rect">
            <a:avLst/>
          </a:prstGeom>
          <a:noFill/>
        </p:spPr>
        <p:txBody>
          <a:bodyPr wrap="square" rtlCol="0">
            <a:spAutoFit/>
          </a:bodyPr>
          <a:lstStyle/>
          <a:p>
            <a:pPr algn="just">
              <a:lnSpc>
                <a:spcPct val="150000"/>
              </a:lnSpc>
            </a:pP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犯罪共同说</a:t>
            </a:r>
          </a:p>
          <a:p>
            <a:pPr algn="just">
              <a:lnSpc>
                <a:spcPct val="150000"/>
              </a:lnSpc>
            </a:pPr>
            <a:r>
              <a:rPr lang="zh-CN" altLang="zh-CN" sz="2000" dirty="0">
                <a:latin typeface="微软雅黑" panose="020B0503020204020204" pitchFamily="34" charset="-122"/>
                <a:ea typeface="微软雅黑" panose="020B0503020204020204" pitchFamily="34" charset="-122"/>
                <a:sym typeface="+mn-ea"/>
              </a:rPr>
              <a:t>★ 共同犯罪以某一犯罪的构成要件为内容。</a:t>
            </a:r>
          </a:p>
          <a:p>
            <a:pPr algn="just">
              <a:lnSpc>
                <a:spcPct val="150000"/>
              </a:lnSpc>
            </a:pPr>
            <a:r>
              <a:rPr lang="zh-CN" altLang="zh-CN" sz="2000" dirty="0">
                <a:latin typeface="微软雅黑" panose="020B0503020204020204" pitchFamily="34" charset="-122"/>
                <a:ea typeface="微软雅黑" panose="020B0503020204020204" pitchFamily="34" charset="-122"/>
                <a:sym typeface="+mn-ea"/>
              </a:rPr>
              <a:t>★ 共同犯罪的主观要件是共同实行的意思，而且这种意思是在特定的犯罪上的意思，只包括犯罪故意；</a:t>
            </a:r>
          </a:p>
          <a:p>
            <a:pPr algn="just">
              <a:lnSpc>
                <a:spcPct val="150000"/>
              </a:lnSpc>
            </a:pPr>
            <a:r>
              <a:rPr lang="zh-CN" altLang="zh-CN" sz="2000" dirty="0">
                <a:latin typeface="微软雅黑" panose="020B0503020204020204" pitchFamily="34" charset="-122"/>
                <a:ea typeface="微软雅黑" panose="020B0503020204020204" pitchFamily="34" charset="-122"/>
                <a:sym typeface="+mn-ea"/>
              </a:rPr>
              <a:t>★共同犯罪的客观要件是共同实行事实，而且每个行为人的行为都需要符合一个特定的犯罪构成要件。</a:t>
            </a:r>
          </a:p>
          <a:p>
            <a:pPr algn="just">
              <a:lnSpc>
                <a:spcPct val="150000"/>
              </a:lnSpc>
            </a:pPr>
            <a:endParaRPr lang="en-US" altLang="zh-CN" dirty="0">
              <a:solidFill>
                <a:srgbClr val="000000"/>
              </a:solidFill>
              <a:latin typeface="微软雅黑" panose="020B0503020204020204" pitchFamily="34" charset="-122"/>
              <a:ea typeface="微软雅黑" panose="020B0503020204020204" pitchFamily="34" charset="-122"/>
            </a:endParaRPr>
          </a:p>
          <a:p>
            <a:pPr lvl="0" algn="just">
              <a:lnSpc>
                <a:spcPct val="150000"/>
              </a:lnSpc>
            </a:pPr>
            <a:endParaRPr lang="en-US" altLang="zh-CN" dirty="0">
              <a:solidFill>
                <a:srgbClr val="FFFFFF"/>
              </a:solidFill>
              <a:latin typeface="微软雅黑" panose="020B0503020204020204" pitchFamily="34" charset="-122"/>
              <a:ea typeface="微软雅黑" panose="020B0503020204020204" pitchFamily="34" charset="-122"/>
            </a:endParaRPr>
          </a:p>
        </p:txBody>
      </p:sp>
      <p:sp>
        <p:nvSpPr>
          <p:cNvPr id="3" name="矩形 2"/>
          <p:cNvSpPr/>
          <p:nvPr/>
        </p:nvSpPr>
        <p:spPr>
          <a:xfrm>
            <a:off x="4633077" y="576650"/>
            <a:ext cx="2926080" cy="46037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一、共同犯罪的概念</a:t>
            </a:r>
          </a:p>
        </p:txBody>
      </p:sp>
      <p:sp>
        <p:nvSpPr>
          <p:cNvPr id="13" name="PA_文本框 3"/>
          <p:cNvSpPr txBox="1"/>
          <p:nvPr>
            <p:custDataLst>
              <p:tags r:id="rId2"/>
            </p:custDataLst>
          </p:nvPr>
        </p:nvSpPr>
        <p:spPr>
          <a:xfrm>
            <a:off x="6386731" y="1310122"/>
            <a:ext cx="5127181" cy="4246245"/>
          </a:xfrm>
          <a:prstGeom prst="rect">
            <a:avLst/>
          </a:prstGeom>
          <a:noFill/>
        </p:spPr>
        <p:txBody>
          <a:bodyPr wrap="square" rtlCol="0">
            <a:spAutoFit/>
          </a:bodyPr>
          <a:lstStyle/>
          <a:p>
            <a:pPr algn="just">
              <a:lnSpc>
                <a:spcPct val="150000"/>
              </a:lnSpc>
            </a:pPr>
            <a:r>
              <a:rPr lang="zh-CN" sz="2000" b="1" dirty="0">
                <a:latin typeface="微软雅黑" panose="020B0503020204020204" pitchFamily="34" charset="-122"/>
                <a:ea typeface="微软雅黑" panose="020B0503020204020204" pitchFamily="34" charset="-122"/>
                <a:cs typeface="宋体" panose="02010600030101010101" pitchFamily="2" charset="-122"/>
                <a:sym typeface="+mn-ea"/>
              </a:rPr>
              <a:t>行为共同说</a:t>
            </a:r>
          </a:p>
          <a:p>
            <a:pPr algn="just">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a:t>
            </a:r>
            <a:r>
              <a:rPr lang="zh-CN" altLang="en-US" sz="2000" dirty="0">
                <a:solidFill>
                  <a:srgbClr val="D9793F"/>
                </a:solidFill>
                <a:latin typeface="微软雅黑" panose="020B0503020204020204" pitchFamily="34" charset="-122"/>
                <a:ea typeface="微软雅黑" panose="020B0503020204020204" pitchFamily="34" charset="-122"/>
                <a:sym typeface="+mn-ea"/>
              </a:rPr>
              <a:t> </a:t>
            </a:r>
            <a:r>
              <a:rPr lang="zh-CN" altLang="zh-CN" sz="2000" dirty="0">
                <a:latin typeface="微软雅黑" panose="020B0503020204020204" pitchFamily="34" charset="-122"/>
                <a:ea typeface="微软雅黑" panose="020B0503020204020204" pitchFamily="34" charset="-122"/>
                <a:sym typeface="+mn-ea"/>
              </a:rPr>
              <a:t>共同犯罪的成立不以犯罪构成为前提，而以犯罪事实为根据，只要行为人以共同行为完成犯罪，就属于共同犯罪。</a:t>
            </a:r>
          </a:p>
          <a:p>
            <a:pPr algn="just">
              <a:lnSpc>
                <a:spcPct val="150000"/>
              </a:lnSpc>
            </a:pPr>
            <a:r>
              <a:rPr lang="zh-CN" altLang="zh-CN" sz="2000" dirty="0">
                <a:latin typeface="微软雅黑" panose="020B0503020204020204" pitchFamily="34" charset="-122"/>
                <a:ea typeface="微软雅黑" panose="020B0503020204020204" pitchFamily="34" charset="-122"/>
                <a:sym typeface="+mn-ea"/>
              </a:rPr>
              <a:t>★ 共同故意不是共同犯罪的必要条件。</a:t>
            </a:r>
          </a:p>
          <a:p>
            <a:pPr algn="just">
              <a:lnSpc>
                <a:spcPct val="150000"/>
              </a:lnSpc>
            </a:pPr>
            <a:r>
              <a:rPr lang="zh-CN" altLang="zh-CN" sz="2000" dirty="0">
                <a:latin typeface="微软雅黑" panose="020B0503020204020204" pitchFamily="34" charset="-122"/>
                <a:ea typeface="微软雅黑" panose="020B0503020204020204" pitchFamily="34" charset="-122"/>
                <a:sym typeface="+mn-ea"/>
              </a:rPr>
              <a:t>★ 在客观上，只要行为人的危害行为与某种危害结果之间具有因果关系，就是共同行为。</a:t>
            </a:r>
          </a:p>
          <a:p>
            <a:pPr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      </a:t>
            </a:r>
            <a:endParaRPr lang="zh-CN" altLang="en-US" sz="2000" dirty="0">
              <a:latin typeface="微软雅黑" panose="020B0503020204020204" pitchFamily="34" charset="-122"/>
              <a:ea typeface="微软雅黑" panose="020B0503020204020204" pitchFamily="34" charset="-122"/>
            </a:endParaRPr>
          </a:p>
          <a:p>
            <a:pPr lvl="0" algn="just">
              <a:lnSpc>
                <a:spcPct val="150000"/>
              </a:lnSpc>
            </a:pPr>
            <a:endParaRPr lang="zh-CN" altLang="en-US" sz="2000" dirty="0">
              <a:latin typeface="微软雅黑" panose="020B0503020204020204" pitchFamily="34" charset="-122"/>
              <a:ea typeface="微软雅黑" panose="020B0503020204020204" pitchFamily="34" charset="-122"/>
            </a:endParaRPr>
          </a:p>
        </p:txBody>
      </p:sp>
      <p:cxnSp>
        <p:nvCxnSpPr>
          <p:cNvPr id="14" name="直接连接符 13"/>
          <p:cNvCxnSpPr/>
          <p:nvPr/>
        </p:nvCxnSpPr>
        <p:spPr>
          <a:xfrm flipH="1">
            <a:off x="6036824" y="1346952"/>
            <a:ext cx="8255" cy="3729355"/>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03250" y="5386070"/>
            <a:ext cx="10548620" cy="1322070"/>
          </a:xfrm>
          <a:prstGeom prst="rect">
            <a:avLst/>
          </a:prstGeom>
          <a:noFill/>
        </p:spPr>
        <p:txBody>
          <a:bodyPr wrap="square" rtlCol="0">
            <a:spAutoFit/>
          </a:bodyPr>
          <a:lstStyle/>
          <a:p>
            <a:pPr indent="0" fontAlgn="auto">
              <a:lnSpc>
                <a:spcPct val="150000"/>
              </a:lnSpc>
            </a:pPr>
            <a:r>
              <a:rPr lang="zh-CN" altLang="en-US" sz="2000" dirty="0">
                <a:solidFill>
                  <a:srgbClr val="D9793F"/>
                </a:solidFill>
                <a:latin typeface="微软雅黑" panose="020B0503020204020204" pitchFamily="34" charset="-122"/>
                <a:ea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sym typeface="+mn-ea"/>
              </a:rPr>
              <a:t>我国刑法理论中对共同犯罪的概念的探讨，是以刑事立法对共同犯罪的规定为基础和依托的</a:t>
            </a:r>
            <a:r>
              <a:rPr lang="zh-CN" altLang="en-US" sz="2000" dirty="0">
                <a:latin typeface="微软雅黑" panose="020B0503020204020204" pitchFamily="34" charset="-122"/>
                <a:ea typeface="微软雅黑" panose="020B0503020204020204" pitchFamily="34" charset="-122"/>
                <a:sym typeface="+mn-ea"/>
              </a:rPr>
              <a:t>。所谓共同犯罪，</a:t>
            </a:r>
            <a:r>
              <a:rPr lang="zh-CN" altLang="zh-CN" sz="2000" dirty="0">
                <a:latin typeface="微软雅黑" panose="020B0503020204020204" pitchFamily="34" charset="-122"/>
                <a:ea typeface="微软雅黑" panose="020B0503020204020204" pitchFamily="34" charset="-122"/>
                <a:sym typeface="+mn-ea"/>
              </a:rPr>
              <a:t>是指二人以上共同故意犯罪</a:t>
            </a:r>
            <a:r>
              <a:rPr lang="zh-CN" altLang="en-US" sz="2000" dirty="0">
                <a:latin typeface="微软雅黑" panose="020B0503020204020204" pitchFamily="34" charset="-122"/>
                <a:ea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407490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89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715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7650"/>
                            </p:stCondLst>
                            <p:childTnLst>
                              <p:par>
                                <p:cTn id="17" presetID="16" presetClass="entr" presetSubtype="42"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outHorizontal)">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42085" y="1781175"/>
            <a:ext cx="978662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 共同犯罪的成立要件</a:t>
            </a: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（一）共同犯罪的主体要件</a:t>
            </a:r>
          </a:p>
          <a:p>
            <a:pPr indent="0" fontAlgn="auto">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共同犯罪的主体必须是“二人以上</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indent="0" fontAlgn="auto">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两个以上的自然人构成的共同犯罪</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（通说认为，共同犯罪的主体必须都是达到刑事责任年龄、具有刑事责任能力的自然人。否则，不构成共同犯罪，可能构成间接正犯</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2.两个以上单位构成的共同犯罪。</a:t>
            </a:r>
          </a:p>
          <a:p>
            <a:pPr indent="0" fontAlgn="auto">
              <a:lnSpc>
                <a:spcPct val="150000"/>
              </a:lnSpc>
            </a:pPr>
            <a:r>
              <a:rPr lang="en-US" sz="2000" dirty="0">
                <a:latin typeface="微软雅黑" panose="020B0503020204020204" pitchFamily="34" charset="-122"/>
                <a:ea typeface="微软雅黑" panose="020B0503020204020204" pitchFamily="34" charset="-122"/>
                <a:cs typeface="宋体" panose="02010600030101010101" pitchFamily="2" charset="-122"/>
                <a:sym typeface="+mn-ea"/>
              </a:rPr>
              <a:t>3.自然人与单位构成的共同犯罪。</a:t>
            </a:r>
          </a:p>
          <a:p>
            <a:pPr indent="0" algn="l" fontAlgn="auto">
              <a:lnSpc>
                <a:spcPct val="150000"/>
              </a:lnSpc>
              <a:buClrTx/>
              <a:buSzTx/>
              <a:buFontTx/>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4565" y="162115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 共同犯罪的成立要件</a:t>
            </a:r>
          </a:p>
          <a:p>
            <a:pPr indent="0"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（二）共同犯罪的主观要件</a:t>
            </a:r>
          </a:p>
          <a:p>
            <a:pPr indent="0" algn="l" fontAlgn="auto">
              <a:lnSpc>
                <a:spcPct val="150000"/>
              </a:lnSpc>
              <a:buClrTx/>
              <a:buSzTx/>
              <a:buFontTx/>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共同犯罪必须是二人以上“共同故意”</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犯罪。</a:t>
            </a:r>
          </a:p>
          <a:p>
            <a:pPr indent="0" algn="l" fontAlgn="auto">
              <a:lnSpc>
                <a:spcPct val="150000"/>
              </a:lnSpc>
              <a:buClrTx/>
              <a:buSzTx/>
              <a:buFontTx/>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所谓共同犯罪故意，是指各行为人通过意思的传递、反馈而形成的，明知自己是和他人配合共同实施犯罪，并且明知共同的犯罪行为会发生某种危害社会的结果，而希望或者放任这种危害结果发生的心理态度。</a:t>
            </a:r>
          </a:p>
          <a:p>
            <a:pPr indent="0" algn="l" fontAlgn="auto">
              <a:lnSpc>
                <a:spcPct val="150000"/>
              </a:lnSpc>
              <a:buClrTx/>
              <a:buSzTx/>
              <a:buFontTx/>
            </a:pPr>
            <a:r>
              <a:rPr lang="zh-CN" altLang="zh-CN" sz="2000" dirty="0">
                <a:solidFill>
                  <a:srgbClr val="0289D9"/>
                </a:solidFill>
                <a:latin typeface="微软雅黑" panose="020B0503020204020204" pitchFamily="34" charset="-122"/>
                <a:ea typeface="微软雅黑" panose="020B0503020204020204" pitchFamily="34" charset="-122"/>
                <a:sym typeface="+mn-ea"/>
              </a:rPr>
              <a:t>共同故意</a:t>
            </a:r>
            <a:r>
              <a:rPr lang="en-US" altLang="zh-CN" sz="2000" dirty="0">
                <a:solidFill>
                  <a:srgbClr val="0289D9"/>
                </a:solidFill>
                <a:latin typeface="微软雅黑" panose="020B0503020204020204" pitchFamily="34" charset="-122"/>
                <a:ea typeface="微软雅黑" panose="020B0503020204020204" pitchFamily="34" charset="-122"/>
                <a:sym typeface="+mn-ea"/>
              </a:rPr>
              <a:t>=</a:t>
            </a:r>
            <a:r>
              <a:rPr lang="zh-CN" altLang="en-US" sz="2000" dirty="0">
                <a:solidFill>
                  <a:srgbClr val="0289D9"/>
                </a:solidFill>
                <a:latin typeface="微软雅黑" panose="020B0503020204020204" pitchFamily="34" charset="-122"/>
                <a:ea typeface="微软雅黑" panose="020B0503020204020204" pitchFamily="34" charset="-122"/>
                <a:sym typeface="+mn-ea"/>
              </a:rPr>
              <a:t>意思联络</a:t>
            </a:r>
            <a:r>
              <a:rPr lang="en-US" altLang="zh-CN" sz="2000" dirty="0">
                <a:solidFill>
                  <a:srgbClr val="0289D9"/>
                </a:solidFill>
                <a:latin typeface="微软雅黑" panose="020B0503020204020204" pitchFamily="34" charset="-122"/>
                <a:ea typeface="微软雅黑" panose="020B0503020204020204" pitchFamily="34" charset="-122"/>
                <a:sym typeface="+mn-ea"/>
              </a:rPr>
              <a:t>+</a:t>
            </a:r>
            <a:r>
              <a:rPr lang="zh-CN" altLang="en-US" sz="2000" dirty="0">
                <a:solidFill>
                  <a:srgbClr val="0289D9"/>
                </a:solidFill>
                <a:latin typeface="微软雅黑" panose="020B0503020204020204" pitchFamily="34" charset="-122"/>
                <a:ea typeface="微软雅黑" panose="020B0503020204020204" pitchFamily="34" charset="-122"/>
                <a:sym typeface="+mn-ea"/>
              </a:rPr>
              <a:t>共同认识</a:t>
            </a:r>
            <a:r>
              <a:rPr lang="en-US" altLang="zh-CN" sz="2000" dirty="0">
                <a:solidFill>
                  <a:srgbClr val="0289D9"/>
                </a:solidFill>
                <a:latin typeface="微软雅黑" panose="020B0503020204020204" pitchFamily="34" charset="-122"/>
                <a:ea typeface="微软雅黑" panose="020B0503020204020204" pitchFamily="34" charset="-122"/>
                <a:sym typeface="+mn-ea"/>
              </a:rPr>
              <a:t>+</a:t>
            </a:r>
            <a:r>
              <a:rPr lang="zh-CN" altLang="en-US" sz="2000" dirty="0">
                <a:solidFill>
                  <a:srgbClr val="0289D9"/>
                </a:solidFill>
                <a:latin typeface="微软雅黑" panose="020B0503020204020204" pitchFamily="34" charset="-122"/>
                <a:ea typeface="微软雅黑" panose="020B0503020204020204" pitchFamily="34" charset="-122"/>
                <a:sym typeface="+mn-ea"/>
              </a:rPr>
              <a:t>共同意志</a:t>
            </a:r>
            <a:endParaRPr lang="zh-CN" altLang="en-US" sz="2000" dirty="0">
              <a:solidFill>
                <a:srgbClr val="0289D9"/>
              </a:solidFill>
              <a:latin typeface="微软雅黑" panose="020B0503020204020204" pitchFamily="34" charset="-122"/>
              <a:ea typeface="微软雅黑" panose="020B0503020204020204" pitchFamily="34" charset="-122"/>
            </a:endParaRPr>
          </a:p>
          <a:p>
            <a:pPr indent="0" algn="l" fontAlgn="auto">
              <a:lnSpc>
                <a:spcPct val="150000"/>
              </a:lnSpc>
              <a:buClrTx/>
              <a:buSzTx/>
              <a:buFontTx/>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7658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 共同犯罪的成立要件</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（三）共同犯罪的客观要件</a:t>
            </a: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共同犯罪的客观要件，是指各共同犯罪人（简称“共犯人”）必须具有共同行为。</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第一，</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共同行为”不仅指各共犯人都实施了同一犯罪构成的行为，而且要求各共犯人的行为在共同故意支配下相互配合、相互协调、相互补充，形成一个整体。</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第二，</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共同</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犯罪中共同行为的表现形式，可以存在三种情形：</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共同作为，即各共犯人的行为均为作为。</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共同不作为，即各共犯人的行为均为不作为。</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作为与不作为相结合。</a:t>
            </a: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76580"/>
            <a:ext cx="1010475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第三，</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从</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共犯人的分工情况或行为与分则条文的联系来看，共同犯罪行为可以分为实行行为与非实行</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（即组织、实行、教唆和帮助行为）</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grpSp>
        <p:nvGrpSpPr>
          <p:cNvPr id="3" name="Diagram 10"/>
          <p:cNvGrpSpPr>
            <a:grpSpLocks noChangeAspect="1"/>
          </p:cNvGrpSpPr>
          <p:nvPr/>
        </p:nvGrpSpPr>
        <p:grpSpPr bwMode="auto">
          <a:xfrm>
            <a:off x="3914733" y="1923444"/>
            <a:ext cx="4025347" cy="3865106"/>
            <a:chOff x="2311" y="379"/>
            <a:chExt cx="1186" cy="1186"/>
          </a:xfrm>
        </p:grpSpPr>
        <p:sp>
          <p:nvSpPr>
            <p:cNvPr id="5" name="AutoShape 9"/>
            <p:cNvSpPr>
              <a:spLocks noChangeAspect="1" noChangeArrowheads="1" noTextEdit="1"/>
            </p:cNvSpPr>
            <p:nvPr/>
          </p:nvSpPr>
          <p:spPr bwMode="auto">
            <a:xfrm>
              <a:off x="2311" y="379"/>
              <a:ext cx="1186" cy="1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 name="_s1028"/>
            <p:cNvSpPr>
              <a:spLocks noChangeShapeType="1"/>
            </p:cNvSpPr>
            <p:nvPr/>
          </p:nvSpPr>
          <p:spPr bwMode="auto">
            <a:xfrm flipH="1">
              <a:off x="2647" y="1045"/>
              <a:ext cx="128" cy="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_s1029"/>
            <p:cNvSpPr>
              <a:spLocks noChangeArrowheads="1"/>
            </p:cNvSpPr>
            <p:nvPr/>
          </p:nvSpPr>
          <p:spPr bwMode="auto">
            <a:xfrm>
              <a:off x="2371" y="1046"/>
              <a:ext cx="296" cy="296"/>
            </a:xfrm>
            <a:prstGeom prst="ellipse">
              <a:avLst/>
            </a:prstGeom>
            <a:solidFill>
              <a:srgbClr val="00FF00"/>
            </a:solidFill>
            <a:ln w="9525">
              <a:solidFill>
                <a:srgbClr val="000000"/>
              </a:solidFill>
              <a:round/>
              <a:headEnd/>
              <a:tailEnd/>
            </a:ln>
          </p:spPr>
          <p:txBody>
            <a:bodyPr wrap="none" lIns="0" tIns="0" rIns="0" bIns="0" anchor="ct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2000">
                  <a:solidFill>
                    <a:srgbClr val="000000"/>
                  </a:solidFill>
                </a:rPr>
                <a:t>组织犯</a:t>
              </a:r>
            </a:p>
          </p:txBody>
        </p:sp>
        <p:sp>
          <p:nvSpPr>
            <p:cNvPr id="8" name="_s1030"/>
            <p:cNvSpPr>
              <a:spLocks noChangeShapeType="1"/>
            </p:cNvSpPr>
            <p:nvPr/>
          </p:nvSpPr>
          <p:spPr bwMode="auto">
            <a:xfrm>
              <a:off x="3032" y="1046"/>
              <a:ext cx="129" cy="7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_s1031"/>
            <p:cNvSpPr>
              <a:spLocks noChangeArrowheads="1"/>
            </p:cNvSpPr>
            <p:nvPr/>
          </p:nvSpPr>
          <p:spPr bwMode="auto">
            <a:xfrm>
              <a:off x="3141" y="1046"/>
              <a:ext cx="296" cy="296"/>
            </a:xfrm>
            <a:prstGeom prst="ellipse">
              <a:avLst/>
            </a:prstGeom>
            <a:solidFill>
              <a:srgbClr val="00FF00"/>
            </a:solidFill>
            <a:ln w="9525">
              <a:solidFill>
                <a:srgbClr val="000000"/>
              </a:solidFill>
              <a:round/>
              <a:headEnd/>
              <a:tailEnd/>
            </a:ln>
          </p:spPr>
          <p:txBody>
            <a:bodyPr wrap="none" lIns="0" tIns="0" rIns="0" bIns="0" anchor="ct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2000">
                  <a:solidFill>
                    <a:srgbClr val="000000"/>
                  </a:solidFill>
                </a:rPr>
                <a:t>帮助犯</a:t>
              </a:r>
            </a:p>
          </p:txBody>
        </p:sp>
        <p:sp>
          <p:nvSpPr>
            <p:cNvPr id="10" name="_s1032"/>
            <p:cNvSpPr>
              <a:spLocks noChangeShapeType="1"/>
            </p:cNvSpPr>
            <p:nvPr/>
          </p:nvSpPr>
          <p:spPr bwMode="auto">
            <a:xfrm flipV="1">
              <a:off x="2904" y="675"/>
              <a:ext cx="0" cy="14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_s1033"/>
            <p:cNvSpPr>
              <a:spLocks noChangeArrowheads="1"/>
            </p:cNvSpPr>
            <p:nvPr/>
          </p:nvSpPr>
          <p:spPr bwMode="auto">
            <a:xfrm>
              <a:off x="2756" y="379"/>
              <a:ext cx="296" cy="296"/>
            </a:xfrm>
            <a:prstGeom prst="ellipse">
              <a:avLst/>
            </a:prstGeom>
            <a:solidFill>
              <a:srgbClr val="00FF00"/>
            </a:solidFill>
            <a:ln w="9525">
              <a:solidFill>
                <a:srgbClr val="000000"/>
              </a:solidFill>
              <a:round/>
              <a:headEnd/>
              <a:tailEnd/>
            </a:ln>
          </p:spPr>
          <p:txBody>
            <a:bodyPr wrap="none" lIns="0" tIns="0" rIns="0" bIns="0" anchor="ct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2000" dirty="0">
                  <a:solidFill>
                    <a:srgbClr val="000000"/>
                  </a:solidFill>
                </a:rPr>
                <a:t>教唆犯</a:t>
              </a:r>
            </a:p>
          </p:txBody>
        </p:sp>
        <p:sp>
          <p:nvSpPr>
            <p:cNvPr id="12" name="_s1034"/>
            <p:cNvSpPr>
              <a:spLocks noChangeArrowheads="1"/>
            </p:cNvSpPr>
            <p:nvPr/>
          </p:nvSpPr>
          <p:spPr bwMode="auto">
            <a:xfrm>
              <a:off x="2756" y="824"/>
              <a:ext cx="296" cy="296"/>
            </a:xfrm>
            <a:prstGeom prst="ellipse">
              <a:avLst/>
            </a:prstGeom>
            <a:solidFill>
              <a:srgbClr val="00FF00"/>
            </a:solidFill>
            <a:ln w="9525">
              <a:solidFill>
                <a:srgbClr val="000000"/>
              </a:solidFill>
              <a:round/>
              <a:headEnd/>
              <a:tailEnd/>
            </a:ln>
          </p:spPr>
          <p:txBody>
            <a:bodyPr wrap="none" lIns="0" tIns="0" rIns="0" bIns="0" anchor="ctr"/>
            <a:lstStyle>
              <a:lvl1pPr marL="342900" indent="-342900">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2000">
                  <a:solidFill>
                    <a:srgbClr val="000000"/>
                  </a:solidFill>
                </a:rPr>
                <a:t>实行犯</a:t>
              </a:r>
            </a:p>
          </p:txBody>
        </p:sp>
      </p:grpSp>
    </p:spTree>
    <p:extLst>
      <p:ext uri="{BB962C8B-B14F-4D97-AF65-F5344CB8AC3E}">
        <p14:creationId xmlns:p14="http://schemas.microsoft.com/office/powerpoint/2010/main" val="18008902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4415" y="1880235"/>
            <a:ext cx="997521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第四，各共犯者的行为与危害结果之间都存在因果关系。</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）共同的实行行为</a:t>
            </a:r>
            <a:r>
              <a:rPr lang="zh-CN" altLang="en-US" sz="2000" b="1"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共同的危害结果</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）组织行为</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教唆行为</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帮助</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行为→实行行为→共同</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的危害</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结果</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、共同犯罪的认定</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（以不法为重心；以正犯为中心；以因果性为核心；张明楷：</a:t>
            </a:r>
            <a:r>
              <a:rPr lang="en-US" altLang="zh-CN"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刑法学</a:t>
            </a:r>
            <a:r>
              <a:rPr lang="en-US" altLang="zh-CN"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（上 第六版），</a:t>
            </a:r>
            <a:r>
              <a:rPr lang="en-US" altLang="zh-CN" sz="1400" b="1" dirty="0" smtClean="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p497—500</a:t>
            </a:r>
            <a:r>
              <a:rPr lang="zh-CN" altLang="en-US" sz="1400" b="1" dirty="0" smtClean="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1400" b="1" dirty="0" smtClean="0">
              <a:solidFill>
                <a:srgbClr val="0289D9"/>
              </a:solidFill>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一）共谋而未实行是否构成共同犯罪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共谋而未参与实行犯罪的，行为人仍构成共同犯罪。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在对共谋而未实行者进行处罚时，应根据其他共谋者的行为状况以及共谋而未实行者的主客观表现予以区别对待。</a:t>
            </a: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4415" y="1591945"/>
            <a:ext cx="99650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三、共同犯罪的认定</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（二）共同过失</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犯罪</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p544—546</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所谓共同过失犯罪，是指二人以上的过失行为共同导致一定的危害结果，因而分别构成犯罪的情况。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共同过失犯罪同共同（故意）犯罪一样，也是一种客观存在的犯罪现象，但两者有着质的区别。</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共同过失犯罪应当负刑事责任的，按照他们所犯的罪分别处罚。</a:t>
            </a: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76580"/>
            <a:ext cx="1054481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三、共同犯罪的认定</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（三）间接实行犯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间接实行犯也称为间接正犯，是指以利用他人作为“犯罪工具”的方式，实施满足刑法分则规定的犯罪构成要件的行为，并完全承担刑事责任之情形。</a:t>
            </a:r>
          </a:p>
          <a:p>
            <a:pPr fontAlgn="auto">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     对于</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间接实行犯的正犯性，应当坚持主观与客观相统一的原则。</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从主观方面来看，行为人具有利用他人犯罪的故意，亦即行为人明知被利用者没有刑事责任能力或者没有特定的犯罪故意而加以利用，希望或者放任通过被利用者的行为达到一定的犯罪结果。</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就客观方面而言，行为人具有利用他人犯罪的行为，亦即行为人不是亲自实施犯罪，而是以他人作为犯罪工具实施犯罪。</a:t>
            </a:r>
          </a:p>
          <a:p>
            <a:pPr indent="0" fontAlgn="auto">
              <a:lnSpc>
                <a:spcPct val="150000"/>
              </a:lnSpc>
            </a:pP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14375"/>
            <a:ext cx="1054481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三、共同犯罪的认定</a:t>
            </a:r>
            <a:endParaRPr lang="zh-CN" altLang="en-US" sz="24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 间接实行犯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根据利用他人犯罪的情形不同，间接实行犯主要存在以下表现形式：</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）利用未达到刑事责任年龄者实施犯罪。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）利用精神病人实施犯罪。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）利用他人无罪过行为实施犯罪。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4</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）利用他人合法行为实施犯罪。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5</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）利用他人过失行为实施犯罪。</a:t>
            </a:r>
          </a:p>
          <a:p>
            <a:pPr marL="0" lvl="1" indent="0"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rPr>
              <a:t>间接实行犯的处理：</a:t>
            </a:r>
          </a:p>
          <a:p>
            <a:pPr marL="0" lvl="1" indent="0"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rPr>
              <a:t>间接实行犯不属于共同犯罪，因被指使、利用者不负刑事责任，其实施的犯罪应视为</a:t>
            </a:r>
            <a:r>
              <a:rPr lang="zh-CN" altLang="en-US" sz="2000"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rPr>
              <a:t>指使、利用者</a:t>
            </a:r>
            <a:r>
              <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rPr>
              <a:t>自己实施，故指使、利用者应对被指使、利用者实施的犯罪承担全部刑事责任。</a:t>
            </a:r>
          </a:p>
          <a:p>
            <a:pPr indent="0" fontAlgn="auto">
              <a:lnSpc>
                <a:spcPct val="150000"/>
              </a:lnSpc>
            </a:pP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7580" y="1045210"/>
            <a:ext cx="1054481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三、共同犯罪的认定</a:t>
            </a:r>
            <a:endParaRPr lang="zh-CN" altLang="en-US" sz="24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（四）片面共犯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片面共犯是指两个以上的行为人共同针对同一犯罪对象实施犯罪行为，但只有一方存在共同犯罪故意，另一方则无此犯意的情形。</a:t>
            </a:r>
          </a:p>
          <a:p>
            <a:pPr marL="0" lvl="1"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片面共犯是客观存在的，但承认片面共犯这种共同犯罪类型，不能解决司法实务中的问题。</a:t>
            </a:r>
          </a:p>
          <a:p>
            <a:pPr marL="0" lvl="1"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比较可行的解决</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方法是</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在刑法当中直接对片面共犯作出专门规定。</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（五）共同犯罪中的实行过限问题</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实行过限，是指实行犯实施了超出共同犯罪故意的行为。</a:t>
            </a:r>
            <a:endPar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我国刑法理论通说认为，超出共同犯罪故意的犯罪，不构成共同犯罪。</a:t>
            </a:r>
          </a:p>
          <a:p>
            <a:pPr marL="0" lvl="1" indent="0" fontAlgn="auto">
              <a:lnSpc>
                <a:spcPct val="150000"/>
              </a:lnSpc>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marL="0" lvl="1" indent="0" fontAlgn="auto">
              <a:lnSpc>
                <a:spcPct val="150000"/>
              </a:lnSpc>
            </a:pPr>
            <a:endPar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endParaRPr>
          </a:p>
          <a:p>
            <a:pPr marL="0" lvl="1" indent="0" fontAlgn="auto">
              <a:lnSpc>
                <a:spcPct val="150000"/>
              </a:lnSpc>
            </a:pPr>
            <a:endPar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endParaRPr>
          </a:p>
          <a:p>
            <a:pPr indent="0" fontAlgn="auto">
              <a:lnSpc>
                <a:spcPct val="150000"/>
              </a:lnSpc>
            </a:pP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91895" y="1055370"/>
            <a:ext cx="969264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（五）共同犯罪中的实行过限问题</a:t>
            </a:r>
          </a:p>
          <a:p>
            <a:pPr indent="0"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对于共同犯罪中的实行过限，应当按不同情况不同处理。 </a:t>
            </a:r>
          </a:p>
          <a:p>
            <a:pPr indent="0" fontAlgn="auto">
              <a:lnSpc>
                <a:spcPct val="12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1.共同实行犯实行过限的处理。</a:t>
            </a:r>
          </a:p>
          <a:p>
            <a:pPr indent="0" fontAlgn="auto">
              <a:lnSpc>
                <a:spcPct val="12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由实行过限的实行犯单独承担实行过限的责任。</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实行过限时组织犯的责任。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组织犯只应对其组织、指挥、策划范围内的犯罪行为承担刑事责任，</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实行过限时教唆犯的责任。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教唆犯</a:t>
            </a:r>
            <a:r>
              <a:rPr lang="zh-CN" altLang="en-US" sz="2000"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一般</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无须对实行犯的实行过限行为承担</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刑事责任</a:t>
            </a:r>
            <a:r>
              <a:rPr lang="zh-CN" altLang="en-US" sz="1400" b="1" dirty="0" smtClean="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（取决于实行内容与教唆之罪的关系）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实行过限时帮助犯的责任。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帮助</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a:t>
            </a:r>
            <a:r>
              <a:rPr lang="zh-CN" altLang="en-US" sz="2000"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一般</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对于</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被帮助人的过限行为不负</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刑事责任</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（取决于实行内容</a:t>
            </a:r>
            <a:r>
              <a:rPr lang="zh-CN" altLang="en-US" sz="1400" b="1" dirty="0" smtClean="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与</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帮助</a:t>
            </a:r>
            <a:r>
              <a:rPr lang="zh-CN" altLang="en-US" sz="1400" b="1" dirty="0" smtClean="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之</a:t>
            </a:r>
            <a:r>
              <a:rPr lang="zh-CN" altLang="en-US" sz="1400" b="1" dirty="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罪的关系）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26160" y="1360170"/>
            <a:ext cx="1090104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三、共同犯罪的认定</a:t>
            </a:r>
            <a:endParaRPr lang="zh-CN" altLang="en-US" sz="24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（六）不构成共同犯罪的情况</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1.二人共同实施危害行为，但一人是故意，一人是过失的，不构成共同犯罪。</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2.故意犯罪行为与无罪过行为不可能成立共同犯罪。</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3.二人以上同时或者先后实施某种故意犯罪，但主观上缺乏联络的，不构成共同犯罪。</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4.二人以上共同实施没有重合内容的不同犯罪的，</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不成立共同犯罪</a:t>
            </a:r>
            <a:r>
              <a:rPr lang="zh-CN" altLang="en-US" sz="2000" dirty="0" smtClean="0">
                <a:solidFill>
                  <a:srgbClr val="0289D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en-US" altLang="zh-CN" sz="2000" dirty="0">
                <a:solidFill>
                  <a:srgbClr val="0289D9"/>
                </a:solidFill>
                <a:latin typeface="微软雅黑" panose="020B0503020204020204" pitchFamily="34" charset="-122"/>
                <a:ea typeface="微软雅黑" panose="020B0503020204020204" pitchFamily="34" charset="-122"/>
                <a:cs typeface="微软雅黑" panose="020B0503020204020204" pitchFamily="34" charset="-122"/>
                <a:sym typeface="+mn-ea"/>
              </a:rPr>
              <a:t>事前无通谋</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的窝藏、包庇、窝赃、销赃等行为与其窝藏等行为指向的犯罪，不构成共同犯罪。</a:t>
            </a: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第二节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err="1">
                <a:latin typeface="微软雅黑" panose="020B0503020204020204" pitchFamily="34" charset="-122"/>
                <a:ea typeface="微软雅黑" panose="020B0503020204020204" pitchFamily="34" charset="-122"/>
              </a:rPr>
              <a:t>共同犯罪的形式</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/11</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609938" y="775078"/>
            <a:ext cx="487426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第十一章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共同犯罪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389380"/>
            <a:ext cx="10104755" cy="4448175"/>
          </a:xfrm>
          <a:prstGeom prst="rect">
            <a:avLst/>
          </a:prstGeom>
          <a:noFill/>
        </p:spPr>
        <p:txBody>
          <a:bodyPr wrap="square" rtlCol="0">
            <a:noAutofit/>
          </a:bodyPr>
          <a:lstStyle/>
          <a:p>
            <a:pPr indent="0" fontAlgn="auto">
              <a:lnSpc>
                <a:spcPct val="150000"/>
              </a:lnSpc>
              <a:buFont typeface="Wingdings" panose="05000000000000000000" pitchFamily="2" charset="2"/>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共同犯罪的形式，是共同犯罪的形成形式、结构形式和共同犯罪人的结合形式的总称。</a:t>
            </a:r>
          </a:p>
          <a:p>
            <a:pPr indent="0" fontAlgn="auto">
              <a:lnSpc>
                <a:spcPct val="150000"/>
              </a:lnSpc>
              <a:buFont typeface="Wingdings" panose="05000000000000000000" pitchFamily="2" charset="2"/>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我国刑法理论界通常采取“四类八种”分类法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buFont typeface="Arial" panose="020B0604020202020204" pitchFamily="34" charset="0"/>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一是根据共同犯罪能否任意形成，分为任意的共同犯罪与必要的共同犯罪。</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buFont typeface="Arial" panose="020B0604020202020204" pitchFamily="34" charset="0"/>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二是根据共同故意形成的时间，分为事前通谋的共同犯罪与事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前无</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通谋的共同犯罪。</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buFont typeface="Arial" panose="020B0604020202020204" pitchFamily="34" charset="0"/>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三是根据共犯者之间有无分工，分为简单的共同犯罪与复杂的共同犯罪。</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buFont typeface="Arial" panose="020B0604020202020204" pitchFamily="34" charset="0"/>
              <a:buNone/>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四是根据共同犯罪有无</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组织形式</a:t>
            </a:r>
            <a:r>
              <a:rPr lang="zh-CN" altLang="en-US" sz="1400" b="1" dirty="0">
                <a:solidFill>
                  <a:srgbClr val="0289D9"/>
                </a:solidFill>
                <a:latin typeface="微软雅黑" panose="020B0503020204020204" pitchFamily="34" charset="-122"/>
                <a:ea typeface="微软雅黑" panose="020B0503020204020204" pitchFamily="34" charset="-122"/>
                <a:cs typeface="微软雅黑" panose="020B0503020204020204" pitchFamily="34" charset="-122"/>
                <a:sym typeface="+mn-ea"/>
              </a:rPr>
              <a:t>（共犯者之间的结合程度）</a:t>
            </a:r>
            <a:r>
              <a:rPr lang="zh-CN" altLang="zh-CN" sz="20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分为</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一般共同</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有组织</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共同</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a:t>
            </a:r>
            <a:r>
              <a:rPr lang="zh-CN" altLang="en-US" sz="1400" b="1" dirty="0" smtClean="0">
                <a:solidFill>
                  <a:srgbClr val="0289D9"/>
                </a:solidFill>
                <a:latin typeface="微软雅黑" panose="020B0503020204020204" pitchFamily="34" charset="-122"/>
                <a:ea typeface="微软雅黑" panose="020B0503020204020204" pitchFamily="34" charset="-122"/>
                <a:cs typeface="微软雅黑" panose="020B0503020204020204" pitchFamily="34" charset="-122"/>
                <a:sym typeface="+mn-ea"/>
              </a:rPr>
              <a:t>（特别的共同犯罪）</a:t>
            </a:r>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Tx/>
            </a:pP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66992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一、任意的共同犯罪与必要的共同犯罪</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任意的共同犯罪，是指刑法分则规定的一人能够单独实施的犯罪，当二人以上共同实施时所构成的共同犯罪的情形。</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必要的共同犯罪，是指刑法分则规定的只能由二人以上的共同行为才能构成的共同犯罪。</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在大陆法系刑法理论中，一般又将必要共同犯罪分为对向</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犯</a:t>
            </a:r>
            <a:r>
              <a:rPr lang="zh-CN" altLang="en-US" sz="2000"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与</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多众犯。</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根据我国刑法的规定，将必要共同犯罪分为聚众性共同犯罪与集团性共同犯罪是合理、可取的。</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聚众性共同</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犯罪</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（≠聚众犯罪）</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是指由首要分子组织、策划、指挥众人实施的共同犯罪</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（如聚众斗殴罪、聚众持械劫狱罪）</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集团性共同犯罪，是指三人以上有组织地实施的共同犯罪，简称集团</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犯罪</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如组织、领导、参加恐怖组织</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罪、组织、领导、</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参加黑社会性质组织</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罪）</a:t>
            </a:r>
            <a:r>
              <a:rPr lang="zh-CN" altLang="en-US" sz="20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54735" y="1543685"/>
            <a:ext cx="1023239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二、事前通谋的共同犯罪与事前无通谋的共同犯罪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事前通谋的共同犯罪，是指各共同犯罪人在着手实行犯罪以前，进行了不同程度的商议和策划，从而形成共同犯罪故意的共同犯罪。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事前</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无</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（事中）</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通</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谋的共同犯罪，是指各共同犯罪人在刚着手实行犯罪时或在实行犯罪过程中形成共同犯罪故意的共同犯罪。</a:t>
            </a: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43305" y="946785"/>
            <a:ext cx="1024382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三、简单的共同犯罪与复杂的共同犯罪</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简单的共同犯罪，是指各共同犯罪人都直接实行某一具体犯罪构成客观要件行为的共同犯罪</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（各</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共犯者基于共同的犯罪故意，均分担一部分实行行为，对整体犯行及结果负责，此即“部分实行、全部责任原则</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复杂的共同犯罪，是指各共同犯罪人之间存在着分工的共同犯罪。</a:t>
            </a:r>
          </a:p>
          <a:p>
            <a:pPr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在司法实践中，复杂的共同犯罪具体有以下几种主要表现形式：</a:t>
            </a:r>
          </a:p>
          <a:p>
            <a:pPr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一是不同的共同犯罪人分别实施教唆行为和实行行为；</a:t>
            </a:r>
          </a:p>
          <a:p>
            <a:pPr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二是不同的共同犯罪人分别实施帮助行为和实行行为；</a:t>
            </a:r>
          </a:p>
          <a:p>
            <a:pPr>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三是不同的共同犯罪人分别实施组织行为和实行行为；</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四是</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不同的共同犯罪人分别实施教唆行为、帮助行为和实行行为；</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五</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是不同的共同犯罪人分别实施组织行为、帮助行为和实行行为。</a:t>
            </a: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5350" y="1204595"/>
            <a:ext cx="1086866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四、一般共同犯罪与有组织的共同犯罪</a:t>
            </a:r>
          </a:p>
          <a:p>
            <a:pPr marL="342900" indent="-342900" algn="l" fontAlgn="auto">
              <a:lnSpc>
                <a:spcPct val="150000"/>
              </a:lnSpc>
              <a:buClrTx/>
              <a:buSzTx/>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一般共同犯罪，是指二人以上为实施特定犯罪而事前或临时结合的无特殊组织形式的共同犯罪。</a:t>
            </a:r>
          </a:p>
          <a:p>
            <a:pPr marL="342900" indent="-342900" algn="l" fontAlgn="auto">
              <a:lnSpc>
                <a:spcPct val="150000"/>
              </a:lnSpc>
              <a:buClrTx/>
              <a:buSzTx/>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有组织的共同犯罪</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即集团犯罪，是一种破坏力很大、危害极其严重的犯罪现象。</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     犯罪</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集团</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是指三</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人以上为共同实施犯罪而组成的较为固定的</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犯罪组织。</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rPr>
              <a:t>     犯罪</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rPr>
              <a:t>集团具有如下几个基本特征：</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algn="l" fontAlgn="auto">
              <a:lnSpc>
                <a:spcPct val="150000"/>
              </a:lnSpc>
              <a:buClrTx/>
              <a:buSzTx/>
              <a:buNone/>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    1</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.成员的多数性。</a:t>
            </a:r>
          </a:p>
          <a:p>
            <a:pPr algn="l" fontAlgn="auto">
              <a:lnSpc>
                <a:spcPct val="150000"/>
              </a:lnSpc>
              <a:buClrTx/>
              <a:buSzTx/>
              <a:buNone/>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    2</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.具有共同实施犯罪的目的性。</a:t>
            </a:r>
          </a:p>
          <a:p>
            <a:pPr algn="l" fontAlgn="auto">
              <a:lnSpc>
                <a:spcPct val="150000"/>
              </a:lnSpc>
              <a:buClrTx/>
              <a:buSzTx/>
              <a:buNone/>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    3</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.具有较强的组织性</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5350" y="1204595"/>
            <a:ext cx="10868660"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4</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.具有相当的稳固性</a:t>
            </a: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当前我国社会中，组织严密、危害最大的是黑社会性质</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组织（</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刑法</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第</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294</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5</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款）</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典型案例：</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     </a:t>
            </a:r>
            <a:r>
              <a:rPr lang="en-US" altLang="zh-CN" sz="1400" dirty="0">
                <a:latin typeface="微软雅黑" panose="020B0503020204020204" pitchFamily="34" charset="-122"/>
                <a:ea typeface="微软雅黑" panose="020B0503020204020204" pitchFamily="34" charset="-122"/>
                <a:cs typeface="华文中宋" panose="02010600040101010101" pitchFamily="2" charset="-122"/>
                <a:sym typeface="+mn-ea"/>
              </a:rPr>
              <a:t>2009</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年</a:t>
            </a:r>
            <a:r>
              <a:rPr lang="en-US" altLang="zh-CN" sz="1400" dirty="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月，柯某美刑满释放后，纠集一批“两劳”释放和社会闲散人员，通过发工资、长期组织吃喝玩乐、发放零用钱、过年费、奖励干股等手段笼络组织成员，采用训斥、殴打的方式约束、控制组织成员，统一保管刀具、枪支，确定组织内部规约和分工。通过策划和实施寻衅滋事、非法持有枪支、妨害公务、开设赌场等一系列的违法犯罪活动，逐渐形成了</a:t>
            </a:r>
            <a:r>
              <a:rPr lang="zh-CN" altLang="en-US" sz="1400" dirty="0">
                <a:solidFill>
                  <a:srgbClr val="FF0000"/>
                </a:solidFill>
                <a:latin typeface="微软雅黑" panose="020B0503020204020204" pitchFamily="34" charset="-122"/>
                <a:ea typeface="微软雅黑" panose="020B0503020204020204" pitchFamily="34" charset="-122"/>
                <a:cs typeface="华文中宋" panose="02010600040101010101" pitchFamily="2" charset="-122"/>
                <a:sym typeface="+mn-ea"/>
              </a:rPr>
              <a:t>以柯某美为首</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，以刘某、路某远、彭某、张某杰、刘某龙为骨干成员，以袁某、张某某、杜某峰、陈代某、冯某鑫等人为成员的较为稳定的黑社会性质组织。</a:t>
            </a:r>
          </a:p>
          <a:p>
            <a:pPr indent="0" fontAlgn="auto">
              <a:lnSpc>
                <a:spcPct val="150000"/>
              </a:lnSpc>
            </a:pPr>
            <a:endPar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1400" dirty="0">
                <a:solidFill>
                  <a:srgbClr val="FF0000"/>
                </a:solidFill>
                <a:latin typeface="微软雅黑" panose="020B0503020204020204" pitchFamily="34" charset="-122"/>
                <a:ea typeface="微软雅黑" panose="020B0503020204020204" pitchFamily="34" charset="-122"/>
                <a:cs typeface="华文中宋" panose="02010600040101010101" pitchFamily="2" charset="-122"/>
                <a:sym typeface="+mn-ea"/>
              </a:rPr>
              <a:t>该团伙分工明确，结构层次分明，骨干成员基本固定。</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柯某美处于绝对的领导地位，负责组织、领导手下成员从事违法犯罪活动；彭某、刘某龙、张某某、杜某峰等负责维持柯某美所开设赌场的具体运行，同时组织、参加其他实施违法犯罪行为；刘某、路某远、</a:t>
            </a:r>
            <a:r>
              <a:rPr lang="zh-CN" altLang="en-US" sz="1400" dirty="0" smtClean="0">
                <a:latin typeface="微软雅黑" panose="020B0503020204020204" pitchFamily="34" charset="-122"/>
                <a:ea typeface="微软雅黑" panose="020B0503020204020204" pitchFamily="34" charset="-122"/>
                <a:cs typeface="华文中宋" panose="02010600040101010101" pitchFamily="2" charset="-122"/>
                <a:sym typeface="+mn-ea"/>
              </a:rPr>
              <a:t>张某杰</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23879461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5350" y="1204595"/>
            <a:ext cx="10868660" cy="4448175"/>
          </a:xfrm>
          <a:prstGeom prst="rect">
            <a:avLst/>
          </a:prstGeom>
          <a:noFill/>
        </p:spPr>
        <p:txBody>
          <a:bodyPr wrap="square" rtlCol="0">
            <a:noAutofit/>
          </a:bodyPr>
          <a:lstStyle/>
          <a:p>
            <a:pPr indent="0" fontAlgn="auto">
              <a:lnSpc>
                <a:spcPct val="150000"/>
              </a:lnSpc>
            </a:pPr>
            <a:r>
              <a:rPr lang="zh-CN" altLang="en-US" sz="1400" dirty="0" smtClean="0">
                <a:latin typeface="微软雅黑" panose="020B0503020204020204" pitchFamily="34" charset="-122"/>
                <a:ea typeface="微软雅黑" panose="020B0503020204020204" pitchFamily="34" charset="-122"/>
                <a:cs typeface="华文中宋" panose="02010600040101010101" pitchFamily="2" charset="-122"/>
                <a:sym typeface="+mn-ea"/>
              </a:rPr>
              <a:t>等</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专门负责为组织利益打杀，直接组织实施违法犯罪行为。彭某的手下又有陈代某、袁某、杨智某、冯某鑫等人；刘某的手下又有申星、杜磊等人；张某杰手下又有刘俊杰等人；路某远的手下又有钱盼某等人。</a:t>
            </a:r>
          </a:p>
          <a:p>
            <a:pPr indent="0" fontAlgn="auto">
              <a:lnSpc>
                <a:spcPct val="150000"/>
              </a:lnSpc>
            </a:pPr>
            <a:endPar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    该组织从</a:t>
            </a:r>
            <a:r>
              <a:rPr lang="en-US" altLang="zh-CN" sz="1400" dirty="0">
                <a:latin typeface="微软雅黑" panose="020B0503020204020204" pitchFamily="34" charset="-122"/>
                <a:ea typeface="微软雅黑" panose="020B0503020204020204" pitchFamily="34" charset="-122"/>
                <a:cs typeface="华文中宋" panose="02010600040101010101" pitchFamily="2" charset="-122"/>
                <a:sym typeface="+mn-ea"/>
              </a:rPr>
              <a:t>2012</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年开始，先后在枣阳市兴隆镇、随州市随县唐镇、万福镇、枣阳市鑫津宫宾馆等处，租地轮流开设赌场，柯某美负责赌场全面管理，具体事务由朱斌和彭某、刘某龙负责，袁某、陈代某、张某某、杜某峰、冯某鑫、杨智某等人为赌场工作人员，获取非法利益百万余元，为娱乐场所“罩场子”、在拆迁工地“护场子”，索取费用，为该组织实施违法犯罪活动提供了强大的资金保障。柯某美获得非法利益后，用于团伙发工资、发放过年费、零用钱及共同挥霍。通过组织违法犯罪活动或者其他手段获取经济利益，</a:t>
            </a:r>
            <a:r>
              <a:rPr lang="zh-CN" altLang="en-US" sz="1400" dirty="0">
                <a:solidFill>
                  <a:srgbClr val="FF0000"/>
                </a:solidFill>
                <a:latin typeface="微软雅黑" panose="020B0503020204020204" pitchFamily="34" charset="-122"/>
                <a:ea typeface="微软雅黑" panose="020B0503020204020204" pitchFamily="34" charset="-122"/>
                <a:cs typeface="华文中宋" panose="02010600040101010101" pitchFamily="2" charset="-122"/>
                <a:sym typeface="+mn-ea"/>
              </a:rPr>
              <a:t>具有一定的经济实力，以支持该组织的活动</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a:t>
            </a:r>
          </a:p>
          <a:p>
            <a:pPr indent="0" fontAlgn="auto">
              <a:lnSpc>
                <a:spcPct val="150000"/>
              </a:lnSpc>
            </a:pPr>
            <a:endPar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1400" dirty="0">
                <a:solidFill>
                  <a:srgbClr val="FF0000"/>
                </a:solidFill>
                <a:latin typeface="微软雅黑" panose="020B0503020204020204" pitchFamily="34" charset="-122"/>
                <a:ea typeface="微软雅黑" panose="020B0503020204020204" pitchFamily="34" charset="-122"/>
                <a:cs typeface="华文中宋" panose="02010600040101010101" pitchFamily="2" charset="-122"/>
                <a:sym typeface="+mn-ea"/>
              </a:rPr>
              <a:t>该组织通过实施违法犯罪活动，称霸一方，已经形成非法控制和重大影响，严重破坏经济、社会生活秩序。</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该组织大肆向经济领域渗透，多次插手枣阳市地方拆迁工程，严重干扰地方经济建设，对当地干部、群众造成了强大的心理控制和强烈的恐惧心理，如：柯某美、刘某、路某远等伙同其组织成员先后插手枣阳市东环路拆迁平整工程、南城办事处惠湾村“憨老香”油脂厂拆迁工地、南城办事处王湾金兰工业园拆迁工地等工程项目，拦阻、恐吓有正常诉求的老百姓，严重破坏了该地区的社会治安秩序。该组织通过利用其强势地位，采取威胁、恐吓等方式，先后在枣阳市盛世名人酒店、新天地音乐会所等地，以送酒水、上班为由收取“罩场子”费用，未达到目的时，便借机滋事，随意打砸公众场所，殴打工作人员，损毁公共财产，严重扰乱了枣阳市正常的经济秩序、治安秩序和生活秩序，造成了恶劣的社会影响。该组织在被告人柯某美的指挥下，</a:t>
            </a:r>
            <a:r>
              <a:rPr lang="zh-CN" altLang="en-US" sz="1400" dirty="0">
                <a:solidFill>
                  <a:srgbClr val="FF0000"/>
                </a:solidFill>
                <a:latin typeface="微软雅黑" panose="020B0503020204020204" pitchFamily="34" charset="-122"/>
                <a:ea typeface="微软雅黑" panose="020B0503020204020204" pitchFamily="34" charset="-122"/>
                <a:cs typeface="华文中宋" panose="02010600040101010101" pitchFamily="2" charset="-122"/>
                <a:sym typeface="+mn-ea"/>
              </a:rPr>
              <a:t>为非作恶，欺压群众，</a:t>
            </a:r>
            <a:r>
              <a:rPr lang="zh-CN" altLang="en-US" sz="1400" dirty="0">
                <a:latin typeface="微软雅黑" panose="020B0503020204020204" pitchFamily="34" charset="-122"/>
                <a:ea typeface="微软雅黑" panose="020B0503020204020204" pitchFamily="34" charset="-122"/>
                <a:cs typeface="华文中宋" panose="02010600040101010101" pitchFamily="2" charset="-122"/>
                <a:sym typeface="+mn-ea"/>
              </a:rPr>
              <a:t>实施寻衅滋事、故意伤害等违法犯罪活动，并致多名群众受伤</a:t>
            </a:r>
            <a:r>
              <a:rPr lang="zh-CN" altLang="en-US" sz="14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403509886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第三节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err="1">
                <a:latin typeface="微软雅黑" panose="020B0503020204020204" pitchFamily="34" charset="-122"/>
                <a:ea typeface="微软雅黑" panose="020B0503020204020204" pitchFamily="34" charset="-122"/>
              </a:rPr>
              <a:t>共同犯罪人及其刑事责任</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/11</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609938" y="775078"/>
            <a:ext cx="487426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第十一章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共同犯罪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075055"/>
            <a:ext cx="10104755" cy="4448175"/>
          </a:xfrm>
          <a:prstGeom prst="rect">
            <a:avLst/>
          </a:prstGeom>
          <a:noFill/>
        </p:spPr>
        <p:txBody>
          <a:bodyPr wrap="square" rtlCol="0">
            <a:noAutofit/>
          </a:bodyPr>
          <a:lstStyle/>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从各国刑法关于共同犯罪的立法例来看，共同犯罪人的分类主要有分工分类法与作用分类法两种</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方法。</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前者以共同犯罪人在共同犯罪中的分工为标准，将共同犯罪人区分为实行犯（正犯）、组织犯、帮助犯、教唆犯</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（反映各共犯者的活动方式，有利于定罪；但在量刑时并非不考虑其在共同犯罪中的作用，予以同样的处罚</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后者以共同犯罪人对于犯罪结果产生的原因力的大小即各犯罪人在整个犯罪中作用的大小为标准，将共同犯罪人区分为主犯、从犯和胁从犯</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 反映各共犯者的作用大小，有利于量刑；但没有揭示其分工，不利于定罪。定罪是量刑的前提，不能准确定罪就无法科学</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量刑）</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p>
          <a:p>
            <a:pPr marL="342900" indent="-342900" fontAlgn="auto">
              <a:lnSpc>
                <a:spcPct val="150000"/>
              </a:lnSpc>
              <a:buFont typeface="Wingdings" panose="05000000000000000000" charset="0"/>
              <a:buChar char="p"/>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我国按</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共同犯罪人在共同犯罪中的作用将其分为主犯、从犯、胁从犯的同时，又根据共同犯罪的分工标准，划分出教唆犯</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（我国</a:t>
            </a:r>
            <a:r>
              <a:rPr lang="en-US" altLang="zh-CN"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刑法</a:t>
            </a:r>
            <a:r>
              <a:rPr lang="en-US" altLang="zh-CN"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以作用为主、兼采分工对共犯者进行分类，主要是为了解决各共犯者的刑事责任问题。在以分工为标准划分出教唆犯后，量刑时按照其在共同犯罪中所起的作用以主犯或从犯论处，从而与以作用为标准划分出的主犯和从犯取得了</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一致性）</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7658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一、主犯及其刑事责任</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（一）主犯的种类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《刑法》第26条第1款规定：“组织、领导犯罪集团进行犯罪活动的或者在共同犯罪中起主要作用的，是主犯。</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”主犯包括两种犯罪分子：</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1.组织、领导犯罪集团进行犯罪活动的犯罪分子</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，即</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犯罪集团的首要分子</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（在犯罪集团中处于组织、领导地位，起组织、策划、指挥作用；没有这种主犯，就没有犯罪集团）</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在共同犯罪中起主要作用的犯罪分子</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（即首要分子以外的其他</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主犯，包括：</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在犯罪集团中起主要作用的犯罪</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分子；</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b.</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在</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聚众共同犯罪</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中起主要作用的犯罪</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分子；</a:t>
            </a:r>
            <a:r>
              <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c.</a:t>
            </a: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在一般共同犯罪中起主要作用的犯罪分子）</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主犯的刑事责任</a:t>
            </a:r>
            <a:endPar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76580"/>
            <a:ext cx="10104755" cy="4448175"/>
          </a:xfrm>
          <a:prstGeom prst="rect">
            <a:avLst/>
          </a:prstGeom>
          <a:noFill/>
        </p:spPr>
        <p:txBody>
          <a:bodyPr wrap="square" rtlCol="0">
            <a:noAutofit/>
          </a:bodyPr>
          <a:lstStyle/>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首要分子的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刑事责任：按照</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集团所犯的全部罪行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处罚</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）首要分子只对自己组织、策划、指挥的罪行承担刑事责任，即只对集团成员在其总体性、概括性、支配性的故意范围之内的犯罪负刑事责任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）恐怖组织成员、黑社会性质组织成员为了维持其组织的存续而实施犯罪的，首要分子即使“不知情”的，也要承担刑事责任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）集团成员实施的犯罪没有明显超出首要分子确立的范围时，首要分子仍应承担刑事责任；即使明显超出，但首要分子对其默认、怂恿、赞同的，也要负刑事责任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）集团成员对首要分子确立的犯罪范围发生误解时，首要分子在指示的犯罪和集团成员实施的犯罪相重合的限度内承担刑事责任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409538099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76580"/>
            <a:ext cx="1010475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5</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）在首要分子确立的犯罪范围外发生了加重结果或转化为另一重罪时，首要分子承担结果加重犯的刑事责任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其他主犯的刑事责任：按照其所参与的或组织、指挥的全部犯罪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处罚</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）对于组织、指挥共同犯罪的犯罪分子，按照其组织、指挥的全部犯罪处罚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）对于没有从事组织、指挥活动但在共同犯罪中起主要作用的犯罪分子，按照其参与的全部犯罪处罚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（三）</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主犯</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的认定</a:t>
            </a:r>
            <a:endParaRPr lang="zh-CN" altLang="en-US" sz="22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罪前表现：是否事前提出犯意、纠集、邀约他人、主动出谋划策</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等</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罪中表现：是否积极参加、协调行动、指挥他人、罪行恶劣、后果严重</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等</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罪后表现：是否掩盖罪行、毁灭罪迹、逃避处罚、掩饰、隐瞒犯罪所得等</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extLst>
      <p:ext uri="{BB962C8B-B14F-4D97-AF65-F5344CB8AC3E}">
        <p14:creationId xmlns:p14="http://schemas.microsoft.com/office/powerpoint/2010/main" val="33082183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152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二、从犯及其刑事责任</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根据我国《刑法》第27条的规定，从犯是指在共同犯罪中起次要作用或者辅助作用的犯罪分子。</a:t>
            </a: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（一）从犯的种类</a:t>
            </a:r>
            <a:endParaRPr lang="en-US" altLang="zh-CN" sz="22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次要实行犯</a:t>
            </a: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尽管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直接参与实施了共同犯罪的实行行为，但相对于主犯而言，罪行不够严重、情节不太恶劣、作用不大。</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起因</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）所处地位</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1520"/>
            <a:ext cx="1010475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）参与程度</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）具体</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罪行</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）利益</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分配</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帮助</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）实施了帮助行为</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第一，所谓</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帮助行为，是指用实行行为以外的手段、促进了法益侵害的行为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。只有</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当帮助行为与正犯结果之间具有物理因果性或心理因果性时，帮助犯才承担既遂的责任</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第二，帮助</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行为与正犯结果之间的物理因果性主要表现为增大了正犯结果发生的危险性，或者加重了正犯结果</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25635816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1520"/>
            <a:ext cx="1010475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第三，帮助</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行为与正犯结果之间的心理因果性主要表现为强化正犯造成结果的决意，或者使正犯安心实施实行行为。</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）具有帮助的故意</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所谓</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帮助的故意，是指行为人对自己的行为是便利于正犯实行犯罪具有明确认识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正</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犯和帮助犯之间是否必须有意思联络，应区别对待：在提供物质帮助的场合，不要求二者之间有意思联络，因而存在片面帮助犯；在提供精神帮助的场合，二者之间必须有意思联络，不存在片面帮助犯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）中立的帮助行为</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主观</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说</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26748340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1520"/>
            <a:ext cx="1010475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②客观说</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③折中说</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通过综合考虑正犯行为的紧迫性、帮助者对法益的保护义务、帮助行为对法益侵害所起的作用大小、帮助者对正犯行为、结果的确定性认识等，进行判断。</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（二）</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从犯</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的刑事责任</a:t>
            </a:r>
            <a:endParaRPr lang="en-US" altLang="zh-CN" sz="22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从犯是一个单独的法定从宽处罚情节，其处罚通常轻于主犯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从犯和主犯一样，仍要遵守“部分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实行、全部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责任原则”</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综合考虑从犯参与的犯罪性质、介入程度、情节轻重和所起作用等因素，对其予以从宽处罚。</a:t>
            </a:r>
          </a:p>
          <a:p>
            <a:pPr>
              <a:lnSpc>
                <a:spcPct val="150000"/>
              </a:lnSpc>
            </a:pP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044850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8295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三、胁从犯及其刑事责任</a:t>
            </a: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（一）胁从犯的特征</a:t>
            </a:r>
            <a:endParaRPr lang="en-US" altLang="zh-CN" sz="22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胁从犯是被胁迫参加共同犯罪的人。所谓被胁迫，是指在精神上受到一定程度的强制或威胁。在这种情况下，行为人并未完全丧失精神自由，只是期待可能性减少，故仍应对其所参与的罪行承担责任。</a:t>
            </a: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不包括被欺骗参加犯罪的情形</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在内</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身体没有完全受到强制，尚未彻底丧失意志</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自由</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在共同犯罪中所起的作用相对</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较小</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（二）</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胁从犯</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的</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认定</a:t>
            </a:r>
            <a:endParaRPr lang="en-US" altLang="zh-CN" sz="2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82955"/>
            <a:ext cx="1010475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新</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旧刑法对胁从犯的规定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有所不同</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胁从犯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与紧急避险的界限</a:t>
            </a: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胁从犯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可能转化为从犯或</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主犯</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（三）</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胁从犯</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的刑事责任</a:t>
            </a:r>
            <a:endParaRPr lang="en-US" altLang="zh-CN" sz="22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胁从犯的作用一般小于从犯。</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按照他的犯罪情节减轻处罚或者免除</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处罚。</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综合</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考虑胁犯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参与的犯罪性质</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、危害大小、被胁迫程度和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所起作用等因素，对其予以从宽处罚。</a:t>
            </a: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21661611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四、教唆犯及其刑事责任</a:t>
            </a: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（一）教唆犯的</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特征</a:t>
            </a:r>
            <a:endParaRPr lang="en-US" altLang="zh-CN" sz="2200" dirty="0">
              <a:latin typeface="华文中宋" panose="02010600040101010101" pitchFamily="2" charset="-122"/>
              <a:ea typeface="华文中宋" panose="02010600040101010101" pitchFamily="2"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教唆犯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就是故意唆使他人犯罪的犯罪分子</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存在教唆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）教唆的对象是有刑事责任能力的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人   </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）教唆的内容是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犯罪行为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）教唆的方式</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多种多样</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具有教唆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故意</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）认识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因素</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被教唆人具有</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刑事责任能力</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②被教唆人当初没有犯罪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故意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③</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被教唆人将因为教唆而实施</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犯罪</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④</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被教唆人实施的犯罪与教唆的犯罪一致</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）意志因素</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一般教唆犯：希望或</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放任</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独立教唆犯：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希望</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（二）</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教唆犯</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的刑事责任</a:t>
            </a:r>
            <a:endParaRPr lang="en-US" altLang="zh-CN" sz="2200" dirty="0">
              <a:latin typeface="华文中宋" panose="02010600040101010101" pitchFamily="2" charset="-122"/>
              <a:ea typeface="华文中宋" panose="02010600040101010101" pitchFamily="2"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教唆他人犯罪的，应当按照其在共同犯罪中的作用处罚。</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206642214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教唆不满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18</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周岁的人犯罪的，应当从重处罚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）教唆已满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周岁不满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18</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周岁的人犯任何罪的，应当从重处罚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）教唆已满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周岁不满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周岁的人犯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》17</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款规定的八种犯罪行为的，一律应当从重处罚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教唆已满</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周岁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不满</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14</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周岁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的人犯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》17</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规定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的两种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犯罪行为的，一律应当从重处罚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教唆已满</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周岁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不满</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周岁的人犯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17</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款</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规定以外之罪的， 原则上应当从重处罚（间接正犯）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被教唆的人没有犯被教唆的罪的，可以从轻或减轻处罚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4664862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）被教唆人拒绝接受</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教唆</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）被教唆人接受教唆，随后打消犯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）被教唆人所犯的不是被教唆的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罪</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）被教唆人已有犯意</a:t>
            </a:r>
          </a:p>
        </p:txBody>
      </p:sp>
    </p:spTree>
    <p:extLst>
      <p:ext uri="{BB962C8B-B14F-4D97-AF65-F5344CB8AC3E}">
        <p14:creationId xmlns:p14="http://schemas.microsoft.com/office/powerpoint/2010/main" val="237083936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smtClean="0">
                <a:latin typeface="华文中宋" panose="02010600040101010101" pitchFamily="2" charset="-122"/>
                <a:ea typeface="华文中宋" panose="02010600040101010101" pitchFamily="2" charset="-122"/>
              </a:rPr>
              <a:t>第四节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a:latin typeface="微软雅黑" panose="020B0503020204020204" pitchFamily="34" charset="-122"/>
                <a:ea typeface="微软雅黑" panose="020B0503020204020204" pitchFamily="34" charset="-122"/>
              </a:rPr>
              <a:t>共同</a:t>
            </a:r>
            <a:r>
              <a:rPr lang="zh-CN" altLang="en-US" sz="2400" b="1" dirty="0" smtClean="0">
                <a:latin typeface="微软雅黑" panose="020B0503020204020204" pitchFamily="34" charset="-122"/>
                <a:ea typeface="微软雅黑" panose="020B0503020204020204" pitchFamily="34" charset="-122"/>
              </a:rPr>
              <a:t>犯罪认定的疑难问题</a:t>
            </a:r>
            <a:endParaRPr lang="zh-CN" altLang="en-US" sz="24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/11</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609938" y="775078"/>
            <a:ext cx="487426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第十一章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共同犯罪</a:t>
            </a:r>
          </a:p>
        </p:txBody>
      </p:sp>
    </p:spTree>
    <p:extLst>
      <p:ext uri="{BB962C8B-B14F-4D97-AF65-F5344CB8AC3E}">
        <p14:creationId xmlns:p14="http://schemas.microsoft.com/office/powerpoint/2010/main" val="211936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1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170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共同犯罪与</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身份</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p593—597</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1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一）相关立法</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德国刑法典</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28</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条规定：“（</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）正犯的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刑罚</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取决于特定的个人特征（第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款）的，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如共犯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（教唆犯或帮助犯）缺少此等特征，依第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49</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款减轻处罚。（</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）法定刑因行为人的特定的个人特征而加重、减轻或排除的，其规定只适用于</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具有</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此等特征的行为人（正犯或共犯）。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日本刑法典</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65</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条规定：“对于因犯罪人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身份</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而构成的犯罪行为进行加功的人，虽不具有</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这种身份的，也是共犯。因身份而特别加重或者减轻刑罚</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时，对于没有这种身份的人，判处通常的刑罚。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21381420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二）无身份者与有身份者共同实施真正身份犯</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各共犯人成立何种犯罪取决于特殊身份与责任</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内容</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注意运用想象竞合犯的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原理</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三）不同身份者共同实施真正身份犯</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全国法院审理经济犯罪案件工作座谈会纪要</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规定</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：“对于在公司、企业或者其他单位中，非</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国家</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工作人员与国家工作人员勾结，分别利用各自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的职务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便利，共同将本单位财物非法占有的，应当</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尽量</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区分主从犯，按照主犯的犯罪性质定罪。司法实践中，如果根据案件的实际情况，各共同犯罪人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在共同</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犯罪中的地位、作用相当，难以区分主从犯的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，可以</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贪污罪定罪处罚。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80223890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事实是否存疑</a:t>
            </a: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不同身份者的作用是否</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相同</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10147589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二、共同犯罪与认识</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错误</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p599—604</a:t>
            </a:r>
            <a:r>
              <a:rPr lang="zh-CN" altLang="en-US"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1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一）同一共犯形式内的错误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采取法定符合说</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解决</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二）不同共犯形式间的错误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在有责的不法限度内，成立其中较轻的共犯形式</a:t>
            </a:r>
          </a:p>
          <a:p>
            <a:pPr indent="0" fontAlgn="auto">
              <a:lnSpc>
                <a:spcPct val="150000"/>
              </a:lnSpc>
            </a:pP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65883664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69010"/>
            <a:ext cx="10104755" cy="4448175"/>
          </a:xfrm>
          <a:prstGeom prst="rect">
            <a:avLst/>
          </a:prstGeom>
          <a:noFill/>
        </p:spPr>
        <p:txBody>
          <a:bodyPr wrap="square" rtlCol="0">
            <a:no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三、共同犯罪与停止</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形态</a:t>
            </a:r>
            <a:endParaRPr lang="en-US" altLang="zh-CN" sz="1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（一）共同犯罪的</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未遂</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p604—608</a:t>
            </a:r>
            <a:r>
              <a:rPr lang="zh-CN" altLang="en-US" sz="1400" b="1" dirty="0">
                <a:solidFill>
                  <a:srgbClr val="0289D9"/>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14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根据“部分实行、全部责任”原则和犯罪未遂</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的特征</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认定</a:t>
            </a:r>
          </a:p>
          <a:p>
            <a:pPr>
              <a:lnSpc>
                <a:spcPct val="150000"/>
              </a:lnSpc>
            </a:pP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a:t>
            </a:r>
            <a:r>
              <a:rPr lang="zh-CN" altLang="en-US" sz="2200" dirty="0">
                <a:latin typeface="华文中宋" panose="02010600040101010101" pitchFamily="2" charset="-122"/>
                <a:ea typeface="华文中宋" panose="02010600040101010101" pitchFamily="2" charset="-122"/>
                <a:cs typeface="宋体" panose="02010600030101010101" pitchFamily="2" charset="-122"/>
                <a:sym typeface="+mn-ea"/>
              </a:rPr>
              <a:t>二）共同犯罪</a:t>
            </a:r>
            <a:r>
              <a:rPr lang="zh-CN" altLang="en-US" sz="2200" dirty="0" smtClean="0">
                <a:latin typeface="华文中宋" panose="02010600040101010101" pitchFamily="2" charset="-122"/>
                <a:ea typeface="华文中宋" panose="02010600040101010101" pitchFamily="2" charset="-122"/>
                <a:cs typeface="宋体" panose="02010600030101010101" pitchFamily="2" charset="-122"/>
                <a:sym typeface="+mn-ea"/>
              </a:rPr>
              <a:t>的中止</a:t>
            </a:r>
            <a:endParaRPr lang="en-US" altLang="zh-CN" sz="2200" dirty="0" smtClean="0">
              <a:latin typeface="华文中宋" panose="02010600040101010101" pitchFamily="2" charset="-122"/>
              <a:ea typeface="华文中宋" panose="02010600040101010101" pitchFamily="2" charset="-122"/>
              <a:cs typeface="宋体" panose="0201060003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第一，较之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于单独犯，共犯人有着更重的中止负担</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第二，只要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共犯人中没有中止或脱离，那么“一人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着手，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全体着手；一人未遂，全体未遂；一人既遂，</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全体</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既遂”。</a:t>
            </a:r>
          </a:p>
          <a:p>
            <a:pPr indent="0" fontAlgn="auto">
              <a:lnSpc>
                <a:spcPct val="150000"/>
              </a:lnSpc>
            </a:pP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248617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îṥḷîďe"/>
          <p:cNvSpPr/>
          <p:nvPr/>
        </p:nvSpPr>
        <p:spPr>
          <a:xfrm>
            <a:off x="1056660" y="2081402"/>
            <a:ext cx="10098178" cy="3446425"/>
          </a:xfrm>
          <a:prstGeom prst="roundRect">
            <a:avLst>
              <a:gd name="adj" fmla="val 5574"/>
            </a:avLst>
          </a:prstGeom>
          <a:solidFill>
            <a:schemeClr val="bg1"/>
          </a:solidFill>
          <a:ln w="12700">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chorCtr="0" forceAA="0" compatLnSpc="1">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endParaRPr lang="zh-CN" altLang="en-US" sz="1600" b="1" dirty="0">
              <a:solidFill>
                <a:schemeClr val="tx1">
                  <a:lumMod val="85000"/>
                  <a:lumOff val="15000"/>
                </a:schemeClr>
              </a:solidFill>
            </a:endParaRPr>
          </a:p>
        </p:txBody>
      </p:sp>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415480" y="0"/>
            <a:ext cx="10776520" cy="2873196"/>
          </a:xfrm>
          <a:prstGeom prst="rect">
            <a:avLst/>
          </a:prstGeom>
        </p:spPr>
      </p:pic>
      <p:grpSp>
        <p:nvGrpSpPr>
          <p:cNvPr id="3" name="组合 2"/>
          <p:cNvGrpSpPr/>
          <p:nvPr/>
        </p:nvGrpSpPr>
        <p:grpSpPr>
          <a:xfrm>
            <a:off x="1056660" y="1278201"/>
            <a:ext cx="2162532" cy="688568"/>
            <a:chOff x="1056660" y="1278201"/>
            <a:chExt cx="2162532" cy="688568"/>
          </a:xfrm>
        </p:grpSpPr>
        <p:sp>
          <p:nvSpPr>
            <p:cNvPr id="37" name="Retângulo 23"/>
            <p:cNvSpPr/>
            <p:nvPr/>
          </p:nvSpPr>
          <p:spPr>
            <a:xfrm rot="16200000">
              <a:off x="2073464" y="821041"/>
              <a:ext cx="128924" cy="2162532"/>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dirty="0"/>
            </a:p>
          </p:txBody>
        </p:sp>
        <p:sp>
          <p:nvSpPr>
            <p:cNvPr id="2" name="文本框 1"/>
            <p:cNvSpPr txBox="1"/>
            <p:nvPr/>
          </p:nvSpPr>
          <p:spPr>
            <a:xfrm>
              <a:off x="1292181" y="1278201"/>
              <a:ext cx="1691489"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思  考  题</a:t>
              </a:r>
            </a:p>
          </p:txBody>
        </p:sp>
      </p:grpSp>
      <p:sp>
        <p:nvSpPr>
          <p:cNvPr id="5" name="矩形 4"/>
          <p:cNvSpPr/>
          <p:nvPr/>
        </p:nvSpPr>
        <p:spPr>
          <a:xfrm>
            <a:off x="2037716" y="2476343"/>
            <a:ext cx="8697089" cy="2630170"/>
          </a:xfrm>
          <a:prstGeom prst="rect">
            <a:avLst/>
          </a:prstGeom>
        </p:spPr>
        <p:txBody>
          <a:bodyPr wrap="square">
            <a:spAutoFit/>
          </a:bodyPr>
          <a:lstStyle/>
          <a:p>
            <a:pPr algn="just">
              <a:lnSpc>
                <a:spcPct val="150000"/>
              </a:lnSpc>
            </a:pPr>
            <a:r>
              <a:rPr lang="zh-CN" altLang="en-US" sz="2200" dirty="0">
                <a:latin typeface="微软雅黑" panose="020B0503020204020204" pitchFamily="34" charset="-122"/>
                <a:ea typeface="微软雅黑" panose="020B0503020204020204" pitchFamily="34" charset="-122"/>
              </a:rPr>
              <a:t>1.试述共同犯罪的概念和成立条件。</a:t>
            </a:r>
          </a:p>
          <a:p>
            <a:pPr algn="just">
              <a:lnSpc>
                <a:spcPct val="150000"/>
              </a:lnSpc>
            </a:pPr>
            <a:r>
              <a:rPr lang="zh-CN" altLang="en-US" sz="2200" dirty="0">
                <a:latin typeface="微软雅黑" panose="020B0503020204020204" pitchFamily="34" charset="-122"/>
                <a:ea typeface="微软雅黑" panose="020B0503020204020204" pitchFamily="34" charset="-122"/>
              </a:rPr>
              <a:t>2.犯罪集团成立的条件如何？</a:t>
            </a:r>
          </a:p>
          <a:p>
            <a:pPr algn="just">
              <a:lnSpc>
                <a:spcPct val="150000"/>
              </a:lnSpc>
            </a:pPr>
            <a:r>
              <a:rPr lang="zh-CN" altLang="en-US" sz="2200" dirty="0">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试述主犯的概念、种类和刑事责任。</a:t>
            </a:r>
          </a:p>
          <a:p>
            <a:pPr algn="just">
              <a:lnSpc>
                <a:spcPct val="150000"/>
              </a:lnSpc>
            </a:pPr>
            <a:r>
              <a:rPr lang="zh-CN" altLang="en-US" sz="2200" dirty="0">
                <a:latin typeface="微软雅黑" panose="020B0503020204020204" pitchFamily="34" charset="-122"/>
                <a:ea typeface="微软雅黑" panose="020B0503020204020204" pitchFamily="34" charset="-122"/>
              </a:rPr>
              <a:t>4</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简述从犯的概念、种类和刑事责任。</a:t>
            </a:r>
          </a:p>
          <a:p>
            <a:pPr algn="just">
              <a:lnSpc>
                <a:spcPct val="150000"/>
              </a:lnSpc>
            </a:pPr>
            <a:r>
              <a:rPr lang="zh-CN" altLang="en-US" sz="2200" dirty="0">
                <a:latin typeface="微软雅黑" panose="020B0503020204020204" pitchFamily="34" charset="-122"/>
                <a:ea typeface="微软雅黑" panose="020B0503020204020204" pitchFamily="34" charset="-122"/>
              </a:rPr>
              <a:t>5</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试述教唆犯的概念、特征、成立条件和刑事责任。</a:t>
            </a: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iterate type="wd">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U3Zjg5ZjEwZjFiYjFiOTBkY2I5ZGU1ZDEwYzUyOTcifQ=="/>
  <p:tag name="KSO_WPP_MARK_KEY" val="e47baf4c-70ae-4e58-b8ef-cc9fa8ca4ef8"/>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PA" val="v3.2.0"/>
</p:tagLst>
</file>

<file path=ppt/tags/tag4.xml><?xml version="1.0" encoding="utf-8"?>
<p:tagLst xmlns:a="http://schemas.openxmlformats.org/drawingml/2006/main" xmlns:r="http://schemas.openxmlformats.org/officeDocument/2006/relationships" xmlns:p="http://schemas.openxmlformats.org/presentationml/2006/main">
  <p:tag name="PA" val="v3.2.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5428</Words>
  <Application>Microsoft Office PowerPoint</Application>
  <PresentationFormat>宽屏</PresentationFormat>
  <Paragraphs>301</Paragraphs>
  <Slides>46</Slides>
  <Notes>0</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46</vt:i4>
      </vt:variant>
    </vt:vector>
  </HeadingPairs>
  <TitlesOfParts>
    <vt:vector size="60" baseType="lpstr">
      <vt:lpstr>Roboto</vt:lpstr>
      <vt:lpstr>等线</vt:lpstr>
      <vt:lpstr>等线 Light</vt:lpstr>
      <vt:lpstr>黑体</vt:lpstr>
      <vt:lpstr>华文新魏</vt:lpstr>
      <vt:lpstr>华文中宋</vt:lpstr>
      <vt:lpstr>宋体</vt:lpstr>
      <vt:lpstr>微软雅黑</vt:lpstr>
      <vt:lpstr>Arial</vt:lpstr>
      <vt:lpstr>Calibri</vt:lpstr>
      <vt:lpstr>Impact</vt:lpstr>
      <vt:lpstr>Symbol</vt:lpstr>
      <vt:lpstr>Wingdings</vt:lpstr>
      <vt:lpstr>Office 主题​​</vt:lpstr>
      <vt:lpstr>PowerPoint 演示文稿</vt:lpstr>
      <vt:lpstr>PowerPoint 演示文稿</vt:lpstr>
      <vt:lpstr>第一节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248</cp:revision>
  <dcterms:created xsi:type="dcterms:W3CDTF">2017-08-25T04:22:00Z</dcterms:created>
  <dcterms:modified xsi:type="dcterms:W3CDTF">2025-04-29T02:07:22Z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3BB50E480C894F6EA53CFDBEDC7E35FA_12</vt:lpwstr>
  </property>
  <property fmtid="{D5CDD505-2E9C-101B-9397-08002B2CF9AE}" pid="3" name="KSOProductBuildVer">
    <vt:lpwstr>2052-11.1.0.14309</vt:lpwstr>
  </property>
</Properties>
</file>